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259" r:id="rId3"/>
    <p:sldId id="260" r:id="rId4"/>
    <p:sldId id="261" r:id="rId5"/>
    <p:sldId id="373" r:id="rId6"/>
    <p:sldId id="374" r:id="rId7"/>
    <p:sldId id="262" r:id="rId8"/>
    <p:sldId id="264" r:id="rId9"/>
    <p:sldId id="375" r:id="rId10"/>
    <p:sldId id="272" r:id="rId11"/>
    <p:sldId id="273" r:id="rId12"/>
    <p:sldId id="274" r:id="rId13"/>
    <p:sldId id="275" r:id="rId14"/>
    <p:sldId id="368" r:id="rId15"/>
    <p:sldId id="369" r:id="rId16"/>
    <p:sldId id="370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59" r:id="rId62"/>
    <p:sldId id="360" r:id="rId63"/>
    <p:sldId id="361" r:id="rId64"/>
    <p:sldId id="362" r:id="rId65"/>
    <p:sldId id="363" r:id="rId66"/>
    <p:sldId id="364" r:id="rId67"/>
    <p:sldId id="365" r:id="rId68"/>
    <p:sldId id="366" r:id="rId69"/>
    <p:sldId id="367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9EBDA-713C-4B3A-8F0D-DB5830F9D0CC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0B49D-977E-4564-B818-9C7005806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0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4622EA-3214-491D-820A-B9A22F28DBEE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  <a:cs typeface="+mn-cs"/>
              </a:rPr>
              <a:t>Kurose and Ross forgot to say anything about wrapping the carry and adding it to low order bit</a:t>
            </a:r>
          </a:p>
        </p:txBody>
      </p:sp>
    </p:spTree>
    <p:extLst>
      <p:ext uri="{BB962C8B-B14F-4D97-AF65-F5344CB8AC3E}">
        <p14:creationId xmlns:p14="http://schemas.microsoft.com/office/powerpoint/2010/main" val="329580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214803-4240-4826-816F-7D8B90939F57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854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939445-3ECE-451D-B2AC-CDEE971BD146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49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E7CEF6-D164-42ED-8814-A19A2B1A22AB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774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5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9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3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0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9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2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8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2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7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B800A-4ECC-439A-9CC8-B606A9E4EF12}" type="datetimeFigureOut">
              <a:rPr lang="en-US" smtClean="0"/>
              <a:t>9/26/2018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D1CD4-EDED-4419-BB61-DB6C509DB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4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Transport Layer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Tulika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5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30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25A55D1-C373-46D5-BB5F-210FA9F652A3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ea typeface="ＭＳ Ｐゴシック" charset="0"/>
                <a:cs typeface="+mj-cs"/>
              </a:rPr>
              <a:t>Outline</a:t>
            </a:r>
            <a:endParaRPr lang="en-US" dirty="0">
              <a:ea typeface="ＭＳ Ｐゴシック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825625"/>
            <a:ext cx="9612086" cy="4351338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 smtClean="0">
                <a:ea typeface="ＭＳ Ｐゴシック" charset="0"/>
                <a:cs typeface="+mn-cs"/>
              </a:rPr>
              <a:t>transport-layer </a:t>
            </a:r>
            <a:r>
              <a:rPr lang="en-US" dirty="0">
                <a:ea typeface="ＭＳ Ｐゴシック" charset="0"/>
                <a:cs typeface="+mn-cs"/>
              </a:rPr>
              <a:t>services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+mn-cs"/>
              </a:rPr>
              <a:t>multiplexing </a:t>
            </a:r>
            <a:r>
              <a:rPr lang="en-US" dirty="0">
                <a:ea typeface="ＭＳ Ｐゴシック" charset="0"/>
                <a:cs typeface="+mn-cs"/>
              </a:rPr>
              <a:t>and </a:t>
            </a:r>
            <a:r>
              <a:rPr lang="en-US" dirty="0" err="1">
                <a:ea typeface="ＭＳ Ｐゴシック" charset="0"/>
                <a:cs typeface="+mn-cs"/>
              </a:rPr>
              <a:t>demultiplexing</a:t>
            </a:r>
            <a:endParaRPr lang="en-US" dirty="0">
              <a:ea typeface="ＭＳ Ｐゴシック" charset="0"/>
              <a:cs typeface="+mn-cs"/>
            </a:endParaRP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+mn-cs"/>
              </a:rPr>
              <a:t>connectionless </a:t>
            </a:r>
            <a:r>
              <a:rPr lang="en-US" dirty="0">
                <a:ea typeface="ＭＳ Ｐゴシック" charset="0"/>
                <a:cs typeface="+mn-cs"/>
              </a:rPr>
              <a:t>transport: UDP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+mn-cs"/>
              </a:rPr>
              <a:t>principles of reliable data transfer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</a:rPr>
              <a:t>principles </a:t>
            </a:r>
            <a:r>
              <a:rPr lang="en-US" dirty="0">
                <a:ea typeface="ＭＳ Ｐゴシック" charset="0"/>
              </a:rPr>
              <a:t>of congestion control</a:t>
            </a:r>
          </a:p>
          <a:p>
            <a:pPr>
              <a:defRPr/>
            </a:pPr>
            <a:r>
              <a:rPr lang="en-US" dirty="0" smtClean="0">
                <a:ea typeface="ＭＳ Ｐゴシック" charset="0"/>
              </a:rPr>
              <a:t>TCP </a:t>
            </a:r>
            <a:r>
              <a:rPr lang="en-US" dirty="0">
                <a:ea typeface="ＭＳ Ｐゴシック" charset="0"/>
              </a:rPr>
              <a:t>congestion control</a:t>
            </a:r>
          </a:p>
          <a:p>
            <a:pPr marL="566738" indent="-566738">
              <a:buNone/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53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409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795E177-44B5-4B24-BDF8-7B2E4FFB3F28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grpSp>
        <p:nvGrpSpPr>
          <p:cNvPr id="18435" name="Group 894"/>
          <p:cNvGrpSpPr>
            <a:grpSpLocks/>
          </p:cNvGrpSpPr>
          <p:nvPr/>
        </p:nvGrpSpPr>
        <p:grpSpPr bwMode="auto">
          <a:xfrm>
            <a:off x="6626226" y="1601788"/>
            <a:ext cx="3540125" cy="4545012"/>
            <a:chOff x="3277" y="974"/>
            <a:chExt cx="2230" cy="2863"/>
          </a:xfrm>
        </p:grpSpPr>
        <p:sp>
          <p:nvSpPr>
            <p:cNvPr id="18464" name="Freeform 895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948 w 1036"/>
                <a:gd name="T1" fmla="*/ 11 h 675"/>
                <a:gd name="T2" fmla="*/ 571 w 1036"/>
                <a:gd name="T3" fmla="*/ 53 h 675"/>
                <a:gd name="T4" fmla="*/ 302 w 1036"/>
                <a:gd name="T5" fmla="*/ 129 h 675"/>
                <a:gd name="T6" fmla="*/ 224 w 1036"/>
                <a:gd name="T7" fmla="*/ 229 h 675"/>
                <a:gd name="T8" fmla="*/ 31 w 1036"/>
                <a:gd name="T9" fmla="*/ 297 h 675"/>
                <a:gd name="T10" fmla="*/ 25 w 1036"/>
                <a:gd name="T11" fmla="*/ 459 h 675"/>
                <a:gd name="T12" fmla="*/ 193 w 1036"/>
                <a:gd name="T13" fmla="*/ 489 h 675"/>
                <a:gd name="T14" fmla="*/ 672 w 1036"/>
                <a:gd name="T15" fmla="*/ 489 h 675"/>
                <a:gd name="T16" fmla="*/ 874 w 1036"/>
                <a:gd name="T17" fmla="*/ 555 h 675"/>
                <a:gd name="T18" fmla="*/ 1100 w 1036"/>
                <a:gd name="T19" fmla="*/ 657 h 675"/>
                <a:gd name="T20" fmla="*/ 1274 w 1036"/>
                <a:gd name="T21" fmla="*/ 661 h 675"/>
                <a:gd name="T22" fmla="*/ 1393 w 1036"/>
                <a:gd name="T23" fmla="*/ 603 h 675"/>
                <a:gd name="T24" fmla="*/ 1453 w 1036"/>
                <a:gd name="T25" fmla="*/ 445 h 675"/>
                <a:gd name="T26" fmla="*/ 1491 w 1036"/>
                <a:gd name="T27" fmla="*/ 291 h 675"/>
                <a:gd name="T28" fmla="*/ 1495 w 1036"/>
                <a:gd name="T29" fmla="*/ 107 h 675"/>
                <a:gd name="T30" fmla="*/ 1368 w 1036"/>
                <a:gd name="T31" fmla="*/ 17 h 675"/>
                <a:gd name="T32" fmla="*/ 1135 w 1036"/>
                <a:gd name="T33" fmla="*/ 3 h 675"/>
                <a:gd name="T34" fmla="*/ 94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65" name="Group 896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4508" name="Rectangle 897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509" name="AutoShape 898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solidFill>
                    <a:srgbClr val="00CCFF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466" name="Freeform 899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2" name="Line 900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3" name="Line 901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4" name="Line 902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5" name="Line 903"/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6" name="Line 904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7" name="Line 905"/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8" name="Line 906"/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39" name="Line 907"/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0" name="Line 908"/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1" name="Line 909"/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2" name="Line 910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3" name="Line 911"/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4" name="Line 912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45" name="Line 913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8481" name="Group 914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18841" name="Picture 915" descr="access_point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842" name="Picture 916" descr="antenna_radiation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482" name="Freeform 917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918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5057 w 765"/>
                <a:gd name="T1" fmla="*/ 207 h 459"/>
                <a:gd name="T2" fmla="*/ 3427 w 765"/>
                <a:gd name="T3" fmla="*/ 1471 h 459"/>
                <a:gd name="T4" fmla="*/ 1146 w 765"/>
                <a:gd name="T5" fmla="*/ 2093 h 459"/>
                <a:gd name="T6" fmla="*/ 164 w 765"/>
                <a:gd name="T7" fmla="*/ 7053 h 459"/>
                <a:gd name="T8" fmla="*/ 2144 w 765"/>
                <a:gd name="T9" fmla="*/ 9319 h 459"/>
                <a:gd name="T10" fmla="*/ 4121 w 765"/>
                <a:gd name="T11" fmla="*/ 8933 h 459"/>
                <a:gd name="T12" fmla="*/ 6957 w 765"/>
                <a:gd name="T13" fmla="*/ 9319 h 459"/>
                <a:gd name="T14" fmla="*/ 8325 w 765"/>
                <a:gd name="T15" fmla="*/ 9103 h 459"/>
                <a:gd name="T16" fmla="*/ 8961 w 765"/>
                <a:gd name="T17" fmla="*/ 7810 h 459"/>
                <a:gd name="T18" fmla="*/ 8945 w 765"/>
                <a:gd name="T19" fmla="*/ 3315 h 459"/>
                <a:gd name="T20" fmla="*/ 7894 w 765"/>
                <a:gd name="T21" fmla="*/ 723 h 459"/>
                <a:gd name="T22" fmla="*/ 5057 w 765"/>
                <a:gd name="T23" fmla="*/ 20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49" name="Line 919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0" name="Line 920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1" name="Line 921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2" name="Line 922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3" name="Line 923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4" name="Line 924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5" name="Line 925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6" name="Line 926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7" name="Line 927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8" name="Line 928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9" name="Line 929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0" name="Line 930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1" name="Line 931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2" name="Line 932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3" name="Line 933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4" name="Line 934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65" name="Line 935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8501" name="Group 936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18824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25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26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27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28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29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0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1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2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3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4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5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6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7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838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04" name="Oval 952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pic>
            <p:nvPicPr>
              <p:cNvPr id="18840" name="Picture 953" descr="cell_tower_radiation_gra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502" name="Group 954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4480" name="Line 955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816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17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18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819" name="Group 959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18822" name="Freeform 9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23" name="Freeform 9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85" name="Line 962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86" name="Line 963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03" name="Group 964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1880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0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0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810" name="Group 96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813" name="Freeform 96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14" name="Freeform 97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76" name="Line 97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77" name="Line 97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04" name="Group 973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1879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0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0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802" name="Group 97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805" name="Freeform 97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06" name="Freeform 97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68" name="Line 98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69" name="Line 98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05" name="Group 982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1879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9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9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94" name="Group 98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97" name="Freeform 98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98" name="Freeform 98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60" name="Line 98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61" name="Line 99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06" name="Group 991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1878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8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8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86" name="Group 99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89" name="Freeform 99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90" name="Freeform 99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52" name="Line 99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53" name="Line 99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07" name="Group 1000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1877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7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7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78" name="Group 100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81" name="Freeform 100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82" name="Freeform 100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44" name="Line 100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45" name="Line 100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173" name="Line 1009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8509" name="Group 1010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1876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6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6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70" name="Group 101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73" name="Freeform 101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74" name="Freeform 101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6" name="Line 101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37" name="Line 101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0" name="Group 1019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1875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6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6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62" name="Group 102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65" name="Freeform 102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66" name="Freeform 102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8" name="Line 102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29" name="Line 102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1" name="Group 1028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1875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5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5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54" name="Group 103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57" name="Freeform 103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58" name="Freeform 103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0" name="Line 103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21" name="Line 103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2" name="Group 1037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1874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4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4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46" name="Group 104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49" name="Freeform 10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50" name="Freeform 10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2" name="Line 104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13" name="Line 104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3" name="Group 1046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1873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3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3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38" name="Group 105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41" name="Freeform 10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42" name="Freeform 10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4" name="Line 105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05" name="Line 105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4" name="Group 1055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1872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2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2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30" name="Group 105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33" name="Freeform 10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34" name="Freeform 10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396" name="Line 106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2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97" name="Line 106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15" name="Group 1064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18713" name="Group 1065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8715" name="Freeform 1066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6" name="Freeform 1067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7" name="Freeform 1068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8" name="Freeform 1069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9" name="Freeform 1070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0" name="Freeform 1071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1" name="Freeform 1072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2" name="Freeform 1073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3" name="Freeform 1074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4" name="Freeform 1075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5" name="Freeform 1076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6" name="Freeform 1077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714" name="Picture 1078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516" name="Group 1079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18699" name="Group 1080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8701" name="Freeform 1081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2" name="Freeform 1082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3" name="Freeform 1083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4" name="Freeform 1084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5" name="Freeform 1085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6" name="Freeform 1086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7" name="Freeform 1087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8" name="Freeform 1088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9" name="Freeform 1089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0" name="Freeform 1090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1" name="Freeform 1091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2" name="Freeform 1092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700" name="Picture 1093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82" name="Line 1094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8518" name="Group 1095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18697" name="Picture 109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98" name="Freeform 109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19" name="Group 1098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18695" name="Picture 109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96" name="Freeform 1100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20" name="Group 1101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18693" name="Picture 110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94" name="Freeform 110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21" name="Group 1104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18691" name="Picture 110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92" name="Freeform 110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8522" name="Picture 1107" descr="car_icon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523" name="Group 1108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18689" name="Picture 1109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90" name="Picture 1110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524" name="Group 1111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18657" name="Freeform 111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" name="Rectangle 1113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59" name="Freeform 111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0" name="Freeform 111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6" name="Rectangle 1116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62" name="Group 111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52" name="AutoShape 1118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53" name="AutoShape 1119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328" name="Rectangle 1120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64" name="Group 112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350" name="AutoShape 1122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51" name="AutoShape 1123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330" name="Rectangle 1124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31" name="Rectangle 1125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67" name="Group 112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348" name="AutoShape 1127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49" name="AutoShape 1128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668" name="Freeform 112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69" name="Group 113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46" name="AutoShape 1131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47" name="AutoShape 1132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335" name="Rectangle 1133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71" name="Freeform 113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2" name="Freeform 113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" name="Oval 1136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74" name="Freeform 113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" name="AutoShape 1138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41" name="AutoShape 1139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42" name="Oval 1140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43" name="Oval 1141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44" name="Oval 1142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45" name="Rectangle 1143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25" name="Group 1144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18625" name="Freeform 1145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1" name="Rectangle 1146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27" name="Freeform 1147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8" name="Freeform 1148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4" name="Rectangle 1149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30" name="Group 1150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20" name="AutoShape 115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21" name="AutoShape 1152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96" name="Rectangle 1153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32" name="Group 1154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318" name="AutoShape 1155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19" name="AutoShape 1156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98" name="Rectangle 1157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299" name="Rectangle 1158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8635" name="Group 1159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316" name="AutoShape 1160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17" name="AutoShape 1161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636" name="Freeform 1162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37" name="Group 1163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14" name="AutoShape 1164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4315" name="AutoShape 1165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303" name="Rectangle 1166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39" name="Freeform 1167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0" name="Freeform 1168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" name="Oval 1169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642" name="Freeform 1170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" name="AutoShape 1171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09" name="AutoShape 1172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10" name="Oval 1173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11" name="Oval 1174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12" name="Oval 1175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13" name="Rectangle 1176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26" name="Group 1177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18602" name="Picture 1178" descr="antenna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03" name="Picture 1179" descr="laptop_keyboar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04" name="Freeform 1180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605" name="Picture 1181" descr="screen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06" name="Freeform 1182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7" name="Freeform 1183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8" name="Freeform 1184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9" name="Freeform 1185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0" name="Freeform 1186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1" name="Freeform 1187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12" name="Group 1188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619" name="Freeform 1189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20" name="Freeform 1190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21" name="Freeform 1191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22" name="Freeform 1192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23" name="Freeform 1193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24" name="Freeform 1194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613" name="Freeform 1195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4" name="Freeform 1196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5" name="Freeform 1197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6" name="Freeform 1198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7" name="Freeform 1199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8" name="Freeform 1200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27" name="Group 1201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18579" name="Picture 1202" descr="antenna_stylize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80" name="Picture 1203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1" name="Freeform 1204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82" name="Picture 1205" descr="screen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3" name="Freeform 1206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4" name="Freeform 1207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5" name="Freeform 1208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6" name="Freeform 1209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7" name="Freeform 1210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8" name="Freeform 1211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89" name="Group 1212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96" name="Freeform 1213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7" name="Freeform 1214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8" name="Freeform 1215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9" name="Freeform 1216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0" name="Freeform 1217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1" name="Freeform 1218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90" name="Freeform 1219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1" name="Freeform 1220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2" name="Freeform 1221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3" name="Freeform 1222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4" name="Freeform 1223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5" name="Freeform 1224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28" name="Group 1225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18556" name="Picture 1226" descr="antenna_stylized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57" name="Picture 1227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58" name="Freeform 1228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59" name="Picture 1229" descr="screen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60" name="Freeform 1230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1" name="Freeform 1231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2" name="Freeform 1232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3" name="Freeform 1233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4" name="Freeform 1234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Freeform 1235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66" name="Group 1236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73" name="Freeform 1237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4" name="Freeform 1238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5" name="Freeform 1239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6" name="Freeform 1240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7" name="Freeform 1241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8" name="Freeform 1242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67" name="Freeform 1243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8" name="Freeform 1244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Freeform 1245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Freeform 1246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Freeform 1247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Freeform 1248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29" name="Group 1249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18554" name="Picture 12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55" name="Freeform 125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30" name="Group 1252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18531" name="Picture 1253" descr="antenna_stylize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32" name="Picture 1254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3" name="Freeform 125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34" name="Picture 1256" descr="screen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5" name="Freeform 125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6" name="Freeform 125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7" name="Freeform 125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8" name="Freeform 126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Freeform 126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Freeform 126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41" name="Group 126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48" name="Freeform 126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9" name="Freeform 126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0" name="Freeform 126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1" name="Freeform 126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2" name="Freeform 126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3" name="Freeform 126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42" name="Freeform 127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Freeform 127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4" name="Freeform 127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5" name="Freeform 127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Freeform 127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Freeform 127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3820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Transport services and protocols</a:t>
            </a:r>
          </a:p>
        </p:txBody>
      </p:sp>
      <p:sp>
        <p:nvSpPr>
          <p:cNvPr id="41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3955" y="1511301"/>
            <a:ext cx="5434422" cy="5114925"/>
          </a:xfrm>
        </p:spPr>
        <p:txBody>
          <a:bodyPr>
            <a:normAutofit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provide</a:t>
            </a:r>
            <a:r>
              <a:rPr lang="en-US" sz="2400" i="1" dirty="0">
                <a:solidFill>
                  <a:srgbClr val="FF0000"/>
                </a:solidFill>
                <a:ea typeface="ＭＳ Ｐゴシック" charset="0"/>
              </a:rPr>
              <a:t> </a:t>
            </a:r>
            <a:r>
              <a:rPr lang="en-US" sz="2400" i="1" dirty="0">
                <a:solidFill>
                  <a:srgbClr val="CC0000"/>
                </a:solidFill>
                <a:ea typeface="ＭＳ Ｐゴシック" charset="0"/>
              </a:rPr>
              <a:t>logical communication</a:t>
            </a:r>
            <a:r>
              <a:rPr lang="en-US" sz="2400" dirty="0">
                <a:ea typeface="ＭＳ Ｐゴシック" charset="0"/>
              </a:rPr>
              <a:t> between app processes running on different hosts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transport protocols run in end systems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 side: breaks app messages into </a:t>
            </a: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segments</a:t>
            </a:r>
            <a:r>
              <a:rPr lang="en-US" dirty="0">
                <a:ea typeface="ＭＳ Ｐゴシック" charset="0"/>
              </a:rPr>
              <a:t>, passes to  network layer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 err="1">
                <a:ea typeface="ＭＳ Ｐゴシック" charset="0"/>
              </a:rPr>
              <a:t>rcv</a:t>
            </a:r>
            <a:r>
              <a:rPr lang="en-US" dirty="0">
                <a:ea typeface="ＭＳ Ｐゴシック" charset="0"/>
              </a:rPr>
              <a:t> side: reassembles segments into messages, passes to app layer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more than one transport protocol available </a:t>
            </a:r>
            <a:r>
              <a:rPr lang="en-US" sz="2400" dirty="0">
                <a:ea typeface="ＭＳ Ｐゴシック" charset="0"/>
              </a:rPr>
              <a:t>to apps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Internet: </a:t>
            </a: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TCP</a:t>
            </a:r>
            <a:r>
              <a:rPr lang="en-US" dirty="0">
                <a:ea typeface="ＭＳ Ｐゴシック" charset="0"/>
              </a:rPr>
              <a:t> and </a:t>
            </a: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UDP</a:t>
            </a:r>
          </a:p>
        </p:txBody>
      </p:sp>
      <p:grpSp>
        <p:nvGrpSpPr>
          <p:cNvPr id="35485" name="Group 669"/>
          <p:cNvGrpSpPr>
            <a:grpSpLocks/>
          </p:cNvGrpSpPr>
          <p:nvPr/>
        </p:nvGrpSpPr>
        <p:grpSpPr bwMode="auto">
          <a:xfrm>
            <a:off x="9380539" y="4454526"/>
            <a:ext cx="1057275" cy="957263"/>
            <a:chOff x="-153" y="1680"/>
            <a:chExt cx="666" cy="603"/>
          </a:xfrm>
        </p:grpSpPr>
        <p:grpSp>
          <p:nvGrpSpPr>
            <p:cNvPr id="18455" name="Group 670"/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4122" name="Rectangle 671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23" name="Rectangle 672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24" name="Rectangle 673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25" name="Text Box 674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/>
                  <a:t>application</a:t>
                </a:r>
              </a:p>
              <a:p>
                <a:pPr>
                  <a:defRPr/>
                </a:pPr>
                <a:r>
                  <a:rPr lang="en-US" sz="1000">
                    <a:solidFill>
                      <a:schemeClr val="bg1"/>
                    </a:solidFill>
                  </a:rPr>
                  <a:t>transport</a:t>
                </a:r>
                <a:endParaRPr lang="en-US" sz="1000"/>
              </a:p>
              <a:p>
                <a:pPr>
                  <a:defRPr/>
                </a:pPr>
                <a:r>
                  <a:rPr lang="en-US" sz="1000"/>
                  <a:t>network</a:t>
                </a:r>
              </a:p>
              <a:p>
                <a:pPr>
                  <a:defRPr/>
                </a:pPr>
                <a:r>
                  <a:rPr lang="en-US" sz="1000"/>
                  <a:t>data link</a:t>
                </a:r>
              </a:p>
              <a:p>
                <a:pPr>
                  <a:defRPr/>
                </a:pPr>
                <a:r>
                  <a:rPr lang="en-US" sz="1000"/>
                  <a:t>physical</a:t>
                </a:r>
                <a:endParaRPr lang="en-US" sz="2400"/>
              </a:p>
            </p:txBody>
          </p:sp>
          <p:sp>
            <p:nvSpPr>
              <p:cNvPr id="4126" name="Line 675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27" name="Line 676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28" name="Line 677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8456" name="Freeform 678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114" name="Group 298"/>
          <p:cNvGrpSpPr>
            <a:grpSpLocks/>
          </p:cNvGrpSpPr>
          <p:nvPr/>
        </p:nvGrpSpPr>
        <p:grpSpPr bwMode="auto">
          <a:xfrm rot="2937887">
            <a:off x="6913564" y="3022601"/>
            <a:ext cx="3781425" cy="434975"/>
            <a:chOff x="2937" y="3579"/>
            <a:chExt cx="2382" cy="274"/>
          </a:xfrm>
        </p:grpSpPr>
        <p:sp>
          <p:nvSpPr>
            <p:cNvPr id="4116" name="Rectangle 295"/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4117" name="Text Box 293"/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chemeClr val="bg1"/>
                  </a:solidFill>
                </a:rPr>
                <a:t>logical end-end transport</a:t>
              </a:r>
              <a:endParaRPr lang="en-US"/>
            </a:p>
          </p:txBody>
        </p:sp>
        <p:sp>
          <p:nvSpPr>
            <p:cNvPr id="18453" name="Freeform 296"/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Freeform 297"/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681" name="Group 865"/>
          <p:cNvGrpSpPr>
            <a:grpSpLocks/>
          </p:cNvGrpSpPr>
          <p:nvPr/>
        </p:nvGrpSpPr>
        <p:grpSpPr bwMode="auto">
          <a:xfrm>
            <a:off x="6986589" y="1296988"/>
            <a:ext cx="1057275" cy="957262"/>
            <a:chOff x="-153" y="1680"/>
            <a:chExt cx="666" cy="603"/>
          </a:xfrm>
        </p:grpSpPr>
        <p:grpSp>
          <p:nvGrpSpPr>
            <p:cNvPr id="18442" name="Group 866"/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4109" name="Rectangle 867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0" name="Rectangle 868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1" name="Rectangle 869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2" name="Text Box 870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/>
                  <a:t>application</a:t>
                </a:r>
              </a:p>
              <a:p>
                <a:pPr>
                  <a:defRPr/>
                </a:pPr>
                <a:r>
                  <a:rPr lang="en-US" sz="1000">
                    <a:solidFill>
                      <a:schemeClr val="bg1"/>
                    </a:solidFill>
                  </a:rPr>
                  <a:t>transport</a:t>
                </a:r>
                <a:endParaRPr lang="en-US" sz="1000"/>
              </a:p>
              <a:p>
                <a:pPr>
                  <a:defRPr/>
                </a:pPr>
                <a:r>
                  <a:rPr lang="en-US" sz="1000"/>
                  <a:t>network</a:t>
                </a:r>
              </a:p>
              <a:p>
                <a:pPr>
                  <a:defRPr/>
                </a:pPr>
                <a:r>
                  <a:rPr lang="en-US" sz="1000"/>
                  <a:t>data link</a:t>
                </a:r>
              </a:p>
              <a:p>
                <a:pPr>
                  <a:defRPr/>
                </a:pPr>
                <a:r>
                  <a:rPr lang="en-US" sz="1000"/>
                  <a:t>physical</a:t>
                </a:r>
                <a:endParaRPr lang="en-US" sz="2400"/>
              </a:p>
            </p:txBody>
          </p:sp>
          <p:sp>
            <p:nvSpPr>
              <p:cNvPr id="4113" name="Line 871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4" name="Line 872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5" name="Line 873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8443" name="Freeform 874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729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512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497313D-832B-4BD7-9999-82031FEA6B80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Transport vs. network layer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0891" y="1589088"/>
            <a:ext cx="5266509" cy="4648200"/>
          </a:xfrm>
        </p:spPr>
        <p:txBody>
          <a:bodyPr/>
          <a:lstStyle/>
          <a:p>
            <a:pPr>
              <a:lnSpc>
                <a:spcPct val="70000"/>
              </a:lnSpc>
              <a:buFont typeface="Wingdings" charset="0"/>
              <a:buChar char="v"/>
              <a:defRPr/>
            </a:pPr>
            <a:r>
              <a:rPr lang="en-US" sz="3200" i="1" dirty="0">
                <a:solidFill>
                  <a:srgbClr val="000099"/>
                </a:solidFill>
                <a:ea typeface="ＭＳ Ｐゴシック" charset="0"/>
              </a:rPr>
              <a:t>network layer:</a:t>
            </a:r>
            <a:r>
              <a:rPr lang="en-US" sz="3200" dirty="0">
                <a:ea typeface="ＭＳ Ｐゴシック" charset="0"/>
              </a:rPr>
              <a:t> logical communication between </a:t>
            </a:r>
            <a:r>
              <a:rPr lang="en-US" sz="3200" dirty="0">
                <a:solidFill>
                  <a:srgbClr val="008000"/>
                </a:solidFill>
                <a:ea typeface="ＭＳ Ｐゴシック" charset="0"/>
              </a:rPr>
              <a:t>hosts</a:t>
            </a:r>
          </a:p>
          <a:p>
            <a:pPr>
              <a:lnSpc>
                <a:spcPct val="70000"/>
              </a:lnSpc>
              <a:buFont typeface="Wingdings" charset="0"/>
              <a:buChar char="v"/>
              <a:defRPr/>
            </a:pPr>
            <a:r>
              <a:rPr lang="en-US" sz="3200" i="1" dirty="0">
                <a:solidFill>
                  <a:srgbClr val="000099"/>
                </a:solidFill>
                <a:ea typeface="ＭＳ Ｐゴシック" charset="0"/>
              </a:rPr>
              <a:t>transport layer:</a:t>
            </a:r>
            <a:r>
              <a:rPr lang="en-US" sz="3200" dirty="0">
                <a:ea typeface="ＭＳ Ｐゴシック" charset="0"/>
              </a:rPr>
              <a:t> logical communication between </a:t>
            </a:r>
            <a:r>
              <a:rPr lang="en-US" sz="3200" dirty="0">
                <a:solidFill>
                  <a:srgbClr val="008000"/>
                </a:solidFill>
                <a:ea typeface="ＭＳ Ｐゴシック" charset="0"/>
              </a:rPr>
              <a:t>processes</a:t>
            </a:r>
            <a:r>
              <a:rPr lang="en-US" dirty="0">
                <a:solidFill>
                  <a:srgbClr val="008000"/>
                </a:solidFill>
                <a:ea typeface="ＭＳ Ｐゴシック" charset="0"/>
                <a:cs typeface="+mn-cs"/>
              </a:rPr>
              <a:t> </a:t>
            </a:r>
          </a:p>
          <a:p>
            <a:pPr lvl="1">
              <a:lnSpc>
                <a:spcPct val="70000"/>
              </a:lnSpc>
              <a:buFont typeface="Wingdings" charset="0"/>
              <a:buChar char="§"/>
              <a:defRPr/>
            </a:pPr>
            <a:r>
              <a:rPr lang="en-US" sz="2800" dirty="0">
                <a:ea typeface="ＭＳ Ｐゴシック" charset="0"/>
              </a:rPr>
              <a:t>relies on, enhances, network layer services</a:t>
            </a:r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284913" y="2230439"/>
            <a:ext cx="3967162" cy="4249737"/>
          </a:xfrm>
          <a:extLst>
            <a:ext uri="{91240B29-F687-4f45-9708-019B960494DF}">
              <a14:hiddenLine xmlns:a14="http://schemas.microsoft.com/office/drawing/2010/main" xmlns="" w="19050" cmpd="sng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i="1"/>
              <a:t>12 kids in </a:t>
            </a:r>
            <a:r>
              <a:rPr lang="en-US" altLang="en-US" sz="2400" i="1">
                <a:solidFill>
                  <a:srgbClr val="008000"/>
                </a:solidFill>
              </a:rPr>
              <a:t>Ann</a:t>
            </a:r>
            <a:r>
              <a:rPr lang="ja-JP" altLang="en-US" sz="2400" i="1">
                <a:solidFill>
                  <a:srgbClr val="008000"/>
                </a:solidFill>
              </a:rPr>
              <a:t>’</a:t>
            </a:r>
            <a:r>
              <a:rPr lang="en-US" altLang="ja-JP" sz="2400" i="1">
                <a:solidFill>
                  <a:srgbClr val="008000"/>
                </a:solidFill>
              </a:rPr>
              <a:t>s</a:t>
            </a:r>
            <a:r>
              <a:rPr lang="en-US" altLang="ja-JP" sz="2400" i="1"/>
              <a:t> house sending letters to 12 kids in </a:t>
            </a:r>
            <a:r>
              <a:rPr lang="en-US" altLang="ja-JP" sz="2400" i="1">
                <a:solidFill>
                  <a:srgbClr val="008000"/>
                </a:solidFill>
              </a:rPr>
              <a:t>Bill</a:t>
            </a:r>
            <a:r>
              <a:rPr lang="ja-JP" altLang="en-US" sz="2400" i="1">
                <a:solidFill>
                  <a:srgbClr val="008000"/>
                </a:solidFill>
              </a:rPr>
              <a:t>’</a:t>
            </a:r>
            <a:r>
              <a:rPr lang="en-US" altLang="ja-JP" sz="2400" i="1">
                <a:solidFill>
                  <a:srgbClr val="008000"/>
                </a:solidFill>
              </a:rPr>
              <a:t>s</a:t>
            </a:r>
            <a:r>
              <a:rPr lang="en-US" altLang="ja-JP" sz="2400" i="1"/>
              <a:t> house:</a:t>
            </a:r>
            <a:endParaRPr lang="en-US" altLang="ja-JP" sz="2400"/>
          </a:p>
          <a:p>
            <a:pPr>
              <a:lnSpc>
                <a:spcPct val="70000"/>
              </a:lnSpc>
            </a:pPr>
            <a:r>
              <a:rPr lang="en-US" altLang="en-US" sz="2400"/>
              <a:t>hosts = houses</a:t>
            </a:r>
          </a:p>
          <a:p>
            <a:pPr>
              <a:lnSpc>
                <a:spcPct val="70000"/>
              </a:lnSpc>
            </a:pPr>
            <a:r>
              <a:rPr lang="en-US" altLang="en-US" sz="2400"/>
              <a:t>processes = kids</a:t>
            </a:r>
          </a:p>
          <a:p>
            <a:pPr>
              <a:lnSpc>
                <a:spcPct val="70000"/>
              </a:lnSpc>
            </a:pPr>
            <a:r>
              <a:rPr lang="en-US" altLang="en-US" sz="2400"/>
              <a:t>app messages = letters in envelopes</a:t>
            </a:r>
          </a:p>
          <a:p>
            <a:pPr>
              <a:lnSpc>
                <a:spcPct val="70000"/>
              </a:lnSpc>
            </a:pPr>
            <a:r>
              <a:rPr lang="en-US" altLang="en-US" sz="2400">
                <a:solidFill>
                  <a:srgbClr val="008000"/>
                </a:solidFill>
              </a:rPr>
              <a:t>transport protocol </a:t>
            </a:r>
            <a:r>
              <a:rPr lang="en-US" altLang="en-US" sz="2400"/>
              <a:t>= Ann and Bill who </a:t>
            </a:r>
            <a:r>
              <a:rPr lang="en-US" altLang="en-US" sz="2400">
                <a:solidFill>
                  <a:srgbClr val="008000"/>
                </a:solidFill>
              </a:rPr>
              <a:t>demux </a:t>
            </a:r>
            <a:r>
              <a:rPr lang="en-US" altLang="en-US" sz="2400"/>
              <a:t>to in-house siblings</a:t>
            </a:r>
          </a:p>
          <a:p>
            <a:pPr>
              <a:lnSpc>
                <a:spcPct val="70000"/>
              </a:lnSpc>
            </a:pPr>
            <a:r>
              <a:rPr lang="en-US" altLang="en-US" sz="2400">
                <a:solidFill>
                  <a:srgbClr val="008000"/>
                </a:solidFill>
              </a:rPr>
              <a:t>network-layer protocol </a:t>
            </a:r>
            <a:r>
              <a:rPr lang="en-US" altLang="en-US" sz="2400"/>
              <a:t>= postal service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6303964" y="1947864"/>
            <a:ext cx="4016375" cy="3836987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6424614" y="1724025"/>
            <a:ext cx="2695575" cy="433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45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i="1">
                <a:solidFill>
                  <a:srgbClr val="000099"/>
                </a:solidFill>
                <a:latin typeface="Gill Sans MT" charset="0"/>
              </a:rPr>
              <a:t>household analogy:</a:t>
            </a:r>
            <a:endParaRPr lang="en-US" sz="2800" i="1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45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Number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343606" cy="4351338"/>
          </a:xfrm>
        </p:spPr>
        <p:txBody>
          <a:bodyPr/>
          <a:lstStyle/>
          <a:p>
            <a:r>
              <a:rPr lang="en-US" dirty="0" smtClean="0"/>
              <a:t>Transport layer address</a:t>
            </a:r>
          </a:p>
          <a:p>
            <a:r>
              <a:rPr lang="en-US" dirty="0" smtClean="0"/>
              <a:t>Used to choose among multiple processes running on the destination host.</a:t>
            </a:r>
          </a:p>
          <a:p>
            <a:r>
              <a:rPr lang="en-US" dirty="0" smtClean="0"/>
              <a:t>Destination port number is needed for delivery and the source port number is needed for the reply</a:t>
            </a:r>
          </a:p>
          <a:p>
            <a:r>
              <a:rPr lang="en-US" dirty="0" smtClean="0"/>
              <a:t>16 bits integer number between 0 to 65535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29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Number Ranges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IANA (Internet Assigned Number Authority) divided port number into three ranges</a:t>
            </a:r>
          </a:p>
          <a:p>
            <a:r>
              <a:rPr lang="en-US" dirty="0" smtClean="0"/>
              <a:t>Well known ports</a:t>
            </a:r>
          </a:p>
          <a:p>
            <a:pPr lvl="1"/>
            <a:r>
              <a:rPr lang="en-US" dirty="0" smtClean="0"/>
              <a:t>0-1023</a:t>
            </a:r>
          </a:p>
          <a:p>
            <a:pPr lvl="1"/>
            <a:r>
              <a:rPr lang="en-US" dirty="0" smtClean="0"/>
              <a:t>Assigned and controlled by IANA</a:t>
            </a:r>
          </a:p>
          <a:p>
            <a:r>
              <a:rPr lang="en-US" dirty="0" smtClean="0"/>
              <a:t>Registered Ports</a:t>
            </a:r>
          </a:p>
          <a:p>
            <a:pPr lvl="1"/>
            <a:r>
              <a:rPr lang="en-US" dirty="0" smtClean="0"/>
              <a:t>1024-49151</a:t>
            </a:r>
          </a:p>
          <a:p>
            <a:pPr lvl="1"/>
            <a:r>
              <a:rPr lang="en-US" dirty="0" smtClean="0"/>
              <a:t>Not assigned and controlled by IANA. They can be registered with IANA to prevent duplication. </a:t>
            </a:r>
          </a:p>
          <a:p>
            <a:r>
              <a:rPr lang="en-US" dirty="0" smtClean="0"/>
              <a:t>Dynamic Ports</a:t>
            </a:r>
          </a:p>
          <a:p>
            <a:pPr lvl="1"/>
            <a:r>
              <a:rPr lang="en-US" dirty="0" smtClean="0"/>
              <a:t>49152-65535</a:t>
            </a:r>
          </a:p>
          <a:p>
            <a:pPr lvl="1"/>
            <a:r>
              <a:rPr lang="en-US" dirty="0" smtClean="0"/>
              <a:t>Neither controlled nor registered. They can be used by any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14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F2EFC3DB-7D19-45C5-A828-9DF78141107B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grpSp>
        <p:nvGrpSpPr>
          <p:cNvPr id="20483" name="Group 940"/>
          <p:cNvGrpSpPr>
            <a:grpSpLocks/>
          </p:cNvGrpSpPr>
          <p:nvPr/>
        </p:nvGrpSpPr>
        <p:grpSpPr bwMode="auto">
          <a:xfrm>
            <a:off x="6572251" y="1524001"/>
            <a:ext cx="3540125" cy="4545013"/>
            <a:chOff x="3277" y="974"/>
            <a:chExt cx="2230" cy="2863"/>
          </a:xfrm>
        </p:grpSpPr>
        <p:sp>
          <p:nvSpPr>
            <p:cNvPr id="20613" name="Freeform 941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948 w 1036"/>
                <a:gd name="T1" fmla="*/ 11 h 675"/>
                <a:gd name="T2" fmla="*/ 571 w 1036"/>
                <a:gd name="T3" fmla="*/ 53 h 675"/>
                <a:gd name="T4" fmla="*/ 302 w 1036"/>
                <a:gd name="T5" fmla="*/ 129 h 675"/>
                <a:gd name="T6" fmla="*/ 224 w 1036"/>
                <a:gd name="T7" fmla="*/ 229 h 675"/>
                <a:gd name="T8" fmla="*/ 31 w 1036"/>
                <a:gd name="T9" fmla="*/ 297 h 675"/>
                <a:gd name="T10" fmla="*/ 25 w 1036"/>
                <a:gd name="T11" fmla="*/ 459 h 675"/>
                <a:gd name="T12" fmla="*/ 193 w 1036"/>
                <a:gd name="T13" fmla="*/ 489 h 675"/>
                <a:gd name="T14" fmla="*/ 672 w 1036"/>
                <a:gd name="T15" fmla="*/ 489 h 675"/>
                <a:gd name="T16" fmla="*/ 874 w 1036"/>
                <a:gd name="T17" fmla="*/ 555 h 675"/>
                <a:gd name="T18" fmla="*/ 1100 w 1036"/>
                <a:gd name="T19" fmla="*/ 657 h 675"/>
                <a:gd name="T20" fmla="*/ 1274 w 1036"/>
                <a:gd name="T21" fmla="*/ 661 h 675"/>
                <a:gd name="T22" fmla="*/ 1393 w 1036"/>
                <a:gd name="T23" fmla="*/ 603 h 675"/>
                <a:gd name="T24" fmla="*/ 1453 w 1036"/>
                <a:gd name="T25" fmla="*/ 445 h 675"/>
                <a:gd name="T26" fmla="*/ 1491 w 1036"/>
                <a:gd name="T27" fmla="*/ 291 h 675"/>
                <a:gd name="T28" fmla="*/ 1495 w 1036"/>
                <a:gd name="T29" fmla="*/ 107 h 675"/>
                <a:gd name="T30" fmla="*/ 1368 w 1036"/>
                <a:gd name="T31" fmla="*/ 17 h 675"/>
                <a:gd name="T32" fmla="*/ 1135 w 1036"/>
                <a:gd name="T33" fmla="*/ 3 h 675"/>
                <a:gd name="T34" fmla="*/ 94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614" name="Group 942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6657" name="Rectangle 943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58" name="AutoShape 944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400">
                  <a:solidFill>
                    <a:srgbClr val="00CCFF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0615" name="Freeform 945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81" name="Line 946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2" name="Line 947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3" name="Line 948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4" name="Line 949"/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5" name="Line 950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6" name="Line 951"/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7" name="Line 952"/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8" name="Line 953"/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89" name="Line 954"/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0" name="Line 955"/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1" name="Line 956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2" name="Line 957"/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3" name="Line 958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4" name="Line 959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630" name="Group 960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20990" name="Picture 961" descr="access_point_stylized_small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991" name="Picture 962" descr="antenna_radiation_stylized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631" name="Freeform 963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964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5057 w 765"/>
                <a:gd name="T1" fmla="*/ 207 h 459"/>
                <a:gd name="T2" fmla="*/ 3427 w 765"/>
                <a:gd name="T3" fmla="*/ 1471 h 459"/>
                <a:gd name="T4" fmla="*/ 1146 w 765"/>
                <a:gd name="T5" fmla="*/ 2093 h 459"/>
                <a:gd name="T6" fmla="*/ 164 w 765"/>
                <a:gd name="T7" fmla="*/ 7053 h 459"/>
                <a:gd name="T8" fmla="*/ 2144 w 765"/>
                <a:gd name="T9" fmla="*/ 9319 h 459"/>
                <a:gd name="T10" fmla="*/ 4121 w 765"/>
                <a:gd name="T11" fmla="*/ 8933 h 459"/>
                <a:gd name="T12" fmla="*/ 6957 w 765"/>
                <a:gd name="T13" fmla="*/ 9319 h 459"/>
                <a:gd name="T14" fmla="*/ 8325 w 765"/>
                <a:gd name="T15" fmla="*/ 9103 h 459"/>
                <a:gd name="T16" fmla="*/ 8961 w 765"/>
                <a:gd name="T17" fmla="*/ 7810 h 459"/>
                <a:gd name="T18" fmla="*/ 8945 w 765"/>
                <a:gd name="T19" fmla="*/ 3315 h 459"/>
                <a:gd name="T20" fmla="*/ 7894 w 765"/>
                <a:gd name="T21" fmla="*/ 723 h 459"/>
                <a:gd name="T22" fmla="*/ 5057 w 765"/>
                <a:gd name="T23" fmla="*/ 20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98" name="Line 965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99" name="Line 966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0" name="Line 967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1" name="Line 968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2" name="Line 969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3" name="Line 970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4" name="Line 971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5" name="Line 972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6" name="Line 973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7" name="Line 974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8" name="Line 975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09" name="Line 976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10" name="Line 977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11" name="Line 978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12" name="Line 979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13" name="Line 980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14" name="Line 981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650" name="Group 982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20973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4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5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6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7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8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79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0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1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2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3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4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5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6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987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653" name="Oval 998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pic>
            <p:nvPicPr>
              <p:cNvPr id="20989" name="Picture 999" descr="cell_tower_radiation_gra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651" name="Group 1000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6629" name="Line 1001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965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66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67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68" name="Group 1005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20971" name="Freeform 100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72" name="Freeform 100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34" name="Line 1008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35" name="Line 1009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2" name="Group 1010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2095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5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5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59" name="Group 101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62" name="Freeform 101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63" name="Freeform 101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25" name="Line 101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26" name="Line 101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3" name="Group 1019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2094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4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5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51" name="Group 102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54" name="Freeform 102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55" name="Freeform 102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17" name="Line 102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18" name="Line 102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4" name="Group 1028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2094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4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4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43" name="Group 103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46" name="Freeform 103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47" name="Freeform 103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09" name="Line 103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10" name="Line 103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5" name="Group 1037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2093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3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3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35" name="Group 104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38" name="Freeform 10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39" name="Freeform 10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01" name="Line 104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602" name="Line 104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6" name="Group 1046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2092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2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2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27" name="Group 105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30" name="Freeform 10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31" name="Freeform 10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93" name="Line 105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94" name="Line 105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322" name="Line 1055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658" name="Group 1056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2091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1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1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19" name="Group 106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22" name="Freeform 106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23" name="Freeform 106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85" name="Line 106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86" name="Line 106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59" name="Group 106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2090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0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1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11" name="Group 106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14" name="Freeform 107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15" name="Freeform 107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77" name="Line 107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78" name="Line 107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60" name="Group 1074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2090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0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0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903" name="Group 107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06" name="Freeform 107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07" name="Freeform 108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69" name="Line 108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70" name="Line 108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61" name="Group 1083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2089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9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9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895" name="Group 108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98" name="Freeform 108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99" name="Freeform 108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61" name="Line 109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62" name="Line 109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62" name="Group 1092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2088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8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8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887" name="Group 109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90" name="Freeform 109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91" name="Freeform 109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53" name="Line 109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54" name="Line 110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63" name="Group 1101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2087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7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7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879" name="Group 110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82" name="Freeform 110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83" name="Freeform 110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545" name="Line 110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2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46" name="Line 110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64" name="Group 1110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20862" name="Group 1111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0864" name="Freeform 1112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5" name="Freeform 1113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6" name="Freeform 1114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7" name="Freeform 1115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8" name="Freeform 1116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9" name="Freeform 1117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0" name="Freeform 1118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1" name="Freeform 1119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2" name="Freeform 1120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3" name="Freeform 1121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4" name="Freeform 1122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75" name="Freeform 1123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0863" name="Picture 1124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665" name="Group 1125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20848" name="Group 1126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0850" name="Freeform 1127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1" name="Freeform 1128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2" name="Freeform 1129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3" name="Freeform 1130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4" name="Freeform 1131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5" name="Freeform 1132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6" name="Freeform 1133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7" name="Freeform 1134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8" name="Freeform 1135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9" name="Freeform 1136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0" name="Freeform 1137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61" name="Freeform 1138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0849" name="Picture 1139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331" name="Line 1140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667" name="Group 1141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20846" name="Picture 11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847" name="Freeform 114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0668" name="Group 1144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20844" name="Picture 11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845" name="Freeform 114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0669" name="Group 1147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20842" name="Picture 11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843" name="Freeform 114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0670" name="Group 1150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20840" name="Picture 115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841" name="Freeform 115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20671" name="Picture 1153" descr="car_icon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672" name="Group 1154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20838" name="Picture 1155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839" name="Picture 1156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673" name="Group 1157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20806" name="Freeform 115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2" name="Rectangle 115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808" name="Freeform 116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09" name="Freeform 116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5" name="Rectangle 116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811" name="Group 116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01" name="AutoShape 116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502" name="AutoShape 116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77" name="Rectangle 116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813" name="Group 116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99" name="AutoShape 116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500" name="AutoShape 116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79" name="Rectangle 117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80" name="Rectangle 117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816" name="Group 117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497" name="AutoShape 1173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98" name="AutoShape 117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0817" name="Freeform 117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818" name="Group 117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495" name="AutoShape 117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96" name="AutoShape 117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84" name="Rectangle 117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820" name="Freeform 118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1" name="Freeform 118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7" name="Oval 118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823" name="Freeform 118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9" name="AutoShape 118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90" name="AutoShape 118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91" name="Oval 118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92" name="Oval 118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493" name="Oval 118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94" name="Rectangle 118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74" name="Group 1190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20774" name="Freeform 119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0" name="Rectangle 119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776" name="Freeform 119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7" name="Freeform 119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3" name="Rectangle 119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779" name="Group 119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469" name="AutoShape 119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70" name="AutoShape 119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45" name="Rectangle 119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781" name="Group 120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67" name="AutoShape 120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68" name="AutoShape 120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47" name="Rectangle 120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48" name="Rectangle 120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0784" name="Group 120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465" name="AutoShape 120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66" name="AutoShape 120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0785" name="Freeform 120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786" name="Group 120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463" name="AutoShape 121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464" name="AutoShape 121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452" name="Rectangle 121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788" name="Freeform 121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9" name="Freeform 121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5" name="Oval 121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791" name="Freeform 121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7" name="AutoShape 121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58" name="AutoShape 121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59" name="Oval 121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60" name="Oval 122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461" name="Oval 122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62" name="Rectangle 122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20675" name="Group 1223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20751" name="Picture 1224" descr="antenna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52" name="Picture 1225" descr="laptop_keyboar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53" name="Freeform 1226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754" name="Picture 1227" descr="screen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55" name="Freeform 1228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6" name="Freeform 1229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7" name="Freeform 1230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8" name="Freeform 1231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9" name="Freeform 1232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0" name="Freeform 1233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761" name="Group 1234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68" name="Freeform 1235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69" name="Freeform 1236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70" name="Freeform 1237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71" name="Freeform 1238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72" name="Freeform 1239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73" name="Freeform 1240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762" name="Freeform 1241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3" name="Freeform 1242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4" name="Freeform 1243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5" name="Freeform 1244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6" name="Freeform 1245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7" name="Freeform 1246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76" name="Group 1247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20728" name="Picture 1248" descr="antenna_stylize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29" name="Picture 1249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30" name="Freeform 1250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731" name="Picture 1251" descr="screen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32" name="Freeform 1252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3" name="Freeform 1253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4" name="Freeform 1254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5" name="Freeform 1255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6" name="Freeform 1256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7" name="Freeform 1257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738" name="Group 1258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45" name="Freeform 1259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46" name="Freeform 1260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47" name="Freeform 1261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48" name="Freeform 1262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49" name="Freeform 1263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50" name="Freeform 1264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739" name="Freeform 1265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0" name="Freeform 1266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1" name="Freeform 1267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2" name="Freeform 1268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3" name="Freeform 1269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4" name="Freeform 1270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77" name="Group 1271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20705" name="Picture 1272" descr="antenna_stylized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06" name="Picture 1273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07" name="Freeform 1274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708" name="Picture 1275" descr="screen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09" name="Freeform 1276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0" name="Freeform 1277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1" name="Freeform 1278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2" name="Freeform 1279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3" name="Freeform 1280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4" name="Freeform 1281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715" name="Group 1282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22" name="Freeform 1283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23" name="Freeform 1284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24" name="Freeform 1285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25" name="Freeform 1286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26" name="Freeform 1287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27" name="Freeform 1288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716" name="Freeform 1289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7" name="Freeform 1290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8" name="Freeform 1291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9" name="Freeform 1292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0" name="Freeform 1293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1" name="Freeform 1294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78" name="Group 1295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20703" name="Picture 129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04" name="Freeform 129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0679" name="Group 1298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20680" name="Picture 1299" descr="antenna_stylized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681" name="Picture 1300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682" name="Freeform 130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6 w 2982"/>
                  <a:gd name="T1" fmla="*/ 0 h 2442"/>
                  <a:gd name="T2" fmla="*/ 0 w 2982"/>
                  <a:gd name="T3" fmla="*/ 24 h 2442"/>
                  <a:gd name="T4" fmla="*/ 72 w 2982"/>
                  <a:gd name="T5" fmla="*/ 34 h 2442"/>
                  <a:gd name="T6" fmla="*/ 90 w 2982"/>
                  <a:gd name="T7" fmla="*/ 4 h 2442"/>
                  <a:gd name="T8" fmla="*/ 16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683" name="Picture 1302" descr="screen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684" name="Freeform 130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76 w 2528"/>
                  <a:gd name="T3" fmla="*/ 5 h 455"/>
                  <a:gd name="T4" fmla="*/ 74 w 2528"/>
                  <a:gd name="T5" fmla="*/ 6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5" name="Freeform 130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7 w 702"/>
                  <a:gd name="T1" fmla="*/ 0 h 1893"/>
                  <a:gd name="T2" fmla="*/ 0 w 702"/>
                  <a:gd name="T3" fmla="*/ 25 h 1893"/>
                  <a:gd name="T4" fmla="*/ 3 w 702"/>
                  <a:gd name="T5" fmla="*/ 26 h 1893"/>
                  <a:gd name="T6" fmla="*/ 21 w 702"/>
                  <a:gd name="T7" fmla="*/ 1 h 1893"/>
                  <a:gd name="T8" fmla="*/ 1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6" name="Freeform 130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3 w 756"/>
                  <a:gd name="T1" fmla="*/ 0 h 2184"/>
                  <a:gd name="T2" fmla="*/ 4 w 756"/>
                  <a:gd name="T3" fmla="*/ 30 h 2184"/>
                  <a:gd name="T4" fmla="*/ 0 w 756"/>
                  <a:gd name="T5" fmla="*/ 29 h 2184"/>
                  <a:gd name="T6" fmla="*/ 18 w 756"/>
                  <a:gd name="T7" fmla="*/ 1 h 2184"/>
                  <a:gd name="T8" fmla="*/ 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7" name="Freeform 130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2 h 738"/>
                  <a:gd name="T4" fmla="*/ 73 w 2773"/>
                  <a:gd name="T5" fmla="*/ 10 h 738"/>
                  <a:gd name="T6" fmla="*/ 71 w 2773"/>
                  <a:gd name="T7" fmla="*/ 8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8" name="Freeform 130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9 w 637"/>
                  <a:gd name="T1" fmla="*/ 0 h 1659"/>
                  <a:gd name="T2" fmla="*/ 40 w 637"/>
                  <a:gd name="T3" fmla="*/ 0 h 1659"/>
                  <a:gd name="T4" fmla="*/ 4 w 637"/>
                  <a:gd name="T5" fmla="*/ 160 h 1659"/>
                  <a:gd name="T6" fmla="*/ 0 w 637"/>
                  <a:gd name="T7" fmla="*/ 157 h 1659"/>
                  <a:gd name="T8" fmla="*/ 39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9" name="Freeform 130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6 h 550"/>
                  <a:gd name="T4" fmla="*/ 137 w 2216"/>
                  <a:gd name="T5" fmla="*/ 54 h 550"/>
                  <a:gd name="T6" fmla="*/ 140 w 2216"/>
                  <a:gd name="T7" fmla="*/ 48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690" name="Group 130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697" name="Freeform 131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8" name="Freeform 131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9" name="Freeform 131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0" name="Freeform 131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1" name="Freeform 131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02" name="Freeform 131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691" name="Freeform 131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6 h 792"/>
                  <a:gd name="T2" fmla="*/ 35 w 990"/>
                  <a:gd name="T3" fmla="*/ 0 h 792"/>
                  <a:gd name="T4" fmla="*/ 35 w 990"/>
                  <a:gd name="T5" fmla="*/ 3 h 792"/>
                  <a:gd name="T6" fmla="*/ 0 w 990"/>
                  <a:gd name="T7" fmla="*/ 39 h 792"/>
                  <a:gd name="T8" fmla="*/ 1 w 990"/>
                  <a:gd name="T9" fmla="*/ 3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2" name="Freeform 131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0 w 2532"/>
                  <a:gd name="T5" fmla="*/ 33 h 723"/>
                  <a:gd name="T6" fmla="*/ 90 w 2532"/>
                  <a:gd name="T7" fmla="*/ 35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3" name="Freeform 131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6 h 147"/>
                  <a:gd name="T4" fmla="*/ 0 w 26"/>
                  <a:gd name="T5" fmla="*/ 6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4" name="Freeform 131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2 w 1176"/>
                  <a:gd name="T1" fmla="*/ 0 h 606"/>
                  <a:gd name="T2" fmla="*/ 0 w 1176"/>
                  <a:gd name="T3" fmla="*/ 29 h 606"/>
                  <a:gd name="T4" fmla="*/ 1 w 1176"/>
                  <a:gd name="T5" fmla="*/ 29 h 606"/>
                  <a:gd name="T6" fmla="*/ 42 w 1176"/>
                  <a:gd name="T7" fmla="*/ 1 h 606"/>
                  <a:gd name="T8" fmla="*/ 4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5" name="Freeform 132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2 w 2532"/>
                  <a:gd name="T5" fmla="*/ 25 h 723"/>
                  <a:gd name="T6" fmla="*/ 62 w 2532"/>
                  <a:gd name="T7" fmla="*/ 2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6" name="Freeform 132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2 h 723"/>
                  <a:gd name="T6" fmla="*/ 0 w 2532"/>
                  <a:gd name="T7" fmla="*/ 3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03400" y="122238"/>
            <a:ext cx="856615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Internet transport-layer protocols</a:t>
            </a: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8457" y="1400176"/>
            <a:ext cx="5655358" cy="5114925"/>
          </a:xfrm>
        </p:spPr>
        <p:txBody>
          <a:bodyPr/>
          <a:lstStyle/>
          <a:p>
            <a:r>
              <a:rPr lang="en-US" altLang="en-US" dirty="0" smtClean="0">
                <a:solidFill>
                  <a:srgbClr val="008000"/>
                </a:solidFill>
              </a:rPr>
              <a:t>reliable, in-order delivery </a:t>
            </a:r>
            <a:r>
              <a:rPr lang="en-US" altLang="en-US" dirty="0" smtClean="0"/>
              <a:t>(TCP)</a:t>
            </a:r>
          </a:p>
          <a:p>
            <a:pPr lvl="1"/>
            <a:r>
              <a:rPr lang="en-US" altLang="en-US" dirty="0" smtClean="0"/>
              <a:t>congestion control </a:t>
            </a:r>
          </a:p>
          <a:p>
            <a:pPr lvl="1"/>
            <a:r>
              <a:rPr lang="en-US" altLang="en-US" dirty="0" smtClean="0"/>
              <a:t>flow control</a:t>
            </a:r>
          </a:p>
          <a:p>
            <a:pPr lvl="1"/>
            <a:r>
              <a:rPr lang="en-US" altLang="en-US" dirty="0" smtClean="0"/>
              <a:t>connection setup</a:t>
            </a:r>
            <a:endParaRPr lang="en-US" altLang="en-US" sz="2800" dirty="0"/>
          </a:p>
          <a:p>
            <a:r>
              <a:rPr lang="en-US" altLang="en-US" dirty="0" smtClean="0">
                <a:solidFill>
                  <a:srgbClr val="008000"/>
                </a:solidFill>
              </a:rPr>
              <a:t>unreliable, unordered delivery</a:t>
            </a:r>
            <a:r>
              <a:rPr lang="en-US" altLang="en-US" dirty="0" smtClean="0"/>
              <a:t>: UDP</a:t>
            </a:r>
          </a:p>
          <a:p>
            <a:r>
              <a:rPr lang="en-US" altLang="en-US" dirty="0" smtClean="0">
                <a:solidFill>
                  <a:srgbClr val="008000"/>
                </a:solidFill>
              </a:rPr>
              <a:t>services not available</a:t>
            </a:r>
            <a:r>
              <a:rPr lang="en-US" altLang="en-US" dirty="0" smtClean="0"/>
              <a:t>: </a:t>
            </a:r>
          </a:p>
          <a:p>
            <a:pPr lvl="1"/>
            <a:r>
              <a:rPr lang="en-US" altLang="en-US" dirty="0" smtClean="0"/>
              <a:t>delay guarantees</a:t>
            </a:r>
          </a:p>
          <a:p>
            <a:pPr lvl="1"/>
            <a:r>
              <a:rPr lang="en-US" altLang="en-US" dirty="0" smtClean="0"/>
              <a:t>bandwidth guarantees</a:t>
            </a:r>
          </a:p>
        </p:txBody>
      </p:sp>
      <p:sp>
        <p:nvSpPr>
          <p:cNvPr id="6152" name="Line 677"/>
          <p:cNvSpPr>
            <a:spLocks noChangeShapeType="1"/>
          </p:cNvSpPr>
          <p:nvPr/>
        </p:nvSpPr>
        <p:spPr bwMode="auto">
          <a:xfrm>
            <a:off x="7980364" y="2490789"/>
            <a:ext cx="509587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53" name="Line 683"/>
          <p:cNvSpPr>
            <a:spLocks noChangeShapeType="1"/>
          </p:cNvSpPr>
          <p:nvPr/>
        </p:nvSpPr>
        <p:spPr bwMode="auto">
          <a:xfrm>
            <a:off x="8615364" y="4600575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54" name="Line 684"/>
          <p:cNvSpPr>
            <a:spLocks noChangeShapeType="1"/>
          </p:cNvSpPr>
          <p:nvPr/>
        </p:nvSpPr>
        <p:spPr bwMode="auto">
          <a:xfrm flipV="1">
            <a:off x="7994651" y="4587875"/>
            <a:ext cx="322263" cy="1984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55" name="Line 704"/>
          <p:cNvSpPr>
            <a:spLocks noChangeShapeType="1"/>
          </p:cNvSpPr>
          <p:nvPr/>
        </p:nvSpPr>
        <p:spPr bwMode="auto">
          <a:xfrm flipH="1">
            <a:off x="8553451" y="2836863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20491" name="Group 737"/>
          <p:cNvGrpSpPr>
            <a:grpSpLocks/>
          </p:cNvGrpSpPr>
          <p:nvPr/>
        </p:nvGrpSpPr>
        <p:grpSpPr bwMode="auto">
          <a:xfrm>
            <a:off x="8467725" y="2416175"/>
            <a:ext cx="382588" cy="171450"/>
            <a:chOff x="3855" y="1486"/>
            <a:chExt cx="241" cy="108"/>
          </a:xfrm>
        </p:grpSpPr>
        <p:sp>
          <p:nvSpPr>
            <p:cNvPr id="20605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606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607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08" name="Group 741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611" name="Freeform 74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2" name="Freeform 74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74" name="Line 744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75" name="Line 745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492" name="Group 746"/>
          <p:cNvGrpSpPr>
            <a:grpSpLocks/>
          </p:cNvGrpSpPr>
          <p:nvPr/>
        </p:nvGrpSpPr>
        <p:grpSpPr bwMode="auto">
          <a:xfrm>
            <a:off x="8493125" y="2660650"/>
            <a:ext cx="382588" cy="171450"/>
            <a:chOff x="3855" y="1486"/>
            <a:chExt cx="241" cy="108"/>
          </a:xfrm>
        </p:grpSpPr>
        <p:sp>
          <p:nvSpPr>
            <p:cNvPr id="20597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98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99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600" name="Group 750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603" name="Freeform 75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4" name="Freeform 75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66" name="Line 753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67" name="Line 754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493" name="Group 782"/>
          <p:cNvGrpSpPr>
            <a:grpSpLocks/>
          </p:cNvGrpSpPr>
          <p:nvPr/>
        </p:nvGrpSpPr>
        <p:grpSpPr bwMode="auto">
          <a:xfrm>
            <a:off x="8348664" y="3557588"/>
            <a:ext cx="427037" cy="177800"/>
            <a:chOff x="3855" y="1486"/>
            <a:chExt cx="241" cy="108"/>
          </a:xfrm>
        </p:grpSpPr>
        <p:sp>
          <p:nvSpPr>
            <p:cNvPr id="20589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90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91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592" name="Group 786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95" name="Freeform 78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6" name="Freeform 78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58" name="Line 789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59" name="Line 790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494" name="Group 791"/>
          <p:cNvGrpSpPr>
            <a:grpSpLocks/>
          </p:cNvGrpSpPr>
          <p:nvPr/>
        </p:nvGrpSpPr>
        <p:grpSpPr bwMode="auto">
          <a:xfrm>
            <a:off x="8672514" y="3805238"/>
            <a:ext cx="484187" cy="196850"/>
            <a:chOff x="3855" y="1486"/>
            <a:chExt cx="241" cy="108"/>
          </a:xfrm>
        </p:grpSpPr>
        <p:sp>
          <p:nvSpPr>
            <p:cNvPr id="20581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82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83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584" name="Group 795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87" name="Freeform 79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8" name="Freeform 79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50" name="Line 798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51" name="Line 799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6160" name="Line 813"/>
          <p:cNvSpPr>
            <a:spLocks noChangeShapeType="1"/>
          </p:cNvSpPr>
          <p:nvPr/>
        </p:nvSpPr>
        <p:spPr bwMode="auto">
          <a:xfrm flipV="1">
            <a:off x="8529638" y="3978276"/>
            <a:ext cx="227012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20496" name="Group 814"/>
          <p:cNvGrpSpPr>
            <a:grpSpLocks/>
          </p:cNvGrpSpPr>
          <p:nvPr/>
        </p:nvGrpSpPr>
        <p:grpSpPr bwMode="auto">
          <a:xfrm>
            <a:off x="8177214" y="4414838"/>
            <a:ext cx="617537" cy="241300"/>
            <a:chOff x="3855" y="1486"/>
            <a:chExt cx="241" cy="108"/>
          </a:xfrm>
        </p:grpSpPr>
        <p:sp>
          <p:nvSpPr>
            <p:cNvPr id="20573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74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75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576" name="Group 818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79" name="Freeform 81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0" name="Freeform 82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42" name="Line 821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43" name="Line 822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497" name="Group 823"/>
          <p:cNvGrpSpPr>
            <a:grpSpLocks/>
          </p:cNvGrpSpPr>
          <p:nvPr/>
        </p:nvGrpSpPr>
        <p:grpSpPr bwMode="auto">
          <a:xfrm>
            <a:off x="8831264" y="4751388"/>
            <a:ext cx="617537" cy="241300"/>
            <a:chOff x="3855" y="1486"/>
            <a:chExt cx="241" cy="108"/>
          </a:xfrm>
        </p:grpSpPr>
        <p:sp>
          <p:nvSpPr>
            <p:cNvPr id="20565" name="Oval 407"/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66" name="Rectangle 410"/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567" name="Oval 411"/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0568" name="Group 827"/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71" name="Freeform 82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2" name="Freeform 82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34" name="Line 830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35" name="Line 831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498" name="Group 876"/>
          <p:cNvGrpSpPr>
            <a:grpSpLocks/>
          </p:cNvGrpSpPr>
          <p:nvPr/>
        </p:nvGrpSpPr>
        <p:grpSpPr bwMode="auto">
          <a:xfrm>
            <a:off x="6883401" y="1330326"/>
            <a:ext cx="1057275" cy="957263"/>
            <a:chOff x="-153" y="1680"/>
            <a:chExt cx="666" cy="603"/>
          </a:xfrm>
        </p:grpSpPr>
        <p:grpSp>
          <p:nvGrpSpPr>
            <p:cNvPr id="20556" name="Group 877"/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6223" name="Rectangle 878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4" name="Rectangle 879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5" name="Rectangle 880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6" name="Text Box 881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/>
                  <a:t>application</a:t>
                </a:r>
              </a:p>
              <a:p>
                <a:pPr>
                  <a:defRPr/>
                </a:pPr>
                <a:r>
                  <a:rPr lang="en-US" sz="1000">
                    <a:solidFill>
                      <a:schemeClr val="bg1"/>
                    </a:solidFill>
                  </a:rPr>
                  <a:t>transport</a:t>
                </a:r>
                <a:endParaRPr lang="en-US" sz="1000"/>
              </a:p>
              <a:p>
                <a:pPr>
                  <a:defRPr/>
                </a:pPr>
                <a:r>
                  <a:rPr lang="en-US" sz="1000"/>
                  <a:t>network</a:t>
                </a:r>
              </a:p>
              <a:p>
                <a:pPr>
                  <a:defRPr/>
                </a:pPr>
                <a:r>
                  <a:rPr lang="en-US" sz="1000"/>
                  <a:t>data link</a:t>
                </a:r>
              </a:p>
              <a:p>
                <a:pPr>
                  <a:defRPr/>
                </a:pPr>
                <a:r>
                  <a:rPr lang="en-US" sz="1000"/>
                  <a:t>physical</a:t>
                </a:r>
                <a:endParaRPr lang="en-US" sz="2400"/>
              </a:p>
            </p:txBody>
          </p:sp>
          <p:sp>
            <p:nvSpPr>
              <p:cNvPr id="6227" name="Line 882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8" name="Line 883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9" name="Line 884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557" name="Freeform 885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9" name="Group 886"/>
          <p:cNvGrpSpPr>
            <a:grpSpLocks/>
          </p:cNvGrpSpPr>
          <p:nvPr/>
        </p:nvGrpSpPr>
        <p:grpSpPr bwMode="auto">
          <a:xfrm>
            <a:off x="9393239" y="4343401"/>
            <a:ext cx="1057275" cy="957263"/>
            <a:chOff x="-153" y="1680"/>
            <a:chExt cx="666" cy="603"/>
          </a:xfrm>
        </p:grpSpPr>
        <p:grpSp>
          <p:nvGrpSpPr>
            <p:cNvPr id="20547" name="Group 887"/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6214" name="Rectangle 888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15" name="Rectangle 889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16" name="Rectangle 890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17" name="Text Box 891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/>
                  <a:t>application</a:t>
                </a:r>
              </a:p>
              <a:p>
                <a:pPr>
                  <a:defRPr/>
                </a:pPr>
                <a:r>
                  <a:rPr lang="en-US" sz="1000">
                    <a:solidFill>
                      <a:schemeClr val="bg1"/>
                    </a:solidFill>
                  </a:rPr>
                  <a:t>transport</a:t>
                </a:r>
                <a:endParaRPr lang="en-US" sz="1000"/>
              </a:p>
              <a:p>
                <a:pPr>
                  <a:defRPr/>
                </a:pPr>
                <a:r>
                  <a:rPr lang="en-US" sz="1000"/>
                  <a:t>network</a:t>
                </a:r>
              </a:p>
              <a:p>
                <a:pPr>
                  <a:defRPr/>
                </a:pPr>
                <a:r>
                  <a:rPr lang="en-US" sz="1000"/>
                  <a:t>data link</a:t>
                </a:r>
              </a:p>
              <a:p>
                <a:pPr>
                  <a:defRPr/>
                </a:pPr>
                <a:r>
                  <a:rPr lang="en-US" sz="1000"/>
                  <a:t>physical</a:t>
                </a:r>
                <a:endParaRPr lang="en-US" sz="2400"/>
              </a:p>
            </p:txBody>
          </p:sp>
          <p:sp>
            <p:nvSpPr>
              <p:cNvPr id="6218" name="Line 892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19" name="Line 893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220" name="Line 894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548" name="Freeform 895"/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0" name="Group 661"/>
          <p:cNvGrpSpPr>
            <a:grpSpLocks/>
          </p:cNvGrpSpPr>
          <p:nvPr/>
        </p:nvGrpSpPr>
        <p:grpSpPr bwMode="auto">
          <a:xfrm>
            <a:off x="7437439" y="2057401"/>
            <a:ext cx="814387" cy="701675"/>
            <a:chOff x="2923" y="3345"/>
            <a:chExt cx="513" cy="442"/>
          </a:xfrm>
        </p:grpSpPr>
        <p:sp>
          <p:nvSpPr>
            <p:cNvPr id="6207" name="Rectangle 66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8" name="Rectangle 66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9" name="Text Box 66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210" name="Line 66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11" name="Line 66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1" name="Group 901"/>
          <p:cNvGrpSpPr>
            <a:grpSpLocks/>
          </p:cNvGrpSpPr>
          <p:nvPr/>
        </p:nvGrpSpPr>
        <p:grpSpPr bwMode="auto">
          <a:xfrm>
            <a:off x="8253414" y="2479676"/>
            <a:ext cx="814387" cy="701675"/>
            <a:chOff x="2923" y="3345"/>
            <a:chExt cx="513" cy="442"/>
          </a:xfrm>
        </p:grpSpPr>
        <p:sp>
          <p:nvSpPr>
            <p:cNvPr id="6202" name="Rectangle 90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3" name="Rectangle 90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4" name="Text Box 90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205" name="Line 90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6" name="Line 90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2" name="Group 907"/>
          <p:cNvGrpSpPr>
            <a:grpSpLocks/>
          </p:cNvGrpSpPr>
          <p:nvPr/>
        </p:nvGrpSpPr>
        <p:grpSpPr bwMode="auto">
          <a:xfrm>
            <a:off x="8262939" y="1901826"/>
            <a:ext cx="814387" cy="701675"/>
            <a:chOff x="2923" y="3345"/>
            <a:chExt cx="513" cy="442"/>
          </a:xfrm>
        </p:grpSpPr>
        <p:sp>
          <p:nvSpPr>
            <p:cNvPr id="6197" name="Rectangle 908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8" name="Rectangle 909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9" name="Text Box 910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200" name="Line 911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1" name="Line 912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3" name="Group 913"/>
          <p:cNvGrpSpPr>
            <a:grpSpLocks/>
          </p:cNvGrpSpPr>
          <p:nvPr/>
        </p:nvGrpSpPr>
        <p:grpSpPr bwMode="auto">
          <a:xfrm>
            <a:off x="8037514" y="3089276"/>
            <a:ext cx="814387" cy="701675"/>
            <a:chOff x="2923" y="3345"/>
            <a:chExt cx="513" cy="442"/>
          </a:xfrm>
        </p:grpSpPr>
        <p:sp>
          <p:nvSpPr>
            <p:cNvPr id="6192" name="Rectangle 914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3" name="Rectangle 915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4" name="Text Box 916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195" name="Line 917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6" name="Line 918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4" name="Group 919"/>
          <p:cNvGrpSpPr>
            <a:grpSpLocks/>
          </p:cNvGrpSpPr>
          <p:nvPr/>
        </p:nvGrpSpPr>
        <p:grpSpPr bwMode="auto">
          <a:xfrm>
            <a:off x="8624889" y="3594101"/>
            <a:ext cx="814387" cy="701675"/>
            <a:chOff x="2923" y="3345"/>
            <a:chExt cx="513" cy="442"/>
          </a:xfrm>
        </p:grpSpPr>
        <p:sp>
          <p:nvSpPr>
            <p:cNvPr id="6187" name="Rectangle 920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8" name="Rectangle 921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9" name="Text Box 922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190" name="Line 923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91" name="Line 924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5" name="Group 925"/>
          <p:cNvGrpSpPr>
            <a:grpSpLocks/>
          </p:cNvGrpSpPr>
          <p:nvPr/>
        </p:nvGrpSpPr>
        <p:grpSpPr bwMode="auto">
          <a:xfrm>
            <a:off x="8113714" y="4003676"/>
            <a:ext cx="814387" cy="701675"/>
            <a:chOff x="2923" y="3345"/>
            <a:chExt cx="513" cy="442"/>
          </a:xfrm>
        </p:grpSpPr>
        <p:sp>
          <p:nvSpPr>
            <p:cNvPr id="6182" name="Rectangle 926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3" name="Rectangle 927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4" name="Text Box 928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185" name="Line 929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6" name="Line 930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6" name="Group 931"/>
          <p:cNvGrpSpPr>
            <a:grpSpLocks/>
          </p:cNvGrpSpPr>
          <p:nvPr/>
        </p:nvGrpSpPr>
        <p:grpSpPr bwMode="auto">
          <a:xfrm>
            <a:off x="8761414" y="4400551"/>
            <a:ext cx="814387" cy="701675"/>
            <a:chOff x="2923" y="3345"/>
            <a:chExt cx="513" cy="442"/>
          </a:xfrm>
        </p:grpSpPr>
        <p:sp>
          <p:nvSpPr>
            <p:cNvPr id="6177" name="Rectangle 93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78" name="Rectangle 93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79" name="Text Box 93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endParaRPr lang="en-US" sz="1000">
                <a:latin typeface="Comic Sans MS" charset="0"/>
              </a:endParaRPr>
            </a:p>
            <a:p>
              <a:pPr>
                <a:defRPr/>
              </a:pPr>
              <a:r>
                <a:rPr lang="en-US" sz="1000"/>
                <a:t>network</a:t>
              </a:r>
            </a:p>
            <a:p>
              <a:pPr>
                <a:defRPr/>
              </a:pPr>
              <a:r>
                <a:rPr lang="en-US" sz="1000"/>
                <a:t>data link</a:t>
              </a:r>
            </a:p>
            <a:p>
              <a:pPr>
                <a:defRPr/>
              </a:pPr>
              <a:r>
                <a:rPr lang="en-US" sz="1000"/>
                <a:t>physical</a:t>
              </a:r>
              <a:endParaRPr lang="en-US" sz="2400"/>
            </a:p>
          </p:txBody>
        </p:sp>
        <p:sp>
          <p:nvSpPr>
            <p:cNvPr id="6180" name="Line 93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1" name="Line 93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507" name="Group 896"/>
          <p:cNvGrpSpPr>
            <a:grpSpLocks/>
          </p:cNvGrpSpPr>
          <p:nvPr/>
        </p:nvGrpSpPr>
        <p:grpSpPr bwMode="auto">
          <a:xfrm rot="2937887">
            <a:off x="6913564" y="2911476"/>
            <a:ext cx="3781425" cy="434975"/>
            <a:chOff x="2937" y="3579"/>
            <a:chExt cx="2382" cy="274"/>
          </a:xfrm>
        </p:grpSpPr>
        <p:sp>
          <p:nvSpPr>
            <p:cNvPr id="6173" name="Rectangle 897"/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174" name="Text Box 898"/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chemeClr val="bg1"/>
                  </a:solidFill>
                </a:rPr>
                <a:t>logical end-end transport</a:t>
              </a:r>
              <a:endParaRPr lang="en-US"/>
            </a:p>
          </p:txBody>
        </p:sp>
        <p:sp>
          <p:nvSpPr>
            <p:cNvPr id="20510" name="Freeform 899"/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Freeform 900"/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853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1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7BCB49E-C260-4B74-AF6C-5C3C8AF77A21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2532" name="Freeform 157"/>
          <p:cNvSpPr>
            <a:spLocks/>
          </p:cNvSpPr>
          <p:nvPr/>
        </p:nvSpPr>
        <p:spPr bwMode="auto">
          <a:xfrm>
            <a:off x="4291013" y="3143250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17688" y="1428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Multiplexing/</a:t>
            </a:r>
            <a:r>
              <a:rPr lang="en-US" dirty="0" err="1">
                <a:ea typeface="ＭＳ Ｐゴシック" charset="0"/>
                <a:cs typeface="+mj-cs"/>
              </a:rPr>
              <a:t>demultiplexing</a:t>
            </a:r>
            <a:endParaRPr lang="en-US" dirty="0">
              <a:ea typeface="ＭＳ Ｐゴシック" charset="0"/>
              <a:cs typeface="+mj-cs"/>
            </a:endParaRPr>
          </a:p>
        </p:txBody>
      </p:sp>
      <p:sp>
        <p:nvSpPr>
          <p:cNvPr id="8199" name="Text Box 37"/>
          <p:cNvSpPr txBox="1">
            <a:spLocks noChangeArrowheads="1"/>
          </p:cNvSpPr>
          <p:nvPr/>
        </p:nvSpPr>
        <p:spPr bwMode="auto">
          <a:xfrm>
            <a:off x="9531350" y="4068763"/>
            <a:ext cx="895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process</a:t>
            </a:r>
          </a:p>
        </p:txBody>
      </p:sp>
      <p:sp>
        <p:nvSpPr>
          <p:cNvPr id="8200" name="Text Box 38"/>
          <p:cNvSpPr txBox="1">
            <a:spLocks noChangeArrowheads="1"/>
          </p:cNvSpPr>
          <p:nvPr/>
        </p:nvSpPr>
        <p:spPr bwMode="auto">
          <a:xfrm>
            <a:off x="9505950" y="3667125"/>
            <a:ext cx="755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socket</a:t>
            </a:r>
          </a:p>
        </p:txBody>
      </p:sp>
      <p:grpSp>
        <p:nvGrpSpPr>
          <p:cNvPr id="362673" name="Group 177"/>
          <p:cNvGrpSpPr>
            <a:grpSpLocks/>
          </p:cNvGrpSpPr>
          <p:nvPr/>
        </p:nvGrpSpPr>
        <p:grpSpPr bwMode="auto">
          <a:xfrm>
            <a:off x="6432551" y="1571625"/>
            <a:ext cx="3808413" cy="1468438"/>
            <a:chOff x="3092" y="990"/>
            <a:chExt cx="2399" cy="925"/>
          </a:xfrm>
        </p:grpSpPr>
        <p:sp>
          <p:nvSpPr>
            <p:cNvPr id="8323" name="Rectangle 41"/>
            <p:cNvSpPr>
              <a:spLocks noChangeArrowheads="1"/>
            </p:cNvSpPr>
            <p:nvPr/>
          </p:nvSpPr>
          <p:spPr bwMode="auto">
            <a:xfrm>
              <a:off x="3092" y="1163"/>
              <a:ext cx="2399" cy="752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lnSpc>
                  <a:spcPct val="80000"/>
                </a:lnSpc>
                <a:defRPr/>
              </a:pPr>
              <a:r>
                <a:rPr lang="en-US" sz="2400" dirty="0">
                  <a:latin typeface="Gill Sans MT" charset="0"/>
                  <a:ea typeface="ＭＳ Ｐゴシック" charset="0"/>
                </a:rPr>
                <a:t>use header info </a:t>
              </a:r>
              <a:r>
                <a:rPr lang="en-US" sz="2400" dirty="0">
                  <a:solidFill>
                    <a:srgbClr val="008000"/>
                  </a:solidFill>
                  <a:latin typeface="Gill Sans MT" charset="0"/>
                  <a:ea typeface="ＭＳ Ｐゴシック" charset="0"/>
                </a:rPr>
                <a:t>to deliver</a:t>
              </a:r>
            </a:p>
            <a:p>
              <a:pPr algn="l">
                <a:lnSpc>
                  <a:spcPct val="80000"/>
                </a:lnSpc>
                <a:defRPr/>
              </a:pPr>
              <a:r>
                <a:rPr lang="en-US" sz="2400" dirty="0">
                  <a:solidFill>
                    <a:srgbClr val="008000"/>
                  </a:solidFill>
                  <a:latin typeface="Gill Sans MT" charset="0"/>
                  <a:ea typeface="ＭＳ Ｐゴシック" charset="0"/>
                </a:rPr>
                <a:t>received segments to correct </a:t>
              </a:r>
            </a:p>
            <a:p>
              <a:pPr algn="l">
                <a:lnSpc>
                  <a:spcPct val="80000"/>
                </a:lnSpc>
                <a:defRPr/>
              </a:pPr>
              <a:r>
                <a:rPr lang="en-US" sz="2400" dirty="0">
                  <a:solidFill>
                    <a:srgbClr val="008000"/>
                  </a:solidFill>
                  <a:latin typeface="Gill Sans MT" charset="0"/>
                  <a:ea typeface="ＭＳ Ｐゴシック" charset="0"/>
                </a:rPr>
                <a:t>socket</a:t>
              </a:r>
            </a:p>
          </p:txBody>
        </p:sp>
        <p:grpSp>
          <p:nvGrpSpPr>
            <p:cNvPr id="22659" name="Group 42"/>
            <p:cNvGrpSpPr>
              <a:grpSpLocks/>
            </p:cNvGrpSpPr>
            <p:nvPr/>
          </p:nvGrpSpPr>
          <p:grpSpPr bwMode="auto">
            <a:xfrm>
              <a:off x="3188" y="990"/>
              <a:ext cx="2016" cy="291"/>
              <a:chOff x="1136" y="3681"/>
              <a:chExt cx="1618" cy="291"/>
            </a:xfrm>
          </p:grpSpPr>
          <p:sp>
            <p:nvSpPr>
              <p:cNvPr id="8325" name="Rectangle 43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2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326" name="Text Box 44"/>
              <p:cNvSpPr txBox="1">
                <a:spLocks noChangeArrowheads="1"/>
              </p:cNvSpPr>
              <p:nvPr/>
            </p:nvSpPr>
            <p:spPr bwMode="auto">
              <a:xfrm>
                <a:off x="1136" y="3681"/>
                <a:ext cx="1618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i="1">
                    <a:solidFill>
                      <a:srgbClr val="CC0000"/>
                    </a:solidFill>
                    <a:latin typeface="Gill Sans MT" charset="0"/>
                  </a:rPr>
                  <a:t>demultiplexing at receiver:</a:t>
                </a:r>
              </a:p>
            </p:txBody>
          </p:sp>
        </p:grpSp>
      </p:grpSp>
      <p:grpSp>
        <p:nvGrpSpPr>
          <p:cNvPr id="362672" name="Group 176"/>
          <p:cNvGrpSpPr>
            <a:grpSpLocks/>
          </p:cNvGrpSpPr>
          <p:nvPr/>
        </p:nvGrpSpPr>
        <p:grpSpPr bwMode="auto">
          <a:xfrm>
            <a:off x="1935164" y="1335088"/>
            <a:ext cx="4029075" cy="1466850"/>
            <a:chOff x="259" y="841"/>
            <a:chExt cx="2538" cy="924"/>
          </a:xfrm>
        </p:grpSpPr>
        <p:sp>
          <p:nvSpPr>
            <p:cNvPr id="8318" name="Text Box 45"/>
            <p:cNvSpPr txBox="1">
              <a:spLocks noChangeArrowheads="1"/>
            </p:cNvSpPr>
            <p:nvPr/>
          </p:nvSpPr>
          <p:spPr bwMode="auto">
            <a:xfrm>
              <a:off x="264" y="1068"/>
              <a:ext cx="2533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0000"/>
                </a:lnSpc>
                <a:defRPr/>
              </a:pPr>
              <a:r>
                <a:rPr lang="en-US" sz="2400" dirty="0">
                  <a:latin typeface="Gill Sans MT" charset="0"/>
                </a:rPr>
                <a:t>handle data from multiple</a:t>
              </a:r>
            </a:p>
            <a:p>
              <a:pPr algn="l">
                <a:lnSpc>
                  <a:spcPct val="80000"/>
                </a:lnSpc>
                <a:defRPr/>
              </a:pPr>
              <a:r>
                <a:rPr lang="en-US" sz="2400" dirty="0">
                  <a:latin typeface="Gill Sans MT" charset="0"/>
                </a:rPr>
                <a:t>sockets, </a:t>
              </a:r>
              <a:r>
                <a:rPr lang="en-US" sz="2400" dirty="0">
                  <a:solidFill>
                    <a:srgbClr val="008000"/>
                  </a:solidFill>
                  <a:latin typeface="Gill Sans MT" charset="0"/>
                </a:rPr>
                <a:t>add transport header </a:t>
              </a:r>
              <a:r>
                <a:rPr lang="en-US" sz="2400" dirty="0">
                  <a:latin typeface="Gill Sans MT" charset="0"/>
                </a:rPr>
                <a:t>(later used for </a:t>
              </a:r>
              <a:r>
                <a:rPr lang="en-US" sz="2400" dirty="0" err="1">
                  <a:latin typeface="Gill Sans MT" charset="0"/>
                </a:rPr>
                <a:t>demultiplexing</a:t>
              </a:r>
              <a:r>
                <a:rPr lang="en-US" sz="2400" dirty="0">
                  <a:latin typeface="Gill Sans MT" charset="0"/>
                </a:rPr>
                <a:t>)</a:t>
              </a:r>
            </a:p>
          </p:txBody>
        </p:sp>
        <p:sp>
          <p:nvSpPr>
            <p:cNvPr id="8319" name="Rectangle 46"/>
            <p:cNvSpPr>
              <a:spLocks noChangeArrowheads="1"/>
            </p:cNvSpPr>
            <p:nvPr/>
          </p:nvSpPr>
          <p:spPr bwMode="auto">
            <a:xfrm>
              <a:off x="259" y="1009"/>
              <a:ext cx="2479" cy="756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655" name="Group 47"/>
            <p:cNvGrpSpPr>
              <a:grpSpLocks/>
            </p:cNvGrpSpPr>
            <p:nvPr/>
          </p:nvGrpSpPr>
          <p:grpSpPr bwMode="auto">
            <a:xfrm>
              <a:off x="332" y="841"/>
              <a:ext cx="1764" cy="291"/>
              <a:chOff x="1101" y="3681"/>
              <a:chExt cx="1694" cy="291"/>
            </a:xfrm>
          </p:grpSpPr>
          <p:sp>
            <p:nvSpPr>
              <p:cNvPr id="8321" name="Rectangle 48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322" name="Text Box 49"/>
              <p:cNvSpPr txBox="1">
                <a:spLocks noChangeArrowheads="1"/>
              </p:cNvSpPr>
              <p:nvPr/>
            </p:nvSpPr>
            <p:spPr bwMode="auto">
              <a:xfrm>
                <a:off x="1101" y="3681"/>
                <a:ext cx="1694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i="1">
                    <a:solidFill>
                      <a:srgbClr val="CC0000"/>
                    </a:solidFill>
                    <a:latin typeface="Gill Sans MT" charset="0"/>
                  </a:rPr>
                  <a:t>multiplexing at sender:</a:t>
                </a:r>
              </a:p>
            </p:txBody>
          </p:sp>
        </p:grpSp>
      </p:grpSp>
      <p:grpSp>
        <p:nvGrpSpPr>
          <p:cNvPr id="22538" name="Group 57"/>
          <p:cNvGrpSpPr>
            <a:grpSpLocks/>
          </p:cNvGrpSpPr>
          <p:nvPr/>
        </p:nvGrpSpPr>
        <p:grpSpPr bwMode="auto">
          <a:xfrm>
            <a:off x="9005888" y="3741739"/>
            <a:ext cx="533400" cy="206375"/>
            <a:chOff x="344" y="1846"/>
            <a:chExt cx="336" cy="130"/>
          </a:xfrm>
        </p:grpSpPr>
        <p:sp>
          <p:nvSpPr>
            <p:cNvPr id="8314" name="Rectangle 35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5" name="Rectangle 54"/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6" name="Rectangle 55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7" name="Rectangle 56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2539" name="Rectangle 23"/>
          <p:cNvSpPr>
            <a:spLocks noChangeArrowheads="1"/>
          </p:cNvSpPr>
          <p:nvPr/>
        </p:nvSpPr>
        <p:spPr bwMode="auto">
          <a:xfrm>
            <a:off x="4838701" y="3194050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40" name="Rectangle 24"/>
          <p:cNvSpPr>
            <a:spLocks noChangeArrowheads="1"/>
          </p:cNvSpPr>
          <p:nvPr/>
        </p:nvSpPr>
        <p:spPr bwMode="auto">
          <a:xfrm>
            <a:off x="4803775" y="3248026"/>
            <a:ext cx="1473200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41" name="Line 25"/>
          <p:cNvSpPr>
            <a:spLocks noChangeShapeType="1"/>
          </p:cNvSpPr>
          <p:nvPr/>
        </p:nvSpPr>
        <p:spPr bwMode="auto">
          <a:xfrm>
            <a:off x="4810125" y="4017964"/>
            <a:ext cx="14605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Text Box 26"/>
          <p:cNvSpPr txBox="1">
            <a:spLocks noChangeArrowheads="1"/>
          </p:cNvSpPr>
          <p:nvPr/>
        </p:nvSpPr>
        <p:spPr bwMode="auto">
          <a:xfrm>
            <a:off x="4881564" y="400050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transport</a:t>
            </a:r>
          </a:p>
        </p:txBody>
      </p:sp>
      <p:sp>
        <p:nvSpPr>
          <p:cNvPr id="22543" name="Line 27"/>
          <p:cNvSpPr>
            <a:spLocks noChangeShapeType="1"/>
          </p:cNvSpPr>
          <p:nvPr/>
        </p:nvSpPr>
        <p:spPr bwMode="auto">
          <a:xfrm>
            <a:off x="4811714" y="433546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Text Box 26"/>
          <p:cNvSpPr txBox="1">
            <a:spLocks noChangeArrowheads="1"/>
          </p:cNvSpPr>
          <p:nvPr/>
        </p:nvSpPr>
        <p:spPr bwMode="auto">
          <a:xfrm>
            <a:off x="4878389" y="32146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application</a:t>
            </a:r>
          </a:p>
        </p:txBody>
      </p:sp>
      <p:sp>
        <p:nvSpPr>
          <p:cNvPr id="22545" name="Text Box 26"/>
          <p:cNvSpPr txBox="1">
            <a:spLocks noChangeArrowheads="1"/>
          </p:cNvSpPr>
          <p:nvPr/>
        </p:nvSpPr>
        <p:spPr bwMode="auto">
          <a:xfrm>
            <a:off x="4875214" y="490537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physical</a:t>
            </a:r>
          </a:p>
        </p:txBody>
      </p:sp>
      <p:sp>
        <p:nvSpPr>
          <p:cNvPr id="22546" name="Text Box 26"/>
          <p:cNvSpPr txBox="1">
            <a:spLocks noChangeArrowheads="1"/>
          </p:cNvSpPr>
          <p:nvPr/>
        </p:nvSpPr>
        <p:spPr bwMode="auto">
          <a:xfrm>
            <a:off x="4875214" y="461962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link</a:t>
            </a:r>
          </a:p>
        </p:txBody>
      </p:sp>
      <p:sp>
        <p:nvSpPr>
          <p:cNvPr id="22547" name="Text Box 26"/>
          <p:cNvSpPr txBox="1">
            <a:spLocks noChangeArrowheads="1"/>
          </p:cNvSpPr>
          <p:nvPr/>
        </p:nvSpPr>
        <p:spPr bwMode="auto">
          <a:xfrm>
            <a:off x="4875214" y="432117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network</a:t>
            </a:r>
          </a:p>
        </p:txBody>
      </p:sp>
      <p:sp>
        <p:nvSpPr>
          <p:cNvPr id="8213" name="Oval 120"/>
          <p:cNvSpPr>
            <a:spLocks noChangeArrowheads="1"/>
          </p:cNvSpPr>
          <p:nvPr/>
        </p:nvSpPr>
        <p:spPr bwMode="auto">
          <a:xfrm>
            <a:off x="557530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>
                <a:latin typeface="Comic Sans MS" charset="0"/>
                <a:ea typeface="ＭＳ Ｐゴシック" charset="0"/>
              </a:rPr>
              <a:t>P2</a:t>
            </a:r>
          </a:p>
        </p:txBody>
      </p:sp>
      <p:sp>
        <p:nvSpPr>
          <p:cNvPr id="22549" name="Line 27"/>
          <p:cNvSpPr>
            <a:spLocks noChangeShapeType="1"/>
          </p:cNvSpPr>
          <p:nvPr/>
        </p:nvSpPr>
        <p:spPr bwMode="auto">
          <a:xfrm>
            <a:off x="4808539" y="464661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7"/>
          <p:cNvSpPr>
            <a:spLocks noChangeShapeType="1"/>
          </p:cNvSpPr>
          <p:nvPr/>
        </p:nvSpPr>
        <p:spPr bwMode="auto">
          <a:xfrm>
            <a:off x="4805364" y="494506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6" name="Oval 128"/>
          <p:cNvSpPr>
            <a:spLocks noChangeArrowheads="1"/>
          </p:cNvSpPr>
          <p:nvPr/>
        </p:nvSpPr>
        <p:spPr bwMode="auto">
          <a:xfrm>
            <a:off x="487045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>
                <a:latin typeface="Comic Sans MS" charset="0"/>
                <a:ea typeface="ＭＳ Ｐゴシック" charset="0"/>
              </a:rPr>
              <a:t>P1</a:t>
            </a:r>
          </a:p>
        </p:txBody>
      </p:sp>
      <p:grpSp>
        <p:nvGrpSpPr>
          <p:cNvPr id="22552" name="Group 134"/>
          <p:cNvGrpSpPr>
            <a:grpSpLocks/>
          </p:cNvGrpSpPr>
          <p:nvPr/>
        </p:nvGrpSpPr>
        <p:grpSpPr bwMode="auto">
          <a:xfrm>
            <a:off x="5651500" y="3948113"/>
            <a:ext cx="412750" cy="158750"/>
            <a:chOff x="1383" y="2620"/>
            <a:chExt cx="260" cy="100"/>
          </a:xfrm>
        </p:grpSpPr>
        <p:sp>
          <p:nvSpPr>
            <p:cNvPr id="8310" name="Rectangle 130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1" name="Rectangle 131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2" name="Rectangle 132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13" name="Rectangle 133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2553" name="Group 135"/>
          <p:cNvGrpSpPr>
            <a:grpSpLocks/>
          </p:cNvGrpSpPr>
          <p:nvPr/>
        </p:nvGrpSpPr>
        <p:grpSpPr bwMode="auto">
          <a:xfrm>
            <a:off x="4949825" y="3940175"/>
            <a:ext cx="412750" cy="158750"/>
            <a:chOff x="1383" y="2620"/>
            <a:chExt cx="260" cy="100"/>
          </a:xfrm>
        </p:grpSpPr>
        <p:sp>
          <p:nvSpPr>
            <p:cNvPr id="8306" name="Rectangle 136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7" name="Rectangle 137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8" name="Rectangle 138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9" name="Rectangle 139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2554" name="Freeform 141"/>
          <p:cNvSpPr>
            <a:spLocks/>
          </p:cNvSpPr>
          <p:nvPr/>
        </p:nvSpPr>
        <p:spPr bwMode="auto">
          <a:xfrm>
            <a:off x="3317875" y="4003675"/>
            <a:ext cx="2160588" cy="1989138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5" name="Freeform 142"/>
          <p:cNvSpPr>
            <a:spLocks/>
          </p:cNvSpPr>
          <p:nvPr/>
        </p:nvSpPr>
        <p:spPr bwMode="auto">
          <a:xfrm>
            <a:off x="3381375" y="4029076"/>
            <a:ext cx="1962150" cy="1897063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6" name="Rectangle 23"/>
          <p:cNvSpPr>
            <a:spLocks noChangeArrowheads="1"/>
          </p:cNvSpPr>
          <p:nvPr/>
        </p:nvSpPr>
        <p:spPr bwMode="auto">
          <a:xfrm>
            <a:off x="7100889" y="3563938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57" name="Rectangle 24"/>
          <p:cNvSpPr>
            <a:spLocks noChangeArrowheads="1"/>
          </p:cNvSpPr>
          <p:nvPr/>
        </p:nvSpPr>
        <p:spPr bwMode="auto">
          <a:xfrm>
            <a:off x="7062789" y="3617913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58" name="Line 25"/>
          <p:cNvSpPr>
            <a:spLocks noChangeShapeType="1"/>
          </p:cNvSpPr>
          <p:nvPr/>
        </p:nvSpPr>
        <p:spPr bwMode="auto">
          <a:xfrm>
            <a:off x="7072313" y="43783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9" name="Text Box 26"/>
          <p:cNvSpPr txBox="1">
            <a:spLocks noChangeArrowheads="1"/>
          </p:cNvSpPr>
          <p:nvPr/>
        </p:nvSpPr>
        <p:spPr bwMode="auto">
          <a:xfrm>
            <a:off x="7029451" y="436086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transport</a:t>
            </a:r>
          </a:p>
        </p:txBody>
      </p:sp>
      <p:sp>
        <p:nvSpPr>
          <p:cNvPr id="22560" name="Line 27"/>
          <p:cNvSpPr>
            <a:spLocks noChangeShapeType="1"/>
          </p:cNvSpPr>
          <p:nvPr/>
        </p:nvSpPr>
        <p:spPr bwMode="auto">
          <a:xfrm>
            <a:off x="7080250" y="46990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1" name="Line 28"/>
          <p:cNvSpPr>
            <a:spLocks noChangeShapeType="1"/>
          </p:cNvSpPr>
          <p:nvPr/>
        </p:nvSpPr>
        <p:spPr bwMode="auto">
          <a:xfrm>
            <a:off x="7065963" y="50085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2" name="Line 29"/>
          <p:cNvSpPr>
            <a:spLocks noChangeShapeType="1"/>
          </p:cNvSpPr>
          <p:nvPr/>
        </p:nvSpPr>
        <p:spPr bwMode="auto">
          <a:xfrm>
            <a:off x="7065963" y="52943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3" name="Text Box 26"/>
          <p:cNvSpPr txBox="1">
            <a:spLocks noChangeArrowheads="1"/>
          </p:cNvSpPr>
          <p:nvPr/>
        </p:nvSpPr>
        <p:spPr bwMode="auto">
          <a:xfrm>
            <a:off x="7064376" y="36083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application</a:t>
            </a:r>
          </a:p>
        </p:txBody>
      </p:sp>
      <p:sp>
        <p:nvSpPr>
          <p:cNvPr id="22564" name="Text Box 26"/>
          <p:cNvSpPr txBox="1">
            <a:spLocks noChangeArrowheads="1"/>
          </p:cNvSpPr>
          <p:nvPr/>
        </p:nvSpPr>
        <p:spPr bwMode="auto">
          <a:xfrm>
            <a:off x="7019926" y="526573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physical</a:t>
            </a:r>
          </a:p>
        </p:txBody>
      </p:sp>
      <p:sp>
        <p:nvSpPr>
          <p:cNvPr id="22565" name="Text Box 26"/>
          <p:cNvSpPr txBox="1">
            <a:spLocks noChangeArrowheads="1"/>
          </p:cNvSpPr>
          <p:nvPr/>
        </p:nvSpPr>
        <p:spPr bwMode="auto">
          <a:xfrm>
            <a:off x="7038976" y="49799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link</a:t>
            </a:r>
          </a:p>
        </p:txBody>
      </p:sp>
      <p:sp>
        <p:nvSpPr>
          <p:cNvPr id="22566" name="Text Box 26"/>
          <p:cNvSpPr txBox="1">
            <a:spLocks noChangeArrowheads="1"/>
          </p:cNvSpPr>
          <p:nvPr/>
        </p:nvSpPr>
        <p:spPr bwMode="auto">
          <a:xfrm>
            <a:off x="7029451" y="468471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network</a:t>
            </a:r>
          </a:p>
        </p:txBody>
      </p:sp>
      <p:sp>
        <p:nvSpPr>
          <p:cNvPr id="8232" name="Oval 101"/>
          <p:cNvSpPr>
            <a:spLocks noChangeArrowheads="1"/>
          </p:cNvSpPr>
          <p:nvPr/>
        </p:nvSpPr>
        <p:spPr bwMode="auto">
          <a:xfrm>
            <a:off x="7399339" y="394970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>
                <a:latin typeface="Comic Sans MS" charset="0"/>
                <a:ea typeface="ＭＳ Ｐゴシック" charset="0"/>
              </a:rPr>
              <a:t>P4</a:t>
            </a:r>
          </a:p>
        </p:txBody>
      </p:sp>
      <p:sp>
        <p:nvSpPr>
          <p:cNvPr id="22568" name="Freeform 103"/>
          <p:cNvSpPr>
            <a:spLocks/>
          </p:cNvSpPr>
          <p:nvPr/>
        </p:nvSpPr>
        <p:spPr bwMode="auto">
          <a:xfrm>
            <a:off x="8348664" y="3595688"/>
            <a:ext cx="581025" cy="20383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9" name="Freeform 70"/>
          <p:cNvSpPr>
            <a:spLocks/>
          </p:cNvSpPr>
          <p:nvPr/>
        </p:nvSpPr>
        <p:spPr bwMode="auto">
          <a:xfrm>
            <a:off x="2159000" y="3616325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70" name="Rectangle 23"/>
          <p:cNvSpPr>
            <a:spLocks noChangeArrowheads="1"/>
          </p:cNvSpPr>
          <p:nvPr/>
        </p:nvSpPr>
        <p:spPr bwMode="auto">
          <a:xfrm>
            <a:off x="2755900" y="3571875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71" name="Rectangle 24"/>
          <p:cNvSpPr>
            <a:spLocks noChangeArrowheads="1"/>
          </p:cNvSpPr>
          <p:nvPr/>
        </p:nvSpPr>
        <p:spPr bwMode="auto">
          <a:xfrm>
            <a:off x="2717801" y="3625851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72" name="Line 25"/>
          <p:cNvSpPr>
            <a:spLocks noChangeShapeType="1"/>
          </p:cNvSpPr>
          <p:nvPr/>
        </p:nvSpPr>
        <p:spPr bwMode="auto">
          <a:xfrm>
            <a:off x="2727325" y="43862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73" name="Text Box 26"/>
          <p:cNvSpPr txBox="1">
            <a:spLocks noChangeArrowheads="1"/>
          </p:cNvSpPr>
          <p:nvPr/>
        </p:nvSpPr>
        <p:spPr bwMode="auto">
          <a:xfrm>
            <a:off x="2684464" y="436880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transport</a:t>
            </a:r>
          </a:p>
        </p:txBody>
      </p:sp>
      <p:sp>
        <p:nvSpPr>
          <p:cNvPr id="22574" name="Line 27"/>
          <p:cNvSpPr>
            <a:spLocks noChangeShapeType="1"/>
          </p:cNvSpPr>
          <p:nvPr/>
        </p:nvSpPr>
        <p:spPr bwMode="auto">
          <a:xfrm>
            <a:off x="2735263" y="47069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75" name="Line 28"/>
          <p:cNvSpPr>
            <a:spLocks noChangeShapeType="1"/>
          </p:cNvSpPr>
          <p:nvPr/>
        </p:nvSpPr>
        <p:spPr bwMode="auto">
          <a:xfrm>
            <a:off x="2720975" y="50165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76" name="Line 29"/>
          <p:cNvSpPr>
            <a:spLocks noChangeShapeType="1"/>
          </p:cNvSpPr>
          <p:nvPr/>
        </p:nvSpPr>
        <p:spPr bwMode="auto">
          <a:xfrm>
            <a:off x="2720975" y="530225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77" name="Text Box 26"/>
          <p:cNvSpPr txBox="1">
            <a:spLocks noChangeArrowheads="1"/>
          </p:cNvSpPr>
          <p:nvPr/>
        </p:nvSpPr>
        <p:spPr bwMode="auto">
          <a:xfrm>
            <a:off x="2719389" y="361632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application</a:t>
            </a:r>
          </a:p>
        </p:txBody>
      </p:sp>
      <p:sp>
        <p:nvSpPr>
          <p:cNvPr id="22578" name="Text Box 26"/>
          <p:cNvSpPr txBox="1">
            <a:spLocks noChangeArrowheads="1"/>
          </p:cNvSpPr>
          <p:nvPr/>
        </p:nvSpPr>
        <p:spPr bwMode="auto">
          <a:xfrm>
            <a:off x="2674939" y="527367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physical</a:t>
            </a:r>
          </a:p>
        </p:txBody>
      </p:sp>
      <p:sp>
        <p:nvSpPr>
          <p:cNvPr id="22579" name="Text Box 26"/>
          <p:cNvSpPr txBox="1">
            <a:spLocks noChangeArrowheads="1"/>
          </p:cNvSpPr>
          <p:nvPr/>
        </p:nvSpPr>
        <p:spPr bwMode="auto">
          <a:xfrm>
            <a:off x="2693989" y="498792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link</a:t>
            </a:r>
          </a:p>
        </p:txBody>
      </p:sp>
      <p:sp>
        <p:nvSpPr>
          <p:cNvPr id="22580" name="Text Box 26"/>
          <p:cNvSpPr txBox="1">
            <a:spLocks noChangeArrowheads="1"/>
          </p:cNvSpPr>
          <p:nvPr/>
        </p:nvSpPr>
        <p:spPr bwMode="auto">
          <a:xfrm>
            <a:off x="2684464" y="469265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/>
              <a:t>network</a:t>
            </a:r>
          </a:p>
        </p:txBody>
      </p:sp>
      <p:sp>
        <p:nvSpPr>
          <p:cNvPr id="8246" name="Oval 23"/>
          <p:cNvSpPr>
            <a:spLocks noChangeArrowheads="1"/>
          </p:cNvSpPr>
          <p:nvPr/>
        </p:nvSpPr>
        <p:spPr bwMode="auto">
          <a:xfrm>
            <a:off x="3054350" y="39576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>
                <a:latin typeface="Comic Sans MS" charset="0"/>
                <a:ea typeface="ＭＳ Ｐゴシック" charset="0"/>
              </a:rPr>
              <a:t>P3</a:t>
            </a:r>
          </a:p>
        </p:txBody>
      </p:sp>
      <p:grpSp>
        <p:nvGrpSpPr>
          <p:cNvPr id="22582" name="Group 149"/>
          <p:cNvGrpSpPr>
            <a:grpSpLocks/>
          </p:cNvGrpSpPr>
          <p:nvPr/>
        </p:nvGrpSpPr>
        <p:grpSpPr bwMode="auto">
          <a:xfrm>
            <a:off x="3144838" y="4295775"/>
            <a:ext cx="412750" cy="158750"/>
            <a:chOff x="1287" y="2524"/>
            <a:chExt cx="260" cy="100"/>
          </a:xfrm>
        </p:grpSpPr>
        <p:sp>
          <p:nvSpPr>
            <p:cNvPr id="8302" name="Rectangle 73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3" name="Rectangle 74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4" name="Rectangle 75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5" name="Rectangle 129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2583" name="Group 150"/>
          <p:cNvGrpSpPr>
            <a:grpSpLocks/>
          </p:cNvGrpSpPr>
          <p:nvPr/>
        </p:nvGrpSpPr>
        <p:grpSpPr bwMode="auto">
          <a:xfrm>
            <a:off x="7485063" y="4294188"/>
            <a:ext cx="412750" cy="158750"/>
            <a:chOff x="1287" y="2524"/>
            <a:chExt cx="260" cy="100"/>
          </a:xfrm>
        </p:grpSpPr>
        <p:sp>
          <p:nvSpPr>
            <p:cNvPr id="8298" name="Rectangle 15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9" name="Rectangle 15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0" name="Rectangle 153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301" name="Rectangle 15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2584" name="Freeform 146"/>
          <p:cNvSpPr>
            <a:spLocks/>
          </p:cNvSpPr>
          <p:nvPr/>
        </p:nvSpPr>
        <p:spPr bwMode="auto">
          <a:xfrm>
            <a:off x="5532439" y="3995739"/>
            <a:ext cx="2173287" cy="1989137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85" name="Freeform 147"/>
          <p:cNvSpPr>
            <a:spLocks/>
          </p:cNvSpPr>
          <p:nvPr/>
        </p:nvSpPr>
        <p:spPr bwMode="auto">
          <a:xfrm>
            <a:off x="5651501" y="4027489"/>
            <a:ext cx="1984375" cy="1876425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51" name="Oval 36"/>
          <p:cNvSpPr>
            <a:spLocks noChangeArrowheads="1"/>
          </p:cNvSpPr>
          <p:nvPr/>
        </p:nvSpPr>
        <p:spPr bwMode="auto">
          <a:xfrm>
            <a:off x="8991600" y="410686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362665" name="Group 169"/>
          <p:cNvGrpSpPr>
            <a:grpSpLocks/>
          </p:cNvGrpSpPr>
          <p:nvPr/>
        </p:nvGrpSpPr>
        <p:grpSpPr bwMode="auto">
          <a:xfrm>
            <a:off x="4486276" y="2854325"/>
            <a:ext cx="1292225" cy="1454150"/>
            <a:chOff x="1868" y="1796"/>
            <a:chExt cx="814" cy="916"/>
          </a:xfrm>
        </p:grpSpPr>
        <p:sp>
          <p:nvSpPr>
            <p:cNvPr id="8295" name="Oval 166"/>
            <p:cNvSpPr>
              <a:spLocks noChangeArrowheads="1"/>
            </p:cNvSpPr>
            <p:nvPr/>
          </p:nvSpPr>
          <p:spPr bwMode="auto">
            <a:xfrm>
              <a:off x="231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6" name="Oval 167"/>
            <p:cNvSpPr>
              <a:spLocks noChangeArrowheads="1"/>
            </p:cNvSpPr>
            <p:nvPr/>
          </p:nvSpPr>
          <p:spPr bwMode="auto">
            <a:xfrm>
              <a:off x="255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32" name="Freeform 168"/>
            <p:cNvSpPr>
              <a:spLocks/>
            </p:cNvSpPr>
            <p:nvPr/>
          </p:nvSpPr>
          <p:spPr bwMode="auto">
            <a:xfrm>
              <a:off x="1868" y="1796"/>
              <a:ext cx="434" cy="904"/>
            </a:xfrm>
            <a:custGeom>
              <a:avLst/>
              <a:gdLst>
                <a:gd name="T0" fmla="*/ 434 w 434"/>
                <a:gd name="T1" fmla="*/ 904 h 904"/>
                <a:gd name="T2" fmla="*/ 2 w 434"/>
                <a:gd name="T3" fmla="*/ 902 h 904"/>
                <a:gd name="T4" fmla="*/ 0 w 434"/>
                <a:gd name="T5" fmla="*/ 0 h 9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62668" name="Group 172"/>
          <p:cNvGrpSpPr>
            <a:grpSpLocks/>
          </p:cNvGrpSpPr>
          <p:nvPr/>
        </p:nvGrpSpPr>
        <p:grpSpPr bwMode="auto">
          <a:xfrm>
            <a:off x="5394325" y="2809875"/>
            <a:ext cx="1047750" cy="1441450"/>
            <a:chOff x="2432" y="1758"/>
            <a:chExt cx="660" cy="908"/>
          </a:xfrm>
        </p:grpSpPr>
        <p:sp>
          <p:nvSpPr>
            <p:cNvPr id="8293" name="Oval 170"/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29" name="Freeform 171"/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2589" name="Group 179"/>
          <p:cNvGrpSpPr>
            <a:grpSpLocks/>
          </p:cNvGrpSpPr>
          <p:nvPr/>
        </p:nvGrpSpPr>
        <p:grpSpPr bwMode="auto">
          <a:xfrm>
            <a:off x="1693863" y="5126039"/>
            <a:ext cx="800100" cy="828675"/>
            <a:chOff x="-44" y="1473"/>
            <a:chExt cx="981" cy="1105"/>
          </a:xfrm>
        </p:grpSpPr>
        <p:pic>
          <p:nvPicPr>
            <p:cNvPr id="22626" name="Picture 180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27" name="Freeform 18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2590" name="Group 182"/>
          <p:cNvGrpSpPr>
            <a:grpSpLocks/>
          </p:cNvGrpSpPr>
          <p:nvPr/>
        </p:nvGrpSpPr>
        <p:grpSpPr bwMode="auto">
          <a:xfrm flipH="1">
            <a:off x="8675689" y="5040314"/>
            <a:ext cx="788987" cy="782637"/>
            <a:chOff x="-44" y="1473"/>
            <a:chExt cx="981" cy="1105"/>
          </a:xfrm>
        </p:grpSpPr>
        <p:pic>
          <p:nvPicPr>
            <p:cNvPr id="22624" name="Picture 183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625" name="Freeform 18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2591" name="Group 185"/>
          <p:cNvGrpSpPr>
            <a:grpSpLocks/>
          </p:cNvGrpSpPr>
          <p:nvPr/>
        </p:nvGrpSpPr>
        <p:grpSpPr bwMode="auto">
          <a:xfrm>
            <a:off x="4265614" y="4625975"/>
            <a:ext cx="358775" cy="704850"/>
            <a:chOff x="4140" y="429"/>
            <a:chExt cx="1425" cy="2396"/>
          </a:xfrm>
        </p:grpSpPr>
        <p:sp>
          <p:nvSpPr>
            <p:cNvPr id="22592" name="Freeform 18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Rectangle 187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94" name="Freeform 18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5" name="Freeform 18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1" name="Rectangle 190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597" name="Group 19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87" name="AutoShape 1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288" name="AutoShape 19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263" name="Rectangle 194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599" name="Group 19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85" name="AutoShape 196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286" name="AutoShape 19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265" name="Rectangle 198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66" name="Rectangle 199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602" name="Group 20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283" name="AutoShape 201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284" name="AutoShape 20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603" name="Freeform 20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604" name="Group 20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281" name="AutoShape 205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282" name="AutoShape 206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270" name="Rectangle 207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06" name="Freeform 20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7" name="Freeform 20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3" name="Oval 210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09" name="Freeform 21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5" name="AutoShape 212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76" name="AutoShape 213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77" name="Oval 214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78" name="Oval 215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279" name="Oval 216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80" name="Rectangle 217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297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Multiplexing/</a:t>
            </a:r>
            <a:r>
              <a:rPr lang="en-US" dirty="0" err="1">
                <a:ea typeface="ＭＳ Ｐゴシック" charset="0"/>
              </a:rPr>
              <a:t>demultiplexing</a:t>
            </a:r>
            <a:endParaRPr lang="en-US" dirty="0"/>
          </a:p>
        </p:txBody>
      </p:sp>
      <p:pic>
        <p:nvPicPr>
          <p:cNvPr id="5" name="Picture 10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88" y="1541417"/>
            <a:ext cx="9000192" cy="505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705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638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0F262469-90ED-4E35-9CB4-E7EC9BCAD385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0864" y="182564"/>
            <a:ext cx="8529637" cy="922337"/>
          </a:xfrm>
        </p:spPr>
        <p:txBody>
          <a:bodyPr/>
          <a:lstStyle/>
          <a:p>
            <a:pPr>
              <a:defRPr/>
            </a:pPr>
            <a:r>
              <a:rPr lang="en-US" sz="4000" b="1" dirty="0">
                <a:ea typeface="ＭＳ Ｐゴシック" charset="0"/>
              </a:rPr>
              <a:t>UDP: User Datagram </a:t>
            </a:r>
            <a:r>
              <a:rPr lang="en-US" sz="4000" b="1" dirty="0" smtClean="0">
                <a:ea typeface="ＭＳ Ｐゴシック" charset="0"/>
              </a:rPr>
              <a:t>Protocol</a:t>
            </a:r>
            <a:endParaRPr lang="en-US" b="1" dirty="0">
              <a:ea typeface="ＭＳ Ｐゴシック" charset="0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80160" y="1271589"/>
            <a:ext cx="9209313" cy="4702174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sz="2400" dirty="0" smtClean="0"/>
              <a:t>Simple transport protocol</a:t>
            </a:r>
          </a:p>
          <a:p>
            <a:r>
              <a:rPr lang="ja-JP" altLang="en-US" sz="2400" dirty="0" smtClean="0"/>
              <a:t>“</a:t>
            </a:r>
            <a:r>
              <a:rPr lang="en-US" altLang="ja-JP" sz="2400" dirty="0" smtClean="0">
                <a:solidFill>
                  <a:srgbClr val="008000"/>
                </a:solidFill>
              </a:rPr>
              <a:t>best effort</a:t>
            </a:r>
            <a:r>
              <a:rPr lang="ja-JP" altLang="en-US" sz="2400" dirty="0" smtClean="0"/>
              <a:t>”</a:t>
            </a:r>
            <a:r>
              <a:rPr lang="en-US" altLang="ja-JP" sz="2400" dirty="0" smtClean="0"/>
              <a:t> service, UDP segments may be:</a:t>
            </a:r>
          </a:p>
          <a:p>
            <a:pPr lvl="1"/>
            <a:r>
              <a:rPr lang="en-US" altLang="en-US" dirty="0" smtClean="0"/>
              <a:t>lost</a:t>
            </a:r>
          </a:p>
          <a:p>
            <a:pPr lvl="1"/>
            <a:r>
              <a:rPr lang="en-US" altLang="en-US" dirty="0" smtClean="0"/>
              <a:t>delivered out-of-order to app</a:t>
            </a:r>
          </a:p>
          <a:p>
            <a:r>
              <a:rPr lang="en-US" altLang="en-US" sz="2400" i="1" dirty="0" smtClean="0">
                <a:solidFill>
                  <a:srgbClr val="CC0000"/>
                </a:solidFill>
              </a:rPr>
              <a:t>connectionless:</a:t>
            </a:r>
            <a:endParaRPr lang="en-US" altLang="en-US" dirty="0" smtClean="0">
              <a:solidFill>
                <a:srgbClr val="CC0000"/>
              </a:solidFill>
            </a:endParaRPr>
          </a:p>
          <a:p>
            <a:pPr lvl="1"/>
            <a:r>
              <a:rPr lang="en-US" altLang="en-US" dirty="0" smtClean="0">
                <a:solidFill>
                  <a:srgbClr val="008000"/>
                </a:solidFill>
              </a:rPr>
              <a:t>no handshaking </a:t>
            </a:r>
            <a:r>
              <a:rPr lang="en-US" altLang="en-US" dirty="0" smtClean="0"/>
              <a:t>between UDP sender, receiver</a:t>
            </a:r>
          </a:p>
          <a:p>
            <a:pPr lvl="1"/>
            <a:r>
              <a:rPr lang="en-US" altLang="en-US" dirty="0" smtClean="0"/>
              <a:t>each UDP segment handled independently of others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UDP use: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streaming multimedia apps (loss tolerant, rate sensitive)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DNS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SNMP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reliable transfer over UDP: 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solidFill>
                  <a:srgbClr val="008000"/>
                </a:solidFill>
                <a:latin typeface="Gill Sans MT" charset="0"/>
                <a:ea typeface="ＭＳ Ｐゴシック" charset="0"/>
              </a:rPr>
              <a:t>add reliability at application layer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latin typeface="Gill Sans MT" charset="0"/>
                <a:ea typeface="ＭＳ Ｐゴシック" charset="0"/>
              </a:rPr>
              <a:t>application-specific error recovery!</a:t>
            </a:r>
          </a:p>
          <a:p>
            <a:pPr lvl="1"/>
            <a:endParaRPr lang="en-US" altLang="en-US" dirty="0" smtClean="0"/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>
            <a:off x="6269039" y="1271589"/>
            <a:ext cx="4052887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dirty="0">
              <a:latin typeface="Gill Sans MT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3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74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AF80402E-6C31-487A-932D-F826F4347C2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6588" y="249239"/>
            <a:ext cx="8343900" cy="993775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UDP: segment header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2238376" y="1852613"/>
            <a:ext cx="3324225" cy="32004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2162176" y="1947863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2201864" y="1960563"/>
            <a:ext cx="1563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source port #</a:t>
            </a:r>
            <a:endParaRPr lang="en-US" sz="2400"/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3987800" y="1960563"/>
            <a:ext cx="132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dest port #</a:t>
            </a:r>
          </a:p>
        </p:txBody>
      </p:sp>
      <p:sp>
        <p:nvSpPr>
          <p:cNvPr id="17418" name="Line 11"/>
          <p:cNvSpPr>
            <a:spLocks noChangeShapeType="1"/>
          </p:cNvSpPr>
          <p:nvPr/>
        </p:nvSpPr>
        <p:spPr bwMode="auto">
          <a:xfrm flipV="1">
            <a:off x="2152650" y="2347913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19" name="Line 12"/>
          <p:cNvSpPr>
            <a:spLocks noChangeShapeType="1"/>
          </p:cNvSpPr>
          <p:nvPr/>
        </p:nvSpPr>
        <p:spPr bwMode="auto">
          <a:xfrm flipV="1">
            <a:off x="2143126" y="2747963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20" name="Line 13"/>
          <p:cNvSpPr>
            <a:spLocks noChangeShapeType="1"/>
          </p:cNvSpPr>
          <p:nvPr/>
        </p:nvSpPr>
        <p:spPr bwMode="auto">
          <a:xfrm flipV="1">
            <a:off x="3800475" y="1947864"/>
            <a:ext cx="0" cy="3952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21" name="Text Box 14"/>
          <p:cNvSpPr txBox="1">
            <a:spLocks noChangeArrowheads="1"/>
          </p:cNvSpPr>
          <p:nvPr/>
        </p:nvSpPr>
        <p:spPr bwMode="auto">
          <a:xfrm>
            <a:off x="3308351" y="148272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32 bits</a:t>
            </a:r>
          </a:p>
        </p:txBody>
      </p:sp>
      <p:sp>
        <p:nvSpPr>
          <p:cNvPr id="17422" name="Line 15"/>
          <p:cNvSpPr>
            <a:spLocks noChangeShapeType="1"/>
          </p:cNvSpPr>
          <p:nvPr/>
        </p:nvSpPr>
        <p:spPr bwMode="auto">
          <a:xfrm>
            <a:off x="4257675" y="1714501"/>
            <a:ext cx="12001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23" name="Line 16"/>
          <p:cNvSpPr>
            <a:spLocks noChangeShapeType="1"/>
          </p:cNvSpPr>
          <p:nvPr/>
        </p:nvSpPr>
        <p:spPr bwMode="auto">
          <a:xfrm rot="10800000">
            <a:off x="2147888" y="1724025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24" name="Text Box 17"/>
          <p:cNvSpPr txBox="1">
            <a:spLocks noChangeArrowheads="1"/>
          </p:cNvSpPr>
          <p:nvPr/>
        </p:nvSpPr>
        <p:spPr bwMode="auto">
          <a:xfrm>
            <a:off x="3005138" y="3306764"/>
            <a:ext cx="13890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application</a:t>
            </a:r>
          </a:p>
          <a:p>
            <a:pPr>
              <a:defRPr/>
            </a:pPr>
            <a:r>
              <a:rPr lang="en-US" sz="2000"/>
              <a:t>data </a:t>
            </a:r>
          </a:p>
          <a:p>
            <a:pPr>
              <a:defRPr/>
            </a:pPr>
            <a:r>
              <a:rPr lang="en-US" sz="2000"/>
              <a:t>(payload)</a:t>
            </a:r>
            <a:endParaRPr lang="en-US" sz="2400"/>
          </a:p>
        </p:txBody>
      </p:sp>
      <p:sp>
        <p:nvSpPr>
          <p:cNvPr id="17425" name="Text Box 19"/>
          <p:cNvSpPr txBox="1">
            <a:spLocks noChangeArrowheads="1"/>
          </p:cNvSpPr>
          <p:nvPr/>
        </p:nvSpPr>
        <p:spPr bwMode="auto">
          <a:xfrm>
            <a:off x="2598739" y="5222876"/>
            <a:ext cx="2524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UDP segment format</a:t>
            </a:r>
            <a:endParaRPr lang="en-US" sz="2400"/>
          </a:p>
        </p:txBody>
      </p:sp>
      <p:sp>
        <p:nvSpPr>
          <p:cNvPr id="17426" name="Line 20"/>
          <p:cNvSpPr>
            <a:spLocks noChangeShapeType="1"/>
          </p:cNvSpPr>
          <p:nvPr/>
        </p:nvSpPr>
        <p:spPr bwMode="auto">
          <a:xfrm flipV="1">
            <a:off x="3800475" y="2357439"/>
            <a:ext cx="0" cy="3952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27" name="Text Box 22"/>
          <p:cNvSpPr txBox="1">
            <a:spLocks noChangeArrowheads="1"/>
          </p:cNvSpPr>
          <p:nvPr/>
        </p:nvSpPr>
        <p:spPr bwMode="auto">
          <a:xfrm>
            <a:off x="2544764" y="2351088"/>
            <a:ext cx="814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length</a:t>
            </a:r>
            <a:endParaRPr lang="en-US" sz="2400"/>
          </a:p>
        </p:txBody>
      </p:sp>
      <p:sp>
        <p:nvSpPr>
          <p:cNvPr id="17428" name="Text Box 23"/>
          <p:cNvSpPr txBox="1">
            <a:spLocks noChangeArrowheads="1"/>
          </p:cNvSpPr>
          <p:nvPr/>
        </p:nvSpPr>
        <p:spPr bwMode="auto">
          <a:xfrm>
            <a:off x="4090989" y="2341563"/>
            <a:ext cx="1176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checksum</a:t>
            </a:r>
            <a:endParaRPr lang="en-US" sz="2400"/>
          </a:p>
        </p:txBody>
      </p:sp>
      <p:sp>
        <p:nvSpPr>
          <p:cNvPr id="17429" name="Text Box 24"/>
          <p:cNvSpPr txBox="1">
            <a:spLocks noChangeArrowheads="1"/>
          </p:cNvSpPr>
          <p:nvPr/>
        </p:nvSpPr>
        <p:spPr bwMode="auto">
          <a:xfrm>
            <a:off x="5784850" y="1316039"/>
            <a:ext cx="2406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/>
              <a:t>length, in bytes of UDP segment, including header</a:t>
            </a:r>
            <a:endParaRPr lang="en-US" sz="2400"/>
          </a:p>
        </p:txBody>
      </p:sp>
      <p:sp>
        <p:nvSpPr>
          <p:cNvPr id="17430" name="Line 25"/>
          <p:cNvSpPr>
            <a:spLocks noChangeShapeType="1"/>
          </p:cNvSpPr>
          <p:nvPr/>
        </p:nvSpPr>
        <p:spPr bwMode="auto">
          <a:xfrm flipH="1">
            <a:off x="3402014" y="1631950"/>
            <a:ext cx="2873375" cy="89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31" name="Rectangle 26"/>
          <p:cNvSpPr>
            <a:spLocks noGrp="1" noChangeArrowheads="1"/>
          </p:cNvSpPr>
          <p:nvPr>
            <p:ph type="body" sz="half" idx="2"/>
          </p:nvPr>
        </p:nvSpPr>
        <p:spPr>
          <a:xfrm>
            <a:off x="6389688" y="3044826"/>
            <a:ext cx="3810000" cy="3044825"/>
          </a:xfrm>
        </p:spPr>
        <p:txBody>
          <a:bodyPr>
            <a:normAutofit fontScale="925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no connection establishment (which can add delay)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simple: no connection state at sender, receiver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small header size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no congestion control: UDP can blast away as fast as desired</a:t>
            </a:r>
          </a:p>
        </p:txBody>
      </p:sp>
      <p:sp>
        <p:nvSpPr>
          <p:cNvPr id="17432" name="Rectangle 27"/>
          <p:cNvSpPr>
            <a:spLocks noChangeArrowheads="1"/>
          </p:cNvSpPr>
          <p:nvPr/>
        </p:nvSpPr>
        <p:spPr bwMode="auto">
          <a:xfrm>
            <a:off x="6227764" y="2924175"/>
            <a:ext cx="4048125" cy="3259138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7433" name="Text Box 28"/>
          <p:cNvSpPr txBox="1">
            <a:spLocks noChangeArrowheads="1"/>
          </p:cNvSpPr>
          <p:nvPr/>
        </p:nvSpPr>
        <p:spPr bwMode="auto">
          <a:xfrm>
            <a:off x="6459538" y="2643189"/>
            <a:ext cx="3130550" cy="4333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>
                <a:solidFill>
                  <a:srgbClr val="CC0000"/>
                </a:solidFill>
                <a:latin typeface="Gill Sans MT" charset="0"/>
              </a:rPr>
              <a:t>why is there a UDP?</a:t>
            </a:r>
            <a:endParaRPr lang="en-US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32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84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C477FD55-69EF-40CA-9052-6BA093321717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49721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UDP checksum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53589" y="2269174"/>
            <a:ext cx="9601200" cy="3692525"/>
          </a:xfrm>
        </p:spPr>
        <p:txBody>
          <a:bodyPr>
            <a:normAutofit fontScale="92500"/>
          </a:bodyPr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</a:rPr>
              <a:t>sender: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treat segment contents, including header fields,  as </a:t>
            </a:r>
            <a:r>
              <a:rPr lang="en-US" altLang="en-US" sz="2400" dirty="0">
                <a:solidFill>
                  <a:srgbClr val="008000"/>
                </a:solidFill>
              </a:rPr>
              <a:t>sequence of 16-bit integers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checksum: addition (</a:t>
            </a:r>
            <a:r>
              <a:rPr lang="en-US" altLang="en-US" sz="2400" dirty="0">
                <a:solidFill>
                  <a:srgbClr val="008000"/>
                </a:solidFill>
              </a:rPr>
              <a:t>one</a:t>
            </a:r>
            <a:r>
              <a:rPr lang="ja-JP" altLang="en-US" sz="2400" dirty="0">
                <a:solidFill>
                  <a:srgbClr val="008000"/>
                </a:solidFill>
              </a:rPr>
              <a:t>’</a:t>
            </a:r>
            <a:r>
              <a:rPr lang="en-US" altLang="ja-JP" sz="2400" dirty="0">
                <a:solidFill>
                  <a:srgbClr val="008000"/>
                </a:solidFill>
              </a:rPr>
              <a:t>s complement sum</a:t>
            </a:r>
            <a:r>
              <a:rPr lang="en-US" altLang="ja-JP" sz="2400" dirty="0"/>
              <a:t>) of segment contents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sender puts checksum value into UDP </a:t>
            </a:r>
            <a:r>
              <a:rPr lang="en-US" altLang="en-US" sz="2400" dirty="0">
                <a:solidFill>
                  <a:srgbClr val="008000"/>
                </a:solidFill>
              </a:rPr>
              <a:t>checksum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field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CC0000"/>
                </a:solidFill>
              </a:rPr>
              <a:t>receiver:</a:t>
            </a:r>
          </a:p>
          <a:p>
            <a:r>
              <a:rPr lang="en-US" altLang="en-US" sz="2400" dirty="0"/>
              <a:t>compute checksum of received segment</a:t>
            </a:r>
          </a:p>
          <a:p>
            <a:r>
              <a:rPr lang="en-US" altLang="en-US" sz="2400" dirty="0"/>
              <a:t>check if computed checksum equals checksum field value:</a:t>
            </a:r>
          </a:p>
          <a:p>
            <a:pPr lvl="1"/>
            <a:r>
              <a:rPr lang="en-US" altLang="en-US" dirty="0"/>
              <a:t>NO - error detected</a:t>
            </a:r>
          </a:p>
          <a:p>
            <a:pPr lvl="1"/>
            <a:r>
              <a:rPr lang="en-US" altLang="en-US" dirty="0"/>
              <a:t>YES - no error detected. </a:t>
            </a:r>
            <a:r>
              <a:rPr lang="en-US" altLang="en-US" i="1" dirty="0"/>
              <a:t>But maybe errors nonetheless?</a:t>
            </a:r>
            <a:r>
              <a:rPr lang="en-US" altLang="en-US" dirty="0"/>
              <a:t> More later ….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>
              <a:lnSpc>
                <a:spcPct val="70000"/>
              </a:lnSpc>
            </a:pPr>
            <a:endParaRPr lang="en-US" altLang="en-US" sz="3200" dirty="0"/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1306287" y="1421449"/>
            <a:ext cx="9588136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800" i="1" dirty="0">
                <a:solidFill>
                  <a:srgbClr val="CC0000"/>
                </a:solidFill>
                <a:latin typeface="Gill Sans MT" panose="020B0502020104020203" pitchFamily="34" charset="0"/>
              </a:rPr>
              <a:t>Goal:</a:t>
            </a:r>
            <a:r>
              <a:rPr lang="en-US" altLang="en-US" sz="2800" dirty="0">
                <a:latin typeface="Gill Sans MT" panose="020B0502020104020203" pitchFamily="34" charset="0"/>
              </a:rPr>
              <a:t> detect </a:t>
            </a:r>
            <a:r>
              <a:rPr lang="ja-JP" altLang="en-US" sz="2800" dirty="0">
                <a:latin typeface="Gill Sans MT" panose="020B0502020104020203" pitchFamily="34" charset="0"/>
              </a:rPr>
              <a:t>“</a:t>
            </a:r>
            <a:r>
              <a:rPr lang="en-US" altLang="ja-JP" sz="2800" dirty="0">
                <a:latin typeface="Gill Sans MT" panose="020B0502020104020203" pitchFamily="34" charset="0"/>
              </a:rPr>
              <a:t>errors</a:t>
            </a:r>
            <a:r>
              <a:rPr lang="ja-JP" altLang="en-US" sz="2800" dirty="0">
                <a:latin typeface="Gill Sans MT" panose="020B0502020104020203" pitchFamily="34" charset="0"/>
              </a:rPr>
              <a:t>”</a:t>
            </a:r>
            <a:r>
              <a:rPr lang="en-US" altLang="ja-JP" sz="2800" dirty="0">
                <a:latin typeface="Gill Sans MT" panose="020B0502020104020203" pitchFamily="34" charset="0"/>
              </a:rPr>
              <a:t> (e.g., flipped bits) in transmitted </a:t>
            </a:r>
            <a:r>
              <a:rPr lang="en-US" altLang="ja-JP" sz="2800" dirty="0" smtClean="0">
                <a:latin typeface="Gill Sans MT" panose="020B0502020104020203" pitchFamily="34" charset="0"/>
              </a:rPr>
              <a:t>segment</a:t>
            </a:r>
            <a:endParaRPr lang="en-US" altLang="en-US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89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4E9EC870-DD06-4149-A0E7-9EF8156A15ED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1879600" y="273050"/>
            <a:ext cx="77724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Internet checksum: example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400175"/>
            <a:ext cx="7772400" cy="27432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charset="0"/>
              <a:buNone/>
              <a:defRPr/>
            </a:pPr>
            <a:r>
              <a:rPr lang="en-US">
                <a:ea typeface="ＭＳ Ｐゴシック" charset="0"/>
              </a:rPr>
              <a:t>example: add two 16-bit integers</a:t>
            </a:r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3384550" y="2190750"/>
            <a:ext cx="640080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 b="1">
                <a:solidFill>
                  <a:schemeClr val="bg1"/>
                </a:solidFill>
                <a:latin typeface="Comic Sans MS" charset="0"/>
              </a:rPr>
              <a:t>1</a:t>
            </a:r>
            <a:r>
              <a:rPr lang="en-US" sz="2000" b="1">
                <a:latin typeface="Comic Sans MS" charset="0"/>
              </a:rPr>
              <a:t>  1  1  1  0  0  1  1  0  0  1  1  0  0  1  1  0</a:t>
            </a:r>
          </a:p>
          <a:p>
            <a:pPr algn="l">
              <a:defRPr/>
            </a:pPr>
            <a:r>
              <a:rPr lang="en-US" sz="2000" b="1">
                <a:solidFill>
                  <a:schemeClr val="bg1"/>
                </a:solidFill>
                <a:latin typeface="Comic Sans MS" charset="0"/>
              </a:rPr>
              <a:t>1</a:t>
            </a:r>
            <a:r>
              <a:rPr lang="en-US" sz="2000" b="1">
                <a:latin typeface="Comic Sans MS" charset="0"/>
              </a:rPr>
              <a:t>  1  1  0  1  0  1  0  1  0  1  0  1  0  1  0  1</a:t>
            </a:r>
          </a:p>
          <a:p>
            <a:pPr algn="l">
              <a:lnSpc>
                <a:spcPct val="120000"/>
              </a:lnSpc>
              <a:defRPr/>
            </a:pPr>
            <a:endParaRPr lang="en-US" sz="2000" b="1">
              <a:latin typeface="Comic Sans MS" charset="0"/>
            </a:endParaRPr>
          </a:p>
          <a:p>
            <a:pPr algn="l">
              <a:defRPr/>
            </a:pPr>
            <a:r>
              <a:rPr lang="en-US" sz="2000" b="1">
                <a:latin typeface="Comic Sans MS" charset="0"/>
              </a:rPr>
              <a:t>1  1  0  1  1  1  0  1  1  1  0  1  1  1  0  1  1</a:t>
            </a:r>
          </a:p>
          <a:p>
            <a:pPr algn="l">
              <a:lnSpc>
                <a:spcPct val="120000"/>
              </a:lnSpc>
              <a:defRPr/>
            </a:pPr>
            <a:endParaRPr lang="en-US" sz="2000" b="1">
              <a:latin typeface="Comic Sans MS" charset="0"/>
            </a:endParaRPr>
          </a:p>
          <a:p>
            <a:pPr algn="l">
              <a:defRPr/>
            </a:pPr>
            <a:r>
              <a:rPr lang="en-US" sz="2000" b="1">
                <a:solidFill>
                  <a:schemeClr val="bg1"/>
                </a:solidFill>
                <a:latin typeface="Comic Sans MS" charset="0"/>
              </a:rPr>
              <a:t>1</a:t>
            </a:r>
            <a:r>
              <a:rPr lang="en-US" sz="2000" b="1">
                <a:latin typeface="Comic Sans MS" charset="0"/>
              </a:rPr>
              <a:t>  1  0  1  1  1  0  1  1  1  0  1  1  1  1  0  0</a:t>
            </a:r>
          </a:p>
          <a:p>
            <a:pPr algn="l">
              <a:defRPr/>
            </a:pPr>
            <a:r>
              <a:rPr lang="en-US" sz="2000" b="1">
                <a:solidFill>
                  <a:schemeClr val="bg1"/>
                </a:solidFill>
                <a:latin typeface="Comic Sans MS" charset="0"/>
              </a:rPr>
              <a:t>1</a:t>
            </a:r>
            <a:r>
              <a:rPr lang="en-US" sz="2000" b="1">
                <a:latin typeface="Comic Sans MS" charset="0"/>
              </a:rPr>
              <a:t>  0  1  0  0  0  1  0  0  0  1  0  0  0  0  1  1</a:t>
            </a:r>
            <a:endParaRPr lang="en-US" sz="2400" b="1">
              <a:latin typeface="Comic Sans MS" charset="0"/>
            </a:endParaRPr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 flipH="1">
            <a:off x="3308350" y="3017838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9465" name="Oval 6"/>
          <p:cNvSpPr>
            <a:spLocks noChangeArrowheads="1"/>
          </p:cNvSpPr>
          <p:nvPr/>
        </p:nvSpPr>
        <p:spPr bwMode="auto">
          <a:xfrm>
            <a:off x="3384550" y="319405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9466" name="Text Box 7"/>
          <p:cNvSpPr txBox="1">
            <a:spLocks noChangeArrowheads="1"/>
          </p:cNvSpPr>
          <p:nvPr/>
        </p:nvSpPr>
        <p:spPr bwMode="auto">
          <a:xfrm>
            <a:off x="1784351" y="3149601"/>
            <a:ext cx="1546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>
                <a:latin typeface="Comic Sans MS" charset="0"/>
              </a:rPr>
              <a:t>wraparound</a:t>
            </a:r>
          </a:p>
        </p:txBody>
      </p:sp>
      <p:sp>
        <p:nvSpPr>
          <p:cNvPr id="19467" name="Text Box 8"/>
          <p:cNvSpPr txBox="1">
            <a:spLocks noChangeArrowheads="1"/>
          </p:cNvSpPr>
          <p:nvPr/>
        </p:nvSpPr>
        <p:spPr bwMode="auto">
          <a:xfrm>
            <a:off x="2693989" y="3757614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 dirty="0">
                <a:solidFill>
                  <a:srgbClr val="008000"/>
                </a:solidFill>
                <a:latin typeface="Comic Sans MS" charset="0"/>
              </a:rPr>
              <a:t>sum</a:t>
            </a:r>
          </a:p>
        </p:txBody>
      </p:sp>
      <p:sp>
        <p:nvSpPr>
          <p:cNvPr id="19468" name="Text Box 9"/>
          <p:cNvSpPr txBox="1">
            <a:spLocks noChangeArrowheads="1"/>
          </p:cNvSpPr>
          <p:nvPr/>
        </p:nvSpPr>
        <p:spPr bwMode="auto">
          <a:xfrm>
            <a:off x="2011363" y="4110038"/>
            <a:ext cx="13335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 dirty="0">
                <a:solidFill>
                  <a:srgbClr val="008000"/>
                </a:solidFill>
                <a:latin typeface="Comic Sans MS" charset="0"/>
              </a:rPr>
              <a:t>checksum</a:t>
            </a:r>
          </a:p>
        </p:txBody>
      </p:sp>
      <p:sp>
        <p:nvSpPr>
          <p:cNvPr id="19469" name="Line 10"/>
          <p:cNvSpPr>
            <a:spLocks noChangeShapeType="1"/>
          </p:cNvSpPr>
          <p:nvPr/>
        </p:nvSpPr>
        <p:spPr bwMode="auto">
          <a:xfrm flipH="1">
            <a:off x="3308350" y="3736975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3805" name="Freeform 11"/>
          <p:cNvSpPr>
            <a:spLocks/>
          </p:cNvSpPr>
          <p:nvPr/>
        </p:nvSpPr>
        <p:spPr bwMode="auto">
          <a:xfrm>
            <a:off x="3546475" y="3500439"/>
            <a:ext cx="6013450" cy="92075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2373313" y="5043488"/>
            <a:ext cx="768826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400" i="1" dirty="0">
                <a:latin typeface="Gill Sans MT" charset="0"/>
              </a:rPr>
              <a:t>Note:</a:t>
            </a:r>
            <a:r>
              <a:rPr lang="en-US" sz="2400" dirty="0">
                <a:latin typeface="Gill Sans MT" charset="0"/>
              </a:rPr>
              <a:t> when adding numbers, a </a:t>
            </a:r>
            <a:r>
              <a:rPr lang="en-US" sz="2400" dirty="0">
                <a:solidFill>
                  <a:srgbClr val="008000"/>
                </a:solidFill>
                <a:latin typeface="Gill Sans MT" charset="0"/>
              </a:rPr>
              <a:t>carryout</a:t>
            </a:r>
            <a:r>
              <a:rPr lang="en-US" sz="2400" dirty="0">
                <a:latin typeface="Gill Sans MT" charset="0"/>
              </a:rPr>
              <a:t> from the most significant bit needs to be added to the result</a:t>
            </a:r>
          </a:p>
          <a:p>
            <a:pPr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967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Transmission Control Protocol (TCP)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TCP is a </a:t>
            </a:r>
            <a:r>
              <a:rPr lang="en-US" dirty="0" smtClean="0"/>
              <a:t>connection-oriented protocol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creates a virtual </a:t>
            </a:r>
            <a:r>
              <a:rPr lang="en-US" dirty="0" smtClean="0"/>
              <a:t>connection between two </a:t>
            </a:r>
            <a:r>
              <a:rPr lang="en-US" dirty="0"/>
              <a:t>TCPs to send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TCP </a:t>
            </a:r>
            <a:r>
              <a:rPr lang="en-US" dirty="0"/>
              <a:t>uses flow and error </a:t>
            </a:r>
            <a:r>
              <a:rPr lang="en-US" dirty="0" smtClean="0"/>
              <a:t>control mechanism at the transport level</a:t>
            </a:r>
            <a:r>
              <a:rPr lang="en-US" dirty="0" smtClean="0"/>
              <a:t>.</a:t>
            </a:r>
          </a:p>
          <a:p>
            <a:r>
              <a:rPr lang="en-US" altLang="en-US" dirty="0" smtClean="0"/>
              <a:t>reliable</a:t>
            </a:r>
            <a:r>
              <a:rPr lang="en-US" altLang="en-US" dirty="0"/>
              <a:t>, in-order </a:t>
            </a:r>
            <a:r>
              <a:rPr lang="en-US" altLang="en-US" i="1" dirty="0"/>
              <a:t>byte </a:t>
            </a:r>
            <a:r>
              <a:rPr lang="en-US" altLang="en-US" i="1" dirty="0" smtClean="0"/>
              <a:t>steam</a:t>
            </a:r>
          </a:p>
          <a:p>
            <a:r>
              <a:rPr lang="en-US" altLang="en-US" dirty="0" smtClean="0"/>
              <a:t>Congestion Control</a:t>
            </a:r>
            <a:endParaRPr lang="en-US" altLang="en-US" dirty="0"/>
          </a:p>
          <a:p>
            <a:pPr lvl="1"/>
            <a:endParaRPr lang="en-US" altLang="en-US" i="1" dirty="0">
              <a:solidFill>
                <a:srgbClr val="008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18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 Segment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bytes of data being transferred in each connection are numbered by TCP. The numbering starts with a randomly generated number.</a:t>
            </a:r>
          </a:p>
          <a:p>
            <a:r>
              <a:rPr lang="en-US" dirty="0"/>
              <a:t>The value in the sequence number field of a segment defines the number of the first data byte contained in that </a:t>
            </a:r>
            <a:r>
              <a:rPr lang="en-US" dirty="0" smtClean="0"/>
              <a:t>segment.</a:t>
            </a:r>
          </a:p>
          <a:p>
            <a:r>
              <a:rPr lang="en-US" dirty="0"/>
              <a:t>The value of the acknowledgment field in a segment defines the number of the next </a:t>
            </a:r>
            <a:r>
              <a:rPr lang="en-US" dirty="0" smtClean="0"/>
              <a:t>byte </a:t>
            </a:r>
            <a:r>
              <a:rPr lang="en-US" dirty="0"/>
              <a:t>a party expects to receive.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acknowledgment number is </a:t>
            </a:r>
            <a:r>
              <a:rPr lang="en-US" dirty="0" smtClean="0"/>
              <a:t>cumulative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3325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 segment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following shows the sequence number for each segment</a:t>
            </a:r>
            <a:r>
              <a:rPr lang="en-US" dirty="0" smtClean="0"/>
              <a:t>: (Each segment is of 1000 bytes.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Segment 1 ---Sequence Number: 10001 (range:10001 to 11000)</a:t>
            </a:r>
          </a:p>
          <a:p>
            <a:pPr marL="0" indent="0">
              <a:buNone/>
            </a:pPr>
            <a:r>
              <a:rPr lang="en-US" dirty="0" smtClean="0"/>
              <a:t>Segment 2 </a:t>
            </a:r>
            <a:r>
              <a:rPr lang="en-US" dirty="0"/>
              <a:t>---Sequence Number: </a:t>
            </a:r>
            <a:r>
              <a:rPr lang="en-US" dirty="0" smtClean="0"/>
              <a:t>11001 </a:t>
            </a:r>
            <a:r>
              <a:rPr lang="en-US" dirty="0"/>
              <a:t>(</a:t>
            </a:r>
            <a:r>
              <a:rPr lang="en-US" dirty="0" smtClean="0"/>
              <a:t>range:11001 </a:t>
            </a:r>
            <a:r>
              <a:rPr lang="en-US" dirty="0"/>
              <a:t>to </a:t>
            </a:r>
            <a:r>
              <a:rPr lang="en-US" dirty="0" smtClean="0"/>
              <a:t>12000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Segment 3 </a:t>
            </a:r>
            <a:r>
              <a:rPr lang="en-US" dirty="0"/>
              <a:t>---Sequence Number: </a:t>
            </a:r>
            <a:r>
              <a:rPr lang="en-US" dirty="0" smtClean="0"/>
              <a:t>12001 </a:t>
            </a:r>
            <a:r>
              <a:rPr lang="en-US" dirty="0"/>
              <a:t>(</a:t>
            </a:r>
            <a:r>
              <a:rPr lang="en-US" dirty="0" smtClean="0"/>
              <a:t>range:12001 </a:t>
            </a:r>
            <a:r>
              <a:rPr lang="en-US" dirty="0"/>
              <a:t>to </a:t>
            </a:r>
            <a:r>
              <a:rPr lang="en-US" dirty="0" smtClean="0"/>
              <a:t>13000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Segment 4 </a:t>
            </a:r>
            <a:r>
              <a:rPr lang="en-US" dirty="0"/>
              <a:t>---Sequence Number: </a:t>
            </a:r>
            <a:r>
              <a:rPr lang="en-US" dirty="0" smtClean="0"/>
              <a:t>13001 </a:t>
            </a:r>
            <a:r>
              <a:rPr lang="en-US" dirty="0"/>
              <a:t>(</a:t>
            </a:r>
            <a:r>
              <a:rPr lang="en-US" dirty="0" smtClean="0"/>
              <a:t>range:13001 </a:t>
            </a:r>
            <a:r>
              <a:rPr lang="en-US" dirty="0"/>
              <a:t>to </a:t>
            </a:r>
            <a:r>
              <a:rPr lang="en-US" dirty="0" smtClean="0"/>
              <a:t>14000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Segment 5 ---Sequence Number: 14001 (range:14001 to 15000)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19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593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4C8CD3A-51AF-4C46-A385-1C25BF50D13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90500"/>
            <a:ext cx="7772400" cy="781050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TCP segment structure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59398" name="Rectangle 4"/>
          <p:cNvSpPr>
            <a:spLocks noChangeArrowheads="1"/>
          </p:cNvSpPr>
          <p:nvPr/>
        </p:nvSpPr>
        <p:spPr bwMode="auto">
          <a:xfrm>
            <a:off x="4421189" y="1512888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399" name="Rectangle 5"/>
          <p:cNvSpPr>
            <a:spLocks noChangeArrowheads="1"/>
          </p:cNvSpPr>
          <p:nvPr/>
        </p:nvSpPr>
        <p:spPr bwMode="auto">
          <a:xfrm>
            <a:off x="4335464" y="1628776"/>
            <a:ext cx="3951287" cy="4805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>
              <a:latin typeface="Arial" charset="0"/>
              <a:ea typeface="ＭＳ Ｐゴシック" charset="0"/>
            </a:endParaRPr>
          </a:p>
        </p:txBody>
      </p:sp>
      <p:sp>
        <p:nvSpPr>
          <p:cNvPr id="59400" name="Text Box 6"/>
          <p:cNvSpPr txBox="1">
            <a:spLocks noChangeArrowheads="1"/>
          </p:cNvSpPr>
          <p:nvPr/>
        </p:nvSpPr>
        <p:spPr bwMode="auto">
          <a:xfrm>
            <a:off x="4468814" y="1587500"/>
            <a:ext cx="16859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charset="0"/>
              </a:rPr>
              <a:t>source port #</a:t>
            </a:r>
            <a:endParaRPr lang="en-US" sz="24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01" name="Text Box 7"/>
          <p:cNvSpPr txBox="1">
            <a:spLocks noChangeArrowheads="1"/>
          </p:cNvSpPr>
          <p:nvPr/>
        </p:nvSpPr>
        <p:spPr bwMode="auto">
          <a:xfrm>
            <a:off x="6572250" y="1592263"/>
            <a:ext cx="1397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0000FF"/>
                </a:solidFill>
                <a:latin typeface="Arial" charset="0"/>
              </a:rPr>
              <a:t>dest</a:t>
            </a:r>
            <a:r>
              <a:rPr lang="en-US" sz="2000" dirty="0">
                <a:solidFill>
                  <a:srgbClr val="0000FF"/>
                </a:solidFill>
                <a:latin typeface="Arial" charset="0"/>
              </a:rPr>
              <a:t> port #</a:t>
            </a:r>
            <a:endParaRPr lang="en-US" sz="18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02" name="Line 8"/>
          <p:cNvSpPr>
            <a:spLocks noChangeShapeType="1"/>
          </p:cNvSpPr>
          <p:nvPr/>
        </p:nvSpPr>
        <p:spPr bwMode="auto">
          <a:xfrm>
            <a:off x="4338639" y="2003426"/>
            <a:ext cx="394652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03" name="Line 9"/>
          <p:cNvSpPr>
            <a:spLocks noChangeShapeType="1"/>
          </p:cNvSpPr>
          <p:nvPr/>
        </p:nvSpPr>
        <p:spPr bwMode="auto">
          <a:xfrm flipV="1">
            <a:off x="4332289" y="2382838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04" name="Line 10"/>
          <p:cNvSpPr>
            <a:spLocks noChangeShapeType="1"/>
          </p:cNvSpPr>
          <p:nvPr/>
        </p:nvSpPr>
        <p:spPr bwMode="auto">
          <a:xfrm flipV="1">
            <a:off x="6278563" y="1628776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05" name="Text Box 11"/>
          <p:cNvSpPr txBox="1">
            <a:spLocks noChangeArrowheads="1"/>
          </p:cNvSpPr>
          <p:nvPr/>
        </p:nvSpPr>
        <p:spPr bwMode="auto">
          <a:xfrm>
            <a:off x="5821363" y="1098551"/>
            <a:ext cx="857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32 bits</a:t>
            </a:r>
            <a:endParaRPr lang="en-US" sz="2400">
              <a:latin typeface="Arial" charset="0"/>
            </a:endParaRPr>
          </a:p>
        </p:txBody>
      </p:sp>
      <p:sp>
        <p:nvSpPr>
          <p:cNvPr id="59406" name="Line 12"/>
          <p:cNvSpPr>
            <a:spLocks noChangeShapeType="1"/>
          </p:cNvSpPr>
          <p:nvPr/>
        </p:nvSpPr>
        <p:spPr bwMode="auto">
          <a:xfrm>
            <a:off x="6821488" y="1344613"/>
            <a:ext cx="1427162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07" name="Line 13"/>
          <p:cNvSpPr>
            <a:spLocks noChangeShapeType="1"/>
          </p:cNvSpPr>
          <p:nvPr/>
        </p:nvSpPr>
        <p:spPr bwMode="auto">
          <a:xfrm rot="10800000">
            <a:off x="4313239" y="1355725"/>
            <a:ext cx="13414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08" name="Text Box 14"/>
          <p:cNvSpPr txBox="1">
            <a:spLocks noChangeArrowheads="1"/>
          </p:cNvSpPr>
          <p:nvPr/>
        </p:nvSpPr>
        <p:spPr bwMode="auto">
          <a:xfrm>
            <a:off x="5387976" y="4567239"/>
            <a:ext cx="20050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>
                <a:latin typeface="Arial" charset="0"/>
              </a:rPr>
              <a:t>application</a:t>
            </a:r>
          </a:p>
          <a:p>
            <a:pPr>
              <a:defRPr/>
            </a:pPr>
            <a:r>
              <a:rPr lang="en-US" sz="2000">
                <a:latin typeface="Arial" charset="0"/>
              </a:rPr>
              <a:t>data </a:t>
            </a:r>
          </a:p>
          <a:p>
            <a:pPr>
              <a:defRPr/>
            </a:pPr>
            <a:r>
              <a:rPr lang="en-US" sz="2000">
                <a:latin typeface="Arial" charset="0"/>
              </a:rPr>
              <a:t>(variable length)</a:t>
            </a:r>
            <a:endParaRPr lang="en-US" sz="2400">
              <a:latin typeface="Arial" charset="0"/>
            </a:endParaRPr>
          </a:p>
        </p:txBody>
      </p:sp>
      <p:sp>
        <p:nvSpPr>
          <p:cNvPr id="59409" name="Text Box 15"/>
          <p:cNvSpPr txBox="1">
            <a:spLocks noChangeArrowheads="1"/>
          </p:cNvSpPr>
          <p:nvPr/>
        </p:nvSpPr>
        <p:spPr bwMode="auto">
          <a:xfrm>
            <a:off x="4968876" y="1982789"/>
            <a:ext cx="2486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charset="0"/>
              </a:rPr>
              <a:t>sequence number</a:t>
            </a:r>
            <a:endParaRPr lang="en-US" sz="24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10" name="Line 16"/>
          <p:cNvSpPr>
            <a:spLocks noChangeShapeType="1"/>
          </p:cNvSpPr>
          <p:nvPr/>
        </p:nvSpPr>
        <p:spPr bwMode="auto">
          <a:xfrm flipV="1">
            <a:off x="4341814" y="2763838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11" name="Text Box 17"/>
          <p:cNvSpPr txBox="1">
            <a:spLocks noChangeArrowheads="1"/>
          </p:cNvSpPr>
          <p:nvPr/>
        </p:nvSpPr>
        <p:spPr bwMode="auto">
          <a:xfrm>
            <a:off x="4568825" y="2382839"/>
            <a:ext cx="3409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charset="0"/>
              </a:rPr>
              <a:t>acknowledgement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 charset="0"/>
              </a:rPr>
              <a:t>number</a:t>
            </a:r>
          </a:p>
        </p:txBody>
      </p:sp>
      <p:sp>
        <p:nvSpPr>
          <p:cNvPr id="59412" name="Line 18"/>
          <p:cNvSpPr>
            <a:spLocks noChangeShapeType="1"/>
          </p:cNvSpPr>
          <p:nvPr/>
        </p:nvSpPr>
        <p:spPr bwMode="auto">
          <a:xfrm flipV="1">
            <a:off x="4337050" y="3159125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13" name="Line 19"/>
          <p:cNvSpPr>
            <a:spLocks noChangeShapeType="1"/>
          </p:cNvSpPr>
          <p:nvPr/>
        </p:nvSpPr>
        <p:spPr bwMode="auto">
          <a:xfrm flipV="1">
            <a:off x="4332289" y="3549650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14" name="Line 20"/>
          <p:cNvSpPr>
            <a:spLocks noChangeShapeType="1"/>
          </p:cNvSpPr>
          <p:nvPr/>
        </p:nvSpPr>
        <p:spPr bwMode="auto">
          <a:xfrm flipV="1">
            <a:off x="4332289" y="4111625"/>
            <a:ext cx="39512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15" name="Line 21"/>
          <p:cNvSpPr>
            <a:spLocks noChangeShapeType="1"/>
          </p:cNvSpPr>
          <p:nvPr/>
        </p:nvSpPr>
        <p:spPr bwMode="auto">
          <a:xfrm flipH="1" flipV="1">
            <a:off x="6292851" y="2767014"/>
            <a:ext cx="4763" cy="777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16" name="Text Box 22"/>
          <p:cNvSpPr txBox="1">
            <a:spLocks noChangeArrowheads="1"/>
          </p:cNvSpPr>
          <p:nvPr/>
        </p:nvSpPr>
        <p:spPr bwMode="auto">
          <a:xfrm>
            <a:off x="6380164" y="2770189"/>
            <a:ext cx="17748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receive window</a:t>
            </a:r>
          </a:p>
        </p:txBody>
      </p:sp>
      <p:sp>
        <p:nvSpPr>
          <p:cNvPr id="59417" name="Text Box 23"/>
          <p:cNvSpPr txBox="1">
            <a:spLocks noChangeArrowheads="1"/>
          </p:cNvSpPr>
          <p:nvPr/>
        </p:nvSpPr>
        <p:spPr bwMode="auto">
          <a:xfrm>
            <a:off x="6419850" y="3165476"/>
            <a:ext cx="182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Urg data pointer</a:t>
            </a:r>
          </a:p>
        </p:txBody>
      </p:sp>
      <p:sp>
        <p:nvSpPr>
          <p:cNvPr id="59418" name="Text Box 24"/>
          <p:cNvSpPr txBox="1">
            <a:spLocks noChangeArrowheads="1"/>
          </p:cNvSpPr>
          <p:nvPr/>
        </p:nvSpPr>
        <p:spPr bwMode="auto">
          <a:xfrm>
            <a:off x="4703763" y="3146426"/>
            <a:ext cx="1212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59419" name="Text Box 25"/>
          <p:cNvSpPr txBox="1">
            <a:spLocks noChangeArrowheads="1"/>
          </p:cNvSpPr>
          <p:nvPr/>
        </p:nvSpPr>
        <p:spPr bwMode="auto">
          <a:xfrm>
            <a:off x="6056314" y="2798763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</a:rPr>
              <a:t>F</a:t>
            </a:r>
            <a:endParaRPr lang="en-US" sz="24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20" name="Line 26"/>
          <p:cNvSpPr>
            <a:spLocks noChangeShapeType="1"/>
          </p:cNvSpPr>
          <p:nvPr/>
        </p:nvSpPr>
        <p:spPr bwMode="auto">
          <a:xfrm flipV="1">
            <a:off x="6135688" y="2757488"/>
            <a:ext cx="0" cy="392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1" name="Line 27"/>
          <p:cNvSpPr>
            <a:spLocks noChangeShapeType="1"/>
          </p:cNvSpPr>
          <p:nvPr/>
        </p:nvSpPr>
        <p:spPr bwMode="auto">
          <a:xfrm flipV="1">
            <a:off x="5973763" y="2762251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2" name="Line 28"/>
          <p:cNvSpPr>
            <a:spLocks noChangeShapeType="1"/>
          </p:cNvSpPr>
          <p:nvPr/>
        </p:nvSpPr>
        <p:spPr bwMode="auto">
          <a:xfrm flipV="1">
            <a:off x="5807075" y="2762251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3" name="Line 29"/>
          <p:cNvSpPr>
            <a:spLocks noChangeShapeType="1"/>
          </p:cNvSpPr>
          <p:nvPr/>
        </p:nvSpPr>
        <p:spPr bwMode="auto">
          <a:xfrm flipV="1">
            <a:off x="5645150" y="2767013"/>
            <a:ext cx="0" cy="392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4" name="Line 30"/>
          <p:cNvSpPr>
            <a:spLocks noChangeShapeType="1"/>
          </p:cNvSpPr>
          <p:nvPr/>
        </p:nvSpPr>
        <p:spPr bwMode="auto">
          <a:xfrm flipV="1">
            <a:off x="5487988" y="2762251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5" name="Line 31"/>
          <p:cNvSpPr>
            <a:spLocks noChangeShapeType="1"/>
          </p:cNvSpPr>
          <p:nvPr/>
        </p:nvSpPr>
        <p:spPr bwMode="auto">
          <a:xfrm flipV="1">
            <a:off x="5316538" y="2771776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26" name="Text Box 32"/>
          <p:cNvSpPr txBox="1">
            <a:spLocks noChangeArrowheads="1"/>
          </p:cNvSpPr>
          <p:nvPr/>
        </p:nvSpPr>
        <p:spPr bwMode="auto">
          <a:xfrm>
            <a:off x="5889625" y="2794000"/>
            <a:ext cx="319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00FF"/>
                </a:solidFill>
                <a:latin typeface="Arial" charset="0"/>
              </a:rPr>
              <a:t>S</a:t>
            </a:r>
            <a:endParaRPr lang="en-US" sz="240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27" name="Text Box 33"/>
          <p:cNvSpPr txBox="1">
            <a:spLocks noChangeArrowheads="1"/>
          </p:cNvSpPr>
          <p:nvPr/>
        </p:nvSpPr>
        <p:spPr bwMode="auto">
          <a:xfrm>
            <a:off x="5716588" y="27940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</a:rPr>
              <a:t>R</a:t>
            </a:r>
            <a:endParaRPr lang="en-US" sz="24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59428" name="Text Box 34"/>
          <p:cNvSpPr txBox="1">
            <a:spLocks noChangeArrowheads="1"/>
          </p:cNvSpPr>
          <p:nvPr/>
        </p:nvSpPr>
        <p:spPr bwMode="auto">
          <a:xfrm>
            <a:off x="5554664" y="2789238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P</a:t>
            </a:r>
            <a:endParaRPr lang="en-US" sz="2400">
              <a:latin typeface="Arial" charset="0"/>
            </a:endParaRPr>
          </a:p>
        </p:txBody>
      </p:sp>
      <p:sp>
        <p:nvSpPr>
          <p:cNvPr id="59429" name="Text Box 35"/>
          <p:cNvSpPr txBox="1">
            <a:spLocks noChangeArrowheads="1"/>
          </p:cNvSpPr>
          <p:nvPr/>
        </p:nvSpPr>
        <p:spPr bwMode="auto">
          <a:xfrm>
            <a:off x="5402264" y="2789238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A</a:t>
            </a:r>
            <a:endParaRPr lang="en-US" sz="2400">
              <a:latin typeface="Arial" charset="0"/>
            </a:endParaRPr>
          </a:p>
        </p:txBody>
      </p:sp>
      <p:sp>
        <p:nvSpPr>
          <p:cNvPr id="59430" name="Text Box 36"/>
          <p:cNvSpPr txBox="1">
            <a:spLocks noChangeArrowheads="1"/>
          </p:cNvSpPr>
          <p:nvPr/>
        </p:nvSpPr>
        <p:spPr bwMode="auto">
          <a:xfrm>
            <a:off x="5235575" y="2789238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U</a:t>
            </a:r>
            <a:endParaRPr lang="en-US" sz="2400">
              <a:latin typeface="Arial" charset="0"/>
            </a:endParaRPr>
          </a:p>
        </p:txBody>
      </p:sp>
      <p:sp>
        <p:nvSpPr>
          <p:cNvPr id="59431" name="Text Box 37"/>
          <p:cNvSpPr txBox="1">
            <a:spLocks noChangeArrowheads="1"/>
          </p:cNvSpPr>
          <p:nvPr/>
        </p:nvSpPr>
        <p:spPr bwMode="auto">
          <a:xfrm>
            <a:off x="4283076" y="2697163"/>
            <a:ext cx="5822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head</a:t>
            </a:r>
          </a:p>
          <a:p>
            <a:pPr>
              <a:defRPr/>
            </a:pPr>
            <a:r>
              <a:rPr lang="en-US" sz="1400">
                <a:latin typeface="Arial" charset="0"/>
              </a:rPr>
              <a:t>len</a:t>
            </a:r>
            <a:endParaRPr lang="en-US" sz="1800">
              <a:latin typeface="Arial" charset="0"/>
            </a:endParaRPr>
          </a:p>
        </p:txBody>
      </p:sp>
      <p:sp>
        <p:nvSpPr>
          <p:cNvPr id="59432" name="Text Box 38"/>
          <p:cNvSpPr txBox="1">
            <a:spLocks noChangeArrowheads="1"/>
          </p:cNvSpPr>
          <p:nvPr/>
        </p:nvSpPr>
        <p:spPr bwMode="auto">
          <a:xfrm>
            <a:off x="4762501" y="2697163"/>
            <a:ext cx="5725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not</a:t>
            </a:r>
          </a:p>
          <a:p>
            <a:pPr>
              <a:defRPr/>
            </a:pPr>
            <a:r>
              <a:rPr lang="en-US" sz="1400">
                <a:latin typeface="Arial" charset="0"/>
              </a:rPr>
              <a:t>used</a:t>
            </a:r>
            <a:endParaRPr lang="en-US" sz="1800">
              <a:latin typeface="Arial" charset="0"/>
            </a:endParaRPr>
          </a:p>
        </p:txBody>
      </p:sp>
      <p:sp>
        <p:nvSpPr>
          <p:cNvPr id="59433" name="Line 39"/>
          <p:cNvSpPr>
            <a:spLocks noChangeShapeType="1"/>
          </p:cNvSpPr>
          <p:nvPr/>
        </p:nvSpPr>
        <p:spPr bwMode="auto">
          <a:xfrm flipV="1">
            <a:off x="4811713" y="2762251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34" name="Text Box 40"/>
          <p:cNvSpPr txBox="1">
            <a:spLocks noChangeArrowheads="1"/>
          </p:cNvSpPr>
          <p:nvPr/>
        </p:nvSpPr>
        <p:spPr bwMode="auto">
          <a:xfrm>
            <a:off x="4841876" y="3648076"/>
            <a:ext cx="289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dirty="0">
                <a:latin typeface="Arial" charset="0"/>
              </a:rPr>
              <a:t>options (variable length)</a:t>
            </a:r>
            <a:endParaRPr lang="en-US" sz="2400" dirty="0">
              <a:latin typeface="Arial" charset="0"/>
            </a:endParaRPr>
          </a:p>
        </p:txBody>
      </p:sp>
      <p:sp>
        <p:nvSpPr>
          <p:cNvPr id="59435" name="Text Box 41"/>
          <p:cNvSpPr txBox="1">
            <a:spLocks noChangeArrowheads="1"/>
          </p:cNvSpPr>
          <p:nvPr/>
        </p:nvSpPr>
        <p:spPr bwMode="auto">
          <a:xfrm>
            <a:off x="1785938" y="1427163"/>
            <a:ext cx="2203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>
                <a:latin typeface="Arial" charset="0"/>
              </a:rPr>
              <a:t>URG: urgent data </a:t>
            </a:r>
          </a:p>
          <a:p>
            <a:pPr algn="r">
              <a:defRPr/>
            </a:pPr>
            <a:r>
              <a:rPr lang="en-US" sz="1800">
                <a:latin typeface="Arial" charset="0"/>
              </a:rPr>
              <a:t>(generally not used)</a:t>
            </a:r>
            <a:endParaRPr lang="en-US" sz="1000">
              <a:latin typeface="Arial" charset="0"/>
            </a:endParaRPr>
          </a:p>
        </p:txBody>
      </p:sp>
      <p:sp>
        <p:nvSpPr>
          <p:cNvPr id="59436" name="Text Box 42"/>
          <p:cNvSpPr txBox="1">
            <a:spLocks noChangeArrowheads="1"/>
          </p:cNvSpPr>
          <p:nvPr/>
        </p:nvSpPr>
        <p:spPr bwMode="auto">
          <a:xfrm>
            <a:off x="2500313" y="2151063"/>
            <a:ext cx="1441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>
                <a:latin typeface="Arial" charset="0"/>
              </a:rPr>
              <a:t>ACK: ACK #</a:t>
            </a:r>
          </a:p>
          <a:p>
            <a:pPr algn="r">
              <a:defRPr/>
            </a:pPr>
            <a:r>
              <a:rPr lang="en-US" sz="1800">
                <a:latin typeface="Arial" charset="0"/>
              </a:rPr>
              <a:t>valid</a:t>
            </a:r>
            <a:endParaRPr lang="en-US" sz="1000">
              <a:latin typeface="Arial" charset="0"/>
            </a:endParaRPr>
          </a:p>
        </p:txBody>
      </p:sp>
      <p:sp>
        <p:nvSpPr>
          <p:cNvPr id="59437" name="Text Box 43"/>
          <p:cNvSpPr txBox="1">
            <a:spLocks noChangeArrowheads="1"/>
          </p:cNvSpPr>
          <p:nvPr/>
        </p:nvSpPr>
        <p:spPr bwMode="auto">
          <a:xfrm>
            <a:off x="1693863" y="2827338"/>
            <a:ext cx="2266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>
                <a:latin typeface="Arial" charset="0"/>
              </a:rPr>
              <a:t>PSH: push data now</a:t>
            </a:r>
          </a:p>
          <a:p>
            <a:pPr algn="r">
              <a:defRPr/>
            </a:pPr>
            <a:r>
              <a:rPr lang="en-US" sz="1800">
                <a:latin typeface="Arial" charset="0"/>
              </a:rPr>
              <a:t>(generally not used)</a:t>
            </a:r>
          </a:p>
        </p:txBody>
      </p:sp>
      <p:sp>
        <p:nvSpPr>
          <p:cNvPr id="59438" name="Text Box 44"/>
          <p:cNvSpPr txBox="1">
            <a:spLocks noChangeArrowheads="1"/>
          </p:cNvSpPr>
          <p:nvPr/>
        </p:nvSpPr>
        <p:spPr bwMode="auto">
          <a:xfrm>
            <a:off x="2068513" y="3627439"/>
            <a:ext cx="1911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RST, SYN, FIN:</a:t>
            </a:r>
          </a:p>
          <a:p>
            <a:pPr algn="r">
              <a:defRPr/>
            </a:pPr>
            <a:r>
              <a:rPr lang="en-US" sz="1800" dirty="0">
                <a:latin typeface="Arial" charset="0"/>
              </a:rPr>
              <a:t>connection </a:t>
            </a:r>
            <a:r>
              <a:rPr lang="en-US" sz="1800" dirty="0" err="1">
                <a:latin typeface="Arial" charset="0"/>
              </a:rPr>
              <a:t>estab</a:t>
            </a:r>
            <a:endParaRPr lang="en-US" sz="1800" dirty="0">
              <a:latin typeface="Arial" charset="0"/>
            </a:endParaRPr>
          </a:p>
          <a:p>
            <a:pPr algn="r">
              <a:defRPr/>
            </a:pPr>
            <a:r>
              <a:rPr lang="en-US" sz="1800" dirty="0">
                <a:latin typeface="Arial" charset="0"/>
              </a:rPr>
              <a:t>(setup, teardown</a:t>
            </a:r>
          </a:p>
          <a:p>
            <a:pPr algn="r">
              <a:defRPr/>
            </a:pPr>
            <a:r>
              <a:rPr lang="en-US" sz="1800" dirty="0">
                <a:latin typeface="Arial" charset="0"/>
              </a:rPr>
              <a:t>commands)</a:t>
            </a:r>
          </a:p>
        </p:txBody>
      </p:sp>
      <p:sp>
        <p:nvSpPr>
          <p:cNvPr id="59439" name="Line 45"/>
          <p:cNvSpPr>
            <a:spLocks noChangeShapeType="1"/>
          </p:cNvSpPr>
          <p:nvPr/>
        </p:nvSpPr>
        <p:spPr bwMode="auto">
          <a:xfrm>
            <a:off x="3895726" y="1800225"/>
            <a:ext cx="1495425" cy="1028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40" name="Line 46"/>
          <p:cNvSpPr>
            <a:spLocks noChangeShapeType="1"/>
          </p:cNvSpPr>
          <p:nvPr/>
        </p:nvSpPr>
        <p:spPr bwMode="auto">
          <a:xfrm>
            <a:off x="3900489" y="2487614"/>
            <a:ext cx="1658937" cy="4413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41" name="Line 47"/>
          <p:cNvSpPr>
            <a:spLocks noChangeShapeType="1"/>
          </p:cNvSpPr>
          <p:nvPr/>
        </p:nvSpPr>
        <p:spPr bwMode="auto">
          <a:xfrm flipV="1">
            <a:off x="3921126" y="3041651"/>
            <a:ext cx="1827213" cy="2444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825" name="Freeform 48"/>
          <p:cNvSpPr>
            <a:spLocks/>
          </p:cNvSpPr>
          <p:nvPr/>
        </p:nvSpPr>
        <p:spPr bwMode="auto">
          <a:xfrm>
            <a:off x="3914776" y="3105150"/>
            <a:ext cx="2314575" cy="704850"/>
          </a:xfrm>
          <a:custGeom>
            <a:avLst/>
            <a:gdLst>
              <a:gd name="T0" fmla="*/ 0 w 1458"/>
              <a:gd name="T1" fmla="*/ 2147483647 h 444"/>
              <a:gd name="T2" fmla="*/ 2147483647 w 1458"/>
              <a:gd name="T3" fmla="*/ 0 h 444"/>
              <a:gd name="T4" fmla="*/ 2147483647 w 1458"/>
              <a:gd name="T5" fmla="*/ 2147483647 h 4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58" h="444">
                <a:moveTo>
                  <a:pt x="0" y="444"/>
                </a:moveTo>
                <a:lnTo>
                  <a:pt x="1248" y="0"/>
                </a:lnTo>
                <a:lnTo>
                  <a:pt x="1458" y="6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43" name="Text Box 49"/>
          <p:cNvSpPr txBox="1">
            <a:spLocks noChangeArrowheads="1"/>
          </p:cNvSpPr>
          <p:nvPr/>
        </p:nvSpPr>
        <p:spPr bwMode="auto">
          <a:xfrm>
            <a:off x="8963025" y="3008314"/>
            <a:ext cx="12509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800">
                <a:latin typeface="Arial" charset="0"/>
              </a:rPr>
              <a:t># bytes </a:t>
            </a:r>
          </a:p>
          <a:p>
            <a:pPr algn="l">
              <a:defRPr/>
            </a:pPr>
            <a:r>
              <a:rPr lang="en-US" sz="1800">
                <a:latin typeface="Arial" charset="0"/>
              </a:rPr>
              <a:t>rcvr willing</a:t>
            </a:r>
          </a:p>
          <a:p>
            <a:pPr algn="l">
              <a:defRPr/>
            </a:pPr>
            <a:r>
              <a:rPr lang="en-US" sz="1800">
                <a:latin typeface="Arial" charset="0"/>
              </a:rPr>
              <a:t>to accept</a:t>
            </a:r>
          </a:p>
        </p:txBody>
      </p:sp>
      <p:sp>
        <p:nvSpPr>
          <p:cNvPr id="59444" name="Text Box 50"/>
          <p:cNvSpPr txBox="1">
            <a:spLocks noChangeArrowheads="1"/>
          </p:cNvSpPr>
          <p:nvPr/>
        </p:nvSpPr>
        <p:spPr bwMode="auto">
          <a:xfrm>
            <a:off x="8656638" y="1522414"/>
            <a:ext cx="17716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800">
                <a:latin typeface="Arial" charset="0"/>
              </a:rPr>
              <a:t>counting</a:t>
            </a:r>
          </a:p>
          <a:p>
            <a:pPr algn="l">
              <a:defRPr/>
            </a:pPr>
            <a:r>
              <a:rPr lang="en-US" sz="1800">
                <a:latin typeface="Arial" charset="0"/>
              </a:rPr>
              <a:t>by bytes </a:t>
            </a:r>
          </a:p>
          <a:p>
            <a:pPr algn="l">
              <a:defRPr/>
            </a:pPr>
            <a:r>
              <a:rPr lang="en-US" sz="1800">
                <a:latin typeface="Arial" charset="0"/>
              </a:rPr>
              <a:t>of data</a:t>
            </a:r>
          </a:p>
          <a:p>
            <a:pPr algn="l">
              <a:defRPr/>
            </a:pPr>
            <a:r>
              <a:rPr lang="en-US" sz="1800">
                <a:latin typeface="Arial" charset="0"/>
              </a:rPr>
              <a:t>(not segments!)</a:t>
            </a:r>
          </a:p>
        </p:txBody>
      </p:sp>
      <p:sp>
        <p:nvSpPr>
          <p:cNvPr id="59445" name="Text Box 51"/>
          <p:cNvSpPr txBox="1">
            <a:spLocks noChangeArrowheads="1"/>
          </p:cNvSpPr>
          <p:nvPr/>
        </p:nvSpPr>
        <p:spPr bwMode="auto">
          <a:xfrm>
            <a:off x="2506663" y="4960939"/>
            <a:ext cx="13652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1800">
                <a:latin typeface="Arial" charset="0"/>
              </a:rPr>
              <a:t>Internet</a:t>
            </a:r>
          </a:p>
          <a:p>
            <a:pPr algn="r">
              <a:defRPr/>
            </a:pPr>
            <a:r>
              <a:rPr lang="en-US" sz="1800">
                <a:latin typeface="Arial" charset="0"/>
              </a:rPr>
              <a:t>checksum</a:t>
            </a:r>
          </a:p>
          <a:p>
            <a:pPr algn="r">
              <a:defRPr/>
            </a:pPr>
            <a:r>
              <a:rPr lang="en-US" sz="1800">
                <a:latin typeface="Arial" charset="0"/>
              </a:rPr>
              <a:t>(as in UDP)</a:t>
            </a:r>
          </a:p>
        </p:txBody>
      </p:sp>
      <p:sp>
        <p:nvSpPr>
          <p:cNvPr id="59446" name="Line 52"/>
          <p:cNvSpPr>
            <a:spLocks noChangeShapeType="1"/>
          </p:cNvSpPr>
          <p:nvPr/>
        </p:nvSpPr>
        <p:spPr bwMode="auto">
          <a:xfrm flipV="1">
            <a:off x="3790951" y="3429000"/>
            <a:ext cx="2105025" cy="1981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47" name="Line 53"/>
          <p:cNvSpPr>
            <a:spLocks noChangeShapeType="1"/>
          </p:cNvSpPr>
          <p:nvPr/>
        </p:nvSpPr>
        <p:spPr bwMode="auto">
          <a:xfrm flipH="1" flipV="1">
            <a:off x="8210551" y="3019426"/>
            <a:ext cx="809625" cy="4667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48" name="Line 54"/>
          <p:cNvSpPr>
            <a:spLocks noChangeShapeType="1"/>
          </p:cNvSpPr>
          <p:nvPr/>
        </p:nvSpPr>
        <p:spPr bwMode="auto">
          <a:xfrm flipH="1">
            <a:off x="8143875" y="1724026"/>
            <a:ext cx="552450" cy="885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59449" name="Line 55"/>
          <p:cNvSpPr>
            <a:spLocks noChangeShapeType="1"/>
          </p:cNvSpPr>
          <p:nvPr/>
        </p:nvSpPr>
        <p:spPr bwMode="auto">
          <a:xfrm flipH="1">
            <a:off x="8105775" y="1714501"/>
            <a:ext cx="571500" cy="523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25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041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D1F519F8-99A3-43F8-9C39-A65513C5571C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60421" name="Rectangle 4"/>
          <p:cNvSpPr>
            <a:spLocks noGrp="1" noChangeArrowheads="1"/>
          </p:cNvSpPr>
          <p:nvPr>
            <p:ph type="title"/>
          </p:nvPr>
        </p:nvSpPr>
        <p:spPr>
          <a:xfrm>
            <a:off x="1890713" y="150814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seq. numbers, ACKs</a:t>
            </a:r>
          </a:p>
        </p:txBody>
      </p:sp>
      <p:sp>
        <p:nvSpPr>
          <p:cNvPr id="6042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879601" y="1339850"/>
            <a:ext cx="3927475" cy="4648200"/>
          </a:xfrm>
        </p:spPr>
        <p:txBody>
          <a:bodyPr/>
          <a:lstStyle/>
          <a:p>
            <a:pPr marL="234950" indent="-123825">
              <a:buNone/>
            </a:pPr>
            <a:r>
              <a:rPr lang="en-US" altLang="en-US" sz="2400" u="sng">
                <a:solidFill>
                  <a:srgbClr val="CC0000"/>
                </a:solidFill>
              </a:rPr>
              <a:t>sequence numbers:</a:t>
            </a:r>
            <a:endParaRPr lang="en-US" altLang="en-US" sz="2400">
              <a:solidFill>
                <a:srgbClr val="CC0000"/>
              </a:solidFill>
            </a:endParaRPr>
          </a:p>
          <a:p>
            <a:pPr marL="512763" lvl="1" indent="-163513"/>
            <a:r>
              <a:rPr lang="en-US" altLang="en-US" smtClean="0"/>
              <a:t>byte stream </a:t>
            </a:r>
            <a:r>
              <a:rPr lang="ja-JP" altLang="en-US" smtClean="0"/>
              <a:t>“</a:t>
            </a:r>
            <a:r>
              <a:rPr lang="en-US" altLang="ja-JP" smtClean="0"/>
              <a:t>number</a:t>
            </a:r>
            <a:r>
              <a:rPr lang="ja-JP" altLang="en-US" smtClean="0"/>
              <a:t>”</a:t>
            </a:r>
            <a:r>
              <a:rPr lang="en-US" altLang="ja-JP" smtClean="0"/>
              <a:t> of </a:t>
            </a:r>
            <a:r>
              <a:rPr lang="en-US" altLang="ja-JP" smtClean="0">
                <a:solidFill>
                  <a:srgbClr val="008000"/>
                </a:solidFill>
              </a:rPr>
              <a:t>first byte in segment</a:t>
            </a:r>
            <a:r>
              <a:rPr lang="ja-JP" altLang="en-US" smtClean="0">
                <a:solidFill>
                  <a:srgbClr val="008000"/>
                </a:solidFill>
              </a:rPr>
              <a:t>’</a:t>
            </a:r>
            <a:r>
              <a:rPr lang="en-US" altLang="ja-JP" smtClean="0">
                <a:solidFill>
                  <a:srgbClr val="008000"/>
                </a:solidFill>
              </a:rPr>
              <a:t>s </a:t>
            </a:r>
            <a:r>
              <a:rPr lang="en-US" altLang="ja-JP" smtClean="0"/>
              <a:t>data</a:t>
            </a:r>
            <a:endParaRPr lang="en-US" altLang="ja-JP" sz="2000"/>
          </a:p>
          <a:p>
            <a:pPr marL="234950" indent="-123825">
              <a:buNone/>
            </a:pPr>
            <a:r>
              <a:rPr lang="en-US" altLang="en-US" sz="2400" u="sng">
                <a:solidFill>
                  <a:srgbClr val="CC0000"/>
                </a:solidFill>
              </a:rPr>
              <a:t>acknowledgements:</a:t>
            </a:r>
            <a:endParaRPr lang="en-US" altLang="en-US" sz="2400">
              <a:solidFill>
                <a:srgbClr val="CC0000"/>
              </a:solidFill>
            </a:endParaRPr>
          </a:p>
          <a:p>
            <a:pPr marL="512763" lvl="1" indent="-163513"/>
            <a:r>
              <a:rPr lang="en-US" altLang="en-US" smtClean="0">
                <a:solidFill>
                  <a:srgbClr val="008000"/>
                </a:solidFill>
              </a:rPr>
              <a:t>seq # of next byte expected from other side</a:t>
            </a:r>
          </a:p>
          <a:p>
            <a:pPr marL="512763" lvl="1" indent="-163513"/>
            <a:r>
              <a:rPr lang="en-US" altLang="en-US" smtClean="0">
                <a:solidFill>
                  <a:srgbClr val="0000FF"/>
                </a:solidFill>
              </a:rPr>
              <a:t>cumulative ACK</a:t>
            </a:r>
          </a:p>
          <a:p>
            <a:pPr marL="234950" indent="-123825">
              <a:buNone/>
            </a:pPr>
            <a:r>
              <a:rPr lang="en-US" altLang="en-US" sz="2400">
                <a:solidFill>
                  <a:srgbClr val="CC0000"/>
                </a:solidFill>
              </a:rPr>
              <a:t>Q:</a:t>
            </a:r>
            <a:r>
              <a:rPr lang="en-US" altLang="en-US" sz="2400"/>
              <a:t> how receiver handles out-of-order segments</a:t>
            </a:r>
          </a:p>
          <a:p>
            <a:pPr marL="512763" lvl="1" indent="-163513"/>
            <a:r>
              <a:rPr lang="en-US" altLang="en-US" smtClean="0"/>
              <a:t>A: TCP spec doesn’t say, - up to implementer</a:t>
            </a:r>
          </a:p>
        </p:txBody>
      </p:sp>
      <p:grpSp>
        <p:nvGrpSpPr>
          <p:cNvPr id="187584" name="Group 192"/>
          <p:cNvGrpSpPr>
            <a:grpSpLocks/>
          </p:cNvGrpSpPr>
          <p:nvPr/>
        </p:nvGrpSpPr>
        <p:grpSpPr bwMode="auto">
          <a:xfrm>
            <a:off x="7224714" y="3816350"/>
            <a:ext cx="2911475" cy="2541588"/>
            <a:chOff x="3599" y="2404"/>
            <a:chExt cx="1834" cy="1601"/>
          </a:xfrm>
        </p:grpSpPr>
        <p:sp>
          <p:nvSpPr>
            <p:cNvPr id="60505" name="Rectangle 167"/>
            <p:cNvSpPr>
              <a:spLocks noChangeArrowheads="1"/>
            </p:cNvSpPr>
            <p:nvPr/>
          </p:nvSpPr>
          <p:spPr bwMode="auto">
            <a:xfrm>
              <a:off x="3753" y="3587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76889" name="Group 148"/>
            <p:cNvGrpSpPr>
              <a:grpSpLocks/>
            </p:cNvGrpSpPr>
            <p:nvPr/>
          </p:nvGrpSpPr>
          <p:grpSpPr bwMode="auto">
            <a:xfrm>
              <a:off x="3733" y="3291"/>
              <a:ext cx="1252" cy="714"/>
              <a:chOff x="1976" y="2984"/>
              <a:chExt cx="1252" cy="714"/>
            </a:xfrm>
          </p:grpSpPr>
          <p:sp>
            <p:nvSpPr>
              <p:cNvPr id="60509" name="Rectangle 149"/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10" name="Text Box 150"/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source port #</a:t>
                </a:r>
              </a:p>
            </p:txBody>
          </p:sp>
          <p:sp>
            <p:nvSpPr>
              <p:cNvPr id="60511" name="Text Box 151"/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dest port #</a:t>
                </a:r>
              </a:p>
            </p:txBody>
          </p:sp>
          <p:sp>
            <p:nvSpPr>
              <p:cNvPr id="60512" name="Text Box 152"/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latin typeface="Arial" charset="0"/>
                  </a:rPr>
                  <a:t>sequence number</a:t>
                </a:r>
              </a:p>
            </p:txBody>
          </p:sp>
          <p:sp>
            <p:nvSpPr>
              <p:cNvPr id="60513" name="Text Box 153"/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solidFill>
                      <a:schemeClr val="bg1"/>
                    </a:solidFill>
                    <a:latin typeface="Arial" charset="0"/>
                  </a:rPr>
                  <a:t>acknowledgement number</a:t>
                </a:r>
              </a:p>
            </p:txBody>
          </p:sp>
          <p:sp>
            <p:nvSpPr>
              <p:cNvPr id="60514" name="Text Box 154"/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checksum</a:t>
                </a:r>
              </a:p>
            </p:txBody>
          </p:sp>
          <p:sp>
            <p:nvSpPr>
              <p:cNvPr id="60515" name="Line 155"/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16" name="Line 156"/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17" name="Line 157"/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18" name="Line 158"/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19" name="Line 159"/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20" name="Line 160"/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21" name="Text Box 161"/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latin typeface="Arial" charset="0"/>
                  </a:rPr>
                  <a:t>rwnd</a:t>
                </a:r>
              </a:p>
            </p:txBody>
          </p:sp>
          <p:sp>
            <p:nvSpPr>
              <p:cNvPr id="60522" name="Text Box 162"/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urg pointer</a:t>
                </a:r>
              </a:p>
            </p:txBody>
          </p:sp>
          <p:sp>
            <p:nvSpPr>
              <p:cNvPr id="60523" name="Line 163"/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524" name="Line 164"/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0507" name="Text Box 166"/>
            <p:cNvSpPr txBox="1">
              <a:spLocks noChangeArrowheads="1"/>
            </p:cNvSpPr>
            <p:nvPr/>
          </p:nvSpPr>
          <p:spPr bwMode="auto">
            <a:xfrm>
              <a:off x="3696" y="3092"/>
              <a:ext cx="173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</a:rPr>
                <a:t>incoming segment to sender</a:t>
              </a:r>
            </a:p>
          </p:txBody>
        </p:sp>
        <p:sp>
          <p:nvSpPr>
            <p:cNvPr id="76891" name="Freeform 168"/>
            <p:cNvSpPr>
              <a:spLocks/>
            </p:cNvSpPr>
            <p:nvPr/>
          </p:nvSpPr>
          <p:spPr bwMode="auto">
            <a:xfrm flipH="1" flipV="1">
              <a:off x="3599" y="2404"/>
              <a:ext cx="107" cy="119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6095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7587" name="Group 195"/>
          <p:cNvGrpSpPr>
            <a:grpSpLocks/>
          </p:cNvGrpSpPr>
          <p:nvPr/>
        </p:nvGrpSpPr>
        <p:grpSpPr bwMode="auto">
          <a:xfrm>
            <a:off x="8070851" y="5849938"/>
            <a:ext cx="358775" cy="304800"/>
            <a:chOff x="5144" y="3677"/>
            <a:chExt cx="226" cy="192"/>
          </a:xfrm>
        </p:grpSpPr>
        <p:sp>
          <p:nvSpPr>
            <p:cNvPr id="60503" name="Rectangle 194"/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0504" name="Text Box 193"/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sz="1400">
                  <a:solidFill>
                    <a:schemeClr val="bg1"/>
                  </a:solidFill>
                  <a:latin typeface="Arial Narrow" charset="0"/>
                </a:rPr>
                <a:t>A</a:t>
              </a:r>
            </a:p>
          </p:txBody>
        </p:sp>
      </p:grpSp>
      <p:sp>
        <p:nvSpPr>
          <p:cNvPr id="60425" name="Rectangle 37"/>
          <p:cNvSpPr>
            <a:spLocks noChangeArrowheads="1"/>
          </p:cNvSpPr>
          <p:nvPr/>
        </p:nvSpPr>
        <p:spPr bwMode="auto">
          <a:xfrm>
            <a:off x="6221414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26" name="Rectangle 39"/>
          <p:cNvSpPr>
            <a:spLocks noChangeArrowheads="1"/>
          </p:cNvSpPr>
          <p:nvPr/>
        </p:nvSpPr>
        <p:spPr bwMode="auto">
          <a:xfrm>
            <a:off x="6318250" y="304006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27" name="Rectangle 40"/>
          <p:cNvSpPr>
            <a:spLocks noChangeArrowheads="1"/>
          </p:cNvSpPr>
          <p:nvPr/>
        </p:nvSpPr>
        <p:spPr bwMode="auto">
          <a:xfrm>
            <a:off x="64166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28" name="Rectangle 41"/>
          <p:cNvSpPr>
            <a:spLocks noChangeArrowheads="1"/>
          </p:cNvSpPr>
          <p:nvPr/>
        </p:nvSpPr>
        <p:spPr bwMode="auto">
          <a:xfrm>
            <a:off x="6513514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29" name="Rectangle 42"/>
          <p:cNvSpPr>
            <a:spLocks noChangeArrowheads="1"/>
          </p:cNvSpPr>
          <p:nvPr/>
        </p:nvSpPr>
        <p:spPr bwMode="auto">
          <a:xfrm>
            <a:off x="6608764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0" name="Rectangle 43"/>
          <p:cNvSpPr>
            <a:spLocks noChangeArrowheads="1"/>
          </p:cNvSpPr>
          <p:nvPr/>
        </p:nvSpPr>
        <p:spPr bwMode="auto">
          <a:xfrm>
            <a:off x="670560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1" name="Rectangle 45"/>
          <p:cNvSpPr>
            <a:spLocks noChangeArrowheads="1"/>
          </p:cNvSpPr>
          <p:nvPr/>
        </p:nvSpPr>
        <p:spPr bwMode="auto">
          <a:xfrm>
            <a:off x="67976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2" name="Rectangle 46"/>
          <p:cNvSpPr>
            <a:spLocks noChangeArrowheads="1"/>
          </p:cNvSpPr>
          <p:nvPr/>
        </p:nvSpPr>
        <p:spPr bwMode="auto">
          <a:xfrm>
            <a:off x="689292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3" name="Rectangle 47"/>
          <p:cNvSpPr>
            <a:spLocks noChangeArrowheads="1"/>
          </p:cNvSpPr>
          <p:nvPr/>
        </p:nvSpPr>
        <p:spPr bwMode="auto">
          <a:xfrm>
            <a:off x="69881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4" name="Rectangle 50"/>
          <p:cNvSpPr>
            <a:spLocks noChangeArrowheads="1"/>
          </p:cNvSpPr>
          <p:nvPr/>
        </p:nvSpPr>
        <p:spPr bwMode="auto">
          <a:xfrm>
            <a:off x="7094539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5" name="Rectangle 51"/>
          <p:cNvSpPr>
            <a:spLocks noChangeArrowheads="1"/>
          </p:cNvSpPr>
          <p:nvPr/>
        </p:nvSpPr>
        <p:spPr bwMode="auto">
          <a:xfrm>
            <a:off x="7192964" y="304006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6" name="Rectangle 52"/>
          <p:cNvSpPr>
            <a:spLocks noChangeArrowheads="1"/>
          </p:cNvSpPr>
          <p:nvPr/>
        </p:nvSpPr>
        <p:spPr bwMode="auto">
          <a:xfrm>
            <a:off x="728980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7" name="Rectangle 53"/>
          <p:cNvSpPr>
            <a:spLocks noChangeArrowheads="1"/>
          </p:cNvSpPr>
          <p:nvPr/>
        </p:nvSpPr>
        <p:spPr bwMode="auto">
          <a:xfrm>
            <a:off x="7386639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8" name="Rectangle 54"/>
          <p:cNvSpPr>
            <a:spLocks noChangeArrowheads="1"/>
          </p:cNvSpPr>
          <p:nvPr/>
        </p:nvSpPr>
        <p:spPr bwMode="auto">
          <a:xfrm>
            <a:off x="748347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39" name="Rectangle 55"/>
          <p:cNvSpPr>
            <a:spLocks noChangeArrowheads="1"/>
          </p:cNvSpPr>
          <p:nvPr/>
        </p:nvSpPr>
        <p:spPr bwMode="auto">
          <a:xfrm>
            <a:off x="757872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0" name="Rectangle 56"/>
          <p:cNvSpPr>
            <a:spLocks noChangeArrowheads="1"/>
          </p:cNvSpPr>
          <p:nvPr/>
        </p:nvSpPr>
        <p:spPr bwMode="auto">
          <a:xfrm>
            <a:off x="767080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1" name="Rectangle 57"/>
          <p:cNvSpPr>
            <a:spLocks noChangeArrowheads="1"/>
          </p:cNvSpPr>
          <p:nvPr/>
        </p:nvSpPr>
        <p:spPr bwMode="auto">
          <a:xfrm>
            <a:off x="776605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2" name="Rectangle 58"/>
          <p:cNvSpPr>
            <a:spLocks noChangeArrowheads="1"/>
          </p:cNvSpPr>
          <p:nvPr/>
        </p:nvSpPr>
        <p:spPr bwMode="auto">
          <a:xfrm>
            <a:off x="7862889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3" name="Rectangle 59"/>
          <p:cNvSpPr>
            <a:spLocks noChangeArrowheads="1"/>
          </p:cNvSpPr>
          <p:nvPr/>
        </p:nvSpPr>
        <p:spPr bwMode="auto">
          <a:xfrm>
            <a:off x="7951789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4" name="Rectangle 60"/>
          <p:cNvSpPr>
            <a:spLocks noChangeArrowheads="1"/>
          </p:cNvSpPr>
          <p:nvPr/>
        </p:nvSpPr>
        <p:spPr bwMode="auto">
          <a:xfrm>
            <a:off x="8047039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5" name="Rectangle 61"/>
          <p:cNvSpPr>
            <a:spLocks noChangeArrowheads="1"/>
          </p:cNvSpPr>
          <p:nvPr/>
        </p:nvSpPr>
        <p:spPr bwMode="auto">
          <a:xfrm>
            <a:off x="814070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6" name="Rectangle 62"/>
          <p:cNvSpPr>
            <a:spLocks noChangeArrowheads="1"/>
          </p:cNvSpPr>
          <p:nvPr/>
        </p:nvSpPr>
        <p:spPr bwMode="auto">
          <a:xfrm>
            <a:off x="8232775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7" name="Rectangle 63"/>
          <p:cNvSpPr>
            <a:spLocks noChangeArrowheads="1"/>
          </p:cNvSpPr>
          <p:nvPr/>
        </p:nvSpPr>
        <p:spPr bwMode="auto">
          <a:xfrm>
            <a:off x="8329614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8" name="Rectangle 64"/>
          <p:cNvSpPr>
            <a:spLocks noChangeArrowheads="1"/>
          </p:cNvSpPr>
          <p:nvPr/>
        </p:nvSpPr>
        <p:spPr bwMode="auto">
          <a:xfrm>
            <a:off x="8424864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49" name="Rectangle 65"/>
          <p:cNvSpPr>
            <a:spLocks noChangeArrowheads="1"/>
          </p:cNvSpPr>
          <p:nvPr/>
        </p:nvSpPr>
        <p:spPr bwMode="auto">
          <a:xfrm>
            <a:off x="8513764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0" name="Rectangle 66"/>
          <p:cNvSpPr>
            <a:spLocks noChangeArrowheads="1"/>
          </p:cNvSpPr>
          <p:nvPr/>
        </p:nvSpPr>
        <p:spPr bwMode="auto">
          <a:xfrm>
            <a:off x="8609014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1" name="Rectangle 68"/>
          <p:cNvSpPr>
            <a:spLocks noChangeArrowheads="1"/>
          </p:cNvSpPr>
          <p:nvPr/>
        </p:nvSpPr>
        <p:spPr bwMode="auto">
          <a:xfrm>
            <a:off x="87058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2" name="Rectangle 69"/>
          <p:cNvSpPr>
            <a:spLocks noChangeArrowheads="1"/>
          </p:cNvSpPr>
          <p:nvPr/>
        </p:nvSpPr>
        <p:spPr bwMode="auto">
          <a:xfrm>
            <a:off x="8802689" y="304006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3" name="Rectangle 70"/>
          <p:cNvSpPr>
            <a:spLocks noChangeArrowheads="1"/>
          </p:cNvSpPr>
          <p:nvPr/>
        </p:nvSpPr>
        <p:spPr bwMode="auto">
          <a:xfrm>
            <a:off x="889952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4" name="Rectangle 71"/>
          <p:cNvSpPr>
            <a:spLocks noChangeArrowheads="1"/>
          </p:cNvSpPr>
          <p:nvPr/>
        </p:nvSpPr>
        <p:spPr bwMode="auto">
          <a:xfrm>
            <a:off x="89979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5" name="Rectangle 72"/>
          <p:cNvSpPr>
            <a:spLocks noChangeArrowheads="1"/>
          </p:cNvSpPr>
          <p:nvPr/>
        </p:nvSpPr>
        <p:spPr bwMode="auto">
          <a:xfrm>
            <a:off x="909320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6" name="Rectangle 73"/>
          <p:cNvSpPr>
            <a:spLocks noChangeArrowheads="1"/>
          </p:cNvSpPr>
          <p:nvPr/>
        </p:nvSpPr>
        <p:spPr bwMode="auto">
          <a:xfrm>
            <a:off x="91884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7" name="Rectangle 74"/>
          <p:cNvSpPr>
            <a:spLocks noChangeArrowheads="1"/>
          </p:cNvSpPr>
          <p:nvPr/>
        </p:nvSpPr>
        <p:spPr bwMode="auto">
          <a:xfrm>
            <a:off x="928052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8" name="Rectangle 75"/>
          <p:cNvSpPr>
            <a:spLocks noChangeArrowheads="1"/>
          </p:cNvSpPr>
          <p:nvPr/>
        </p:nvSpPr>
        <p:spPr bwMode="auto">
          <a:xfrm>
            <a:off x="9377364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59" name="Rectangle 76"/>
          <p:cNvSpPr>
            <a:spLocks noChangeArrowheads="1"/>
          </p:cNvSpPr>
          <p:nvPr/>
        </p:nvSpPr>
        <p:spPr bwMode="auto">
          <a:xfrm>
            <a:off x="9472614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0" name="Rectangle 78"/>
          <p:cNvSpPr>
            <a:spLocks noChangeArrowheads="1"/>
          </p:cNvSpPr>
          <p:nvPr/>
        </p:nvSpPr>
        <p:spPr bwMode="auto">
          <a:xfrm>
            <a:off x="6178551" y="3776663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1" name="Rectangle 79"/>
          <p:cNvSpPr>
            <a:spLocks noChangeArrowheads="1"/>
          </p:cNvSpPr>
          <p:nvPr/>
        </p:nvSpPr>
        <p:spPr bwMode="auto">
          <a:xfrm>
            <a:off x="6264276" y="2928938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2" name="Line 80"/>
          <p:cNvSpPr>
            <a:spLocks noChangeShapeType="1"/>
          </p:cNvSpPr>
          <p:nvPr/>
        </p:nvSpPr>
        <p:spPr bwMode="auto">
          <a:xfrm>
            <a:off x="6286501" y="3890963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3" name="Line 82"/>
          <p:cNvSpPr>
            <a:spLocks noChangeShapeType="1"/>
          </p:cNvSpPr>
          <p:nvPr/>
        </p:nvSpPr>
        <p:spPr bwMode="auto">
          <a:xfrm>
            <a:off x="7221538" y="3892550"/>
            <a:ext cx="8683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4" name="Line 83"/>
          <p:cNvSpPr>
            <a:spLocks noChangeShapeType="1"/>
          </p:cNvSpPr>
          <p:nvPr/>
        </p:nvSpPr>
        <p:spPr bwMode="auto">
          <a:xfrm>
            <a:off x="8715375" y="3890963"/>
            <a:ext cx="801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5" name="Line 84"/>
          <p:cNvSpPr>
            <a:spLocks noChangeShapeType="1"/>
          </p:cNvSpPr>
          <p:nvPr/>
        </p:nvSpPr>
        <p:spPr bwMode="auto">
          <a:xfrm>
            <a:off x="8145464" y="3892550"/>
            <a:ext cx="5286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6" name="Line 87"/>
          <p:cNvSpPr>
            <a:spLocks noChangeShapeType="1"/>
          </p:cNvSpPr>
          <p:nvPr/>
        </p:nvSpPr>
        <p:spPr bwMode="auto">
          <a:xfrm>
            <a:off x="6378575" y="3914776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7" name="Line 88"/>
          <p:cNvSpPr>
            <a:spLocks noChangeShapeType="1"/>
          </p:cNvSpPr>
          <p:nvPr/>
        </p:nvSpPr>
        <p:spPr bwMode="auto">
          <a:xfrm>
            <a:off x="7607300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8" name="Line 89"/>
          <p:cNvSpPr>
            <a:spLocks noChangeShapeType="1"/>
          </p:cNvSpPr>
          <p:nvPr/>
        </p:nvSpPr>
        <p:spPr bwMode="auto">
          <a:xfrm>
            <a:off x="8426450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69" name="Line 90"/>
          <p:cNvSpPr>
            <a:spLocks noChangeShapeType="1"/>
          </p:cNvSpPr>
          <p:nvPr/>
        </p:nvSpPr>
        <p:spPr bwMode="auto">
          <a:xfrm>
            <a:off x="9083675" y="3910013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0470" name="Text Box 91"/>
          <p:cNvSpPr txBox="1">
            <a:spLocks noChangeArrowheads="1"/>
          </p:cNvSpPr>
          <p:nvPr/>
        </p:nvSpPr>
        <p:spPr bwMode="auto">
          <a:xfrm>
            <a:off x="6254750" y="4138613"/>
            <a:ext cx="6937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sz="1400"/>
              <a:t>sent 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400"/>
              <a:t>ACKed</a:t>
            </a:r>
          </a:p>
        </p:txBody>
      </p:sp>
      <p:sp>
        <p:nvSpPr>
          <p:cNvPr id="60471" name="Text Box 92"/>
          <p:cNvSpPr txBox="1">
            <a:spLocks noChangeArrowheads="1"/>
          </p:cNvSpPr>
          <p:nvPr/>
        </p:nvSpPr>
        <p:spPr bwMode="auto">
          <a:xfrm>
            <a:off x="7235825" y="4144963"/>
            <a:ext cx="10668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400"/>
              <a:t>sent, not-yet ACKed</a:t>
            </a:r>
          </a:p>
          <a:p>
            <a:pPr algn="l">
              <a:lnSpc>
                <a:spcPct val="90000"/>
              </a:lnSpc>
            </a:pPr>
            <a:r>
              <a:rPr lang="en-US" altLang="en-US" sz="1400"/>
              <a:t>(</a:t>
            </a:r>
            <a:r>
              <a:rPr lang="ja-JP" altLang="en-US" sz="1400"/>
              <a:t>“</a:t>
            </a:r>
            <a:r>
              <a:rPr lang="en-US" altLang="ja-JP" sz="1400"/>
              <a:t>in-flight</a:t>
            </a:r>
            <a:r>
              <a:rPr lang="ja-JP" altLang="en-US" sz="1400"/>
              <a:t>”</a:t>
            </a:r>
            <a:r>
              <a:rPr lang="en-US" altLang="ja-JP" sz="1400"/>
              <a:t>)</a:t>
            </a:r>
            <a:endParaRPr lang="en-US" altLang="en-US" sz="1400"/>
          </a:p>
        </p:txBody>
      </p:sp>
      <p:sp>
        <p:nvSpPr>
          <p:cNvPr id="60472" name="Text Box 93"/>
          <p:cNvSpPr txBox="1">
            <a:spLocks noChangeArrowheads="1"/>
          </p:cNvSpPr>
          <p:nvPr/>
        </p:nvSpPr>
        <p:spPr bwMode="auto">
          <a:xfrm>
            <a:off x="8215313" y="4140200"/>
            <a:ext cx="1066800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sz="1400"/>
              <a:t>usable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400"/>
              <a:t>but not 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400"/>
              <a:t>yet sent</a:t>
            </a:r>
          </a:p>
        </p:txBody>
      </p:sp>
      <p:sp>
        <p:nvSpPr>
          <p:cNvPr id="60473" name="Text Box 94"/>
          <p:cNvSpPr txBox="1">
            <a:spLocks noChangeArrowheads="1"/>
          </p:cNvSpPr>
          <p:nvPr/>
        </p:nvSpPr>
        <p:spPr bwMode="auto">
          <a:xfrm>
            <a:off x="8972550" y="4144963"/>
            <a:ext cx="819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sz="1400"/>
              <a:t>not 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400"/>
              <a:t>usable</a:t>
            </a:r>
          </a:p>
        </p:txBody>
      </p:sp>
      <p:sp>
        <p:nvSpPr>
          <p:cNvPr id="60474" name="Text Box 96"/>
          <p:cNvSpPr txBox="1">
            <a:spLocks noChangeArrowheads="1"/>
          </p:cNvSpPr>
          <p:nvPr/>
        </p:nvSpPr>
        <p:spPr bwMode="auto">
          <a:xfrm>
            <a:off x="7315200" y="2573338"/>
            <a:ext cx="11318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1400"/>
              <a:t>window size</a:t>
            </a:r>
          </a:p>
          <a:p>
            <a:pPr>
              <a:lnSpc>
                <a:spcPct val="90000"/>
              </a:lnSpc>
              <a:defRPr/>
            </a:pPr>
            <a:r>
              <a:rPr lang="en-US" sz="1400" i="1"/>
              <a:t> N</a:t>
            </a:r>
          </a:p>
        </p:txBody>
      </p:sp>
      <p:grpSp>
        <p:nvGrpSpPr>
          <p:cNvPr id="76858" name="Group 99"/>
          <p:cNvGrpSpPr>
            <a:grpSpLocks/>
          </p:cNvGrpSpPr>
          <p:nvPr/>
        </p:nvGrpSpPr>
        <p:grpSpPr bwMode="auto">
          <a:xfrm>
            <a:off x="8081964" y="2797176"/>
            <a:ext cx="593725" cy="136525"/>
            <a:chOff x="4250" y="1692"/>
            <a:chExt cx="374" cy="86"/>
          </a:xfrm>
        </p:grpSpPr>
        <p:sp>
          <p:nvSpPr>
            <p:cNvPr id="60501" name="Line 97"/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0502" name="Line 98"/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76859" name="Group 100"/>
          <p:cNvGrpSpPr>
            <a:grpSpLocks/>
          </p:cNvGrpSpPr>
          <p:nvPr/>
        </p:nvGrpSpPr>
        <p:grpSpPr bwMode="auto">
          <a:xfrm rot="10800000">
            <a:off x="7189789" y="2822576"/>
            <a:ext cx="593725" cy="136525"/>
            <a:chOff x="4250" y="1692"/>
            <a:chExt cx="374" cy="86"/>
          </a:xfrm>
        </p:grpSpPr>
        <p:sp>
          <p:nvSpPr>
            <p:cNvPr id="60499" name="Line 101"/>
            <p:cNvSpPr>
              <a:spLocks noChangeShapeType="1"/>
            </p:cNvSpPr>
            <p:nvPr/>
          </p:nvSpPr>
          <p:spPr bwMode="auto">
            <a:xfrm>
              <a:off x="4254" y="1742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0500" name="Line 102"/>
            <p:cNvSpPr>
              <a:spLocks noChangeShapeType="1"/>
            </p:cNvSpPr>
            <p:nvPr/>
          </p:nvSpPr>
          <p:spPr bwMode="auto">
            <a:xfrm>
              <a:off x="4626" y="1696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60477" name="Text Box 196"/>
          <p:cNvSpPr txBox="1">
            <a:spLocks noChangeArrowheads="1"/>
          </p:cNvSpPr>
          <p:nvPr/>
        </p:nvSpPr>
        <p:spPr bwMode="auto">
          <a:xfrm>
            <a:off x="6470651" y="3592513"/>
            <a:ext cx="317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lvl="1">
              <a:defRPr/>
            </a:pPr>
            <a:r>
              <a:rPr lang="en-US" sz="1400" i="1"/>
              <a:t>sender sequence number space </a:t>
            </a:r>
          </a:p>
        </p:txBody>
      </p:sp>
      <p:grpSp>
        <p:nvGrpSpPr>
          <p:cNvPr id="187591" name="Group 199"/>
          <p:cNvGrpSpPr>
            <a:grpSpLocks/>
          </p:cNvGrpSpPr>
          <p:nvPr/>
        </p:nvGrpSpPr>
        <p:grpSpPr bwMode="auto">
          <a:xfrm>
            <a:off x="5973763" y="1068388"/>
            <a:ext cx="2952750" cy="1954212"/>
            <a:chOff x="2768" y="673"/>
            <a:chExt cx="1860" cy="1231"/>
          </a:xfrm>
        </p:grpSpPr>
        <p:sp>
          <p:nvSpPr>
            <p:cNvPr id="60479" name="Rectangle 171"/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76863" name="Group 172"/>
            <p:cNvGrpSpPr>
              <a:grpSpLocks/>
            </p:cNvGrpSpPr>
            <p:nvPr/>
          </p:nvGrpSpPr>
          <p:grpSpPr bwMode="auto"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60483" name="Rectangle 173"/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84" name="Text Box 174"/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source port #</a:t>
                </a:r>
              </a:p>
            </p:txBody>
          </p:sp>
          <p:sp>
            <p:nvSpPr>
              <p:cNvPr id="60485" name="Text Box 175"/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dest port #</a:t>
                </a:r>
              </a:p>
            </p:txBody>
          </p:sp>
          <p:sp>
            <p:nvSpPr>
              <p:cNvPr id="60486" name="Text Box 176"/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solidFill>
                      <a:schemeClr val="bg1"/>
                    </a:solidFill>
                    <a:latin typeface="Arial" charset="0"/>
                  </a:rPr>
                  <a:t>sequence number</a:t>
                </a:r>
              </a:p>
            </p:txBody>
          </p:sp>
          <p:sp>
            <p:nvSpPr>
              <p:cNvPr id="60487" name="Text Box 177"/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latin typeface="Arial" charset="0"/>
                  </a:rPr>
                  <a:t>acknowledgement number</a:t>
                </a:r>
              </a:p>
            </p:txBody>
          </p:sp>
          <p:sp>
            <p:nvSpPr>
              <p:cNvPr id="60488" name="Text Box 178"/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checksum</a:t>
                </a:r>
              </a:p>
            </p:txBody>
          </p:sp>
          <p:sp>
            <p:nvSpPr>
              <p:cNvPr id="60489" name="Line 179"/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0" name="Line 180"/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1" name="Line 181"/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2" name="Line 182"/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3" name="Line 183"/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4" name="Line 184"/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5" name="Text Box 185"/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latin typeface="Arial" charset="0"/>
                  </a:rPr>
                  <a:t>rwnd</a:t>
                </a:r>
              </a:p>
            </p:txBody>
          </p:sp>
          <p:sp>
            <p:nvSpPr>
              <p:cNvPr id="60496" name="Text Box 186"/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>
                    <a:latin typeface="Arial" charset="0"/>
                  </a:rPr>
                  <a:t>urg pointer</a:t>
                </a:r>
              </a:p>
            </p:txBody>
          </p:sp>
          <p:sp>
            <p:nvSpPr>
              <p:cNvPr id="60497" name="Line 187"/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0498" name="Line 188"/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0481" name="Text Box 189"/>
            <p:cNvSpPr txBox="1">
              <a:spLocks noChangeArrowheads="1"/>
            </p:cNvSpPr>
            <p:nvPr/>
          </p:nvSpPr>
          <p:spPr bwMode="auto">
            <a:xfrm>
              <a:off x="2768" y="673"/>
              <a:ext cx="18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</a:rPr>
                <a:t>outgoing segment from sender</a:t>
              </a:r>
            </a:p>
          </p:txBody>
        </p:sp>
        <p:sp>
          <p:nvSpPr>
            <p:cNvPr id="76865" name="Freeform 190"/>
            <p:cNvSpPr>
              <a:spLocks/>
            </p:cNvSpPr>
            <p:nvPr/>
          </p:nvSpPr>
          <p:spPr bwMode="auto">
            <a:xfrm>
              <a:off x="4050" y="1080"/>
              <a:ext cx="107" cy="82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454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291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144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E9D0E75D-DB66-410C-BC29-C0BF7EF76D2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pic>
        <p:nvPicPr>
          <p:cNvPr id="77827" name="Picture 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6" y="81597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Line 3"/>
          <p:cNvSpPr>
            <a:spLocks noChangeShapeType="1"/>
          </p:cNvSpPr>
          <p:nvPr/>
        </p:nvSpPr>
        <p:spPr bwMode="auto">
          <a:xfrm>
            <a:off x="4803775" y="4483101"/>
            <a:ext cx="2590800" cy="506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46" name="Line 4"/>
          <p:cNvSpPr>
            <a:spLocks noChangeShapeType="1"/>
          </p:cNvSpPr>
          <p:nvPr/>
        </p:nvSpPr>
        <p:spPr bwMode="auto">
          <a:xfrm>
            <a:off x="4818064" y="2714625"/>
            <a:ext cx="2586037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47" name="Rectangle 5"/>
          <p:cNvSpPr>
            <a:spLocks noGrp="1" noChangeArrowheads="1"/>
          </p:cNvSpPr>
          <p:nvPr>
            <p:ph type="title"/>
          </p:nvPr>
        </p:nvSpPr>
        <p:spPr>
          <a:xfrm>
            <a:off x="1890713" y="150814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seq. numbers, </a:t>
            </a:r>
            <a:r>
              <a:rPr lang="en-US" sz="4000">
                <a:ea typeface="ＭＳ Ｐゴシック" charset="0"/>
              </a:rPr>
              <a:t>ACK</a:t>
            </a:r>
            <a:r>
              <a:rPr lang="en-US">
                <a:ea typeface="ＭＳ Ｐゴシック" charset="0"/>
                <a:cs typeface="+mj-cs"/>
              </a:rPr>
              <a:t>s</a:t>
            </a:r>
          </a:p>
        </p:txBody>
      </p:sp>
      <p:sp>
        <p:nvSpPr>
          <p:cNvPr id="61448" name="Text Box 7"/>
          <p:cNvSpPr txBox="1">
            <a:spLocks noChangeArrowheads="1"/>
          </p:cNvSpPr>
          <p:nvPr/>
        </p:nvSpPr>
        <p:spPr bwMode="auto">
          <a:xfrm>
            <a:off x="4008439" y="2320926"/>
            <a:ext cx="809625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en-US"/>
              <a:t>User</a:t>
            </a:r>
          </a:p>
          <a:p>
            <a:pPr algn="r">
              <a:lnSpc>
                <a:spcPct val="90000"/>
              </a:lnSpc>
            </a:pPr>
            <a:r>
              <a:rPr lang="en-US" altLang="en-US"/>
              <a:t>types</a:t>
            </a:r>
          </a:p>
          <a:p>
            <a:pPr algn="r">
              <a:lnSpc>
                <a:spcPct val="90000"/>
              </a:lnSpc>
            </a:pPr>
            <a:r>
              <a:rPr lang="ja-JP" altLang="en-US"/>
              <a:t>‘</a:t>
            </a:r>
            <a:r>
              <a:rPr lang="en-US" altLang="ja-JP"/>
              <a:t>C</a:t>
            </a:r>
            <a:r>
              <a:rPr lang="ja-JP" altLang="en-US"/>
              <a:t>’</a:t>
            </a:r>
            <a:endParaRPr lang="en-US" altLang="en-US" sz="1000"/>
          </a:p>
        </p:txBody>
      </p:sp>
      <p:sp>
        <p:nvSpPr>
          <p:cNvPr id="61449" name="Text Box 8"/>
          <p:cNvSpPr txBox="1">
            <a:spLocks noChangeArrowheads="1"/>
          </p:cNvSpPr>
          <p:nvPr/>
        </p:nvSpPr>
        <p:spPr bwMode="auto">
          <a:xfrm>
            <a:off x="3757613" y="3933826"/>
            <a:ext cx="1084262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en-US"/>
              <a:t>host ACKs</a:t>
            </a:r>
          </a:p>
          <a:p>
            <a:pPr algn="r">
              <a:lnSpc>
                <a:spcPct val="90000"/>
              </a:lnSpc>
            </a:pPr>
            <a:r>
              <a:rPr lang="en-US" altLang="en-US"/>
              <a:t>receipt </a:t>
            </a:r>
          </a:p>
          <a:p>
            <a:pPr algn="r">
              <a:lnSpc>
                <a:spcPct val="90000"/>
              </a:lnSpc>
            </a:pPr>
            <a:r>
              <a:rPr lang="en-US" altLang="en-US"/>
              <a:t>of echoed</a:t>
            </a:r>
          </a:p>
          <a:p>
            <a:pPr algn="r">
              <a:lnSpc>
                <a:spcPct val="90000"/>
              </a:lnSpc>
            </a:pPr>
            <a:r>
              <a:rPr lang="ja-JP" altLang="en-US"/>
              <a:t>‘</a:t>
            </a:r>
            <a:r>
              <a:rPr lang="en-US" altLang="ja-JP"/>
              <a:t>C</a:t>
            </a:r>
            <a:r>
              <a:rPr lang="ja-JP" altLang="en-US"/>
              <a:t>’</a:t>
            </a:r>
            <a:endParaRPr lang="en-US" altLang="en-US" sz="1000"/>
          </a:p>
        </p:txBody>
      </p:sp>
      <p:sp>
        <p:nvSpPr>
          <p:cNvPr id="61450" name="Text Box 9"/>
          <p:cNvSpPr txBox="1">
            <a:spLocks noChangeArrowheads="1"/>
          </p:cNvSpPr>
          <p:nvPr/>
        </p:nvSpPr>
        <p:spPr bwMode="auto">
          <a:xfrm>
            <a:off x="7418389" y="3055938"/>
            <a:ext cx="126669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/>
              <a:t>host ACKs</a:t>
            </a:r>
          </a:p>
          <a:p>
            <a:pPr algn="l"/>
            <a:r>
              <a:rPr lang="en-US" altLang="en-US"/>
              <a:t>receipt of</a:t>
            </a:r>
          </a:p>
          <a:p>
            <a:pPr algn="l"/>
            <a:r>
              <a:rPr lang="ja-JP" altLang="en-US"/>
              <a:t>‘</a:t>
            </a:r>
            <a:r>
              <a:rPr lang="en-US" altLang="ja-JP"/>
              <a:t>C</a:t>
            </a:r>
            <a:r>
              <a:rPr lang="ja-JP" altLang="en-US"/>
              <a:t>’</a:t>
            </a:r>
            <a:r>
              <a:rPr lang="en-US" altLang="ja-JP"/>
              <a:t>, echoes</a:t>
            </a:r>
          </a:p>
          <a:p>
            <a:pPr algn="l"/>
            <a:r>
              <a:rPr lang="en-US" altLang="en-US"/>
              <a:t>back </a:t>
            </a:r>
            <a:r>
              <a:rPr lang="ja-JP" altLang="en-US"/>
              <a:t>‘</a:t>
            </a:r>
            <a:r>
              <a:rPr lang="en-US" altLang="ja-JP"/>
              <a:t>C</a:t>
            </a:r>
            <a:r>
              <a:rPr lang="ja-JP" altLang="en-US"/>
              <a:t>’</a:t>
            </a:r>
            <a:endParaRPr lang="en-US" altLang="en-US"/>
          </a:p>
        </p:txBody>
      </p:sp>
      <p:sp>
        <p:nvSpPr>
          <p:cNvPr id="61451" name="Line 10"/>
          <p:cNvSpPr>
            <a:spLocks noChangeShapeType="1"/>
          </p:cNvSpPr>
          <p:nvPr/>
        </p:nvSpPr>
        <p:spPr bwMode="auto">
          <a:xfrm flipH="1">
            <a:off x="4808539" y="3487738"/>
            <a:ext cx="2554287" cy="800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52" name="Text Box 11"/>
          <p:cNvSpPr txBox="1">
            <a:spLocks noChangeArrowheads="1"/>
          </p:cNvSpPr>
          <p:nvPr/>
        </p:nvSpPr>
        <p:spPr bwMode="auto">
          <a:xfrm>
            <a:off x="5002213" y="5291138"/>
            <a:ext cx="2379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solidFill>
                  <a:srgbClr val="000099"/>
                </a:solidFill>
              </a:rPr>
              <a:t>simple telnet scenario</a:t>
            </a:r>
            <a:endParaRPr lang="en-US" sz="1000">
              <a:solidFill>
                <a:srgbClr val="000099"/>
              </a:solidFill>
            </a:endParaRP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6992938" y="1430338"/>
            <a:ext cx="7731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B</a:t>
            </a:r>
          </a:p>
        </p:txBody>
      </p:sp>
      <p:sp>
        <p:nvSpPr>
          <p:cNvPr id="61454" name="Text Box 17"/>
          <p:cNvSpPr txBox="1">
            <a:spLocks noChangeArrowheads="1"/>
          </p:cNvSpPr>
          <p:nvPr/>
        </p:nvSpPr>
        <p:spPr bwMode="auto">
          <a:xfrm>
            <a:off x="4422776" y="1436688"/>
            <a:ext cx="7825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A</a:t>
            </a:r>
          </a:p>
        </p:txBody>
      </p:sp>
      <p:sp>
        <p:nvSpPr>
          <p:cNvPr id="61455" name="Rectangle 18"/>
          <p:cNvSpPr>
            <a:spLocks noChangeArrowheads="1"/>
          </p:cNvSpPr>
          <p:nvPr/>
        </p:nvSpPr>
        <p:spPr bwMode="auto">
          <a:xfrm>
            <a:off x="5630864" y="2806701"/>
            <a:ext cx="814387" cy="3794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56" name="Text Box 19"/>
          <p:cNvSpPr txBox="1">
            <a:spLocks noChangeArrowheads="1"/>
          </p:cNvSpPr>
          <p:nvPr/>
        </p:nvSpPr>
        <p:spPr bwMode="auto">
          <a:xfrm>
            <a:off x="4922839" y="2859089"/>
            <a:ext cx="25478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Seq=42, ACK=79, data = </a:t>
            </a:r>
            <a:r>
              <a:rPr lang="ja-JP" altLang="en-US" sz="1400"/>
              <a:t>‘</a:t>
            </a:r>
            <a:r>
              <a:rPr lang="en-US" altLang="ja-JP" sz="1400"/>
              <a:t>C</a:t>
            </a:r>
            <a:r>
              <a:rPr lang="ja-JP" altLang="en-US" sz="1400"/>
              <a:t>’</a:t>
            </a:r>
            <a:endParaRPr lang="en-US" altLang="en-US" sz="1400"/>
          </a:p>
        </p:txBody>
      </p:sp>
      <p:sp>
        <p:nvSpPr>
          <p:cNvPr id="61457" name="Rectangle 20"/>
          <p:cNvSpPr>
            <a:spLocks noChangeArrowheads="1"/>
          </p:cNvSpPr>
          <p:nvPr/>
        </p:nvSpPr>
        <p:spPr bwMode="auto">
          <a:xfrm>
            <a:off x="5665788" y="3765551"/>
            <a:ext cx="823912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58" name="Text Box 21"/>
          <p:cNvSpPr txBox="1">
            <a:spLocks noChangeArrowheads="1"/>
          </p:cNvSpPr>
          <p:nvPr/>
        </p:nvSpPr>
        <p:spPr bwMode="auto">
          <a:xfrm>
            <a:off x="4926014" y="3754439"/>
            <a:ext cx="25296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Seq=79, ACK=43, data = </a:t>
            </a:r>
            <a:r>
              <a:rPr lang="ja-JP" altLang="en-US" sz="1400">
                <a:latin typeface="Arial" panose="020B0604020202020204" pitchFamily="34" charset="0"/>
              </a:rPr>
              <a:t>‘</a:t>
            </a:r>
            <a:r>
              <a:rPr lang="en-US" altLang="ja-JP" sz="1400">
                <a:latin typeface="Arial" panose="020B0604020202020204" pitchFamily="34" charset="0"/>
              </a:rPr>
              <a:t>C</a:t>
            </a:r>
            <a:r>
              <a:rPr lang="ja-JP" altLang="en-US" sz="1400">
                <a:latin typeface="Arial" panose="020B0604020202020204" pitchFamily="34" charset="0"/>
              </a:rPr>
              <a:t>’</a:t>
            </a:r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61459" name="Rectangle 22"/>
          <p:cNvSpPr>
            <a:spLocks noChangeArrowheads="1"/>
          </p:cNvSpPr>
          <p:nvPr/>
        </p:nvSpPr>
        <p:spPr bwMode="auto">
          <a:xfrm>
            <a:off x="5732463" y="4613275"/>
            <a:ext cx="958850" cy="357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60" name="Text Box 23"/>
          <p:cNvSpPr txBox="1">
            <a:spLocks noChangeArrowheads="1"/>
          </p:cNvSpPr>
          <p:nvPr/>
        </p:nvSpPr>
        <p:spPr bwMode="auto">
          <a:xfrm>
            <a:off x="5411789" y="4627563"/>
            <a:ext cx="1565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>
                <a:latin typeface="Arial" charset="0"/>
              </a:rPr>
              <a:t>Seq=43, ACK=80</a:t>
            </a:r>
            <a:endParaRPr lang="en-US" sz="1000">
              <a:latin typeface="Times New Roman" charset="0"/>
            </a:endParaRPr>
          </a:p>
        </p:txBody>
      </p:sp>
      <p:sp>
        <p:nvSpPr>
          <p:cNvPr id="61461" name="Line 24"/>
          <p:cNvSpPr>
            <a:spLocks noChangeShapeType="1"/>
          </p:cNvSpPr>
          <p:nvPr/>
        </p:nvSpPr>
        <p:spPr bwMode="auto">
          <a:xfrm>
            <a:off x="4795838" y="2473326"/>
            <a:ext cx="0" cy="2587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1462" name="Line 25"/>
          <p:cNvSpPr>
            <a:spLocks noChangeShapeType="1"/>
          </p:cNvSpPr>
          <p:nvPr/>
        </p:nvSpPr>
        <p:spPr bwMode="auto">
          <a:xfrm>
            <a:off x="7458075" y="2525714"/>
            <a:ext cx="0" cy="2587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77846" name="Group 27"/>
          <p:cNvGrpSpPr>
            <a:grpSpLocks/>
          </p:cNvGrpSpPr>
          <p:nvPr/>
        </p:nvGrpSpPr>
        <p:grpSpPr bwMode="auto">
          <a:xfrm>
            <a:off x="4287838" y="1652589"/>
            <a:ext cx="755650" cy="782637"/>
            <a:chOff x="-44" y="1473"/>
            <a:chExt cx="981" cy="1105"/>
          </a:xfrm>
        </p:grpSpPr>
        <p:pic>
          <p:nvPicPr>
            <p:cNvPr id="77850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51" name="Freeform 2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7847" name="Group 30"/>
          <p:cNvGrpSpPr>
            <a:grpSpLocks/>
          </p:cNvGrpSpPr>
          <p:nvPr/>
        </p:nvGrpSpPr>
        <p:grpSpPr bwMode="auto">
          <a:xfrm flipH="1">
            <a:off x="7150100" y="1692276"/>
            <a:ext cx="788988" cy="862013"/>
            <a:chOff x="-44" y="1473"/>
            <a:chExt cx="981" cy="1105"/>
          </a:xfrm>
        </p:grpSpPr>
        <p:pic>
          <p:nvPicPr>
            <p:cNvPr id="7784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49" name="Freeform 3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293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24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E0EFA9CB-DAC1-488B-B05A-66260B707086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pic>
        <p:nvPicPr>
          <p:cNvPr id="78851" name="Picture 102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47739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066925" y="233363"/>
            <a:ext cx="7772400" cy="92075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round trip time, timeout</a:t>
            </a:r>
            <a:endParaRPr lang="en-US" sz="4800">
              <a:ea typeface="ＭＳ Ｐゴシック" charset="0"/>
            </a:endParaRPr>
          </a:p>
        </p:txBody>
      </p:sp>
      <p:sp>
        <p:nvSpPr>
          <p:cNvPr id="62470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2105025" y="1436688"/>
            <a:ext cx="3716338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u="sng" dirty="0">
                <a:solidFill>
                  <a:srgbClr val="FF0000"/>
                </a:solidFill>
                <a:ea typeface="ＭＳ Ｐゴシック" charset="0"/>
              </a:rPr>
              <a:t>Q:</a:t>
            </a:r>
            <a:r>
              <a:rPr lang="en-US" sz="3200" dirty="0">
                <a:ea typeface="ＭＳ Ｐゴシック" charset="0"/>
              </a:rPr>
              <a:t> how to set TCP </a:t>
            </a:r>
            <a:r>
              <a:rPr lang="en-US" sz="3200" dirty="0">
                <a:solidFill>
                  <a:srgbClr val="0000FF"/>
                </a:solidFill>
                <a:ea typeface="ＭＳ Ｐゴシック" charset="0"/>
              </a:rPr>
              <a:t>timeout</a:t>
            </a:r>
            <a:r>
              <a:rPr lang="en-US" sz="3200" dirty="0">
                <a:ea typeface="ＭＳ Ｐゴシック" charset="0"/>
              </a:rPr>
              <a:t> value?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dirty="0">
                <a:solidFill>
                  <a:srgbClr val="008000"/>
                </a:solidFill>
                <a:ea typeface="ＭＳ Ｐゴシック" charset="0"/>
                <a:cs typeface="+mn-cs"/>
              </a:rPr>
              <a:t>longer than RTT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but RTT varies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i="1" dirty="0">
                <a:ea typeface="ＭＳ Ｐゴシック" charset="0"/>
                <a:cs typeface="+mn-cs"/>
              </a:rPr>
              <a:t>too short:</a:t>
            </a:r>
            <a:r>
              <a:rPr lang="en-US" dirty="0">
                <a:ea typeface="ＭＳ Ｐゴシック" charset="0"/>
                <a:cs typeface="+mn-cs"/>
              </a:rPr>
              <a:t> premature timeout, unnecessary retransmissions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i="1" dirty="0">
                <a:ea typeface="ＭＳ Ｐゴシック" charset="0"/>
                <a:cs typeface="+mn-cs"/>
              </a:rPr>
              <a:t>too long:</a:t>
            </a:r>
            <a:r>
              <a:rPr lang="en-US" dirty="0">
                <a:ea typeface="ＭＳ Ｐゴシック" charset="0"/>
                <a:cs typeface="+mn-cs"/>
              </a:rPr>
              <a:t> slow reaction to segment loss</a:t>
            </a:r>
          </a:p>
        </p:txBody>
      </p:sp>
      <p:sp>
        <p:nvSpPr>
          <p:cNvPr id="62471" name="Rectangle 1028"/>
          <p:cNvSpPr>
            <a:spLocks noGrp="1" noChangeArrowheads="1"/>
          </p:cNvSpPr>
          <p:nvPr>
            <p:ph type="body" sz="half" idx="2"/>
          </p:nvPr>
        </p:nvSpPr>
        <p:spPr>
          <a:xfrm>
            <a:off x="6170614" y="1485900"/>
            <a:ext cx="4059237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u="sng" smtClean="0">
                <a:solidFill>
                  <a:srgbClr val="FF0000"/>
                </a:solidFill>
              </a:rPr>
              <a:t>Q:</a:t>
            </a:r>
            <a:r>
              <a:rPr lang="en-US" altLang="en-US" smtClean="0"/>
              <a:t> how to estimate RTT?</a:t>
            </a:r>
          </a:p>
          <a:p>
            <a:r>
              <a:rPr lang="en-US" altLang="en-US" sz="2400" b="1">
                <a:solidFill>
                  <a:srgbClr val="000099"/>
                </a:solidFill>
                <a:latin typeface="Courier New" panose="02070309020205020404" pitchFamily="49" charset="0"/>
              </a:rPr>
              <a:t>SampleRTT</a:t>
            </a:r>
            <a:r>
              <a:rPr lang="en-US" altLang="en-US" sz="2400">
                <a:solidFill>
                  <a:srgbClr val="000099"/>
                </a:solidFill>
              </a:rPr>
              <a:t>:</a:t>
            </a:r>
            <a:r>
              <a:rPr lang="en-US" altLang="en-US" sz="2400"/>
              <a:t> measured time from segment transmission until ACK receipt</a:t>
            </a:r>
          </a:p>
          <a:p>
            <a:pPr lvl="1"/>
            <a:r>
              <a:rPr lang="en-US" altLang="en-US" smtClean="0"/>
              <a:t>ignore retransmissions</a:t>
            </a:r>
          </a:p>
          <a:p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SampleRTT</a:t>
            </a:r>
            <a:r>
              <a:rPr lang="en-US" altLang="en-US" sz="2400">
                <a:solidFill>
                  <a:srgbClr val="008000"/>
                </a:solidFill>
              </a:rPr>
              <a:t> will vary, want estimated RTT </a:t>
            </a:r>
            <a:r>
              <a:rPr lang="ja-JP" altLang="en-US" sz="2400"/>
              <a:t>“</a:t>
            </a:r>
            <a:r>
              <a:rPr lang="en-US" altLang="ja-JP" sz="2400"/>
              <a:t>smoother</a:t>
            </a:r>
            <a:r>
              <a:rPr lang="ja-JP" altLang="en-US" sz="2400"/>
              <a:t>”</a:t>
            </a:r>
            <a:endParaRPr lang="en-US" altLang="ja-JP" smtClean="0"/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average several </a:t>
            </a:r>
            <a:r>
              <a:rPr lang="en-US" altLang="en-US" i="1" smtClean="0">
                <a:solidFill>
                  <a:srgbClr val="0000FF"/>
                </a:solidFill>
              </a:rPr>
              <a:t>recent</a:t>
            </a:r>
            <a:r>
              <a:rPr lang="en-US" altLang="en-US" smtClean="0">
                <a:solidFill>
                  <a:srgbClr val="0000FF"/>
                </a:solidFill>
              </a:rPr>
              <a:t> measurements</a:t>
            </a:r>
            <a:r>
              <a:rPr lang="en-US" altLang="en-US" smtClean="0"/>
              <a:t>, not just current </a:t>
            </a:r>
            <a:r>
              <a:rPr lang="en-US" altLang="en-US" b="1" smtClean="0">
                <a:latin typeface="Courier New" panose="02070309020205020404" pitchFamily="49" charset="0"/>
              </a:rPr>
              <a:t>SampleRTT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322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349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E4C5264-9A0B-448A-8B9A-710B2184A26A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grpSp>
        <p:nvGrpSpPr>
          <p:cNvPr id="79875" name="Group 14"/>
          <p:cNvGrpSpPr>
            <a:grpSpLocks/>
          </p:cNvGrpSpPr>
          <p:nvPr/>
        </p:nvGrpSpPr>
        <p:grpSpPr bwMode="auto">
          <a:xfrm>
            <a:off x="3232151" y="2565400"/>
            <a:ext cx="6272213" cy="4292600"/>
            <a:chOff x="782" y="1865"/>
            <a:chExt cx="3951" cy="2704"/>
          </a:xfrm>
        </p:grpSpPr>
        <p:pic>
          <p:nvPicPr>
            <p:cNvPr id="79890" name="Picture 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08" name="Rectangle 13"/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63493" name="Text Box 3"/>
          <p:cNvSpPr txBox="1">
            <a:spLocks noChangeArrowheads="1"/>
          </p:cNvSpPr>
          <p:nvPr/>
        </p:nvSpPr>
        <p:spPr bwMode="auto">
          <a:xfrm>
            <a:off x="2057401" y="1362076"/>
            <a:ext cx="7515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</a:rPr>
              <a:t> = (1- 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</a:rPr>
              <a:t>)*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</a:rPr>
              <a:t> + 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Courier New" charset="0"/>
              </a:rPr>
              <a:t>*</a:t>
            </a:r>
            <a:r>
              <a:rPr lang="en-US" sz="2000" b="1" dirty="0" err="1">
                <a:solidFill>
                  <a:srgbClr val="0000FF"/>
                </a:solidFill>
                <a:latin typeface="Courier New" charset="0"/>
              </a:rPr>
              <a:t>SampleRTT</a:t>
            </a:r>
            <a:endParaRPr lang="en-US" sz="2000" b="1" dirty="0">
              <a:solidFill>
                <a:srgbClr val="0000FF"/>
              </a:solidFill>
              <a:latin typeface="Courier New" charset="0"/>
            </a:endParaRPr>
          </a:p>
        </p:txBody>
      </p:sp>
      <p:sp>
        <p:nvSpPr>
          <p:cNvPr id="63494" name="Rectangle 4"/>
          <p:cNvSpPr>
            <a:spLocks noChangeArrowheads="1"/>
          </p:cNvSpPr>
          <p:nvPr/>
        </p:nvSpPr>
        <p:spPr bwMode="auto">
          <a:xfrm>
            <a:off x="2687638" y="1836739"/>
            <a:ext cx="706755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exponential weighted moving average</a:t>
            </a:r>
          </a:p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influence of past sample decreases exponentially fast</a:t>
            </a:r>
          </a:p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typical value: </a:t>
            </a:r>
            <a:r>
              <a:rPr lang="en-US" sz="2400" b="1">
                <a:latin typeface="Courier New" charset="0"/>
                <a:ea typeface="ＭＳ Ｐゴシック" charset="0"/>
                <a:sym typeface="Symbol" charset="0"/>
              </a:rPr>
              <a:t> =</a:t>
            </a:r>
            <a:r>
              <a:rPr lang="en-US" sz="2400">
                <a:latin typeface="Gill Sans MT" charset="0"/>
                <a:ea typeface="ＭＳ Ｐゴシック" charset="0"/>
              </a:rPr>
              <a:t> 0.125</a:t>
            </a:r>
          </a:p>
        </p:txBody>
      </p:sp>
      <p:pic>
        <p:nvPicPr>
          <p:cNvPr id="79878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47739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6" name="Rectangle 11"/>
          <p:cNvSpPr>
            <a:spLocks noGrp="1" noChangeArrowheads="1"/>
          </p:cNvSpPr>
          <p:nvPr>
            <p:ph type="title"/>
          </p:nvPr>
        </p:nvSpPr>
        <p:spPr>
          <a:xfrm>
            <a:off x="2066925" y="233363"/>
            <a:ext cx="7772400" cy="92075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round trip time, timeout</a:t>
            </a:r>
          </a:p>
        </p:txBody>
      </p:sp>
      <p:sp>
        <p:nvSpPr>
          <p:cNvPr id="63497" name="Text Box 18"/>
          <p:cNvSpPr txBox="1">
            <a:spLocks noChangeArrowheads="1"/>
          </p:cNvSpPr>
          <p:nvPr/>
        </p:nvSpPr>
        <p:spPr bwMode="auto">
          <a:xfrm rot="10800000">
            <a:off x="3054808" y="3534427"/>
            <a:ext cx="430887" cy="17497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RTT (milliseconds)</a:t>
            </a:r>
          </a:p>
        </p:txBody>
      </p:sp>
      <p:sp>
        <p:nvSpPr>
          <p:cNvPr id="63498" name="Text Box 19"/>
          <p:cNvSpPr txBox="1">
            <a:spLocks noChangeArrowheads="1"/>
          </p:cNvSpPr>
          <p:nvPr/>
        </p:nvSpPr>
        <p:spPr bwMode="auto">
          <a:xfrm>
            <a:off x="3789363" y="3168650"/>
            <a:ext cx="3867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RTT:</a:t>
            </a:r>
            <a:r>
              <a:rPr lang="en-US" sz="140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>
                <a:latin typeface="Arial" charset="0"/>
              </a:rPr>
              <a:t>gaia.cs.umass.edu</a:t>
            </a:r>
            <a:r>
              <a:rPr lang="en-US" sz="140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>
                <a:latin typeface="Arial" charset="0"/>
              </a:rPr>
              <a:t>to</a:t>
            </a:r>
            <a:r>
              <a:rPr lang="en-US" sz="140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1400">
                <a:latin typeface="Arial" charset="0"/>
              </a:rPr>
              <a:t>fantasia.eurecom.fr</a:t>
            </a:r>
          </a:p>
        </p:txBody>
      </p:sp>
      <p:sp>
        <p:nvSpPr>
          <p:cNvPr id="63499" name="Text Box 20"/>
          <p:cNvSpPr txBox="1">
            <a:spLocks noChangeArrowheads="1"/>
          </p:cNvSpPr>
          <p:nvPr/>
        </p:nvSpPr>
        <p:spPr bwMode="auto">
          <a:xfrm>
            <a:off x="7745413" y="5230813"/>
            <a:ext cx="1181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sampleRTT</a:t>
            </a:r>
          </a:p>
        </p:txBody>
      </p:sp>
      <p:sp>
        <p:nvSpPr>
          <p:cNvPr id="63500" name="Text Box 21"/>
          <p:cNvSpPr txBox="1">
            <a:spLocks noChangeArrowheads="1"/>
          </p:cNvSpPr>
          <p:nvPr/>
        </p:nvSpPr>
        <p:spPr bwMode="auto">
          <a:xfrm>
            <a:off x="7739064" y="5548313"/>
            <a:ext cx="1431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EstimatedRTT</a:t>
            </a:r>
          </a:p>
        </p:txBody>
      </p:sp>
      <p:sp>
        <p:nvSpPr>
          <p:cNvPr id="63501" name="AutoShape 22"/>
          <p:cNvSpPr>
            <a:spLocks noChangeArrowheads="1"/>
          </p:cNvSpPr>
          <p:nvPr/>
        </p:nvSpPr>
        <p:spPr bwMode="auto">
          <a:xfrm>
            <a:off x="7529514" y="5343526"/>
            <a:ext cx="147637" cy="142875"/>
          </a:xfrm>
          <a:prstGeom prst="diamond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3502" name="AutoShape 23"/>
          <p:cNvSpPr>
            <a:spLocks noChangeArrowheads="1"/>
          </p:cNvSpPr>
          <p:nvPr/>
        </p:nvSpPr>
        <p:spPr bwMode="auto">
          <a:xfrm rot="2776382">
            <a:off x="7535070" y="5633245"/>
            <a:ext cx="147637" cy="142875"/>
          </a:xfrm>
          <a:prstGeom prst="diamond">
            <a:avLst/>
          </a:prstGeom>
          <a:solidFill>
            <a:srgbClr val="FF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3503" name="Rectangle 24"/>
          <p:cNvSpPr>
            <a:spLocks noChangeArrowheads="1"/>
          </p:cNvSpPr>
          <p:nvPr/>
        </p:nvSpPr>
        <p:spPr bwMode="auto">
          <a:xfrm>
            <a:off x="5632451" y="6389688"/>
            <a:ext cx="1863725" cy="468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79887" name="Group 15"/>
          <p:cNvGrpSpPr>
            <a:grpSpLocks/>
          </p:cNvGrpSpPr>
          <p:nvPr/>
        </p:nvGrpSpPr>
        <p:grpSpPr bwMode="auto">
          <a:xfrm>
            <a:off x="5565775" y="6386513"/>
            <a:ext cx="1512888" cy="336550"/>
            <a:chOff x="2343" y="3645"/>
            <a:chExt cx="953" cy="212"/>
          </a:xfrm>
        </p:grpSpPr>
        <p:sp>
          <p:nvSpPr>
            <p:cNvPr id="63505" name="Rectangle 16"/>
            <p:cNvSpPr>
              <a:spLocks noChangeArrowheads="1"/>
            </p:cNvSpPr>
            <p:nvPr/>
          </p:nvSpPr>
          <p:spPr bwMode="auto">
            <a:xfrm>
              <a:off x="2592" y="3695"/>
              <a:ext cx="527" cy="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3506" name="Text Box 17"/>
            <p:cNvSpPr txBox="1">
              <a:spLocks noChangeArrowheads="1"/>
            </p:cNvSpPr>
            <p:nvPr/>
          </p:nvSpPr>
          <p:spPr bwMode="auto">
            <a:xfrm>
              <a:off x="2343" y="3645"/>
              <a:ext cx="95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time (seconds)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11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451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4FEA96C6-D4E8-4D51-84E5-1440D85B4128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4516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079625" y="1595439"/>
            <a:ext cx="7918450" cy="1495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>
                <a:solidFill>
                  <a:srgbClr val="000099"/>
                </a:solidFill>
              </a:rPr>
              <a:t>timeout interval:</a:t>
            </a:r>
            <a:r>
              <a:rPr lang="en-US" altLang="en-US" sz="2400" b="1">
                <a:latin typeface="Courier New" panose="02070309020205020404" pitchFamily="49" charset="0"/>
              </a:rPr>
              <a:t> EstimatedRTT</a:t>
            </a:r>
            <a:r>
              <a:rPr lang="en-US" altLang="en-US" sz="2400"/>
              <a:t> plus </a:t>
            </a:r>
            <a:r>
              <a:rPr lang="ja-JP" altLang="en-US" sz="2400"/>
              <a:t>“</a:t>
            </a:r>
            <a:r>
              <a:rPr lang="en-US" altLang="ja-JP" sz="2400">
                <a:solidFill>
                  <a:srgbClr val="0000FF"/>
                </a:solidFill>
              </a:rPr>
              <a:t>safety margin</a:t>
            </a:r>
            <a:r>
              <a:rPr lang="ja-JP" altLang="en-US" sz="2400"/>
              <a:t>”</a:t>
            </a:r>
            <a:endParaRPr lang="en-US" altLang="ja-JP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large variation in </a:t>
            </a:r>
            <a:r>
              <a:rPr lang="en-US" altLang="en-US" sz="2000" b="1">
                <a:latin typeface="Courier New" panose="02070309020205020404" pitchFamily="49" charset="0"/>
              </a:rPr>
              <a:t>EstimatedRTT -&gt;</a:t>
            </a:r>
            <a:r>
              <a:rPr lang="en-US" altLang="en-US" sz="2000"/>
              <a:t> larger safety margin</a:t>
            </a:r>
          </a:p>
          <a:p>
            <a:pPr>
              <a:lnSpc>
                <a:spcPct val="90000"/>
              </a:lnSpc>
              <a:spcBef>
                <a:spcPct val="35000"/>
              </a:spcBef>
            </a:pPr>
            <a:r>
              <a:rPr lang="en-US" altLang="en-US" sz="2400"/>
              <a:t>estimate </a:t>
            </a:r>
            <a:r>
              <a:rPr lang="en-US" altLang="en-US" sz="2400">
                <a:solidFill>
                  <a:srgbClr val="008000"/>
                </a:solidFill>
              </a:rPr>
              <a:t>SampleRTT deviation </a:t>
            </a:r>
            <a:r>
              <a:rPr lang="en-US" altLang="en-US" sz="2400"/>
              <a:t>from EstimatedRTT: </a:t>
            </a:r>
          </a:p>
        </p:txBody>
      </p:sp>
      <p:sp>
        <p:nvSpPr>
          <p:cNvPr id="64517" name="Text Box 7"/>
          <p:cNvSpPr txBox="1">
            <a:spLocks noChangeArrowheads="1"/>
          </p:cNvSpPr>
          <p:nvPr/>
        </p:nvSpPr>
        <p:spPr bwMode="auto">
          <a:xfrm>
            <a:off x="2693989" y="2871789"/>
            <a:ext cx="6975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 b="1">
                <a:solidFill>
                  <a:srgbClr val="0000FF"/>
                </a:solidFill>
                <a:latin typeface="Courier New" charset="0"/>
              </a:rPr>
              <a:t>DevRTT = (1-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sym typeface="Symbol" charset="0"/>
              </a:rPr>
              <a:t></a:t>
            </a:r>
            <a:r>
              <a:rPr lang="en-US" sz="2000" b="1">
                <a:solidFill>
                  <a:srgbClr val="0000FF"/>
                </a:solidFill>
                <a:latin typeface="Courier New" charset="0"/>
              </a:rPr>
              <a:t>)*DevRTT +</a:t>
            </a:r>
          </a:p>
          <a:p>
            <a:pPr algn="l">
              <a:defRPr/>
            </a:pPr>
            <a:r>
              <a:rPr lang="en-US" sz="2000" b="1">
                <a:solidFill>
                  <a:srgbClr val="0000FF"/>
                </a:solidFill>
                <a:latin typeface="Courier New" charset="0"/>
              </a:rPr>
              <a:t>             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sym typeface="Symbol" charset="0"/>
              </a:rPr>
              <a:t></a:t>
            </a:r>
            <a:r>
              <a:rPr lang="en-US" sz="2000" b="1">
                <a:solidFill>
                  <a:srgbClr val="0000FF"/>
                </a:solidFill>
                <a:latin typeface="Courier New" charset="0"/>
              </a:rPr>
              <a:t>*|SampleRTT-EstimatedRTT|</a:t>
            </a:r>
          </a:p>
        </p:txBody>
      </p:sp>
      <p:pic>
        <p:nvPicPr>
          <p:cNvPr id="80901" name="Picture 1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47739"/>
            <a:ext cx="6935788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Rectangle 11"/>
          <p:cNvSpPr>
            <a:spLocks noGrp="1" noChangeArrowheads="1"/>
          </p:cNvSpPr>
          <p:nvPr>
            <p:ph type="title"/>
          </p:nvPr>
        </p:nvSpPr>
        <p:spPr>
          <a:xfrm>
            <a:off x="2066925" y="233363"/>
            <a:ext cx="7772400" cy="92075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round trip time, timeout</a:t>
            </a:r>
          </a:p>
        </p:txBody>
      </p:sp>
      <p:sp>
        <p:nvSpPr>
          <p:cNvPr id="64520" name="Text Box 12"/>
          <p:cNvSpPr txBox="1">
            <a:spLocks noChangeArrowheads="1"/>
          </p:cNvSpPr>
          <p:nvPr/>
        </p:nvSpPr>
        <p:spPr bwMode="auto">
          <a:xfrm>
            <a:off x="4608514" y="3592514"/>
            <a:ext cx="3386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000" b="1">
                <a:latin typeface="Courier New" charset="0"/>
              </a:rPr>
              <a:t>(typically, </a:t>
            </a:r>
            <a:r>
              <a:rPr lang="en-US" sz="2000" b="1">
                <a:latin typeface="Courier New" charset="0"/>
                <a:sym typeface="Symbol" charset="0"/>
              </a:rPr>
              <a:t> = 0.25)</a:t>
            </a:r>
          </a:p>
        </p:txBody>
      </p:sp>
      <p:sp>
        <p:nvSpPr>
          <p:cNvPr id="64521" name="Rectangle 13"/>
          <p:cNvSpPr>
            <a:spLocks noChangeArrowheads="1"/>
          </p:cNvSpPr>
          <p:nvPr/>
        </p:nvSpPr>
        <p:spPr bwMode="auto">
          <a:xfrm>
            <a:off x="2089150" y="4368800"/>
            <a:ext cx="791845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defRPr/>
            </a:pPr>
            <a:r>
              <a:rPr lang="en-US" sz="2400" b="1" dirty="0" err="1">
                <a:solidFill>
                  <a:srgbClr val="FF0000"/>
                </a:solidFill>
                <a:latin typeface="Courier New" charset="0"/>
                <a:ea typeface="ＭＳ Ｐゴシック" charset="0"/>
              </a:rPr>
              <a:t>TimeoutInterval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ＭＳ Ｐゴシック" charset="0"/>
              </a:rPr>
              <a:t> = </a:t>
            </a:r>
            <a:r>
              <a:rPr lang="en-US" sz="2400" b="1" dirty="0" err="1">
                <a:solidFill>
                  <a:srgbClr val="FF0000"/>
                </a:solidFill>
                <a:latin typeface="Courier New" charset="0"/>
                <a:ea typeface="ＭＳ Ｐゴシック" charset="0"/>
              </a:rPr>
              <a:t>EstimatedRTT</a:t>
            </a: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ＭＳ Ｐゴシック" charset="0"/>
              </a:rPr>
              <a:t> + 4*</a:t>
            </a:r>
            <a:r>
              <a:rPr lang="en-US" sz="2400" b="1" dirty="0" err="1">
                <a:solidFill>
                  <a:srgbClr val="FF0000"/>
                </a:solidFill>
                <a:latin typeface="Courier New" charset="0"/>
                <a:ea typeface="ＭＳ Ｐゴシック" charset="0"/>
              </a:rPr>
              <a:t>DevRTT</a:t>
            </a:r>
            <a:endParaRPr lang="en-US" sz="2400" b="1" dirty="0">
              <a:solidFill>
                <a:srgbClr val="FF0000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64522" name="Text Box 14"/>
          <p:cNvSpPr txBox="1">
            <a:spLocks noChangeArrowheads="1"/>
          </p:cNvSpPr>
          <p:nvPr/>
        </p:nvSpPr>
        <p:spPr bwMode="auto">
          <a:xfrm>
            <a:off x="5534025" y="5122864"/>
            <a:ext cx="1811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>
                <a:solidFill>
                  <a:srgbClr val="000099"/>
                </a:solidFill>
              </a:rPr>
              <a:t>estimated RTT</a:t>
            </a:r>
          </a:p>
        </p:txBody>
      </p:sp>
      <p:sp>
        <p:nvSpPr>
          <p:cNvPr id="64523" name="Text Box 16"/>
          <p:cNvSpPr txBox="1">
            <a:spLocks noChangeArrowheads="1"/>
          </p:cNvSpPr>
          <p:nvPr/>
        </p:nvSpPr>
        <p:spPr bwMode="auto">
          <a:xfrm>
            <a:off x="7966076" y="5141913"/>
            <a:ext cx="19801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2000">
                <a:solidFill>
                  <a:srgbClr val="000099"/>
                </a:solidFill>
              </a:rPr>
              <a:t>“</a:t>
            </a:r>
            <a:r>
              <a:rPr lang="en-US" altLang="ja-JP" sz="2000">
                <a:solidFill>
                  <a:srgbClr val="000099"/>
                </a:solidFill>
              </a:rPr>
              <a:t>safety margin</a:t>
            </a:r>
            <a:r>
              <a:rPr lang="ja-JP" altLang="en-US" sz="2000">
                <a:solidFill>
                  <a:srgbClr val="000099"/>
                </a:solidFill>
              </a:rPr>
              <a:t>”</a:t>
            </a:r>
            <a:endParaRPr lang="en-US" altLang="en-US" sz="2000">
              <a:solidFill>
                <a:srgbClr val="000099"/>
              </a:solidFill>
            </a:endParaRPr>
          </a:p>
        </p:txBody>
      </p:sp>
      <p:sp>
        <p:nvSpPr>
          <p:cNvPr id="64524" name="Line 17"/>
          <p:cNvSpPr>
            <a:spLocks noChangeShapeType="1"/>
          </p:cNvSpPr>
          <p:nvPr/>
        </p:nvSpPr>
        <p:spPr bwMode="auto">
          <a:xfrm flipV="1">
            <a:off x="6330950" y="476250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4525" name="Line 19"/>
          <p:cNvSpPr>
            <a:spLocks noChangeShapeType="1"/>
          </p:cNvSpPr>
          <p:nvPr/>
        </p:nvSpPr>
        <p:spPr bwMode="auto">
          <a:xfrm flipV="1">
            <a:off x="8902700" y="476885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pic>
        <p:nvPicPr>
          <p:cNvPr id="80909" name="Picture 20" descr="alarm_clock_ring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4" y="4773614"/>
            <a:ext cx="7524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394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55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7A1CB25-364C-4D7F-9B0C-6F5EAB84FA27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655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51325" cy="4648200"/>
          </a:xfrm>
        </p:spPr>
        <p:txBody>
          <a:bodyPr/>
          <a:lstStyle/>
          <a:p>
            <a:pPr marL="566738" indent="-566738">
              <a:buNone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connection management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81926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39814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971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656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5977183-11D1-473D-B979-D18392E2F1A1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730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reliable data transfer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500188"/>
            <a:ext cx="4070350" cy="4648200"/>
          </a:xfrm>
        </p:spPr>
        <p:txBody>
          <a:bodyPr/>
          <a:lstStyle/>
          <a:p>
            <a:r>
              <a:rPr lang="en-US" altLang="en-US" smtClean="0"/>
              <a:t>TCP creates </a:t>
            </a:r>
            <a:r>
              <a:rPr lang="en-US" altLang="en-US" smtClean="0">
                <a:solidFill>
                  <a:srgbClr val="008000"/>
                </a:solidFill>
              </a:rPr>
              <a:t>rdt service </a:t>
            </a:r>
            <a:r>
              <a:rPr lang="en-US" altLang="en-US" smtClean="0"/>
              <a:t>on top of IP</a:t>
            </a:r>
            <a:r>
              <a:rPr lang="ja-JP" altLang="en-US" smtClean="0"/>
              <a:t>’</a:t>
            </a:r>
            <a:r>
              <a:rPr lang="en-US" altLang="ja-JP" smtClean="0"/>
              <a:t>s unreliable service</a:t>
            </a:r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pipelined segments</a:t>
            </a:r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cumulative acks</a:t>
            </a:r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single retransmission timer</a:t>
            </a:r>
          </a:p>
          <a:p>
            <a:r>
              <a:rPr lang="en-US" altLang="en-US" smtClean="0">
                <a:solidFill>
                  <a:srgbClr val="008000"/>
                </a:solidFill>
              </a:rPr>
              <a:t>retransmissions  triggered by</a:t>
            </a:r>
            <a:r>
              <a:rPr lang="en-US" altLang="en-US" smtClean="0"/>
              <a:t>:</a:t>
            </a:r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timeout events</a:t>
            </a:r>
          </a:p>
          <a:p>
            <a:pPr lvl="1"/>
            <a:r>
              <a:rPr lang="en-US" altLang="en-US" smtClean="0">
                <a:solidFill>
                  <a:srgbClr val="0000FF"/>
                </a:solidFill>
              </a:rPr>
              <a:t>duplicate acks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6656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8551" y="2911476"/>
            <a:ext cx="3933825" cy="2119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/>
              <a:t>let</a:t>
            </a:r>
            <a:r>
              <a:rPr lang="ja-JP" altLang="en-US" smtClean="0"/>
              <a:t>’</a:t>
            </a:r>
            <a:r>
              <a:rPr lang="en-US" altLang="ja-JP" smtClean="0"/>
              <a:t>s initially consider simplified TCP sender:</a:t>
            </a:r>
          </a:p>
          <a:p>
            <a:pPr lvl="1"/>
            <a:r>
              <a:rPr lang="en-US" altLang="en-US" smtClean="0"/>
              <a:t>ignore duplicate acks</a:t>
            </a:r>
          </a:p>
          <a:p>
            <a:pPr lvl="1"/>
            <a:r>
              <a:rPr lang="en-US" altLang="en-US" smtClean="0"/>
              <a:t>ignore flow control, congestion control</a:t>
            </a:r>
          </a:p>
        </p:txBody>
      </p:sp>
      <p:pic>
        <p:nvPicPr>
          <p:cNvPr id="82950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9969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529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758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232AE3B2-BF20-448C-902D-122ACF5B652D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153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sender events: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166813"/>
            <a:ext cx="3810000" cy="4648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data rcvd from app: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create segment with </a:t>
            </a:r>
            <a:r>
              <a:rPr lang="en-US" dirty="0" err="1">
                <a:ea typeface="ＭＳ Ｐゴシック" charset="0"/>
                <a:cs typeface="+mn-cs"/>
              </a:rPr>
              <a:t>seq</a:t>
            </a:r>
            <a:r>
              <a:rPr lang="en-US" dirty="0">
                <a:ea typeface="ＭＳ Ｐゴシック" charset="0"/>
                <a:cs typeface="+mn-cs"/>
              </a:rPr>
              <a:t> #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 err="1">
                <a:solidFill>
                  <a:srgbClr val="008000"/>
                </a:solidFill>
                <a:ea typeface="ＭＳ Ｐゴシック" charset="0"/>
                <a:cs typeface="+mn-cs"/>
              </a:rPr>
              <a:t>seq</a:t>
            </a:r>
            <a:r>
              <a:rPr lang="en-US" dirty="0">
                <a:solidFill>
                  <a:srgbClr val="008000"/>
                </a:solidFill>
                <a:ea typeface="ＭＳ Ｐゴシック" charset="0"/>
                <a:cs typeface="+mn-cs"/>
              </a:rPr>
              <a:t> # is byte-stream number of first data </a:t>
            </a:r>
            <a:r>
              <a:rPr lang="en-US" dirty="0">
                <a:ea typeface="ＭＳ Ｐゴシック" charset="0"/>
                <a:cs typeface="+mn-cs"/>
              </a:rPr>
              <a:t>byte in  segment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start timer if not already running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think of timer as for oldest </a:t>
            </a:r>
            <a:r>
              <a:rPr lang="en-US" dirty="0" err="1">
                <a:solidFill>
                  <a:srgbClr val="0000FF"/>
                </a:solidFill>
                <a:ea typeface="ＭＳ Ｐゴシック" charset="0"/>
              </a:rPr>
              <a:t>unacked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 segment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expiration interval: </a:t>
            </a:r>
            <a:r>
              <a:rPr lang="en-US" sz="2000" b="1" dirty="0" err="1">
                <a:latin typeface="Courier New" charset="0"/>
                <a:ea typeface="ＭＳ Ｐゴシック" charset="0"/>
              </a:rPr>
              <a:t>TimeOutInterval</a:t>
            </a:r>
            <a:r>
              <a:rPr lang="en-US" dirty="0">
                <a:latin typeface="Courier New" charset="0"/>
                <a:ea typeface="ＭＳ Ｐゴシック" charset="0"/>
              </a:rPr>
              <a:t> </a:t>
            </a:r>
            <a:endParaRPr lang="en-US" dirty="0">
              <a:ea typeface="ＭＳ Ｐゴシック" charset="0"/>
            </a:endParaRPr>
          </a:p>
        </p:txBody>
      </p:sp>
      <p:sp>
        <p:nvSpPr>
          <p:cNvPr id="6759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943600" y="1166813"/>
            <a:ext cx="3810000" cy="4648200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timeout: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retransmit segment that caused timeout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restart timer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i="1" dirty="0" err="1">
                <a:solidFill>
                  <a:srgbClr val="CC0000"/>
                </a:solidFill>
                <a:ea typeface="ＭＳ Ｐゴシック" charset="0"/>
                <a:cs typeface="+mn-cs"/>
              </a:rPr>
              <a:t>ack</a:t>
            </a: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 rcvd: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if </a:t>
            </a:r>
            <a:r>
              <a:rPr lang="en-US" dirty="0" err="1">
                <a:ea typeface="ＭＳ Ｐゴシック" charset="0"/>
                <a:cs typeface="+mn-cs"/>
              </a:rPr>
              <a:t>ack</a:t>
            </a:r>
            <a:r>
              <a:rPr lang="en-US" dirty="0">
                <a:ea typeface="ＭＳ Ｐゴシック" charset="0"/>
                <a:cs typeface="+mn-cs"/>
              </a:rPr>
              <a:t> acknowledges previously </a:t>
            </a:r>
            <a:r>
              <a:rPr lang="en-US" dirty="0" err="1">
                <a:ea typeface="ＭＳ Ｐゴシック" charset="0"/>
                <a:cs typeface="+mn-cs"/>
              </a:rPr>
              <a:t>unacked</a:t>
            </a:r>
            <a:r>
              <a:rPr lang="en-US" dirty="0">
                <a:ea typeface="ＭＳ Ｐゴシック" charset="0"/>
                <a:cs typeface="+mn-cs"/>
              </a:rPr>
              <a:t> segments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update what is known to be </a:t>
            </a:r>
            <a:r>
              <a:rPr lang="en-US" dirty="0" err="1">
                <a:ea typeface="ＭＳ Ｐゴシック" charset="0"/>
              </a:rPr>
              <a:t>ACKed</a:t>
            </a:r>
            <a:endParaRPr lang="en-US" dirty="0">
              <a:ea typeface="ＭＳ Ｐゴシック" charset="0"/>
            </a:endParaRP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start timer if there are  still </a:t>
            </a:r>
            <a:r>
              <a:rPr lang="en-US" dirty="0" err="1">
                <a:ea typeface="ＭＳ Ｐゴシック" charset="0"/>
              </a:rPr>
              <a:t>unacked</a:t>
            </a:r>
            <a:r>
              <a:rPr lang="en-US" dirty="0">
                <a:ea typeface="ＭＳ Ｐゴシック" charset="0"/>
              </a:rPr>
              <a:t> segments</a:t>
            </a:r>
          </a:p>
          <a:p>
            <a:pPr lvl="1">
              <a:buFont typeface="Wingdings" charset="0"/>
              <a:buNone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83974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808039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30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86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EE0853A1-AD55-4BF4-AF1C-AB0C7ACF8E89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pic>
        <p:nvPicPr>
          <p:cNvPr id="84995" name="Picture 2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8985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Oval 7"/>
          <p:cNvSpPr>
            <a:spLocks noChangeArrowheads="1"/>
          </p:cNvSpPr>
          <p:nvPr/>
        </p:nvSpPr>
        <p:spPr bwMode="auto">
          <a:xfrm>
            <a:off x="4421188" y="2730500"/>
            <a:ext cx="1071562" cy="97155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8614" name="Oval 6"/>
          <p:cNvSpPr>
            <a:spLocks noChangeArrowheads="1"/>
          </p:cNvSpPr>
          <p:nvPr/>
        </p:nvSpPr>
        <p:spPr bwMode="auto">
          <a:xfrm>
            <a:off x="4346576" y="2778125"/>
            <a:ext cx="1071563" cy="971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86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98650" y="187326"/>
            <a:ext cx="7734300" cy="8985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sender </a:t>
            </a:r>
            <a:r>
              <a:rPr lang="en-US" sz="3200">
                <a:ea typeface="ＭＳ Ｐゴシック" charset="0"/>
              </a:rPr>
              <a:t>(simplified)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68616" name="Text Box 5"/>
          <p:cNvSpPr txBox="1">
            <a:spLocks noChangeArrowheads="1"/>
          </p:cNvSpPr>
          <p:nvPr/>
        </p:nvSpPr>
        <p:spPr bwMode="auto">
          <a:xfrm>
            <a:off x="4503738" y="2781300"/>
            <a:ext cx="7429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wait</a:t>
            </a:r>
          </a:p>
          <a:p>
            <a:pPr>
              <a:defRPr/>
            </a:pPr>
            <a:r>
              <a:rPr lang="en-US" sz="1800">
                <a:latin typeface="Arial" charset="0"/>
              </a:rPr>
              <a:t>for </a:t>
            </a:r>
          </a:p>
          <a:p>
            <a:pPr>
              <a:defRPr/>
            </a:pPr>
            <a:r>
              <a:rPr lang="en-US" sz="1800">
                <a:latin typeface="Arial" charset="0"/>
              </a:rPr>
              <a:t>event</a:t>
            </a:r>
          </a:p>
        </p:txBody>
      </p:sp>
      <p:sp>
        <p:nvSpPr>
          <p:cNvPr id="68617" name="Line 8"/>
          <p:cNvSpPr>
            <a:spLocks noChangeShapeType="1"/>
          </p:cNvSpPr>
          <p:nvPr/>
        </p:nvSpPr>
        <p:spPr bwMode="auto">
          <a:xfrm>
            <a:off x="3379788" y="2247901"/>
            <a:ext cx="1071562" cy="6889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8618" name="Text Box 9"/>
          <p:cNvSpPr txBox="1">
            <a:spLocks noChangeArrowheads="1"/>
          </p:cNvSpPr>
          <p:nvPr/>
        </p:nvSpPr>
        <p:spPr bwMode="auto">
          <a:xfrm>
            <a:off x="1838325" y="2874963"/>
            <a:ext cx="25699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>
                <a:latin typeface="Arial" charset="0"/>
              </a:rPr>
              <a:t>NextSeqNum = InitialSeqNum</a:t>
            </a:r>
          </a:p>
          <a:p>
            <a:pPr algn="l">
              <a:defRPr/>
            </a:pPr>
            <a:r>
              <a:rPr lang="en-US" sz="1400">
                <a:latin typeface="Arial" charset="0"/>
              </a:rPr>
              <a:t>SendBase = InitialSeqNum</a:t>
            </a:r>
          </a:p>
        </p:txBody>
      </p:sp>
      <p:sp>
        <p:nvSpPr>
          <p:cNvPr id="68619" name="Line 10"/>
          <p:cNvSpPr>
            <a:spLocks noChangeShapeType="1"/>
          </p:cNvSpPr>
          <p:nvPr/>
        </p:nvSpPr>
        <p:spPr bwMode="auto">
          <a:xfrm>
            <a:off x="1941514" y="2889250"/>
            <a:ext cx="2179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8620" name="Text Box 11"/>
          <p:cNvSpPr txBox="1">
            <a:spLocks noChangeArrowheads="1"/>
          </p:cNvSpPr>
          <p:nvPr/>
        </p:nvSpPr>
        <p:spPr bwMode="auto">
          <a:xfrm>
            <a:off x="2811463" y="2571751"/>
            <a:ext cx="341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Symbol" charset="0"/>
              </a:rPr>
              <a:t>L</a:t>
            </a:r>
          </a:p>
        </p:txBody>
      </p:sp>
      <p:grpSp>
        <p:nvGrpSpPr>
          <p:cNvPr id="85004" name="Group 23"/>
          <p:cNvGrpSpPr>
            <a:grpSpLocks/>
          </p:cNvGrpSpPr>
          <p:nvPr/>
        </p:nvGrpSpPr>
        <p:grpSpPr bwMode="auto">
          <a:xfrm>
            <a:off x="6129339" y="1333501"/>
            <a:ext cx="4251325" cy="1928813"/>
            <a:chOff x="3003" y="1263"/>
            <a:chExt cx="2678" cy="1215"/>
          </a:xfrm>
        </p:grpSpPr>
        <p:sp>
          <p:nvSpPr>
            <p:cNvPr id="68633" name="Text Box 12"/>
            <p:cNvSpPr txBox="1">
              <a:spLocks noChangeArrowheads="1"/>
            </p:cNvSpPr>
            <p:nvPr/>
          </p:nvSpPr>
          <p:spPr bwMode="auto">
            <a:xfrm>
              <a:off x="3019" y="1456"/>
              <a:ext cx="2662" cy="1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5000"/>
                </a:lnSpc>
              </a:pPr>
              <a:r>
                <a:rPr lang="en-US" altLang="en-US"/>
                <a:t>create segment, seq. #: NextSeqNum</a:t>
              </a:r>
            </a:p>
            <a:p>
              <a:pPr algn="l">
                <a:lnSpc>
                  <a:spcPct val="105000"/>
                </a:lnSpc>
              </a:pPr>
              <a:r>
                <a:rPr lang="en-US" altLang="en-US"/>
                <a:t>pass segment to IP (i.e., </a:t>
              </a:r>
              <a:r>
                <a:rPr lang="ja-JP" altLang="en-US"/>
                <a:t>“</a:t>
              </a:r>
              <a:r>
                <a:rPr lang="en-US" altLang="ja-JP"/>
                <a:t>send</a:t>
              </a:r>
              <a:r>
                <a:rPr lang="ja-JP" altLang="en-US"/>
                <a:t>”</a:t>
              </a:r>
              <a:r>
                <a:rPr lang="en-US" altLang="ja-JP"/>
                <a:t>)</a:t>
              </a:r>
            </a:p>
            <a:p>
              <a:pPr algn="l">
                <a:lnSpc>
                  <a:spcPct val="105000"/>
                </a:lnSpc>
              </a:pPr>
              <a:r>
                <a:rPr lang="en-US" altLang="en-US"/>
                <a:t>NextSeqNum = NextSeqNum + length(data) </a:t>
              </a:r>
            </a:p>
            <a:p>
              <a:pPr algn="l">
                <a:lnSpc>
                  <a:spcPct val="105000"/>
                </a:lnSpc>
              </a:pPr>
              <a:r>
                <a:rPr lang="en-US" altLang="en-US"/>
                <a:t>if (timer currently not running)</a:t>
              </a:r>
            </a:p>
            <a:p>
              <a:pPr algn="l">
                <a:lnSpc>
                  <a:spcPct val="105000"/>
                </a:lnSpc>
              </a:pPr>
              <a:r>
                <a:rPr lang="en-US" altLang="en-US"/>
                <a:t>    start timer</a:t>
              </a:r>
            </a:p>
            <a:p>
              <a:pPr algn="l"/>
              <a:r>
                <a:rPr lang="en-US" altLang="en-US"/>
                <a:t>                 </a:t>
              </a:r>
            </a:p>
          </p:txBody>
        </p:sp>
        <p:sp>
          <p:nvSpPr>
            <p:cNvPr id="68634" name="Text Box 13"/>
            <p:cNvSpPr txBox="1">
              <a:spLocks noChangeArrowheads="1"/>
            </p:cNvSpPr>
            <p:nvPr/>
          </p:nvSpPr>
          <p:spPr bwMode="auto">
            <a:xfrm>
              <a:off x="3003" y="1263"/>
              <a:ext cx="22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</a:rPr>
                <a:t>data received from application above</a:t>
              </a:r>
            </a:p>
          </p:txBody>
        </p:sp>
        <p:sp>
          <p:nvSpPr>
            <p:cNvPr id="68635" name="Line 15"/>
            <p:cNvSpPr>
              <a:spLocks noChangeShapeType="1"/>
            </p:cNvSpPr>
            <p:nvPr/>
          </p:nvSpPr>
          <p:spPr bwMode="auto">
            <a:xfrm>
              <a:off x="3081" y="1490"/>
              <a:ext cx="17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5005" name="Group 20"/>
          <p:cNvGrpSpPr>
            <a:grpSpLocks/>
          </p:cNvGrpSpPr>
          <p:nvPr/>
        </p:nvGrpSpPr>
        <p:grpSpPr bwMode="auto">
          <a:xfrm>
            <a:off x="6329364" y="3406776"/>
            <a:ext cx="3298825" cy="1147763"/>
            <a:chOff x="1270" y="3518"/>
            <a:chExt cx="2078" cy="723"/>
          </a:xfrm>
        </p:grpSpPr>
        <p:sp>
          <p:nvSpPr>
            <p:cNvPr id="68630" name="Text Box 16"/>
            <p:cNvSpPr txBox="1">
              <a:spLocks noChangeArrowheads="1"/>
            </p:cNvSpPr>
            <p:nvPr/>
          </p:nvSpPr>
          <p:spPr bwMode="auto">
            <a:xfrm>
              <a:off x="1275" y="3721"/>
              <a:ext cx="2073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defRPr/>
              </a:pPr>
              <a:r>
                <a:rPr lang="en-US"/>
                <a:t>retransmit not-yet-acked segment         	with smallest seq. #</a:t>
              </a:r>
            </a:p>
            <a:p>
              <a:pPr algn="l">
                <a:defRPr/>
              </a:pPr>
              <a:r>
                <a:rPr lang="en-US"/>
                <a:t>start timer</a:t>
              </a:r>
            </a:p>
          </p:txBody>
        </p:sp>
        <p:sp>
          <p:nvSpPr>
            <p:cNvPr id="68631" name="Text Box 17"/>
            <p:cNvSpPr txBox="1">
              <a:spLocks noChangeArrowheads="1"/>
            </p:cNvSpPr>
            <p:nvPr/>
          </p:nvSpPr>
          <p:spPr bwMode="auto">
            <a:xfrm>
              <a:off x="1270" y="3518"/>
              <a:ext cx="54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</a:rPr>
                <a:t>timeout</a:t>
              </a:r>
            </a:p>
          </p:txBody>
        </p:sp>
        <p:sp>
          <p:nvSpPr>
            <p:cNvPr id="68632" name="Line 18"/>
            <p:cNvSpPr>
              <a:spLocks noChangeShapeType="1"/>
            </p:cNvSpPr>
            <p:nvPr/>
          </p:nvSpPr>
          <p:spPr bwMode="auto">
            <a:xfrm>
              <a:off x="1342" y="3741"/>
              <a:ext cx="1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5006" name="Group 24"/>
          <p:cNvGrpSpPr>
            <a:grpSpLocks/>
          </p:cNvGrpSpPr>
          <p:nvPr/>
        </p:nvGrpSpPr>
        <p:grpSpPr bwMode="auto">
          <a:xfrm>
            <a:off x="2476501" y="4513264"/>
            <a:ext cx="4703763" cy="2181225"/>
            <a:chOff x="678" y="2592"/>
            <a:chExt cx="2963" cy="1374"/>
          </a:xfrm>
        </p:grpSpPr>
        <p:sp>
          <p:nvSpPr>
            <p:cNvPr id="68627" name="Text Box 3"/>
            <p:cNvSpPr txBox="1">
              <a:spLocks noChangeArrowheads="1"/>
            </p:cNvSpPr>
            <p:nvPr/>
          </p:nvSpPr>
          <p:spPr bwMode="auto">
            <a:xfrm>
              <a:off x="678" y="2830"/>
              <a:ext cx="2963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if (</a:t>
              </a:r>
              <a:r>
                <a:rPr lang="en-US" altLang="en-US">
                  <a:solidFill>
                    <a:srgbClr val="008000"/>
                  </a:solidFill>
                  <a:latin typeface="Arial" panose="020B0604020202020204" pitchFamily="34" charset="0"/>
                </a:rPr>
                <a:t>y &gt; SendBase</a:t>
              </a:r>
              <a:r>
                <a:rPr lang="en-US" altLang="en-US">
                  <a:latin typeface="Arial" panose="020B0604020202020204" pitchFamily="34" charset="0"/>
                </a:rPr>
                <a:t>) {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SendBase = y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/* </a:t>
              </a: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SendBase–1: last cumulatively ACKed byte </a:t>
              </a:r>
              <a:r>
                <a:rPr lang="en-US" altLang="en-US">
                  <a:latin typeface="Arial" panose="020B0604020202020204" pitchFamily="34" charset="0"/>
                </a:rPr>
                <a:t>*/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if (there are currently not-yet-acked segments)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     start timer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   else stop timer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   } </a:t>
              </a:r>
            </a:p>
          </p:txBody>
        </p:sp>
        <p:sp>
          <p:nvSpPr>
            <p:cNvPr id="68628" name="Text Box 21"/>
            <p:cNvSpPr txBox="1">
              <a:spLocks noChangeArrowheads="1"/>
            </p:cNvSpPr>
            <p:nvPr/>
          </p:nvSpPr>
          <p:spPr bwMode="auto">
            <a:xfrm>
              <a:off x="705" y="2592"/>
              <a:ext cx="22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FF"/>
                  </a:solidFill>
                </a:rPr>
                <a:t>ACK received, with ACK field value y </a:t>
              </a:r>
            </a:p>
          </p:txBody>
        </p:sp>
        <p:sp>
          <p:nvSpPr>
            <p:cNvPr id="68629" name="Line 22"/>
            <p:cNvSpPr>
              <a:spLocks noChangeShapeType="1"/>
            </p:cNvSpPr>
            <p:nvPr/>
          </p:nvSpPr>
          <p:spPr bwMode="auto">
            <a:xfrm>
              <a:off x="748" y="2815"/>
              <a:ext cx="20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5007" name="Freeform 26"/>
          <p:cNvSpPr>
            <a:spLocks/>
          </p:cNvSpPr>
          <p:nvPr/>
        </p:nvSpPr>
        <p:spPr bwMode="auto">
          <a:xfrm>
            <a:off x="5173664" y="1644650"/>
            <a:ext cx="1254125" cy="1258888"/>
          </a:xfrm>
          <a:custGeom>
            <a:avLst/>
            <a:gdLst>
              <a:gd name="T0" fmla="*/ 2147483647 w 1052"/>
              <a:gd name="T1" fmla="*/ 2147483647 h 990"/>
              <a:gd name="T2" fmla="*/ 2147483647 w 1052"/>
              <a:gd name="T3" fmla="*/ 2147483647 h 990"/>
              <a:gd name="T4" fmla="*/ 2147483647 w 1052"/>
              <a:gd name="T5" fmla="*/ 2147483647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5008" name="Freeform 27"/>
          <p:cNvSpPr>
            <a:spLocks/>
          </p:cNvSpPr>
          <p:nvPr/>
        </p:nvSpPr>
        <p:spPr bwMode="auto">
          <a:xfrm rot="4468137">
            <a:off x="5496720" y="3117058"/>
            <a:ext cx="1254125" cy="1258887"/>
          </a:xfrm>
          <a:custGeom>
            <a:avLst/>
            <a:gdLst>
              <a:gd name="T0" fmla="*/ 2147483647 w 1052"/>
              <a:gd name="T1" fmla="*/ 2147483647 h 990"/>
              <a:gd name="T2" fmla="*/ 2147483647 w 1052"/>
              <a:gd name="T3" fmla="*/ 2147483647 h 990"/>
              <a:gd name="T4" fmla="*/ 2147483647 w 1052"/>
              <a:gd name="T5" fmla="*/ 2147483647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5009" name="Freeform 28"/>
          <p:cNvSpPr>
            <a:spLocks/>
          </p:cNvSpPr>
          <p:nvPr/>
        </p:nvSpPr>
        <p:spPr bwMode="auto">
          <a:xfrm rot="10674503">
            <a:off x="3438526" y="3616325"/>
            <a:ext cx="1254125" cy="1258888"/>
          </a:xfrm>
          <a:custGeom>
            <a:avLst/>
            <a:gdLst>
              <a:gd name="T0" fmla="*/ 2147483647 w 1052"/>
              <a:gd name="T1" fmla="*/ 2147483647 h 990"/>
              <a:gd name="T2" fmla="*/ 2147483647 w 1052"/>
              <a:gd name="T3" fmla="*/ 2147483647 h 990"/>
              <a:gd name="T4" fmla="*/ 2147483647 w 1052"/>
              <a:gd name="T5" fmla="*/ 2147483647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9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696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14AB127-F0CB-49D9-8339-F2F0D8ACEA0F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title"/>
          </p:nvPr>
        </p:nvSpPr>
        <p:spPr>
          <a:xfrm>
            <a:off x="2000250" y="238126"/>
            <a:ext cx="7772400" cy="904875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TCP: retransmission scenarios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69637" name="Text Box 105"/>
          <p:cNvSpPr txBox="1">
            <a:spLocks noChangeArrowheads="1"/>
          </p:cNvSpPr>
          <p:nvPr/>
        </p:nvSpPr>
        <p:spPr bwMode="auto">
          <a:xfrm>
            <a:off x="2806701" y="5946776"/>
            <a:ext cx="1922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lost ACK scenario</a:t>
            </a:r>
            <a:endParaRPr lang="en-US" sz="1000"/>
          </a:p>
        </p:txBody>
      </p:sp>
      <p:sp>
        <p:nvSpPr>
          <p:cNvPr id="69638" name="Line 99"/>
          <p:cNvSpPr>
            <a:spLocks noChangeShapeType="1"/>
          </p:cNvSpPr>
          <p:nvPr/>
        </p:nvSpPr>
        <p:spPr bwMode="auto">
          <a:xfrm>
            <a:off x="2589214" y="4184651"/>
            <a:ext cx="2351087" cy="506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39" name="Line 100"/>
          <p:cNvSpPr>
            <a:spLocks noChangeShapeType="1"/>
          </p:cNvSpPr>
          <p:nvPr/>
        </p:nvSpPr>
        <p:spPr bwMode="auto">
          <a:xfrm>
            <a:off x="2601914" y="2416175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0" name="Line 104"/>
          <p:cNvSpPr>
            <a:spLocks noChangeShapeType="1"/>
          </p:cNvSpPr>
          <p:nvPr/>
        </p:nvSpPr>
        <p:spPr bwMode="auto">
          <a:xfrm flipH="1">
            <a:off x="3638551" y="3078164"/>
            <a:ext cx="1273175" cy="4270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1" name="Text Box 107"/>
          <p:cNvSpPr txBox="1">
            <a:spLocks noChangeArrowheads="1"/>
          </p:cNvSpPr>
          <p:nvPr/>
        </p:nvSpPr>
        <p:spPr bwMode="auto">
          <a:xfrm>
            <a:off x="4540251" y="1257300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B</a:t>
            </a:r>
          </a:p>
        </p:txBody>
      </p:sp>
      <p:sp>
        <p:nvSpPr>
          <p:cNvPr id="69642" name="Text Box 111"/>
          <p:cNvSpPr txBox="1">
            <a:spLocks noChangeArrowheads="1"/>
          </p:cNvSpPr>
          <p:nvPr/>
        </p:nvSpPr>
        <p:spPr bwMode="auto">
          <a:xfrm>
            <a:off x="2206625" y="1274763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A</a:t>
            </a:r>
          </a:p>
        </p:txBody>
      </p:sp>
      <p:sp>
        <p:nvSpPr>
          <p:cNvPr id="69643" name="Rectangle 112"/>
          <p:cNvSpPr>
            <a:spLocks noChangeArrowheads="1"/>
          </p:cNvSpPr>
          <p:nvPr/>
        </p:nvSpPr>
        <p:spPr bwMode="auto">
          <a:xfrm>
            <a:off x="3305175" y="2497139"/>
            <a:ext cx="869950" cy="401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4" name="Text Box 113"/>
          <p:cNvSpPr txBox="1">
            <a:spLocks noChangeArrowheads="1"/>
          </p:cNvSpPr>
          <p:nvPr/>
        </p:nvSpPr>
        <p:spPr bwMode="auto">
          <a:xfrm>
            <a:off x="2746376" y="2549526"/>
            <a:ext cx="21066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Seq=92, 8 bytes of data</a:t>
            </a:r>
          </a:p>
        </p:txBody>
      </p:sp>
      <p:sp>
        <p:nvSpPr>
          <p:cNvPr id="69645" name="Rectangle 114"/>
          <p:cNvSpPr>
            <a:spLocks noChangeArrowheads="1"/>
          </p:cNvSpPr>
          <p:nvPr/>
        </p:nvSpPr>
        <p:spPr bwMode="auto">
          <a:xfrm>
            <a:off x="3873501" y="3163888"/>
            <a:ext cx="747713" cy="246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6" name="Text Box 115"/>
          <p:cNvSpPr txBox="1">
            <a:spLocks noChangeArrowheads="1"/>
          </p:cNvSpPr>
          <p:nvPr/>
        </p:nvSpPr>
        <p:spPr bwMode="auto">
          <a:xfrm>
            <a:off x="3794126" y="3119438"/>
            <a:ext cx="949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ACK=100</a:t>
            </a:r>
            <a:endParaRPr lang="en-US" sz="1000">
              <a:latin typeface="Times New Roman" charset="0"/>
            </a:endParaRPr>
          </a:p>
        </p:txBody>
      </p:sp>
      <p:sp>
        <p:nvSpPr>
          <p:cNvPr id="69647" name="Line 118"/>
          <p:cNvSpPr>
            <a:spLocks noChangeShapeType="1"/>
          </p:cNvSpPr>
          <p:nvPr/>
        </p:nvSpPr>
        <p:spPr bwMode="auto">
          <a:xfrm>
            <a:off x="2581275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8" name="Line 119"/>
          <p:cNvSpPr>
            <a:spLocks noChangeShapeType="1"/>
          </p:cNvSpPr>
          <p:nvPr/>
        </p:nvSpPr>
        <p:spPr bwMode="auto">
          <a:xfrm>
            <a:off x="5008563" y="2170114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49" name="Rectangle 122"/>
          <p:cNvSpPr>
            <a:spLocks noChangeArrowheads="1"/>
          </p:cNvSpPr>
          <p:nvPr/>
        </p:nvSpPr>
        <p:spPr bwMode="auto">
          <a:xfrm>
            <a:off x="3198813" y="4178301"/>
            <a:ext cx="989012" cy="430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50" name="Text Box 123"/>
          <p:cNvSpPr txBox="1">
            <a:spLocks noChangeArrowheads="1"/>
          </p:cNvSpPr>
          <p:nvPr/>
        </p:nvSpPr>
        <p:spPr bwMode="auto">
          <a:xfrm>
            <a:off x="2735264" y="4259264"/>
            <a:ext cx="21066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Seq=92, 8 bytes of data</a:t>
            </a:r>
          </a:p>
        </p:txBody>
      </p:sp>
      <p:sp>
        <p:nvSpPr>
          <p:cNvPr id="69651" name="Text Box 124"/>
          <p:cNvSpPr txBox="1">
            <a:spLocks noChangeArrowheads="1"/>
          </p:cNvSpPr>
          <p:nvPr/>
        </p:nvSpPr>
        <p:spPr bwMode="auto">
          <a:xfrm>
            <a:off x="3427414" y="3309939"/>
            <a:ext cx="35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9652" name="Text Box 126"/>
          <p:cNvSpPr txBox="1">
            <a:spLocks noChangeArrowheads="1"/>
          </p:cNvSpPr>
          <p:nvPr/>
        </p:nvSpPr>
        <p:spPr bwMode="auto">
          <a:xfrm rot="10800000">
            <a:off x="2206596" y="2960820"/>
            <a:ext cx="400110" cy="69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timeout</a:t>
            </a:r>
          </a:p>
        </p:txBody>
      </p:sp>
      <p:sp>
        <p:nvSpPr>
          <p:cNvPr id="69653" name="Line 127"/>
          <p:cNvSpPr>
            <a:spLocks noChangeShapeType="1"/>
          </p:cNvSpPr>
          <p:nvPr/>
        </p:nvSpPr>
        <p:spPr bwMode="auto">
          <a:xfrm flipH="1">
            <a:off x="2578100" y="4776789"/>
            <a:ext cx="2338388" cy="782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54" name="Rectangle 128"/>
          <p:cNvSpPr>
            <a:spLocks noChangeArrowheads="1"/>
          </p:cNvSpPr>
          <p:nvPr/>
        </p:nvSpPr>
        <p:spPr bwMode="auto">
          <a:xfrm>
            <a:off x="3411538" y="5033963"/>
            <a:ext cx="747712" cy="246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55" name="Text Box 129"/>
          <p:cNvSpPr txBox="1">
            <a:spLocks noChangeArrowheads="1"/>
          </p:cNvSpPr>
          <p:nvPr/>
        </p:nvSpPr>
        <p:spPr bwMode="auto">
          <a:xfrm>
            <a:off x="3332164" y="4989513"/>
            <a:ext cx="949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ACK=100</a:t>
            </a:r>
            <a:endParaRPr lang="en-US" sz="1000">
              <a:latin typeface="Times New Roman" charset="0"/>
            </a:endParaRPr>
          </a:p>
        </p:txBody>
      </p:sp>
      <p:grpSp>
        <p:nvGrpSpPr>
          <p:cNvPr id="86039" name="Group 134"/>
          <p:cNvGrpSpPr>
            <a:grpSpLocks/>
          </p:cNvGrpSpPr>
          <p:nvPr/>
        </p:nvGrpSpPr>
        <p:grpSpPr bwMode="auto">
          <a:xfrm>
            <a:off x="2349501" y="2420938"/>
            <a:ext cx="104775" cy="508000"/>
            <a:chOff x="3099" y="1749"/>
            <a:chExt cx="66" cy="320"/>
          </a:xfrm>
        </p:grpSpPr>
        <p:sp>
          <p:nvSpPr>
            <p:cNvPr id="69710" name="Line 132"/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11" name="Line 133"/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6040" name="Group 135"/>
          <p:cNvGrpSpPr>
            <a:grpSpLocks/>
          </p:cNvGrpSpPr>
          <p:nvPr/>
        </p:nvGrpSpPr>
        <p:grpSpPr bwMode="auto">
          <a:xfrm rot="10800000">
            <a:off x="2344739" y="3663950"/>
            <a:ext cx="104775" cy="508000"/>
            <a:chOff x="3099" y="1749"/>
            <a:chExt cx="66" cy="320"/>
          </a:xfrm>
        </p:grpSpPr>
        <p:sp>
          <p:nvSpPr>
            <p:cNvPr id="69708" name="Line 136"/>
            <p:cNvSpPr>
              <a:spLocks noChangeShapeType="1"/>
            </p:cNvSpPr>
            <p:nvPr/>
          </p:nvSpPr>
          <p:spPr bwMode="auto">
            <a:xfrm flipV="1">
              <a:off x="3133" y="1753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9" name="Line 137"/>
            <p:cNvSpPr>
              <a:spLocks noChangeShapeType="1"/>
            </p:cNvSpPr>
            <p:nvPr/>
          </p:nvSpPr>
          <p:spPr bwMode="auto">
            <a:xfrm>
              <a:off x="3103" y="1756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69658" name="Text Box 172"/>
          <p:cNvSpPr txBox="1">
            <a:spLocks noChangeArrowheads="1"/>
          </p:cNvSpPr>
          <p:nvPr/>
        </p:nvSpPr>
        <p:spPr bwMode="auto">
          <a:xfrm>
            <a:off x="7469189" y="5953126"/>
            <a:ext cx="2073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premature timeout</a:t>
            </a:r>
            <a:endParaRPr lang="en-US" sz="1000"/>
          </a:p>
        </p:txBody>
      </p:sp>
      <p:sp>
        <p:nvSpPr>
          <p:cNvPr id="69659" name="Line 173"/>
          <p:cNvSpPr>
            <a:spLocks noChangeShapeType="1"/>
          </p:cNvSpPr>
          <p:nvPr/>
        </p:nvSpPr>
        <p:spPr bwMode="auto">
          <a:xfrm>
            <a:off x="7305676" y="4191001"/>
            <a:ext cx="2441575" cy="665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0" name="Line 174"/>
          <p:cNvSpPr>
            <a:spLocks noChangeShapeType="1"/>
          </p:cNvSpPr>
          <p:nvPr/>
        </p:nvSpPr>
        <p:spPr bwMode="auto">
          <a:xfrm>
            <a:off x="7339014" y="2422525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1" name="Line 175"/>
          <p:cNvSpPr>
            <a:spLocks noChangeShapeType="1"/>
          </p:cNvSpPr>
          <p:nvPr/>
        </p:nvSpPr>
        <p:spPr bwMode="auto">
          <a:xfrm flipH="1">
            <a:off x="7313613" y="3084514"/>
            <a:ext cx="2335212" cy="158908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2" name="Text Box 177"/>
          <p:cNvSpPr txBox="1">
            <a:spLocks noChangeArrowheads="1"/>
          </p:cNvSpPr>
          <p:nvPr/>
        </p:nvSpPr>
        <p:spPr bwMode="auto">
          <a:xfrm>
            <a:off x="9277351" y="1263650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B</a:t>
            </a:r>
          </a:p>
        </p:txBody>
      </p:sp>
      <p:sp>
        <p:nvSpPr>
          <p:cNvPr id="69663" name="Text Box 181"/>
          <p:cNvSpPr txBox="1">
            <a:spLocks noChangeArrowheads="1"/>
          </p:cNvSpPr>
          <p:nvPr/>
        </p:nvSpPr>
        <p:spPr bwMode="auto">
          <a:xfrm>
            <a:off x="6943725" y="1281113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A</a:t>
            </a:r>
          </a:p>
        </p:txBody>
      </p:sp>
      <p:sp>
        <p:nvSpPr>
          <p:cNvPr id="69664" name="Rectangle 182"/>
          <p:cNvSpPr>
            <a:spLocks noChangeArrowheads="1"/>
          </p:cNvSpPr>
          <p:nvPr/>
        </p:nvSpPr>
        <p:spPr bwMode="auto">
          <a:xfrm>
            <a:off x="8042275" y="2503489"/>
            <a:ext cx="869950" cy="401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5" name="Text Box 183"/>
          <p:cNvSpPr txBox="1">
            <a:spLocks noChangeArrowheads="1"/>
          </p:cNvSpPr>
          <p:nvPr/>
        </p:nvSpPr>
        <p:spPr bwMode="auto">
          <a:xfrm>
            <a:off x="7483476" y="2555876"/>
            <a:ext cx="21066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Seq=92, 8 bytes of data</a:t>
            </a:r>
          </a:p>
        </p:txBody>
      </p:sp>
      <p:grpSp>
        <p:nvGrpSpPr>
          <p:cNvPr id="86049" name="Group 202"/>
          <p:cNvGrpSpPr>
            <a:grpSpLocks/>
          </p:cNvGrpSpPr>
          <p:nvPr/>
        </p:nvGrpSpPr>
        <p:grpSpPr bwMode="auto">
          <a:xfrm>
            <a:off x="8215314" y="3576638"/>
            <a:ext cx="949325" cy="304800"/>
            <a:chOff x="4215" y="2253"/>
            <a:chExt cx="598" cy="192"/>
          </a:xfrm>
        </p:grpSpPr>
        <p:sp>
          <p:nvSpPr>
            <p:cNvPr id="69706" name="Rectangle 184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7" name="Text Box 185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sp>
        <p:nvSpPr>
          <p:cNvPr id="69667" name="Line 186"/>
          <p:cNvSpPr>
            <a:spLocks noChangeShapeType="1"/>
          </p:cNvSpPr>
          <p:nvPr/>
        </p:nvSpPr>
        <p:spPr bwMode="auto">
          <a:xfrm>
            <a:off x="7318375" y="218122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8" name="Line 187"/>
          <p:cNvSpPr>
            <a:spLocks noChangeShapeType="1"/>
          </p:cNvSpPr>
          <p:nvPr/>
        </p:nvSpPr>
        <p:spPr bwMode="auto">
          <a:xfrm>
            <a:off x="9723438" y="2176464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69" name="Rectangle 188"/>
          <p:cNvSpPr>
            <a:spLocks noChangeArrowheads="1"/>
          </p:cNvSpPr>
          <p:nvPr/>
        </p:nvSpPr>
        <p:spPr bwMode="auto">
          <a:xfrm>
            <a:off x="8331201" y="4308475"/>
            <a:ext cx="1057275" cy="5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70" name="Text Box 189"/>
          <p:cNvSpPr txBox="1">
            <a:spLocks noChangeArrowheads="1"/>
          </p:cNvSpPr>
          <p:nvPr/>
        </p:nvSpPr>
        <p:spPr bwMode="auto">
          <a:xfrm>
            <a:off x="8251825" y="4341813"/>
            <a:ext cx="12230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/>
              <a:t>Seq=92,  8</a:t>
            </a:r>
          </a:p>
          <a:p>
            <a:pPr algn="l">
              <a:defRPr/>
            </a:pPr>
            <a:r>
              <a:rPr lang="en-US" sz="1400"/>
              <a:t>bytes of data</a:t>
            </a:r>
          </a:p>
        </p:txBody>
      </p:sp>
      <p:sp>
        <p:nvSpPr>
          <p:cNvPr id="69671" name="Text Box 191"/>
          <p:cNvSpPr txBox="1">
            <a:spLocks noChangeArrowheads="1"/>
          </p:cNvSpPr>
          <p:nvPr/>
        </p:nvSpPr>
        <p:spPr bwMode="auto">
          <a:xfrm rot="10800000">
            <a:off x="6943696" y="2967170"/>
            <a:ext cx="400110" cy="69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timeout</a:t>
            </a:r>
          </a:p>
        </p:txBody>
      </p:sp>
      <p:sp>
        <p:nvSpPr>
          <p:cNvPr id="69672" name="Line 192"/>
          <p:cNvSpPr>
            <a:spLocks noChangeShapeType="1"/>
          </p:cNvSpPr>
          <p:nvPr/>
        </p:nvSpPr>
        <p:spPr bwMode="auto">
          <a:xfrm flipH="1">
            <a:off x="7337425" y="4894264"/>
            <a:ext cx="2338388" cy="782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73" name="Rectangle 193"/>
          <p:cNvSpPr>
            <a:spLocks noChangeArrowheads="1"/>
          </p:cNvSpPr>
          <p:nvPr/>
        </p:nvSpPr>
        <p:spPr bwMode="auto">
          <a:xfrm>
            <a:off x="8170863" y="5151438"/>
            <a:ext cx="747712" cy="246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69674" name="Text Box 194"/>
          <p:cNvSpPr txBox="1">
            <a:spLocks noChangeArrowheads="1"/>
          </p:cNvSpPr>
          <p:nvPr/>
        </p:nvSpPr>
        <p:spPr bwMode="auto">
          <a:xfrm>
            <a:off x="8091489" y="5106988"/>
            <a:ext cx="949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ACK=120</a:t>
            </a:r>
            <a:endParaRPr lang="en-US" sz="1000">
              <a:latin typeface="Times New Roman" charset="0"/>
            </a:endParaRPr>
          </a:p>
        </p:txBody>
      </p:sp>
      <p:grpSp>
        <p:nvGrpSpPr>
          <p:cNvPr id="86058" name="Group 195"/>
          <p:cNvGrpSpPr>
            <a:grpSpLocks/>
          </p:cNvGrpSpPr>
          <p:nvPr/>
        </p:nvGrpSpPr>
        <p:grpSpPr bwMode="auto">
          <a:xfrm>
            <a:off x="7086601" y="2427288"/>
            <a:ext cx="104775" cy="508000"/>
            <a:chOff x="3099" y="1749"/>
            <a:chExt cx="66" cy="320"/>
          </a:xfrm>
        </p:grpSpPr>
        <p:sp>
          <p:nvSpPr>
            <p:cNvPr id="69704" name="Line 196"/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5" name="Line 197"/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6059" name="Group 198"/>
          <p:cNvGrpSpPr>
            <a:grpSpLocks/>
          </p:cNvGrpSpPr>
          <p:nvPr/>
        </p:nvGrpSpPr>
        <p:grpSpPr bwMode="auto">
          <a:xfrm rot="10800000">
            <a:off x="7081839" y="3670300"/>
            <a:ext cx="104775" cy="508000"/>
            <a:chOff x="3099" y="1749"/>
            <a:chExt cx="66" cy="320"/>
          </a:xfrm>
        </p:grpSpPr>
        <p:sp>
          <p:nvSpPr>
            <p:cNvPr id="69702" name="Line 199"/>
            <p:cNvSpPr>
              <a:spLocks noChangeShapeType="1"/>
            </p:cNvSpPr>
            <p:nvPr/>
          </p:nvSpPr>
          <p:spPr bwMode="auto">
            <a:xfrm flipV="1">
              <a:off x="3134" y="1753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3" name="Line 200"/>
            <p:cNvSpPr>
              <a:spLocks noChangeShapeType="1"/>
            </p:cNvSpPr>
            <p:nvPr/>
          </p:nvSpPr>
          <p:spPr bwMode="auto">
            <a:xfrm>
              <a:off x="3104" y="1756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6060" name="Group 206"/>
          <p:cNvGrpSpPr>
            <a:grpSpLocks/>
          </p:cNvGrpSpPr>
          <p:nvPr/>
        </p:nvGrpSpPr>
        <p:grpSpPr bwMode="auto">
          <a:xfrm>
            <a:off x="7324726" y="2808288"/>
            <a:ext cx="2346325" cy="571500"/>
            <a:chOff x="3759" y="1622"/>
            <a:chExt cx="1478" cy="360"/>
          </a:xfrm>
        </p:grpSpPr>
        <p:sp>
          <p:nvSpPr>
            <p:cNvPr id="69699" name="Line 203"/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0" name="Rectangle 204"/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701" name="Text Box 205"/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Seq=100, 20 bytes of data</a:t>
              </a:r>
            </a:p>
          </p:txBody>
        </p:sp>
      </p:grpSp>
      <p:sp>
        <p:nvSpPr>
          <p:cNvPr id="69678" name="Line 207"/>
          <p:cNvSpPr>
            <a:spLocks noChangeShapeType="1"/>
          </p:cNvSpPr>
          <p:nvPr/>
        </p:nvSpPr>
        <p:spPr bwMode="auto">
          <a:xfrm flipH="1">
            <a:off x="7318376" y="3440114"/>
            <a:ext cx="2335213" cy="158908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86062" name="Group 208"/>
          <p:cNvGrpSpPr>
            <a:grpSpLocks/>
          </p:cNvGrpSpPr>
          <p:nvPr/>
        </p:nvGrpSpPr>
        <p:grpSpPr bwMode="auto">
          <a:xfrm>
            <a:off x="8455026" y="3852863"/>
            <a:ext cx="949325" cy="304800"/>
            <a:chOff x="4215" y="2253"/>
            <a:chExt cx="598" cy="192"/>
          </a:xfrm>
        </p:grpSpPr>
        <p:sp>
          <p:nvSpPr>
            <p:cNvPr id="69697" name="Rectangle 209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69698" name="Text Box 210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ACK=120</a:t>
              </a:r>
              <a:endParaRPr lang="en-US" sz="1000">
                <a:latin typeface="Times New Roman" charset="0"/>
              </a:endParaRPr>
            </a:p>
          </p:txBody>
        </p:sp>
      </p:grpSp>
      <p:sp>
        <p:nvSpPr>
          <p:cNvPr id="69680" name="Text Box 211"/>
          <p:cNvSpPr txBox="1">
            <a:spLocks noChangeArrowheads="1"/>
          </p:cNvSpPr>
          <p:nvPr/>
        </p:nvSpPr>
        <p:spPr bwMode="auto">
          <a:xfrm>
            <a:off x="5951538" y="4495800"/>
            <a:ext cx="1363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SendBase=100</a:t>
            </a:r>
          </a:p>
        </p:txBody>
      </p:sp>
      <p:sp>
        <p:nvSpPr>
          <p:cNvPr id="69681" name="Text Box 212"/>
          <p:cNvSpPr txBox="1">
            <a:spLocks noChangeArrowheads="1"/>
          </p:cNvSpPr>
          <p:nvPr/>
        </p:nvSpPr>
        <p:spPr bwMode="auto">
          <a:xfrm>
            <a:off x="5970588" y="4837113"/>
            <a:ext cx="1363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SendBase=120</a:t>
            </a:r>
          </a:p>
        </p:txBody>
      </p:sp>
      <p:sp>
        <p:nvSpPr>
          <p:cNvPr id="69682" name="Text Box 213"/>
          <p:cNvSpPr txBox="1">
            <a:spLocks noChangeArrowheads="1"/>
          </p:cNvSpPr>
          <p:nvPr/>
        </p:nvSpPr>
        <p:spPr bwMode="auto">
          <a:xfrm>
            <a:off x="5989638" y="5511800"/>
            <a:ext cx="1363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SendBase=120</a:t>
            </a:r>
          </a:p>
        </p:txBody>
      </p:sp>
      <p:sp>
        <p:nvSpPr>
          <p:cNvPr id="69683" name="Text Box 214"/>
          <p:cNvSpPr txBox="1">
            <a:spLocks noChangeArrowheads="1"/>
          </p:cNvSpPr>
          <p:nvPr/>
        </p:nvSpPr>
        <p:spPr bwMode="auto">
          <a:xfrm>
            <a:off x="6016626" y="2266950"/>
            <a:ext cx="126682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SendBase=92</a:t>
            </a:r>
          </a:p>
        </p:txBody>
      </p:sp>
      <p:pic>
        <p:nvPicPr>
          <p:cNvPr id="86067" name="Picture 2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912814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6068" name="Group 219"/>
          <p:cNvGrpSpPr>
            <a:grpSpLocks/>
          </p:cNvGrpSpPr>
          <p:nvPr/>
        </p:nvGrpSpPr>
        <p:grpSpPr bwMode="auto">
          <a:xfrm>
            <a:off x="6896100" y="1543050"/>
            <a:ext cx="630238" cy="533400"/>
            <a:chOff x="-44" y="1473"/>
            <a:chExt cx="981" cy="1105"/>
          </a:xfrm>
        </p:grpSpPr>
        <p:pic>
          <p:nvPicPr>
            <p:cNvPr id="86078" name="Picture 22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79" name="Freeform 22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069" name="Group 225"/>
          <p:cNvGrpSpPr>
            <a:grpSpLocks/>
          </p:cNvGrpSpPr>
          <p:nvPr/>
        </p:nvGrpSpPr>
        <p:grpSpPr bwMode="auto">
          <a:xfrm flipH="1">
            <a:off x="9463089" y="1549400"/>
            <a:ext cx="631825" cy="622300"/>
            <a:chOff x="-44" y="1473"/>
            <a:chExt cx="981" cy="1105"/>
          </a:xfrm>
        </p:grpSpPr>
        <p:pic>
          <p:nvPicPr>
            <p:cNvPr id="86076" name="Picture 22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77" name="Freeform 22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070" name="Group 228"/>
          <p:cNvGrpSpPr>
            <a:grpSpLocks/>
          </p:cNvGrpSpPr>
          <p:nvPr/>
        </p:nvGrpSpPr>
        <p:grpSpPr bwMode="auto">
          <a:xfrm>
            <a:off x="2171700" y="1547813"/>
            <a:ext cx="630238" cy="533400"/>
            <a:chOff x="-44" y="1473"/>
            <a:chExt cx="981" cy="1105"/>
          </a:xfrm>
        </p:grpSpPr>
        <p:pic>
          <p:nvPicPr>
            <p:cNvPr id="86074" name="Picture 229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75" name="Freeform 2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071" name="Group 231"/>
          <p:cNvGrpSpPr>
            <a:grpSpLocks/>
          </p:cNvGrpSpPr>
          <p:nvPr/>
        </p:nvGrpSpPr>
        <p:grpSpPr bwMode="auto">
          <a:xfrm flipH="1">
            <a:off x="4749801" y="1531939"/>
            <a:ext cx="709613" cy="600075"/>
            <a:chOff x="-44" y="1473"/>
            <a:chExt cx="981" cy="1105"/>
          </a:xfrm>
        </p:grpSpPr>
        <p:pic>
          <p:nvPicPr>
            <p:cNvPr id="86072" name="Picture 232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73" name="Freeform 23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698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06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C5348DD0-185D-4633-8259-A9347664AF15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38126"/>
            <a:ext cx="7772400" cy="904875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TCP: retransmission scenarios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70661" name="Text Box 22"/>
          <p:cNvSpPr txBox="1">
            <a:spLocks noChangeArrowheads="1"/>
          </p:cNvSpPr>
          <p:nvPr/>
        </p:nvSpPr>
        <p:spPr bwMode="auto">
          <a:xfrm>
            <a:off x="3482976" y="3468689"/>
            <a:ext cx="35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0662" name="Text Box 34"/>
          <p:cNvSpPr txBox="1">
            <a:spLocks noChangeArrowheads="1"/>
          </p:cNvSpPr>
          <p:nvPr/>
        </p:nvSpPr>
        <p:spPr bwMode="auto">
          <a:xfrm>
            <a:off x="3163888" y="5975351"/>
            <a:ext cx="1751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cumulative ACK</a:t>
            </a:r>
            <a:endParaRPr lang="en-US" sz="1000"/>
          </a:p>
        </p:txBody>
      </p:sp>
      <p:sp>
        <p:nvSpPr>
          <p:cNvPr id="70663" name="Line 35"/>
          <p:cNvSpPr>
            <a:spLocks noChangeShapeType="1"/>
          </p:cNvSpPr>
          <p:nvPr/>
        </p:nvSpPr>
        <p:spPr bwMode="auto">
          <a:xfrm>
            <a:off x="2892426" y="4540251"/>
            <a:ext cx="2441575" cy="665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64" name="Line 36"/>
          <p:cNvSpPr>
            <a:spLocks noChangeShapeType="1"/>
          </p:cNvSpPr>
          <p:nvPr/>
        </p:nvSpPr>
        <p:spPr bwMode="auto">
          <a:xfrm>
            <a:off x="2868614" y="2444750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65" name="Line 37"/>
          <p:cNvSpPr>
            <a:spLocks noChangeShapeType="1"/>
          </p:cNvSpPr>
          <p:nvPr/>
        </p:nvSpPr>
        <p:spPr bwMode="auto">
          <a:xfrm flipH="1">
            <a:off x="3746501" y="3106739"/>
            <a:ext cx="1431925" cy="57308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66" name="Text Box 39"/>
          <p:cNvSpPr txBox="1">
            <a:spLocks noChangeArrowheads="1"/>
          </p:cNvSpPr>
          <p:nvPr/>
        </p:nvSpPr>
        <p:spPr bwMode="auto">
          <a:xfrm>
            <a:off x="4794251" y="1273175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B</a:t>
            </a:r>
          </a:p>
        </p:txBody>
      </p:sp>
      <p:sp>
        <p:nvSpPr>
          <p:cNvPr id="70667" name="Text Box 43"/>
          <p:cNvSpPr txBox="1">
            <a:spLocks noChangeArrowheads="1"/>
          </p:cNvSpPr>
          <p:nvPr/>
        </p:nvSpPr>
        <p:spPr bwMode="auto">
          <a:xfrm>
            <a:off x="2473325" y="1303338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A</a:t>
            </a:r>
          </a:p>
        </p:txBody>
      </p:sp>
      <p:sp>
        <p:nvSpPr>
          <p:cNvPr id="70668" name="Rectangle 44"/>
          <p:cNvSpPr>
            <a:spLocks noChangeArrowheads="1"/>
          </p:cNvSpPr>
          <p:nvPr/>
        </p:nvSpPr>
        <p:spPr bwMode="auto">
          <a:xfrm>
            <a:off x="3571875" y="2525714"/>
            <a:ext cx="869950" cy="401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69" name="Text Box 45"/>
          <p:cNvSpPr txBox="1">
            <a:spLocks noChangeArrowheads="1"/>
          </p:cNvSpPr>
          <p:nvPr/>
        </p:nvSpPr>
        <p:spPr bwMode="auto">
          <a:xfrm>
            <a:off x="3013076" y="2578101"/>
            <a:ext cx="21066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Seq=92, 8 bytes of data</a:t>
            </a:r>
          </a:p>
        </p:txBody>
      </p:sp>
      <p:grpSp>
        <p:nvGrpSpPr>
          <p:cNvPr id="88077" name="Group 46"/>
          <p:cNvGrpSpPr>
            <a:grpSpLocks/>
          </p:cNvGrpSpPr>
          <p:nvPr/>
        </p:nvGrpSpPr>
        <p:grpSpPr bwMode="auto">
          <a:xfrm>
            <a:off x="3768726" y="3306763"/>
            <a:ext cx="949325" cy="304800"/>
            <a:chOff x="4215" y="2253"/>
            <a:chExt cx="598" cy="192"/>
          </a:xfrm>
        </p:grpSpPr>
        <p:sp>
          <p:nvSpPr>
            <p:cNvPr id="70699" name="Rectangle 47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0700" name="Text Box 48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sp>
        <p:nvSpPr>
          <p:cNvPr id="70671" name="Line 49"/>
          <p:cNvSpPr>
            <a:spLocks noChangeShapeType="1"/>
          </p:cNvSpPr>
          <p:nvPr/>
        </p:nvSpPr>
        <p:spPr bwMode="auto">
          <a:xfrm>
            <a:off x="2847975" y="2203450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72" name="Line 50"/>
          <p:cNvSpPr>
            <a:spLocks noChangeShapeType="1"/>
          </p:cNvSpPr>
          <p:nvPr/>
        </p:nvSpPr>
        <p:spPr bwMode="auto">
          <a:xfrm>
            <a:off x="5253038" y="2198689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73" name="Rectangle 51"/>
          <p:cNvSpPr>
            <a:spLocks noChangeArrowheads="1"/>
          </p:cNvSpPr>
          <p:nvPr/>
        </p:nvSpPr>
        <p:spPr bwMode="auto">
          <a:xfrm>
            <a:off x="3589338" y="4613275"/>
            <a:ext cx="933450" cy="5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0674" name="Text Box 52"/>
          <p:cNvSpPr txBox="1">
            <a:spLocks noChangeArrowheads="1"/>
          </p:cNvSpPr>
          <p:nvPr/>
        </p:nvSpPr>
        <p:spPr bwMode="auto">
          <a:xfrm>
            <a:off x="2863851" y="4700588"/>
            <a:ext cx="2652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/>
              <a:t>Seq=120,  15 bytes of data</a:t>
            </a:r>
          </a:p>
        </p:txBody>
      </p:sp>
      <p:sp>
        <p:nvSpPr>
          <p:cNvPr id="70675" name="Rectangle 55"/>
          <p:cNvSpPr>
            <a:spLocks noChangeArrowheads="1"/>
          </p:cNvSpPr>
          <p:nvPr/>
        </p:nvSpPr>
        <p:spPr bwMode="auto">
          <a:xfrm>
            <a:off x="3700463" y="5173663"/>
            <a:ext cx="747712" cy="246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88083" name="Group 75"/>
          <p:cNvGrpSpPr>
            <a:grpSpLocks/>
          </p:cNvGrpSpPr>
          <p:nvPr/>
        </p:nvGrpSpPr>
        <p:grpSpPr bwMode="auto">
          <a:xfrm>
            <a:off x="2471738" y="2449513"/>
            <a:ext cx="400050" cy="2406650"/>
            <a:chOff x="3413" y="1529"/>
            <a:chExt cx="252" cy="1103"/>
          </a:xfrm>
        </p:grpSpPr>
        <p:sp>
          <p:nvSpPr>
            <p:cNvPr id="70692" name="Text Box 53"/>
            <p:cNvSpPr txBox="1">
              <a:spLocks noChangeArrowheads="1"/>
            </p:cNvSpPr>
            <p:nvPr/>
          </p:nvSpPr>
          <p:spPr bwMode="auto">
            <a:xfrm rot="10800000">
              <a:off x="3413" y="1930"/>
              <a:ext cx="252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timeout</a:t>
              </a:r>
            </a:p>
          </p:txBody>
        </p:sp>
        <p:grpSp>
          <p:nvGrpSpPr>
            <p:cNvPr id="88100" name="Group 57"/>
            <p:cNvGrpSpPr>
              <a:grpSpLocks/>
            </p:cNvGrpSpPr>
            <p:nvPr/>
          </p:nvGrpSpPr>
          <p:grpSpPr bwMode="auto">
            <a:xfrm>
              <a:off x="3504" y="1529"/>
              <a:ext cx="66" cy="320"/>
              <a:chOff x="3099" y="1749"/>
              <a:chExt cx="66" cy="320"/>
            </a:xfrm>
          </p:grpSpPr>
          <p:sp>
            <p:nvSpPr>
              <p:cNvPr id="70697" name="Line 58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0698" name="Line 59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88101" name="Group 60"/>
            <p:cNvGrpSpPr>
              <a:grpSpLocks/>
            </p:cNvGrpSpPr>
            <p:nvPr/>
          </p:nvGrpSpPr>
          <p:grpSpPr bwMode="auto">
            <a:xfrm rot="10800000">
              <a:off x="3501" y="2312"/>
              <a:ext cx="66" cy="320"/>
              <a:chOff x="3099" y="1749"/>
              <a:chExt cx="66" cy="320"/>
            </a:xfrm>
          </p:grpSpPr>
          <p:sp>
            <p:nvSpPr>
              <p:cNvPr id="70695" name="Line 61"/>
              <p:cNvSpPr>
                <a:spLocks noChangeShapeType="1"/>
              </p:cNvSpPr>
              <p:nvPr/>
            </p:nvSpPr>
            <p:spPr bwMode="auto">
              <a:xfrm flipV="1">
                <a:off x="3133" y="1750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0696" name="Line 62"/>
              <p:cNvSpPr>
                <a:spLocks noChangeShapeType="1"/>
              </p:cNvSpPr>
              <p:nvPr/>
            </p:nvSpPr>
            <p:spPr bwMode="auto">
              <a:xfrm>
                <a:off x="3103" y="1756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88084" name="Group 63"/>
          <p:cNvGrpSpPr>
            <a:grpSpLocks/>
          </p:cNvGrpSpPr>
          <p:nvPr/>
        </p:nvGrpSpPr>
        <p:grpSpPr bwMode="auto">
          <a:xfrm>
            <a:off x="2854326" y="2830513"/>
            <a:ext cx="2346325" cy="571500"/>
            <a:chOff x="3759" y="1622"/>
            <a:chExt cx="1478" cy="360"/>
          </a:xfrm>
        </p:grpSpPr>
        <p:sp>
          <p:nvSpPr>
            <p:cNvPr id="70689" name="Line 64"/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0690" name="Rectangle 65"/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0691" name="Text Box 66"/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Seq=100, 20 bytes of data</a:t>
              </a:r>
            </a:p>
          </p:txBody>
        </p:sp>
      </p:grpSp>
      <p:sp>
        <p:nvSpPr>
          <p:cNvPr id="70678" name="Line 67"/>
          <p:cNvSpPr>
            <a:spLocks noChangeShapeType="1"/>
          </p:cNvSpPr>
          <p:nvPr/>
        </p:nvSpPr>
        <p:spPr bwMode="auto">
          <a:xfrm flipH="1">
            <a:off x="2859088" y="3462339"/>
            <a:ext cx="2324100" cy="1025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88086" name="Group 68"/>
          <p:cNvGrpSpPr>
            <a:grpSpLocks/>
          </p:cNvGrpSpPr>
          <p:nvPr/>
        </p:nvGrpSpPr>
        <p:grpSpPr bwMode="auto">
          <a:xfrm>
            <a:off x="3502026" y="3863975"/>
            <a:ext cx="949325" cy="304800"/>
            <a:chOff x="4215" y="2253"/>
            <a:chExt cx="598" cy="192"/>
          </a:xfrm>
        </p:grpSpPr>
        <p:sp>
          <p:nvSpPr>
            <p:cNvPr id="70687" name="Rectangle 69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0688" name="Text Box 70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ACK=120</a:t>
              </a:r>
              <a:endParaRPr lang="en-US" sz="1000">
                <a:latin typeface="Times New Roman" charset="0"/>
              </a:endParaRPr>
            </a:p>
          </p:txBody>
        </p:sp>
      </p:grpSp>
      <p:pic>
        <p:nvPicPr>
          <p:cNvPr id="88087" name="Picture 7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912814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8088" name="Group 84"/>
          <p:cNvGrpSpPr>
            <a:grpSpLocks/>
          </p:cNvGrpSpPr>
          <p:nvPr/>
        </p:nvGrpSpPr>
        <p:grpSpPr bwMode="auto">
          <a:xfrm>
            <a:off x="2427289" y="1565275"/>
            <a:ext cx="630237" cy="533400"/>
            <a:chOff x="-44" y="1473"/>
            <a:chExt cx="981" cy="1105"/>
          </a:xfrm>
        </p:grpSpPr>
        <p:pic>
          <p:nvPicPr>
            <p:cNvPr id="88092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93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8089" name="Group 87"/>
          <p:cNvGrpSpPr>
            <a:grpSpLocks/>
          </p:cNvGrpSpPr>
          <p:nvPr/>
        </p:nvGrpSpPr>
        <p:grpSpPr bwMode="auto">
          <a:xfrm flipH="1">
            <a:off x="5005389" y="1560513"/>
            <a:ext cx="674687" cy="590550"/>
            <a:chOff x="-44" y="1473"/>
            <a:chExt cx="981" cy="1105"/>
          </a:xfrm>
        </p:grpSpPr>
        <p:pic>
          <p:nvPicPr>
            <p:cNvPr id="88090" name="Picture 8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091" name="Freeform 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611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16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F008374-DA6A-4FB7-965D-CFD6014C3E1C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63" y="350839"/>
            <a:ext cx="7772400" cy="6699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TCP ACK generation</a:t>
            </a:r>
            <a:r>
              <a:rPr lang="en-US">
                <a:ea typeface="ＭＳ Ｐゴシック" charset="0"/>
                <a:cs typeface="+mj-cs"/>
              </a:rPr>
              <a:t> </a:t>
            </a:r>
            <a:r>
              <a:rPr lang="en-US" sz="1800">
                <a:ea typeface="ＭＳ Ｐゴシック" charset="0"/>
              </a:rPr>
              <a:t>[RFC 1122, RFC 2581]</a:t>
            </a:r>
          </a:p>
        </p:txBody>
      </p:sp>
      <p:sp>
        <p:nvSpPr>
          <p:cNvPr id="71685" name="Text Box 3"/>
          <p:cNvSpPr txBox="1">
            <a:spLocks noChangeArrowheads="1"/>
          </p:cNvSpPr>
          <p:nvPr/>
        </p:nvSpPr>
        <p:spPr bwMode="auto">
          <a:xfrm>
            <a:off x="2276476" y="1554163"/>
            <a:ext cx="3370263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400" i="1" dirty="0">
                <a:solidFill>
                  <a:srgbClr val="CC0000"/>
                </a:solidFill>
                <a:latin typeface="Arial" charset="0"/>
              </a:rPr>
              <a:t>event at receiver</a:t>
            </a:r>
            <a:endParaRPr lang="en-US" sz="1800" i="1" dirty="0">
              <a:solidFill>
                <a:srgbClr val="CC0000"/>
              </a:solidFill>
              <a:latin typeface="Arial" charset="0"/>
            </a:endParaRPr>
          </a:p>
          <a:p>
            <a:pPr algn="l">
              <a:defRPr/>
            </a:pPr>
            <a:endParaRPr lang="en-US" sz="1800" i="1" dirty="0">
              <a:solidFill>
                <a:srgbClr val="CC0000"/>
              </a:solidFill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arrival of in-order segment with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expected </a:t>
            </a:r>
            <a:r>
              <a:rPr lang="en-US" sz="1800" dirty="0" err="1">
                <a:latin typeface="Arial" charset="0"/>
              </a:rPr>
              <a:t>seq</a:t>
            </a:r>
            <a:r>
              <a:rPr lang="en-US" sz="1800" dirty="0">
                <a:latin typeface="Arial" charset="0"/>
              </a:rPr>
              <a:t> #. All data up to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expected </a:t>
            </a:r>
            <a:r>
              <a:rPr lang="en-US" sz="1800" dirty="0" err="1">
                <a:latin typeface="Arial" charset="0"/>
              </a:rPr>
              <a:t>seq</a:t>
            </a:r>
            <a:r>
              <a:rPr lang="en-US" sz="1800" dirty="0">
                <a:latin typeface="Arial" charset="0"/>
              </a:rPr>
              <a:t> # already </a:t>
            </a:r>
            <a:r>
              <a:rPr lang="en-US" sz="1800" dirty="0" err="1">
                <a:latin typeface="Arial" charset="0"/>
              </a:rPr>
              <a:t>ACKed</a:t>
            </a:r>
            <a:endParaRPr lang="en-US" sz="1800" dirty="0">
              <a:latin typeface="Arial" charset="0"/>
            </a:endParaRP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arrival of in-order segment with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expected </a:t>
            </a:r>
            <a:r>
              <a:rPr lang="en-US" sz="1800" dirty="0" err="1">
                <a:latin typeface="Arial" charset="0"/>
              </a:rPr>
              <a:t>seq</a:t>
            </a:r>
            <a:r>
              <a:rPr lang="en-US" sz="1800" dirty="0">
                <a:latin typeface="Arial" charset="0"/>
              </a:rPr>
              <a:t> #. </a:t>
            </a:r>
            <a:r>
              <a:rPr lang="en-US" sz="1800" dirty="0">
                <a:solidFill>
                  <a:srgbClr val="0000FF"/>
                </a:solidFill>
                <a:latin typeface="Arial" charset="0"/>
              </a:rPr>
              <a:t>One other </a:t>
            </a: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segment has ACK pending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arrival of </a:t>
            </a:r>
            <a:r>
              <a:rPr lang="en-US" sz="1800" dirty="0">
                <a:solidFill>
                  <a:srgbClr val="0000FF"/>
                </a:solidFill>
                <a:latin typeface="Arial" charset="0"/>
              </a:rPr>
              <a:t>out-of-order </a:t>
            </a:r>
            <a:r>
              <a:rPr lang="en-US" sz="1800" dirty="0">
                <a:latin typeface="Arial" charset="0"/>
              </a:rPr>
              <a:t>segment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higher-than-expect seq. # .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Gap detected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arrival of segment that 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partially or completely fills gap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endParaRPr lang="en-US" sz="1000" dirty="0">
              <a:latin typeface="Times New Roman" charset="0"/>
            </a:endParaRPr>
          </a:p>
        </p:txBody>
      </p:sp>
      <p:sp>
        <p:nvSpPr>
          <p:cNvPr id="71686" name="Text Box 4"/>
          <p:cNvSpPr txBox="1">
            <a:spLocks noChangeArrowheads="1"/>
          </p:cNvSpPr>
          <p:nvPr/>
        </p:nvSpPr>
        <p:spPr bwMode="auto">
          <a:xfrm>
            <a:off x="6038850" y="1544638"/>
            <a:ext cx="4127500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2400" i="1" dirty="0">
                <a:solidFill>
                  <a:srgbClr val="CC0000"/>
                </a:solidFill>
                <a:latin typeface="Arial" charset="0"/>
              </a:rPr>
              <a:t>TCP receiver action</a:t>
            </a:r>
            <a:endParaRPr lang="en-US" sz="1800" i="1" dirty="0">
              <a:solidFill>
                <a:srgbClr val="CC0000"/>
              </a:solidFill>
              <a:latin typeface="Arial" charset="0"/>
            </a:endParaRPr>
          </a:p>
          <a:p>
            <a:pPr algn="l">
              <a:defRPr/>
            </a:pPr>
            <a:endParaRPr lang="en-US" sz="1800" i="1" dirty="0">
              <a:solidFill>
                <a:srgbClr val="CC0000"/>
              </a:solidFill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delayed ACK. Wait up to 500ms</a:t>
            </a: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for next segment. If no next segment,</a:t>
            </a: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send ACK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immediately send single cumulative </a:t>
            </a:r>
          </a:p>
          <a:p>
            <a:pPr algn="l">
              <a:defRPr/>
            </a:pPr>
            <a:r>
              <a:rPr lang="en-US" sz="1800" dirty="0">
                <a:solidFill>
                  <a:srgbClr val="0000FF"/>
                </a:solidFill>
                <a:latin typeface="Arial" charset="0"/>
              </a:rPr>
              <a:t>ACK, </a:t>
            </a:r>
            <a:r>
              <a:rPr lang="en-US" sz="1800" dirty="0" err="1">
                <a:solidFill>
                  <a:srgbClr val="0000FF"/>
                </a:solidFill>
                <a:latin typeface="Arial" charset="0"/>
              </a:rPr>
              <a:t>ACKing</a:t>
            </a:r>
            <a:r>
              <a:rPr lang="en-US" sz="1800" dirty="0">
                <a:solidFill>
                  <a:srgbClr val="0000FF"/>
                </a:solidFill>
                <a:latin typeface="Arial" charset="0"/>
              </a:rPr>
              <a:t> both in-order segments 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immediately send </a:t>
            </a:r>
            <a:r>
              <a:rPr lang="en-US" sz="1800" i="1" dirty="0">
                <a:solidFill>
                  <a:srgbClr val="CC0000"/>
                </a:solidFill>
                <a:latin typeface="Arial" charset="0"/>
              </a:rPr>
              <a:t>duplicate ACK</a:t>
            </a:r>
            <a:r>
              <a:rPr lang="en-US" sz="1800" dirty="0">
                <a:solidFill>
                  <a:srgbClr val="CC0000"/>
                </a:solidFill>
                <a:latin typeface="Arial" charset="0"/>
              </a:rPr>
              <a:t>,</a:t>
            </a:r>
            <a:r>
              <a:rPr lang="en-US" sz="1800" dirty="0">
                <a:latin typeface="Arial" charset="0"/>
              </a:rPr>
              <a:t> 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indicating seq. # of next expected byte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immediate send ACK, provided that</a:t>
            </a:r>
          </a:p>
          <a:p>
            <a:pPr algn="l">
              <a:defRPr/>
            </a:pPr>
            <a:r>
              <a:rPr lang="en-US" sz="1800" dirty="0">
                <a:latin typeface="Arial" charset="0"/>
              </a:rPr>
              <a:t>segment starts at lower end of gap</a:t>
            </a:r>
          </a:p>
          <a:p>
            <a:pPr algn="l">
              <a:defRPr/>
            </a:pPr>
            <a:endParaRPr lang="en-US" sz="1800" dirty="0">
              <a:latin typeface="Arial" charset="0"/>
            </a:endParaRPr>
          </a:p>
          <a:p>
            <a:pPr algn="l">
              <a:defRPr/>
            </a:pPr>
            <a:endParaRPr lang="en-US" sz="1000" dirty="0">
              <a:latin typeface="Times New Roman" charset="0"/>
            </a:endParaRPr>
          </a:p>
        </p:txBody>
      </p:sp>
      <p:sp>
        <p:nvSpPr>
          <p:cNvPr id="71687" name="Line 9"/>
          <p:cNvSpPr>
            <a:spLocks noChangeShapeType="1"/>
          </p:cNvSpPr>
          <p:nvPr/>
        </p:nvSpPr>
        <p:spPr bwMode="auto">
          <a:xfrm>
            <a:off x="5848350" y="1704976"/>
            <a:ext cx="0" cy="43529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pic>
        <p:nvPicPr>
          <p:cNvPr id="90119" name="Picture 1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6" y="95250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9" name="Line 11"/>
          <p:cNvSpPr>
            <a:spLocks noChangeShapeType="1"/>
          </p:cNvSpPr>
          <p:nvPr/>
        </p:nvSpPr>
        <p:spPr bwMode="auto">
          <a:xfrm>
            <a:off x="2292350" y="2144713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1690" name="Line 12"/>
          <p:cNvSpPr>
            <a:spLocks noChangeShapeType="1"/>
          </p:cNvSpPr>
          <p:nvPr/>
        </p:nvSpPr>
        <p:spPr bwMode="auto">
          <a:xfrm>
            <a:off x="2276475" y="3198813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1691" name="Line 13"/>
          <p:cNvSpPr>
            <a:spLocks noChangeShapeType="1"/>
          </p:cNvSpPr>
          <p:nvPr/>
        </p:nvSpPr>
        <p:spPr bwMode="auto">
          <a:xfrm>
            <a:off x="2293939" y="4297363"/>
            <a:ext cx="7494587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1692" name="Line 14"/>
          <p:cNvSpPr>
            <a:spLocks noChangeShapeType="1"/>
          </p:cNvSpPr>
          <p:nvPr/>
        </p:nvSpPr>
        <p:spPr bwMode="auto">
          <a:xfrm>
            <a:off x="2287589" y="5386388"/>
            <a:ext cx="7494587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3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270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26057F79-43AB-4F7F-A42A-D5D254EAC5A2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1" y="220663"/>
            <a:ext cx="5040313" cy="906462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fast retransmit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2950" y="1397000"/>
            <a:ext cx="38100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time-out period  often relatively long</a:t>
            </a:r>
            <a:r>
              <a:rPr lang="en-US" dirty="0">
                <a:ea typeface="ＭＳ Ｐゴシック" charset="0"/>
                <a:cs typeface="+mn-cs"/>
              </a:rPr>
              <a:t>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long delay before resending lost packet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detect lost segments via duplicate ACKs.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sender often sends many segments back-to-back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if segment is lost, there will likely be many duplicate ACKs</a:t>
            </a:r>
            <a:r>
              <a:rPr lang="en-US" dirty="0">
                <a:ea typeface="ＭＳ Ｐゴシック" charset="0"/>
              </a:rPr>
              <a:t>.</a:t>
            </a:r>
          </a:p>
          <a:p>
            <a:pPr lvl="1">
              <a:buFont typeface="Wingdings" charset="0"/>
              <a:buChar char="§"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Wingdings" charset="0"/>
              <a:buChar char="§"/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6351588" y="2143126"/>
            <a:ext cx="3567112" cy="3813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463550" indent="-238125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800">
                <a:latin typeface="Gill Sans MT" panose="020B0502020104020203" pitchFamily="34" charset="0"/>
              </a:rPr>
              <a:t>if sender receives 3 ACKs for same data</a:t>
            </a: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400">
                <a:latin typeface="Gill Sans MT" panose="020B0502020104020203" pitchFamily="34" charset="0"/>
              </a:rPr>
              <a:t>(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triple duplicate ACKs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),</a:t>
            </a:r>
            <a:r>
              <a:rPr lang="en-US" altLang="ja-JP" sz="2800">
                <a:latin typeface="Gill Sans MT" panose="020B0502020104020203" pitchFamily="34" charset="0"/>
              </a:rPr>
              <a:t> resend unacked segment with smallest seq #</a:t>
            </a:r>
          </a:p>
          <a:p>
            <a:pPr lvl="1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Gill Sans MT" panose="020B0502020104020203" pitchFamily="34" charset="0"/>
              </a:rPr>
              <a:t>likely that unacked segment lost, so don</a:t>
            </a:r>
            <a:r>
              <a:rPr lang="ja-JP" altLang="en-US" sz="2400">
                <a:latin typeface="Gill Sans MT" panose="020B0502020104020203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t wait for timeout</a:t>
            </a:r>
            <a:endParaRPr lang="en-US" altLang="en-US" sz="2400">
              <a:latin typeface="Gill Sans MT" panose="020B0502020104020203" pitchFamily="34" charset="0"/>
            </a:endParaRPr>
          </a:p>
        </p:txBody>
      </p:sp>
      <p:sp>
        <p:nvSpPr>
          <p:cNvPr id="72711" name="Rectangle 6"/>
          <p:cNvSpPr>
            <a:spLocks noChangeArrowheads="1"/>
          </p:cNvSpPr>
          <p:nvPr/>
        </p:nvSpPr>
        <p:spPr bwMode="auto">
          <a:xfrm>
            <a:off x="6275388" y="1914526"/>
            <a:ext cx="3509962" cy="3681413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2712" name="Text Box 7"/>
          <p:cNvSpPr txBox="1">
            <a:spLocks noChangeArrowheads="1"/>
          </p:cNvSpPr>
          <p:nvPr/>
        </p:nvSpPr>
        <p:spPr bwMode="auto">
          <a:xfrm>
            <a:off x="6407151" y="1679575"/>
            <a:ext cx="27733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i="1">
                <a:solidFill>
                  <a:srgbClr val="CC0000"/>
                </a:solidFill>
              </a:rPr>
              <a:t>TCP fast retransmit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6318251" y="2925764"/>
            <a:ext cx="3408363" cy="5413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400">
                <a:latin typeface="Gill Sans MT" panose="020B0502020104020203" pitchFamily="34" charset="0"/>
              </a:rPr>
              <a:t>(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solidFill>
                  <a:srgbClr val="008000"/>
                </a:solidFill>
                <a:latin typeface="Gill Sans MT" panose="020B0502020104020203" pitchFamily="34" charset="0"/>
              </a:rPr>
              <a:t>triple duplicate ACKs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r>
              <a:rPr lang="en-US" altLang="ja-JP" sz="2400">
                <a:latin typeface="Gill Sans MT" panose="020B0502020104020203" pitchFamily="34" charset="0"/>
              </a:rPr>
              <a:t>),</a:t>
            </a:r>
            <a:r>
              <a:rPr lang="en-US" altLang="ja-JP" sz="2800">
                <a:latin typeface="Gill Sans MT" panose="020B0502020104020203" pitchFamily="34" charset="0"/>
              </a:rPr>
              <a:t> </a:t>
            </a:r>
            <a:endParaRPr lang="en-US" altLang="en-US" sz="2800">
              <a:latin typeface="Gill Sans MT" panose="020B0502020104020203" pitchFamily="34" charset="0"/>
            </a:endParaRPr>
          </a:p>
        </p:txBody>
      </p:sp>
      <p:pic>
        <p:nvPicPr>
          <p:cNvPr id="91145" name="Picture 1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6" y="903289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11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37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BE5BE7C-BE51-4065-94C4-3342BD3644FF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73732" name="Line 3"/>
          <p:cNvSpPr>
            <a:spLocks noChangeShapeType="1"/>
          </p:cNvSpPr>
          <p:nvPr/>
        </p:nvSpPr>
        <p:spPr bwMode="auto">
          <a:xfrm>
            <a:off x="4592638" y="23193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3" name="Line 9"/>
          <p:cNvSpPr>
            <a:spLocks noChangeShapeType="1"/>
          </p:cNvSpPr>
          <p:nvPr/>
        </p:nvSpPr>
        <p:spPr bwMode="auto">
          <a:xfrm>
            <a:off x="4592638" y="2547939"/>
            <a:ext cx="1757362" cy="4143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4" name="Line 10"/>
          <p:cNvSpPr>
            <a:spLocks noChangeShapeType="1"/>
          </p:cNvSpPr>
          <p:nvPr/>
        </p:nvSpPr>
        <p:spPr bwMode="auto">
          <a:xfrm flipH="1">
            <a:off x="4589464" y="2014538"/>
            <a:ext cx="3175" cy="399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5" name="Line 11"/>
          <p:cNvSpPr>
            <a:spLocks noChangeShapeType="1"/>
          </p:cNvSpPr>
          <p:nvPr/>
        </p:nvSpPr>
        <p:spPr bwMode="auto">
          <a:xfrm>
            <a:off x="7107238" y="2090738"/>
            <a:ext cx="11112" cy="3903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6" name="Line 12"/>
          <p:cNvSpPr>
            <a:spLocks noChangeShapeType="1"/>
          </p:cNvSpPr>
          <p:nvPr/>
        </p:nvSpPr>
        <p:spPr bwMode="auto">
          <a:xfrm flipH="1">
            <a:off x="4556126" y="2962276"/>
            <a:ext cx="2519363" cy="809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7" name="Line 14"/>
          <p:cNvSpPr>
            <a:spLocks noChangeShapeType="1"/>
          </p:cNvSpPr>
          <p:nvPr/>
        </p:nvSpPr>
        <p:spPr bwMode="auto">
          <a:xfrm>
            <a:off x="4592638" y="27765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8" name="Line 15"/>
          <p:cNvSpPr>
            <a:spLocks noChangeShapeType="1"/>
          </p:cNvSpPr>
          <p:nvPr/>
        </p:nvSpPr>
        <p:spPr bwMode="auto">
          <a:xfrm>
            <a:off x="4592638" y="32337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39" name="Line 16"/>
          <p:cNvSpPr>
            <a:spLocks noChangeShapeType="1"/>
          </p:cNvSpPr>
          <p:nvPr/>
        </p:nvSpPr>
        <p:spPr bwMode="auto">
          <a:xfrm>
            <a:off x="4592638" y="30051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40" name="Line 17"/>
          <p:cNvSpPr>
            <a:spLocks noChangeShapeType="1"/>
          </p:cNvSpPr>
          <p:nvPr/>
        </p:nvSpPr>
        <p:spPr bwMode="auto">
          <a:xfrm flipH="1">
            <a:off x="4557714" y="3386138"/>
            <a:ext cx="2530475" cy="8302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41" name="Line 18"/>
          <p:cNvSpPr>
            <a:spLocks noChangeShapeType="1"/>
          </p:cNvSpPr>
          <p:nvPr/>
        </p:nvSpPr>
        <p:spPr bwMode="auto">
          <a:xfrm flipH="1">
            <a:off x="4592638" y="3614738"/>
            <a:ext cx="2506662" cy="8874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42" name="Line 19"/>
          <p:cNvSpPr>
            <a:spLocks noChangeShapeType="1"/>
          </p:cNvSpPr>
          <p:nvPr/>
        </p:nvSpPr>
        <p:spPr bwMode="auto">
          <a:xfrm flipH="1">
            <a:off x="4592638" y="3843338"/>
            <a:ext cx="2495550" cy="9001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43" name="Text Box 20"/>
          <p:cNvSpPr txBox="1">
            <a:spLocks noChangeArrowheads="1"/>
          </p:cNvSpPr>
          <p:nvPr/>
        </p:nvSpPr>
        <p:spPr bwMode="auto">
          <a:xfrm>
            <a:off x="6265864" y="2714625"/>
            <a:ext cx="282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>
                <a:solidFill>
                  <a:srgbClr val="FF0000"/>
                </a:solidFill>
                <a:latin typeface="Arial" charset="0"/>
              </a:rPr>
              <a:t>X</a:t>
            </a:r>
            <a:endParaRPr lang="en-US" sz="1000">
              <a:latin typeface="Times New Roman" charset="0"/>
            </a:endParaRPr>
          </a:p>
        </p:txBody>
      </p:sp>
      <p:sp>
        <p:nvSpPr>
          <p:cNvPr id="73744" name="Line 24"/>
          <p:cNvSpPr>
            <a:spLocks noChangeShapeType="1"/>
          </p:cNvSpPr>
          <p:nvPr/>
        </p:nvSpPr>
        <p:spPr bwMode="auto">
          <a:xfrm>
            <a:off x="4618038" y="4784725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45" name="Text Box 29"/>
          <p:cNvSpPr txBox="1">
            <a:spLocks noChangeArrowheads="1"/>
          </p:cNvSpPr>
          <p:nvPr/>
        </p:nvSpPr>
        <p:spPr bwMode="auto">
          <a:xfrm>
            <a:off x="4330701" y="5986463"/>
            <a:ext cx="3178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fast retransmit after sender </a:t>
            </a:r>
          </a:p>
          <a:p>
            <a:pPr>
              <a:defRPr/>
            </a:pPr>
            <a:r>
              <a:rPr lang="en-US" sz="1800"/>
              <a:t>receipt of triple duplicate ACK</a:t>
            </a:r>
            <a:endParaRPr lang="en-US" sz="1000"/>
          </a:p>
        </p:txBody>
      </p:sp>
      <p:sp>
        <p:nvSpPr>
          <p:cNvPr id="73746" name="Text Box 34"/>
          <p:cNvSpPr txBox="1">
            <a:spLocks noChangeArrowheads="1"/>
          </p:cNvSpPr>
          <p:nvPr/>
        </p:nvSpPr>
        <p:spPr bwMode="auto">
          <a:xfrm>
            <a:off x="6634163" y="1139825"/>
            <a:ext cx="7731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B</a:t>
            </a:r>
          </a:p>
        </p:txBody>
      </p:sp>
      <p:sp>
        <p:nvSpPr>
          <p:cNvPr id="73747" name="Text Box 38"/>
          <p:cNvSpPr txBox="1">
            <a:spLocks noChangeArrowheads="1"/>
          </p:cNvSpPr>
          <p:nvPr/>
        </p:nvSpPr>
        <p:spPr bwMode="auto">
          <a:xfrm>
            <a:off x="4300539" y="1157288"/>
            <a:ext cx="776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Host A</a:t>
            </a:r>
          </a:p>
        </p:txBody>
      </p:sp>
      <p:sp>
        <p:nvSpPr>
          <p:cNvPr id="73748" name="Text Box 40"/>
          <p:cNvSpPr txBox="1">
            <a:spLocks noChangeArrowheads="1"/>
          </p:cNvSpPr>
          <p:nvPr/>
        </p:nvSpPr>
        <p:spPr bwMode="auto">
          <a:xfrm>
            <a:off x="4740276" y="2239964"/>
            <a:ext cx="2106667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Seq=92, 8 bytes of data</a:t>
            </a:r>
          </a:p>
        </p:txBody>
      </p:sp>
      <p:grpSp>
        <p:nvGrpSpPr>
          <p:cNvPr id="92180" name="Group 41"/>
          <p:cNvGrpSpPr>
            <a:grpSpLocks/>
          </p:cNvGrpSpPr>
          <p:nvPr/>
        </p:nvGrpSpPr>
        <p:grpSpPr bwMode="auto">
          <a:xfrm>
            <a:off x="4694239" y="3489325"/>
            <a:ext cx="949325" cy="304800"/>
            <a:chOff x="4215" y="2253"/>
            <a:chExt cx="598" cy="192"/>
          </a:xfrm>
        </p:grpSpPr>
        <p:sp>
          <p:nvSpPr>
            <p:cNvPr id="73779" name="Rectangle 42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3780" name="Text Box 43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grpSp>
        <p:nvGrpSpPr>
          <p:cNvPr id="92181" name="Group 78"/>
          <p:cNvGrpSpPr>
            <a:grpSpLocks/>
          </p:cNvGrpSpPr>
          <p:nvPr/>
        </p:nvGrpSpPr>
        <p:grpSpPr bwMode="auto">
          <a:xfrm>
            <a:off x="4206876" y="2292350"/>
            <a:ext cx="400050" cy="3524250"/>
            <a:chOff x="396" y="868"/>
            <a:chExt cx="252" cy="2220"/>
          </a:xfrm>
        </p:grpSpPr>
        <p:sp>
          <p:nvSpPr>
            <p:cNvPr id="73772" name="Text Box 50"/>
            <p:cNvSpPr txBox="1">
              <a:spLocks noChangeArrowheads="1"/>
            </p:cNvSpPr>
            <p:nvPr/>
          </p:nvSpPr>
          <p:spPr bwMode="auto">
            <a:xfrm rot="10800000">
              <a:off x="396" y="1776"/>
              <a:ext cx="252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timeout</a:t>
              </a:r>
            </a:p>
          </p:txBody>
        </p:sp>
        <p:grpSp>
          <p:nvGrpSpPr>
            <p:cNvPr id="92204" name="Group 51"/>
            <p:cNvGrpSpPr>
              <a:grpSpLocks/>
            </p:cNvGrpSpPr>
            <p:nvPr/>
          </p:nvGrpSpPr>
          <p:grpSpPr bwMode="auto">
            <a:xfrm>
              <a:off x="488" y="868"/>
              <a:ext cx="66" cy="893"/>
              <a:chOff x="3099" y="1749"/>
              <a:chExt cx="66" cy="320"/>
            </a:xfrm>
          </p:grpSpPr>
          <p:sp>
            <p:nvSpPr>
              <p:cNvPr id="73777" name="Line 52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3778" name="Line 53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92205" name="Group 54"/>
            <p:cNvGrpSpPr>
              <a:grpSpLocks/>
            </p:cNvGrpSpPr>
            <p:nvPr/>
          </p:nvGrpSpPr>
          <p:grpSpPr bwMode="auto">
            <a:xfrm rot="10800000">
              <a:off x="485" y="2224"/>
              <a:ext cx="66" cy="864"/>
              <a:chOff x="3099" y="1749"/>
              <a:chExt cx="66" cy="320"/>
            </a:xfrm>
          </p:grpSpPr>
          <p:sp>
            <p:nvSpPr>
              <p:cNvPr id="73775" name="Line 55"/>
              <p:cNvSpPr>
                <a:spLocks noChangeShapeType="1"/>
              </p:cNvSpPr>
              <p:nvPr/>
            </p:nvSpPr>
            <p:spPr bwMode="auto">
              <a:xfrm flipV="1">
                <a:off x="3132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3776" name="Line 56"/>
              <p:cNvSpPr>
                <a:spLocks noChangeShapeType="1"/>
              </p:cNvSpPr>
              <p:nvPr/>
            </p:nvSpPr>
            <p:spPr bwMode="auto">
              <a:xfrm>
                <a:off x="3103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2182" name="Group 71"/>
          <p:cNvGrpSpPr>
            <a:grpSpLocks/>
          </p:cNvGrpSpPr>
          <p:nvPr/>
        </p:nvGrpSpPr>
        <p:grpSpPr bwMode="auto">
          <a:xfrm>
            <a:off x="4705351" y="3800475"/>
            <a:ext cx="949325" cy="304800"/>
            <a:chOff x="35" y="1825"/>
            <a:chExt cx="598" cy="192"/>
          </a:xfrm>
        </p:grpSpPr>
        <p:sp>
          <p:nvSpPr>
            <p:cNvPr id="73770" name="Rectangle 66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3771" name="Text Box 67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grpSp>
        <p:nvGrpSpPr>
          <p:cNvPr id="92183" name="Group 72"/>
          <p:cNvGrpSpPr>
            <a:grpSpLocks/>
          </p:cNvGrpSpPr>
          <p:nvPr/>
        </p:nvGrpSpPr>
        <p:grpSpPr bwMode="auto">
          <a:xfrm>
            <a:off x="4691064" y="4130675"/>
            <a:ext cx="949325" cy="304800"/>
            <a:chOff x="35" y="1825"/>
            <a:chExt cx="598" cy="192"/>
          </a:xfrm>
        </p:grpSpPr>
        <p:sp>
          <p:nvSpPr>
            <p:cNvPr id="73768" name="Rectangle 73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3769" name="Text Box 74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grpSp>
        <p:nvGrpSpPr>
          <p:cNvPr id="92184" name="Group 75"/>
          <p:cNvGrpSpPr>
            <a:grpSpLocks/>
          </p:cNvGrpSpPr>
          <p:nvPr/>
        </p:nvGrpSpPr>
        <p:grpSpPr bwMode="auto">
          <a:xfrm>
            <a:off x="4699001" y="4427538"/>
            <a:ext cx="949325" cy="304800"/>
            <a:chOff x="35" y="1825"/>
            <a:chExt cx="598" cy="192"/>
          </a:xfrm>
        </p:grpSpPr>
        <p:sp>
          <p:nvSpPr>
            <p:cNvPr id="73766" name="Rectangle 76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3767" name="Text Box 77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Arial" charset="0"/>
                </a:rPr>
                <a:t>ACK=100</a:t>
              </a:r>
              <a:endParaRPr lang="en-US" sz="1000">
                <a:latin typeface="Times New Roman" charset="0"/>
              </a:endParaRPr>
            </a:p>
          </p:txBody>
        </p:sp>
      </p:grpSp>
      <p:sp>
        <p:nvSpPr>
          <p:cNvPr id="73754" name="Rectangle 81"/>
          <p:cNvSpPr>
            <a:spLocks noGrp="1" noChangeArrowheads="1"/>
          </p:cNvSpPr>
          <p:nvPr>
            <p:ph type="title"/>
          </p:nvPr>
        </p:nvSpPr>
        <p:spPr>
          <a:xfrm>
            <a:off x="2057401" y="220663"/>
            <a:ext cx="5040313" cy="906462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fast retransmit</a:t>
            </a:r>
          </a:p>
        </p:txBody>
      </p:sp>
      <p:pic>
        <p:nvPicPr>
          <p:cNvPr id="92186" name="Picture 8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6" y="903289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56" name="Rectangle 84"/>
          <p:cNvSpPr>
            <a:spLocks noChangeArrowheads="1"/>
          </p:cNvSpPr>
          <p:nvPr/>
        </p:nvSpPr>
        <p:spPr bwMode="auto">
          <a:xfrm>
            <a:off x="4808539" y="2562226"/>
            <a:ext cx="757237" cy="22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57" name="Text Box 83"/>
          <p:cNvSpPr txBox="1">
            <a:spLocks noChangeArrowheads="1"/>
          </p:cNvSpPr>
          <p:nvPr/>
        </p:nvSpPr>
        <p:spPr bwMode="auto">
          <a:xfrm>
            <a:off x="4716464" y="2506663"/>
            <a:ext cx="2281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Seq=100, 20 bytes of data</a:t>
            </a:r>
          </a:p>
        </p:txBody>
      </p:sp>
      <p:sp>
        <p:nvSpPr>
          <p:cNvPr id="73758" name="Rectangle 85"/>
          <p:cNvSpPr>
            <a:spLocks noChangeArrowheads="1"/>
          </p:cNvSpPr>
          <p:nvPr/>
        </p:nvSpPr>
        <p:spPr bwMode="auto">
          <a:xfrm>
            <a:off x="4770439" y="4770439"/>
            <a:ext cx="757237" cy="22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3759" name="Text Box 86"/>
          <p:cNvSpPr txBox="1">
            <a:spLocks noChangeArrowheads="1"/>
          </p:cNvSpPr>
          <p:nvPr/>
        </p:nvSpPr>
        <p:spPr bwMode="auto">
          <a:xfrm>
            <a:off x="4678364" y="4714875"/>
            <a:ext cx="2281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Seq=100, 20 bytes of data</a:t>
            </a:r>
          </a:p>
        </p:txBody>
      </p:sp>
      <p:grpSp>
        <p:nvGrpSpPr>
          <p:cNvPr id="92191" name="Group 93"/>
          <p:cNvGrpSpPr>
            <a:grpSpLocks/>
          </p:cNvGrpSpPr>
          <p:nvPr/>
        </p:nvGrpSpPr>
        <p:grpSpPr bwMode="auto">
          <a:xfrm>
            <a:off x="4210050" y="1397000"/>
            <a:ext cx="630238" cy="533400"/>
            <a:chOff x="-44" y="1473"/>
            <a:chExt cx="981" cy="1105"/>
          </a:xfrm>
        </p:grpSpPr>
        <p:pic>
          <p:nvPicPr>
            <p:cNvPr id="92195" name="Picture 9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96" name="Freeform 9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2192" name="Group 96"/>
          <p:cNvGrpSpPr>
            <a:grpSpLocks/>
          </p:cNvGrpSpPr>
          <p:nvPr/>
        </p:nvGrpSpPr>
        <p:grpSpPr bwMode="auto">
          <a:xfrm flipH="1">
            <a:off x="6788150" y="1423989"/>
            <a:ext cx="654050" cy="579437"/>
            <a:chOff x="-44" y="1473"/>
            <a:chExt cx="981" cy="1105"/>
          </a:xfrm>
        </p:grpSpPr>
        <p:pic>
          <p:nvPicPr>
            <p:cNvPr id="92193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94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381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475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EE13D7DA-1EE6-4CC7-855C-F2032690096A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7475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51325" cy="4648200"/>
          </a:xfrm>
        </p:spPr>
        <p:txBody>
          <a:bodyPr/>
          <a:lstStyle/>
          <a:p>
            <a:pPr marL="566738" indent="-566738">
              <a:buNone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connection management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93190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39814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90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577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B830E703-D44A-4710-814B-8425C1DA9DF7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1865313" y="171451"/>
            <a:ext cx="7772400" cy="9747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flow control</a:t>
            </a:r>
          </a:p>
        </p:txBody>
      </p:sp>
      <p:sp>
        <p:nvSpPr>
          <p:cNvPr id="75781" name="Rectangle 72"/>
          <p:cNvSpPr>
            <a:spLocks noChangeArrowheads="1"/>
          </p:cNvSpPr>
          <p:nvPr/>
        </p:nvSpPr>
        <p:spPr bwMode="auto">
          <a:xfrm>
            <a:off x="6934201" y="855663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4213" name="Freeform 32"/>
          <p:cNvSpPr>
            <a:spLocks/>
          </p:cNvSpPr>
          <p:nvPr/>
        </p:nvSpPr>
        <p:spPr bwMode="auto">
          <a:xfrm>
            <a:off x="9375776" y="849314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3" name="Rectangle 40"/>
          <p:cNvSpPr>
            <a:spLocks noChangeArrowheads="1"/>
          </p:cNvSpPr>
          <p:nvPr/>
        </p:nvSpPr>
        <p:spPr bwMode="auto">
          <a:xfrm>
            <a:off x="6848475" y="957263"/>
            <a:ext cx="2533650" cy="38147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784" name="Oval 31"/>
          <p:cNvSpPr>
            <a:spLocks noChangeArrowheads="1"/>
          </p:cNvSpPr>
          <p:nvPr/>
        </p:nvSpPr>
        <p:spPr bwMode="auto">
          <a:xfrm>
            <a:off x="7388225" y="1014413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application</a:t>
            </a:r>
          </a:p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process</a:t>
            </a:r>
          </a:p>
        </p:txBody>
      </p:sp>
      <p:grpSp>
        <p:nvGrpSpPr>
          <p:cNvPr id="94216" name="Group 47"/>
          <p:cNvGrpSpPr>
            <a:grpSpLocks/>
          </p:cNvGrpSpPr>
          <p:nvPr/>
        </p:nvGrpSpPr>
        <p:grpSpPr bwMode="auto">
          <a:xfrm>
            <a:off x="7156451" y="2082801"/>
            <a:ext cx="1795463" cy="688975"/>
            <a:chOff x="1173" y="2345"/>
            <a:chExt cx="1131" cy="434"/>
          </a:xfrm>
        </p:grpSpPr>
        <p:sp>
          <p:nvSpPr>
            <p:cNvPr id="75832" name="Rectangle 44"/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33" name="Text Box 46"/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TCP socket</a:t>
              </a:r>
            </a:p>
            <a:p>
              <a:pPr>
                <a:defRPr/>
              </a:pPr>
              <a:r>
                <a:rPr lang="en-US"/>
                <a:t>receiver buffers</a:t>
              </a:r>
            </a:p>
          </p:txBody>
        </p:sp>
      </p:grpSp>
      <p:sp>
        <p:nvSpPr>
          <p:cNvPr id="75786" name="Oval 48"/>
          <p:cNvSpPr>
            <a:spLocks noChangeArrowheads="1"/>
          </p:cNvSpPr>
          <p:nvPr/>
        </p:nvSpPr>
        <p:spPr bwMode="auto">
          <a:xfrm>
            <a:off x="7324725" y="3106738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75787" name="Text Box 64"/>
          <p:cNvSpPr txBox="1">
            <a:spLocks noChangeArrowheads="1"/>
          </p:cNvSpPr>
          <p:nvPr/>
        </p:nvSpPr>
        <p:spPr bwMode="auto">
          <a:xfrm>
            <a:off x="8228014" y="3130550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/>
              <a:t>TCP</a:t>
            </a:r>
          </a:p>
          <a:p>
            <a:pPr algn="l">
              <a:defRPr/>
            </a:pPr>
            <a:r>
              <a:rPr lang="en-US" sz="1400"/>
              <a:t>code</a:t>
            </a:r>
          </a:p>
        </p:txBody>
      </p:sp>
      <p:sp>
        <p:nvSpPr>
          <p:cNvPr id="75788" name="Oval 65"/>
          <p:cNvSpPr>
            <a:spLocks noChangeArrowheads="1"/>
          </p:cNvSpPr>
          <p:nvPr/>
        </p:nvSpPr>
        <p:spPr bwMode="auto">
          <a:xfrm>
            <a:off x="7332663" y="4092575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75789" name="Text Box 66"/>
          <p:cNvSpPr txBox="1">
            <a:spLocks noChangeArrowheads="1"/>
          </p:cNvSpPr>
          <p:nvPr/>
        </p:nvSpPr>
        <p:spPr bwMode="auto">
          <a:xfrm>
            <a:off x="8235951" y="4116388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/>
              <a:t>IP</a:t>
            </a:r>
          </a:p>
          <a:p>
            <a:pPr algn="l">
              <a:defRPr/>
            </a:pPr>
            <a:r>
              <a:rPr lang="en-US" sz="1400"/>
              <a:t>code</a:t>
            </a:r>
          </a:p>
        </p:txBody>
      </p:sp>
      <p:sp>
        <p:nvSpPr>
          <p:cNvPr id="94221" name="Freeform 61"/>
          <p:cNvSpPr>
            <a:spLocks/>
          </p:cNvSpPr>
          <p:nvPr/>
        </p:nvSpPr>
        <p:spPr bwMode="auto">
          <a:xfrm>
            <a:off x="7834314" y="2649539"/>
            <a:ext cx="530225" cy="2505075"/>
          </a:xfrm>
          <a:custGeom>
            <a:avLst/>
            <a:gdLst>
              <a:gd name="T0" fmla="*/ 2147483647 w 412"/>
              <a:gd name="T1" fmla="*/ 2147483647 h 2005"/>
              <a:gd name="T2" fmla="*/ 2147483647 w 412"/>
              <a:gd name="T3" fmla="*/ 0 h 2005"/>
              <a:gd name="T4" fmla="*/ 2147483647 w 412"/>
              <a:gd name="T5" fmla="*/ 2147483647 h 20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2" h="2005">
                <a:moveTo>
                  <a:pt x="56" y="2005"/>
                </a:moveTo>
                <a:cubicBezTo>
                  <a:pt x="80" y="1671"/>
                  <a:pt x="0" y="0"/>
                  <a:pt x="206" y="0"/>
                </a:cubicBezTo>
                <a:cubicBezTo>
                  <a:pt x="412" y="0"/>
                  <a:pt x="307" y="1587"/>
                  <a:pt x="334" y="2005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5791" name="Line 68"/>
          <p:cNvSpPr>
            <a:spLocks noChangeShapeType="1"/>
          </p:cNvSpPr>
          <p:nvPr/>
        </p:nvSpPr>
        <p:spPr bwMode="auto">
          <a:xfrm>
            <a:off x="6842125" y="3841750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792" name="Line 69"/>
          <p:cNvSpPr>
            <a:spLocks noChangeShapeType="1"/>
          </p:cNvSpPr>
          <p:nvPr/>
        </p:nvSpPr>
        <p:spPr bwMode="auto">
          <a:xfrm>
            <a:off x="6854825" y="1990725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94224" name="Group 56"/>
          <p:cNvGrpSpPr>
            <a:grpSpLocks/>
          </p:cNvGrpSpPr>
          <p:nvPr/>
        </p:nvGrpSpPr>
        <p:grpSpPr bwMode="auto">
          <a:xfrm>
            <a:off x="7831138" y="1874839"/>
            <a:ext cx="533400" cy="206375"/>
            <a:chOff x="2003" y="1816"/>
            <a:chExt cx="336" cy="130"/>
          </a:xfrm>
        </p:grpSpPr>
        <p:sp>
          <p:nvSpPr>
            <p:cNvPr id="75828" name="Rectangle 16"/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29" name="Rectangle 17"/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30" name="Rectangle 18"/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31" name="Rectangle 19"/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94225" name="Freeform 63"/>
          <p:cNvSpPr>
            <a:spLocks/>
          </p:cNvSpPr>
          <p:nvPr/>
        </p:nvSpPr>
        <p:spPr bwMode="auto">
          <a:xfrm rot="10800000">
            <a:off x="7823201" y="1544638"/>
            <a:ext cx="530225" cy="595312"/>
          </a:xfrm>
          <a:custGeom>
            <a:avLst/>
            <a:gdLst>
              <a:gd name="T0" fmla="*/ 2147483647 w 412"/>
              <a:gd name="T1" fmla="*/ 2147483647 h 2005"/>
              <a:gd name="T2" fmla="*/ 2147483647 w 412"/>
              <a:gd name="T3" fmla="*/ 0 h 2005"/>
              <a:gd name="T4" fmla="*/ 2147483647 w 412"/>
              <a:gd name="T5" fmla="*/ 2147483647 h 20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2" h="2005">
                <a:moveTo>
                  <a:pt x="56" y="2005"/>
                </a:moveTo>
                <a:cubicBezTo>
                  <a:pt x="80" y="1671"/>
                  <a:pt x="0" y="0"/>
                  <a:pt x="206" y="0"/>
                </a:cubicBezTo>
                <a:cubicBezTo>
                  <a:pt x="412" y="0"/>
                  <a:pt x="307" y="1587"/>
                  <a:pt x="334" y="2005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94226" name="Group 77"/>
          <p:cNvGrpSpPr>
            <a:grpSpLocks/>
          </p:cNvGrpSpPr>
          <p:nvPr/>
        </p:nvGrpSpPr>
        <p:grpSpPr bwMode="auto">
          <a:xfrm>
            <a:off x="7013576" y="4827589"/>
            <a:ext cx="1006475" cy="211137"/>
            <a:chOff x="314" y="1591"/>
            <a:chExt cx="634" cy="133"/>
          </a:xfrm>
        </p:grpSpPr>
        <p:sp>
          <p:nvSpPr>
            <p:cNvPr id="75825" name="Rectangle 74"/>
            <p:cNvSpPr>
              <a:spLocks noChangeArrowheads="1"/>
            </p:cNvSpPr>
            <p:nvPr/>
          </p:nvSpPr>
          <p:spPr bwMode="auto">
            <a:xfrm>
              <a:off x="314" y="1591"/>
              <a:ext cx="634" cy="1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26" name="Line 75"/>
            <p:cNvSpPr>
              <a:spLocks noChangeShapeType="1"/>
            </p:cNvSpPr>
            <p:nvPr/>
          </p:nvSpPr>
          <p:spPr bwMode="auto">
            <a:xfrm>
              <a:off x="388" y="1594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27" name="Line 76"/>
            <p:cNvSpPr>
              <a:spLocks noChangeShapeType="1"/>
            </p:cNvSpPr>
            <p:nvPr/>
          </p:nvSpPr>
          <p:spPr bwMode="auto">
            <a:xfrm>
              <a:off x="484" y="1594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5796" name="Rectangle 80"/>
          <p:cNvSpPr>
            <a:spLocks noChangeArrowheads="1"/>
          </p:cNvSpPr>
          <p:nvPr/>
        </p:nvSpPr>
        <p:spPr bwMode="auto">
          <a:xfrm>
            <a:off x="7132638" y="3892550"/>
            <a:ext cx="876300" cy="209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797" name="Rectangle 86"/>
          <p:cNvSpPr>
            <a:spLocks noChangeArrowheads="1"/>
          </p:cNvSpPr>
          <p:nvPr/>
        </p:nvSpPr>
        <p:spPr bwMode="auto">
          <a:xfrm>
            <a:off x="7289801" y="2851150"/>
            <a:ext cx="720725" cy="2095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798" name="Rectangle 91"/>
          <p:cNvSpPr>
            <a:spLocks noChangeArrowheads="1"/>
          </p:cNvSpPr>
          <p:nvPr/>
        </p:nvSpPr>
        <p:spPr bwMode="auto">
          <a:xfrm>
            <a:off x="7297739" y="3892550"/>
            <a:ext cx="720725" cy="2095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799" name="Rectangle 92"/>
          <p:cNvSpPr>
            <a:spLocks noChangeArrowheads="1"/>
          </p:cNvSpPr>
          <p:nvPr/>
        </p:nvSpPr>
        <p:spPr bwMode="auto">
          <a:xfrm>
            <a:off x="7292976" y="4824414"/>
            <a:ext cx="733425" cy="2127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94231" name="Group 99"/>
          <p:cNvGrpSpPr>
            <a:grpSpLocks/>
          </p:cNvGrpSpPr>
          <p:nvPr/>
        </p:nvGrpSpPr>
        <p:grpSpPr bwMode="auto">
          <a:xfrm>
            <a:off x="9526589" y="1657351"/>
            <a:ext cx="1146175" cy="703263"/>
            <a:chOff x="638" y="1651"/>
            <a:chExt cx="722" cy="443"/>
          </a:xfrm>
        </p:grpSpPr>
        <p:sp>
          <p:nvSpPr>
            <p:cNvPr id="75822" name="Text Box 95"/>
            <p:cNvSpPr txBox="1">
              <a:spLocks noChangeArrowheads="1"/>
            </p:cNvSpPr>
            <p:nvPr/>
          </p:nvSpPr>
          <p:spPr bwMode="auto">
            <a:xfrm>
              <a:off x="638" y="1651"/>
              <a:ext cx="7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application</a:t>
              </a:r>
            </a:p>
          </p:txBody>
        </p:sp>
        <p:sp>
          <p:nvSpPr>
            <p:cNvPr id="75823" name="Text Box 96"/>
            <p:cNvSpPr txBox="1">
              <a:spLocks noChangeArrowheads="1"/>
            </p:cNvSpPr>
            <p:nvPr/>
          </p:nvSpPr>
          <p:spPr bwMode="auto">
            <a:xfrm>
              <a:off x="647" y="1882"/>
              <a:ext cx="2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OS</a:t>
              </a:r>
            </a:p>
          </p:txBody>
        </p:sp>
        <p:sp>
          <p:nvSpPr>
            <p:cNvPr id="75824" name="Line 98"/>
            <p:cNvSpPr>
              <a:spLocks noChangeShapeType="1"/>
            </p:cNvSpPr>
            <p:nvPr/>
          </p:nvSpPr>
          <p:spPr bwMode="auto">
            <a:xfrm>
              <a:off x="711" y="1870"/>
              <a:ext cx="5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5801" name="Text Box 103"/>
          <p:cNvSpPr txBox="1">
            <a:spLocks noChangeArrowheads="1"/>
          </p:cNvSpPr>
          <p:nvPr/>
        </p:nvSpPr>
        <p:spPr bwMode="auto">
          <a:xfrm>
            <a:off x="6829426" y="5637214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receiver protocol stack</a:t>
            </a:r>
          </a:p>
        </p:txBody>
      </p:sp>
      <p:sp>
        <p:nvSpPr>
          <p:cNvPr id="75802" name="Text Box 104"/>
          <p:cNvSpPr txBox="1">
            <a:spLocks noChangeArrowheads="1"/>
          </p:cNvSpPr>
          <p:nvPr/>
        </p:nvSpPr>
        <p:spPr bwMode="auto">
          <a:xfrm>
            <a:off x="3538538" y="1314450"/>
            <a:ext cx="31924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/>
              <a:t>Application </a:t>
            </a:r>
          </a:p>
          <a:p>
            <a:pPr algn="r"/>
            <a:r>
              <a:rPr lang="en-US" altLang="en-US"/>
              <a:t>removes data from </a:t>
            </a:r>
          </a:p>
          <a:p>
            <a:pPr algn="r"/>
            <a:r>
              <a:rPr lang="en-US" altLang="en-US"/>
              <a:t>TCP socket buffers …. </a:t>
            </a:r>
          </a:p>
        </p:txBody>
      </p:sp>
      <p:sp>
        <p:nvSpPr>
          <p:cNvPr id="75803" name="Line 105"/>
          <p:cNvSpPr>
            <a:spLocks noChangeShapeType="1"/>
          </p:cNvSpPr>
          <p:nvPr/>
        </p:nvSpPr>
        <p:spPr bwMode="auto">
          <a:xfrm>
            <a:off x="6748463" y="1730375"/>
            <a:ext cx="10414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804" name="Text Box 106"/>
          <p:cNvSpPr txBox="1">
            <a:spLocks noChangeArrowheads="1"/>
          </p:cNvSpPr>
          <p:nvPr/>
        </p:nvSpPr>
        <p:spPr bwMode="auto">
          <a:xfrm>
            <a:off x="4622801" y="2525713"/>
            <a:ext cx="208121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endParaRPr lang="en-US" dirty="0"/>
          </a:p>
          <a:p>
            <a:pPr algn="r">
              <a:defRPr/>
            </a:pPr>
            <a:r>
              <a:rPr lang="en-US" dirty="0"/>
              <a:t>receiver is delivering</a:t>
            </a:r>
          </a:p>
          <a:p>
            <a:pPr algn="r">
              <a:defRPr/>
            </a:pPr>
            <a:r>
              <a:rPr lang="en-US" dirty="0"/>
              <a:t>(sender is sending)</a:t>
            </a:r>
          </a:p>
        </p:txBody>
      </p:sp>
      <p:sp>
        <p:nvSpPr>
          <p:cNvPr id="75805" name="Line 108"/>
          <p:cNvSpPr>
            <a:spLocks noChangeShapeType="1"/>
          </p:cNvSpPr>
          <p:nvPr/>
        </p:nvSpPr>
        <p:spPr bwMode="auto">
          <a:xfrm>
            <a:off x="6669088" y="2935288"/>
            <a:ext cx="544512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806" name="Line 115"/>
          <p:cNvSpPr>
            <a:spLocks noChangeShapeType="1"/>
          </p:cNvSpPr>
          <p:nvPr/>
        </p:nvSpPr>
        <p:spPr bwMode="auto">
          <a:xfrm>
            <a:off x="7907338" y="5189538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5807" name="Text Box 116"/>
          <p:cNvSpPr txBox="1">
            <a:spLocks noChangeArrowheads="1"/>
          </p:cNvSpPr>
          <p:nvPr/>
        </p:nvSpPr>
        <p:spPr bwMode="auto">
          <a:xfrm>
            <a:off x="6815139" y="5249863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from sender</a:t>
            </a:r>
          </a:p>
        </p:txBody>
      </p:sp>
      <p:grpSp>
        <p:nvGrpSpPr>
          <p:cNvPr id="384123" name="Group 123"/>
          <p:cNvGrpSpPr>
            <a:grpSpLocks/>
          </p:cNvGrpSpPr>
          <p:nvPr/>
        </p:nvGrpSpPr>
        <p:grpSpPr bwMode="auto">
          <a:xfrm>
            <a:off x="1887538" y="4194176"/>
            <a:ext cx="5395912" cy="1755775"/>
            <a:chOff x="221" y="2091"/>
            <a:chExt cx="3399" cy="1106"/>
          </a:xfrm>
        </p:grpSpPr>
        <p:sp>
          <p:nvSpPr>
            <p:cNvPr id="75815" name="Line 82"/>
            <p:cNvSpPr>
              <a:spLocks noChangeShapeType="1"/>
            </p:cNvSpPr>
            <p:nvPr/>
          </p:nvSpPr>
          <p:spPr bwMode="auto">
            <a:xfrm>
              <a:off x="3620" y="2455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16" name="Rectangle 110"/>
            <p:cNvSpPr>
              <a:spLocks noChangeArrowheads="1"/>
            </p:cNvSpPr>
            <p:nvPr/>
          </p:nvSpPr>
          <p:spPr bwMode="auto">
            <a:xfrm>
              <a:off x="221" y="2219"/>
              <a:ext cx="2295" cy="97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5817" name="Text Box 111"/>
            <p:cNvSpPr txBox="1">
              <a:spLocks noChangeArrowheads="1"/>
            </p:cNvSpPr>
            <p:nvPr/>
          </p:nvSpPr>
          <p:spPr bwMode="auto">
            <a:xfrm>
              <a:off x="279" y="2315"/>
              <a:ext cx="2263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latin typeface="Gill Sans MT" panose="020B0502020104020203" pitchFamily="34" charset="0"/>
                </a:rPr>
                <a:t>receiver controls sender, so </a:t>
              </a:r>
              <a:r>
                <a:rPr lang="en-US" altLang="en-US" sz="2000">
                  <a:solidFill>
                    <a:srgbClr val="008000"/>
                  </a:solidFill>
                  <a:latin typeface="Gill Sans MT" panose="020B0502020104020203" pitchFamily="34" charset="0"/>
                </a:rPr>
                <a:t>sender won’t overflow receiver</a:t>
              </a:r>
              <a:r>
                <a:rPr lang="ja-JP" altLang="en-US" sz="2000">
                  <a:solidFill>
                    <a:srgbClr val="008000"/>
                  </a:solidFill>
                  <a:latin typeface="Gill Sans MT" panose="020B0502020104020203" pitchFamily="34" charset="0"/>
                </a:rPr>
                <a:t>’</a:t>
              </a:r>
              <a:r>
                <a:rPr lang="en-US" altLang="ja-JP" sz="2000">
                  <a:solidFill>
                    <a:srgbClr val="008000"/>
                  </a:solidFill>
                  <a:latin typeface="Gill Sans MT" panose="020B0502020104020203" pitchFamily="34" charset="0"/>
                </a:rPr>
                <a:t>s buffer by transmitting too much, too fast</a:t>
              </a:r>
              <a:endParaRPr lang="en-US" altLang="en-US" sz="1000">
                <a:solidFill>
                  <a:srgbClr val="008000"/>
                </a:solidFill>
                <a:latin typeface="Gill Sans MT" panose="020B0502020104020203" pitchFamily="34" charset="0"/>
              </a:endParaRPr>
            </a:p>
          </p:txBody>
        </p:sp>
        <p:grpSp>
          <p:nvGrpSpPr>
            <p:cNvPr id="94248" name="Group 112"/>
            <p:cNvGrpSpPr>
              <a:grpSpLocks/>
            </p:cNvGrpSpPr>
            <p:nvPr/>
          </p:nvGrpSpPr>
          <p:grpSpPr bwMode="auto">
            <a:xfrm>
              <a:off x="510" y="2091"/>
              <a:ext cx="1217" cy="327"/>
              <a:chOff x="3486" y="272"/>
              <a:chExt cx="1134" cy="327"/>
            </a:xfrm>
          </p:grpSpPr>
          <p:sp>
            <p:nvSpPr>
              <p:cNvPr id="75820" name="Rectangle 113"/>
              <p:cNvSpPr>
                <a:spLocks noChangeArrowheads="1"/>
              </p:cNvSpPr>
              <p:nvPr/>
            </p:nvSpPr>
            <p:spPr bwMode="auto">
              <a:xfrm>
                <a:off x="3486" y="330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5821" name="Text Box 114"/>
              <p:cNvSpPr txBox="1">
                <a:spLocks noChangeArrowheads="1"/>
              </p:cNvSpPr>
              <p:nvPr/>
            </p:nvSpPr>
            <p:spPr bwMode="auto">
              <a:xfrm>
                <a:off x="3539" y="272"/>
                <a:ext cx="101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800" i="1">
                    <a:solidFill>
                      <a:srgbClr val="CC0000"/>
                    </a:solidFill>
                    <a:latin typeface="Gill Sans MT" charset="0"/>
                  </a:rPr>
                  <a:t>flow control</a:t>
                </a:r>
              </a:p>
            </p:txBody>
          </p:sp>
        </p:grpSp>
        <p:sp>
          <p:nvSpPr>
            <p:cNvPr id="75819" name="Line 117"/>
            <p:cNvSpPr>
              <a:spLocks noChangeShapeType="1"/>
            </p:cNvSpPr>
            <p:nvPr/>
          </p:nvSpPr>
          <p:spPr bwMode="auto">
            <a:xfrm>
              <a:off x="3445" y="2578"/>
              <a:ext cx="0" cy="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5809" name="Line 118"/>
          <p:cNvSpPr>
            <a:spLocks noChangeShapeType="1"/>
          </p:cNvSpPr>
          <p:nvPr/>
        </p:nvSpPr>
        <p:spPr bwMode="auto">
          <a:xfrm>
            <a:off x="9371013" y="4767263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pic>
        <p:nvPicPr>
          <p:cNvPr id="94241" name="Picture 1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6" y="893764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242" name="Group 124"/>
          <p:cNvGrpSpPr>
            <a:grpSpLocks/>
          </p:cNvGrpSpPr>
          <p:nvPr/>
        </p:nvGrpSpPr>
        <p:grpSpPr bwMode="auto">
          <a:xfrm flipH="1">
            <a:off x="9609138" y="4360863"/>
            <a:ext cx="869950" cy="906462"/>
            <a:chOff x="-44" y="1473"/>
            <a:chExt cx="981" cy="1105"/>
          </a:xfrm>
        </p:grpSpPr>
        <p:pic>
          <p:nvPicPr>
            <p:cNvPr id="94243" name="Picture 12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44" name="Freeform 1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282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680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640A2DD-04CA-4438-A635-1EDADB35F34F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5313" y="171451"/>
            <a:ext cx="7772400" cy="9747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flow control</a:t>
            </a:r>
          </a:p>
        </p:txBody>
      </p:sp>
      <p:pic>
        <p:nvPicPr>
          <p:cNvPr id="95236" name="Picture 51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6" y="893764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5237" name="Group 72"/>
          <p:cNvGrpSpPr>
            <a:grpSpLocks/>
          </p:cNvGrpSpPr>
          <p:nvPr/>
        </p:nvGrpSpPr>
        <p:grpSpPr bwMode="auto">
          <a:xfrm>
            <a:off x="7519988" y="2230439"/>
            <a:ext cx="2578100" cy="2155825"/>
            <a:chOff x="512" y="1294"/>
            <a:chExt cx="1888" cy="1358"/>
          </a:xfrm>
        </p:grpSpPr>
        <p:grpSp>
          <p:nvGrpSpPr>
            <p:cNvPr id="95251" name="Group 17"/>
            <p:cNvGrpSpPr>
              <a:grpSpLocks/>
            </p:cNvGrpSpPr>
            <p:nvPr/>
          </p:nvGrpSpPr>
          <p:grpSpPr bwMode="auto"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76829" name="Rectangle 18"/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6830" name="Rectangle 19"/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6831" name="Rectangle 20"/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6832" name="Rectangle 21"/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6821" name="Rectangle 52"/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2" name="Line 53"/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3" name="AutoShape 54"/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4" name="Rectangle 55" descr="Dark upward diagonal"/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pattFill prst="dkUpDiag">
              <a:fgClr>
                <a:srgbClr val="FFFF00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5" name="AutoShape 56"/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6" name="Text Box 57"/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/>
                <a:t>buffered data</a:t>
              </a:r>
            </a:p>
          </p:txBody>
        </p:sp>
        <p:sp>
          <p:nvSpPr>
            <p:cNvPr id="76827" name="Line 58"/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6828" name="Text Box 59"/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/>
                <a:t>free buffer space</a:t>
              </a:r>
            </a:p>
          </p:txBody>
        </p:sp>
      </p:grpSp>
      <p:sp>
        <p:nvSpPr>
          <p:cNvPr id="76807" name="Text Box 62"/>
          <p:cNvSpPr txBox="1">
            <a:spLocks noChangeArrowheads="1"/>
          </p:cNvSpPr>
          <p:nvPr/>
        </p:nvSpPr>
        <p:spPr bwMode="auto">
          <a:xfrm>
            <a:off x="6632575" y="3375025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b="1">
                <a:latin typeface="Courier New" charset="0"/>
              </a:rPr>
              <a:t>rwnd</a:t>
            </a:r>
          </a:p>
        </p:txBody>
      </p:sp>
      <p:sp>
        <p:nvSpPr>
          <p:cNvPr id="76808" name="Line 64"/>
          <p:cNvSpPr>
            <a:spLocks noChangeShapeType="1"/>
          </p:cNvSpPr>
          <p:nvPr/>
        </p:nvSpPr>
        <p:spPr bwMode="auto">
          <a:xfrm>
            <a:off x="7143750" y="3108326"/>
            <a:ext cx="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09" name="Line 65"/>
          <p:cNvSpPr>
            <a:spLocks noChangeShapeType="1"/>
          </p:cNvSpPr>
          <p:nvPr/>
        </p:nvSpPr>
        <p:spPr bwMode="auto">
          <a:xfrm flipV="1">
            <a:off x="7143750" y="3633788"/>
            <a:ext cx="0" cy="32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0" name="Line 66"/>
          <p:cNvSpPr>
            <a:spLocks noChangeShapeType="1"/>
          </p:cNvSpPr>
          <p:nvPr/>
        </p:nvSpPr>
        <p:spPr bwMode="auto">
          <a:xfrm>
            <a:off x="6989763" y="3965575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1" name="Line 67"/>
          <p:cNvSpPr>
            <a:spLocks noChangeShapeType="1"/>
          </p:cNvSpPr>
          <p:nvPr/>
        </p:nvSpPr>
        <p:spPr bwMode="auto">
          <a:xfrm>
            <a:off x="7038975" y="3097213"/>
            <a:ext cx="196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2" name="Line 68"/>
          <p:cNvSpPr>
            <a:spLocks noChangeShapeType="1"/>
          </p:cNvSpPr>
          <p:nvPr/>
        </p:nvSpPr>
        <p:spPr bwMode="auto">
          <a:xfrm>
            <a:off x="7011988" y="2571750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3" name="Line 69"/>
          <p:cNvSpPr>
            <a:spLocks noChangeShapeType="1"/>
          </p:cNvSpPr>
          <p:nvPr/>
        </p:nvSpPr>
        <p:spPr bwMode="auto">
          <a:xfrm>
            <a:off x="7400925" y="25765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4" name="Line 70"/>
          <p:cNvSpPr>
            <a:spLocks noChangeShapeType="1"/>
          </p:cNvSpPr>
          <p:nvPr/>
        </p:nvSpPr>
        <p:spPr bwMode="auto">
          <a:xfrm flipH="1">
            <a:off x="7399338" y="3000375"/>
            <a:ext cx="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6815" name="Text Box 71"/>
          <p:cNvSpPr txBox="1">
            <a:spLocks noChangeArrowheads="1"/>
          </p:cNvSpPr>
          <p:nvPr/>
        </p:nvSpPr>
        <p:spPr bwMode="auto">
          <a:xfrm>
            <a:off x="6246814" y="2736850"/>
            <a:ext cx="1284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b="1">
                <a:latin typeface="Courier New" charset="0"/>
              </a:rPr>
              <a:t>RcvBuffer</a:t>
            </a:r>
          </a:p>
        </p:txBody>
      </p:sp>
      <p:sp>
        <p:nvSpPr>
          <p:cNvPr id="76816" name="Text Box 73"/>
          <p:cNvSpPr txBox="1">
            <a:spLocks noChangeArrowheads="1"/>
          </p:cNvSpPr>
          <p:nvPr/>
        </p:nvSpPr>
        <p:spPr bwMode="auto">
          <a:xfrm>
            <a:off x="7677151" y="4365625"/>
            <a:ext cx="222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/>
              <a:t>TCP segment payloads</a:t>
            </a:r>
          </a:p>
        </p:txBody>
      </p:sp>
      <p:sp>
        <p:nvSpPr>
          <p:cNvPr id="76817" name="Text Box 74"/>
          <p:cNvSpPr txBox="1">
            <a:spLocks noChangeArrowheads="1"/>
          </p:cNvSpPr>
          <p:nvPr/>
        </p:nvSpPr>
        <p:spPr bwMode="auto">
          <a:xfrm>
            <a:off x="7750176" y="1865313"/>
            <a:ext cx="2130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/>
              <a:t>to application process</a:t>
            </a:r>
          </a:p>
        </p:txBody>
      </p:sp>
      <p:sp>
        <p:nvSpPr>
          <p:cNvPr id="76818" name="Rectangle 75"/>
          <p:cNvSpPr>
            <a:spLocks noGrp="1" noChangeArrowheads="1"/>
          </p:cNvSpPr>
          <p:nvPr>
            <p:ph type="body" sz="half" idx="2"/>
          </p:nvPr>
        </p:nvSpPr>
        <p:spPr>
          <a:xfrm>
            <a:off x="2017714" y="1549401"/>
            <a:ext cx="4054475" cy="4906963"/>
          </a:xfrm>
        </p:spPr>
        <p:txBody>
          <a:bodyPr/>
          <a:lstStyle/>
          <a:p>
            <a:r>
              <a:rPr lang="en-US" altLang="en-US" sz="2400">
                <a:solidFill>
                  <a:srgbClr val="008000"/>
                </a:solidFill>
              </a:rPr>
              <a:t>receiver </a:t>
            </a:r>
            <a:r>
              <a:rPr lang="ja-JP" altLang="en-US" sz="2400">
                <a:solidFill>
                  <a:srgbClr val="008000"/>
                </a:solidFill>
              </a:rPr>
              <a:t>“</a:t>
            </a:r>
            <a:r>
              <a:rPr lang="en-US" altLang="ja-JP" sz="2400">
                <a:solidFill>
                  <a:srgbClr val="008000"/>
                </a:solidFill>
              </a:rPr>
              <a:t>advertises</a:t>
            </a:r>
            <a:r>
              <a:rPr lang="ja-JP" altLang="en-US" sz="2400">
                <a:solidFill>
                  <a:srgbClr val="008000"/>
                </a:solidFill>
              </a:rPr>
              <a:t>”</a:t>
            </a:r>
            <a:r>
              <a:rPr lang="en-US" altLang="ja-JP" sz="2400">
                <a:solidFill>
                  <a:srgbClr val="008000"/>
                </a:solidFill>
              </a:rPr>
              <a:t> free buffer space </a:t>
            </a:r>
            <a:r>
              <a:rPr lang="en-US" altLang="ja-JP" sz="2400">
                <a:solidFill>
                  <a:schemeClr val="tx2"/>
                </a:solidFill>
              </a:rPr>
              <a:t>by</a:t>
            </a:r>
            <a:r>
              <a:rPr lang="en-US" altLang="ja-JP" sz="2400">
                <a:solidFill>
                  <a:srgbClr val="008000"/>
                </a:solidFill>
              </a:rPr>
              <a:t> </a:t>
            </a:r>
            <a:r>
              <a:rPr lang="en-US" altLang="ja-JP" sz="2400"/>
              <a:t>including </a:t>
            </a:r>
            <a:r>
              <a:rPr lang="en-US" altLang="ja-JP" sz="2400" b="1">
                <a:solidFill>
                  <a:srgbClr val="0000FF"/>
                </a:solidFill>
                <a:latin typeface="Courier New" panose="02070309020205020404" pitchFamily="49" charset="0"/>
              </a:rPr>
              <a:t>rwnd</a:t>
            </a:r>
            <a:r>
              <a:rPr lang="en-US" altLang="ja-JP" sz="2400">
                <a:solidFill>
                  <a:srgbClr val="0000FF"/>
                </a:solidFill>
              </a:rPr>
              <a:t> value in TCP header </a:t>
            </a:r>
            <a:r>
              <a:rPr lang="en-US" altLang="ja-JP" sz="2400"/>
              <a:t>of receiver-to-sender segments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RcvBuffer </a:t>
            </a:r>
            <a:r>
              <a:rPr lang="en-US" altLang="en-US" sz="2000"/>
              <a:t>size set via socket options (typical default is 4096 bytes)</a:t>
            </a:r>
          </a:p>
          <a:p>
            <a:pPr lvl="1"/>
            <a:r>
              <a:rPr lang="en-US" altLang="en-US" sz="2000"/>
              <a:t>many operating systems autoadjust </a:t>
            </a:r>
            <a:r>
              <a:rPr lang="en-US" altLang="en-US" sz="2000" b="1">
                <a:latin typeface="Courier New" panose="02070309020205020404" pitchFamily="49" charset="0"/>
              </a:rPr>
              <a:t>RcvBuffer</a:t>
            </a:r>
            <a:endParaRPr lang="en-US" altLang="en-US" sz="2000"/>
          </a:p>
          <a:p>
            <a:r>
              <a:rPr lang="en-US" altLang="en-US" sz="2400">
                <a:solidFill>
                  <a:srgbClr val="008000"/>
                </a:solidFill>
              </a:rPr>
              <a:t>sender limits amount of unacked (</a:t>
            </a:r>
            <a:r>
              <a:rPr lang="ja-JP" altLang="en-US" sz="2400">
                <a:solidFill>
                  <a:srgbClr val="008000"/>
                </a:solidFill>
              </a:rPr>
              <a:t>“</a:t>
            </a:r>
            <a:r>
              <a:rPr lang="en-US" altLang="ja-JP" sz="2400">
                <a:solidFill>
                  <a:srgbClr val="008000"/>
                </a:solidFill>
              </a:rPr>
              <a:t>in-flight</a:t>
            </a:r>
            <a:r>
              <a:rPr lang="ja-JP" altLang="en-US" sz="2400">
                <a:solidFill>
                  <a:srgbClr val="008000"/>
                </a:solidFill>
              </a:rPr>
              <a:t>”</a:t>
            </a:r>
            <a:r>
              <a:rPr lang="en-US" altLang="ja-JP" sz="2400">
                <a:solidFill>
                  <a:srgbClr val="008000"/>
                </a:solidFill>
              </a:rPr>
              <a:t>) data to receiver</a:t>
            </a:r>
            <a:r>
              <a:rPr lang="ja-JP" altLang="en-US" sz="2400">
                <a:solidFill>
                  <a:srgbClr val="008000"/>
                </a:solidFill>
              </a:rPr>
              <a:t>’</a:t>
            </a:r>
            <a:r>
              <a:rPr lang="en-US" altLang="ja-JP" sz="2400">
                <a:solidFill>
                  <a:srgbClr val="008000"/>
                </a:solidFill>
              </a:rPr>
              <a:t>s </a:t>
            </a:r>
            <a:r>
              <a:rPr lang="en-US" altLang="ja-JP" sz="2400" b="1">
                <a:solidFill>
                  <a:srgbClr val="008000"/>
                </a:solidFill>
                <a:latin typeface="Courier New" panose="02070309020205020404" pitchFamily="49" charset="0"/>
              </a:rPr>
              <a:t>rwnd </a:t>
            </a:r>
            <a:r>
              <a:rPr lang="en-US" altLang="ja-JP" sz="2400">
                <a:solidFill>
                  <a:srgbClr val="008000"/>
                </a:solidFill>
              </a:rPr>
              <a:t>value </a:t>
            </a:r>
          </a:p>
          <a:p>
            <a:r>
              <a:rPr lang="en-US" altLang="en-US" sz="2400">
                <a:solidFill>
                  <a:srgbClr val="0000FF"/>
                </a:solidFill>
              </a:rPr>
              <a:t>guarantees receive buffer will not overflow</a:t>
            </a:r>
          </a:p>
        </p:txBody>
      </p:sp>
      <p:sp>
        <p:nvSpPr>
          <p:cNvPr id="76819" name="Text Box 76"/>
          <p:cNvSpPr txBox="1">
            <a:spLocks noChangeArrowheads="1"/>
          </p:cNvSpPr>
          <p:nvPr/>
        </p:nvSpPr>
        <p:spPr bwMode="auto">
          <a:xfrm>
            <a:off x="7361239" y="5018089"/>
            <a:ext cx="2695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1"/>
              <a:t>receiver-side buffering</a:t>
            </a:r>
          </a:p>
        </p:txBody>
      </p:sp>
    </p:spTree>
    <p:extLst>
      <p:ext uri="{BB962C8B-B14F-4D97-AF65-F5344CB8AC3E}">
        <p14:creationId xmlns:p14="http://schemas.microsoft.com/office/powerpoint/2010/main" val="193235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782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31501169-F119-4722-8B74-9A10680B0572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7782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7783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51325" cy="4648200"/>
          </a:xfrm>
        </p:spPr>
        <p:txBody>
          <a:bodyPr/>
          <a:lstStyle/>
          <a:p>
            <a:pPr marL="566738" indent="-566738">
              <a:buNone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</a:rPr>
              <a:t>connection management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96262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39814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726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88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195C455-4E1F-4F43-B6F8-4CA88261B14D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pic>
        <p:nvPicPr>
          <p:cNvPr id="97283" name="Picture 8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6" y="833439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Rectangle 62"/>
          <p:cNvSpPr>
            <a:spLocks noChangeArrowheads="1"/>
          </p:cNvSpPr>
          <p:nvPr/>
        </p:nvSpPr>
        <p:spPr bwMode="auto">
          <a:xfrm>
            <a:off x="2773363" y="2936875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54" name="Rectangle 45"/>
          <p:cNvSpPr>
            <a:spLocks noChangeArrowheads="1"/>
          </p:cNvSpPr>
          <p:nvPr/>
        </p:nvSpPr>
        <p:spPr bwMode="auto">
          <a:xfrm>
            <a:off x="2733676" y="2990850"/>
            <a:ext cx="2270125" cy="24717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5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5175" y="193676"/>
            <a:ext cx="7772400" cy="9112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Connection Management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78856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84401" y="1073151"/>
            <a:ext cx="8335963" cy="21875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8000"/>
                </a:solidFill>
              </a:rPr>
              <a:t>before exchanging data, sender/receiver </a:t>
            </a:r>
            <a:r>
              <a:rPr lang="ja-JP" altLang="en-US">
                <a:solidFill>
                  <a:srgbClr val="008000"/>
                </a:solidFill>
              </a:rPr>
              <a:t>“</a:t>
            </a:r>
            <a:r>
              <a:rPr lang="en-US" altLang="ja-JP">
                <a:solidFill>
                  <a:srgbClr val="008000"/>
                </a:solidFill>
              </a:rPr>
              <a:t>handshake</a:t>
            </a:r>
            <a:r>
              <a:rPr lang="ja-JP" altLang="en-US">
                <a:solidFill>
                  <a:srgbClr val="008000"/>
                </a:solidFill>
              </a:rPr>
              <a:t>”</a:t>
            </a:r>
            <a:r>
              <a:rPr lang="en-US" altLang="ja-JP">
                <a:solidFill>
                  <a:srgbClr val="008000"/>
                </a:solidFill>
              </a:rPr>
              <a:t>:</a:t>
            </a:r>
          </a:p>
          <a:p>
            <a:r>
              <a:rPr lang="en-US" altLang="en-US" sz="2400"/>
              <a:t>agree to establish connection (each knowing the other willing to establish connection)</a:t>
            </a:r>
          </a:p>
          <a:p>
            <a:r>
              <a:rPr lang="en-US" altLang="en-US" sz="2400"/>
              <a:t>agree on connection parameters</a:t>
            </a:r>
          </a:p>
        </p:txBody>
      </p:sp>
      <p:sp>
        <p:nvSpPr>
          <p:cNvPr id="78857" name="Line 55"/>
          <p:cNvSpPr>
            <a:spLocks noChangeShapeType="1"/>
          </p:cNvSpPr>
          <p:nvPr/>
        </p:nvSpPr>
        <p:spPr bwMode="auto">
          <a:xfrm>
            <a:off x="2733676" y="3432175"/>
            <a:ext cx="227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58" name="Text Box 6"/>
          <p:cNvSpPr txBox="1">
            <a:spLocks noChangeArrowheads="1"/>
          </p:cNvSpPr>
          <p:nvPr/>
        </p:nvSpPr>
        <p:spPr bwMode="auto">
          <a:xfrm>
            <a:off x="2747963" y="3544888"/>
            <a:ext cx="2335212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 dirty="0"/>
              <a:t>connection state: ESTAB</a:t>
            </a:r>
          </a:p>
          <a:p>
            <a:pPr algn="l">
              <a:defRPr/>
            </a:pPr>
            <a:r>
              <a:rPr lang="en-US" sz="1400" dirty="0"/>
              <a:t>connection variables:</a:t>
            </a:r>
          </a:p>
          <a:p>
            <a:pPr lvl="1" algn="l">
              <a:defRPr/>
            </a:pPr>
            <a:r>
              <a:rPr lang="en-US" sz="1400" dirty="0" err="1">
                <a:solidFill>
                  <a:srgbClr val="0000FF"/>
                </a:solidFill>
              </a:rPr>
              <a:t>seq</a:t>
            </a:r>
            <a:r>
              <a:rPr lang="en-US" sz="1400" dirty="0">
                <a:solidFill>
                  <a:srgbClr val="0000FF"/>
                </a:solidFill>
              </a:rPr>
              <a:t> # </a:t>
            </a:r>
            <a:r>
              <a:rPr lang="en-US" sz="1400" dirty="0"/>
              <a:t>client-to-server</a:t>
            </a:r>
          </a:p>
          <a:p>
            <a:pPr lvl="1" algn="l">
              <a:defRPr/>
            </a:pPr>
            <a:r>
              <a:rPr lang="en-US" sz="1400" dirty="0"/>
              <a:t>         server-to-client</a:t>
            </a:r>
          </a:p>
          <a:p>
            <a:pPr lvl="1" algn="l">
              <a:defRPr/>
            </a:pPr>
            <a:r>
              <a:rPr lang="en-US" sz="1400" b="1" dirty="0" err="1">
                <a:solidFill>
                  <a:srgbClr val="0000FF"/>
                </a:solidFill>
                <a:latin typeface="Courier New" charset="0"/>
              </a:rPr>
              <a:t>rcvBuffer</a:t>
            </a:r>
            <a:r>
              <a:rPr lang="en-US" sz="1400" dirty="0">
                <a:solidFill>
                  <a:srgbClr val="0000FF"/>
                </a:solidFill>
              </a:rPr>
              <a:t> size</a:t>
            </a:r>
          </a:p>
          <a:p>
            <a:pPr lvl="1" algn="l">
              <a:defRPr/>
            </a:pPr>
            <a:r>
              <a:rPr lang="en-US" sz="1400" dirty="0"/>
              <a:t>   at </a:t>
            </a:r>
            <a:r>
              <a:rPr lang="en-US" sz="1400" dirty="0" err="1"/>
              <a:t>server,client</a:t>
            </a:r>
            <a:r>
              <a:rPr lang="en-US" sz="1400" dirty="0"/>
              <a:t> </a:t>
            </a:r>
          </a:p>
          <a:p>
            <a:pPr lvl="1" algn="l">
              <a:defRPr/>
            </a:pPr>
            <a:r>
              <a:rPr lang="en-US" sz="1400" dirty="0"/>
              <a:t>           </a:t>
            </a:r>
          </a:p>
        </p:txBody>
      </p:sp>
      <p:grpSp>
        <p:nvGrpSpPr>
          <p:cNvPr id="97290" name="Group 46"/>
          <p:cNvGrpSpPr>
            <a:grpSpLocks/>
          </p:cNvGrpSpPr>
          <p:nvPr/>
        </p:nvGrpSpPr>
        <p:grpSpPr bwMode="auto">
          <a:xfrm>
            <a:off x="3681413" y="3346451"/>
            <a:ext cx="438150" cy="206375"/>
            <a:chOff x="344" y="1846"/>
            <a:chExt cx="336" cy="130"/>
          </a:xfrm>
        </p:grpSpPr>
        <p:sp>
          <p:nvSpPr>
            <p:cNvPr id="78921" name="Rectangle 47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22" name="Rectangle 48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23" name="Rectangle 49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24" name="Rectangle 50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8860" name="Text Box 54"/>
          <p:cNvSpPr txBox="1">
            <a:spLocks noChangeArrowheads="1"/>
          </p:cNvSpPr>
          <p:nvPr/>
        </p:nvSpPr>
        <p:spPr bwMode="auto">
          <a:xfrm>
            <a:off x="2678114" y="3048000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application</a:t>
            </a:r>
          </a:p>
        </p:txBody>
      </p:sp>
      <p:sp>
        <p:nvSpPr>
          <p:cNvPr id="78861" name="Line 56"/>
          <p:cNvSpPr>
            <a:spLocks noChangeShapeType="1"/>
          </p:cNvSpPr>
          <p:nvPr/>
        </p:nvSpPr>
        <p:spPr bwMode="auto">
          <a:xfrm>
            <a:off x="2740025" y="4927600"/>
            <a:ext cx="2268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62" name="Text Box 57"/>
          <p:cNvSpPr txBox="1">
            <a:spLocks noChangeArrowheads="1"/>
          </p:cNvSpPr>
          <p:nvPr/>
        </p:nvSpPr>
        <p:spPr bwMode="auto">
          <a:xfrm>
            <a:off x="2692400" y="4995863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network</a:t>
            </a:r>
          </a:p>
        </p:txBody>
      </p:sp>
      <p:sp>
        <p:nvSpPr>
          <p:cNvPr id="78863" name="Rectangle 58"/>
          <p:cNvSpPr>
            <a:spLocks noChangeArrowheads="1"/>
          </p:cNvSpPr>
          <p:nvPr/>
        </p:nvSpPr>
        <p:spPr bwMode="auto">
          <a:xfrm>
            <a:off x="2705101" y="5349876"/>
            <a:ext cx="2335213" cy="180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64" name="Line 59"/>
          <p:cNvSpPr>
            <a:spLocks noChangeShapeType="1"/>
          </p:cNvSpPr>
          <p:nvPr/>
        </p:nvSpPr>
        <p:spPr bwMode="auto">
          <a:xfrm>
            <a:off x="2733675" y="5338764"/>
            <a:ext cx="0" cy="236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65" name="Line 60"/>
          <p:cNvSpPr>
            <a:spLocks noChangeShapeType="1"/>
          </p:cNvSpPr>
          <p:nvPr/>
        </p:nvSpPr>
        <p:spPr bwMode="auto">
          <a:xfrm>
            <a:off x="4997450" y="5310189"/>
            <a:ext cx="0" cy="236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297" name="Freeform 8"/>
          <p:cNvSpPr>
            <a:spLocks/>
          </p:cNvSpPr>
          <p:nvPr/>
        </p:nvSpPr>
        <p:spPr bwMode="auto">
          <a:xfrm flipH="1">
            <a:off x="2260601" y="2994025"/>
            <a:ext cx="468313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7" name="Rectangle 63"/>
          <p:cNvSpPr>
            <a:spLocks noChangeArrowheads="1"/>
          </p:cNvSpPr>
          <p:nvPr/>
        </p:nvSpPr>
        <p:spPr bwMode="auto">
          <a:xfrm>
            <a:off x="7075488" y="2943225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68" name="Rectangle 64"/>
          <p:cNvSpPr>
            <a:spLocks noChangeArrowheads="1"/>
          </p:cNvSpPr>
          <p:nvPr/>
        </p:nvSpPr>
        <p:spPr bwMode="auto">
          <a:xfrm>
            <a:off x="7035801" y="2997200"/>
            <a:ext cx="2270125" cy="24717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69" name="Line 65"/>
          <p:cNvSpPr>
            <a:spLocks noChangeShapeType="1"/>
          </p:cNvSpPr>
          <p:nvPr/>
        </p:nvSpPr>
        <p:spPr bwMode="auto">
          <a:xfrm>
            <a:off x="7035801" y="3438525"/>
            <a:ext cx="227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70" name="Text Box 66"/>
          <p:cNvSpPr txBox="1">
            <a:spLocks noChangeArrowheads="1"/>
          </p:cNvSpPr>
          <p:nvPr/>
        </p:nvSpPr>
        <p:spPr bwMode="auto">
          <a:xfrm>
            <a:off x="7050088" y="3551238"/>
            <a:ext cx="233521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/>
              <a:t>connection state: ESTAB</a:t>
            </a:r>
          </a:p>
          <a:p>
            <a:pPr algn="l">
              <a:defRPr/>
            </a:pPr>
            <a:r>
              <a:rPr lang="en-US" sz="1400"/>
              <a:t>connection Variables:</a:t>
            </a:r>
          </a:p>
          <a:p>
            <a:pPr lvl="1" algn="l">
              <a:defRPr/>
            </a:pPr>
            <a:r>
              <a:rPr lang="en-US" sz="1400"/>
              <a:t>seq # client-to-server</a:t>
            </a:r>
          </a:p>
          <a:p>
            <a:pPr lvl="1" algn="l">
              <a:defRPr/>
            </a:pPr>
            <a:r>
              <a:rPr lang="en-US" sz="1400"/>
              <a:t>          server-to-client</a:t>
            </a:r>
          </a:p>
          <a:p>
            <a:pPr lvl="1" algn="l">
              <a:defRPr/>
            </a:pPr>
            <a:r>
              <a:rPr lang="en-US" sz="1400" b="1">
                <a:latin typeface="Courier New" charset="0"/>
              </a:rPr>
              <a:t>rcvBuffer</a:t>
            </a:r>
            <a:r>
              <a:rPr lang="en-US" sz="1400"/>
              <a:t> size</a:t>
            </a:r>
          </a:p>
          <a:p>
            <a:pPr lvl="1" algn="l">
              <a:defRPr/>
            </a:pPr>
            <a:r>
              <a:rPr lang="en-US" sz="1400"/>
              <a:t>   at server,client </a:t>
            </a:r>
          </a:p>
          <a:p>
            <a:pPr lvl="1" algn="l">
              <a:defRPr/>
            </a:pPr>
            <a:r>
              <a:rPr lang="en-US" sz="1400"/>
              <a:t>           </a:t>
            </a:r>
          </a:p>
        </p:txBody>
      </p:sp>
      <p:grpSp>
        <p:nvGrpSpPr>
          <p:cNvPr id="97302" name="Group 67"/>
          <p:cNvGrpSpPr>
            <a:grpSpLocks/>
          </p:cNvGrpSpPr>
          <p:nvPr/>
        </p:nvGrpSpPr>
        <p:grpSpPr bwMode="auto">
          <a:xfrm>
            <a:off x="7983538" y="3352801"/>
            <a:ext cx="438150" cy="206375"/>
            <a:chOff x="344" y="1846"/>
            <a:chExt cx="336" cy="130"/>
          </a:xfrm>
        </p:grpSpPr>
        <p:sp>
          <p:nvSpPr>
            <p:cNvPr id="78917" name="Rectangle 68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18" name="Rectangle 69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19" name="Rectangle 70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20" name="Rectangle 71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8872" name="Text Box 72"/>
          <p:cNvSpPr txBox="1">
            <a:spLocks noChangeArrowheads="1"/>
          </p:cNvSpPr>
          <p:nvPr/>
        </p:nvSpPr>
        <p:spPr bwMode="auto">
          <a:xfrm>
            <a:off x="6980239" y="3054350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application</a:t>
            </a:r>
          </a:p>
        </p:txBody>
      </p:sp>
      <p:sp>
        <p:nvSpPr>
          <p:cNvPr id="78873" name="Line 73"/>
          <p:cNvSpPr>
            <a:spLocks noChangeShapeType="1"/>
          </p:cNvSpPr>
          <p:nvPr/>
        </p:nvSpPr>
        <p:spPr bwMode="auto">
          <a:xfrm>
            <a:off x="7042150" y="4933950"/>
            <a:ext cx="2268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74" name="Text Box 74"/>
          <p:cNvSpPr txBox="1">
            <a:spLocks noChangeArrowheads="1"/>
          </p:cNvSpPr>
          <p:nvPr/>
        </p:nvSpPr>
        <p:spPr bwMode="auto">
          <a:xfrm>
            <a:off x="6994525" y="5002213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network</a:t>
            </a:r>
          </a:p>
        </p:txBody>
      </p:sp>
      <p:sp>
        <p:nvSpPr>
          <p:cNvPr id="78875" name="Rectangle 75"/>
          <p:cNvSpPr>
            <a:spLocks noChangeArrowheads="1"/>
          </p:cNvSpPr>
          <p:nvPr/>
        </p:nvSpPr>
        <p:spPr bwMode="auto">
          <a:xfrm>
            <a:off x="7007226" y="5356226"/>
            <a:ext cx="2335213" cy="180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76" name="Line 76"/>
          <p:cNvSpPr>
            <a:spLocks noChangeShapeType="1"/>
          </p:cNvSpPr>
          <p:nvPr/>
        </p:nvSpPr>
        <p:spPr bwMode="auto">
          <a:xfrm>
            <a:off x="7035800" y="5345114"/>
            <a:ext cx="0" cy="236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8877" name="Line 77"/>
          <p:cNvSpPr>
            <a:spLocks noChangeShapeType="1"/>
          </p:cNvSpPr>
          <p:nvPr/>
        </p:nvSpPr>
        <p:spPr bwMode="auto">
          <a:xfrm>
            <a:off x="9299575" y="5316539"/>
            <a:ext cx="0" cy="236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309" name="Freeform 78"/>
          <p:cNvSpPr>
            <a:spLocks/>
          </p:cNvSpPr>
          <p:nvPr/>
        </p:nvSpPr>
        <p:spPr bwMode="auto">
          <a:xfrm>
            <a:off x="9317038" y="2933700"/>
            <a:ext cx="468312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Text Box 83"/>
          <p:cNvSpPr txBox="1">
            <a:spLocks noChangeArrowheads="1"/>
          </p:cNvSpPr>
          <p:nvPr/>
        </p:nvSpPr>
        <p:spPr bwMode="auto">
          <a:xfrm>
            <a:off x="2611438" y="5815014"/>
            <a:ext cx="2894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200" b="1">
                <a:latin typeface="Courier New" charset="0"/>
              </a:rPr>
              <a:t>Socket clientSocket =   </a:t>
            </a:r>
          </a:p>
          <a:p>
            <a:pPr algn="l">
              <a:defRPr/>
            </a:pPr>
            <a:r>
              <a:rPr lang="en-US" sz="1200" b="1">
                <a:latin typeface="Courier New" charset="0"/>
              </a:rPr>
              <a:t>  newSocket("hostname","port number");</a:t>
            </a:r>
          </a:p>
        </p:txBody>
      </p:sp>
      <p:sp>
        <p:nvSpPr>
          <p:cNvPr id="78880" name="Text Box 85"/>
          <p:cNvSpPr txBox="1">
            <a:spLocks noChangeArrowheads="1"/>
          </p:cNvSpPr>
          <p:nvPr/>
        </p:nvSpPr>
        <p:spPr bwMode="auto">
          <a:xfrm>
            <a:off x="6911976" y="5829300"/>
            <a:ext cx="289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200" b="1">
                <a:latin typeface="Courier New" charset="0"/>
              </a:rPr>
              <a:t>Socket connectionSocket = welcomeSocket.accept();</a:t>
            </a:r>
          </a:p>
        </p:txBody>
      </p:sp>
      <p:grpSp>
        <p:nvGrpSpPr>
          <p:cNvPr id="97312" name="Group 89"/>
          <p:cNvGrpSpPr>
            <a:grpSpLocks/>
          </p:cNvGrpSpPr>
          <p:nvPr/>
        </p:nvGrpSpPr>
        <p:grpSpPr bwMode="auto">
          <a:xfrm>
            <a:off x="1784350" y="5026026"/>
            <a:ext cx="698500" cy="612775"/>
            <a:chOff x="-44" y="1473"/>
            <a:chExt cx="981" cy="1105"/>
          </a:xfrm>
        </p:grpSpPr>
        <p:pic>
          <p:nvPicPr>
            <p:cNvPr id="97346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347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7313" name="Group 92"/>
          <p:cNvGrpSpPr>
            <a:grpSpLocks/>
          </p:cNvGrpSpPr>
          <p:nvPr/>
        </p:nvGrpSpPr>
        <p:grpSpPr bwMode="auto">
          <a:xfrm>
            <a:off x="9599614" y="4924426"/>
            <a:ext cx="415925" cy="627063"/>
            <a:chOff x="4140" y="429"/>
            <a:chExt cx="1425" cy="2396"/>
          </a:xfrm>
        </p:grpSpPr>
        <p:sp>
          <p:nvSpPr>
            <p:cNvPr id="97314" name="Freeform 9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4" name="Rectangle 94"/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316" name="Freeform 9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7" name="Freeform 9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7" name="Rectangle 97"/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7319" name="Group 9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8913" name="AutoShape 99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8914" name="AutoShape 10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8889" name="Rectangle 101"/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7321" name="Group 10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8911" name="AutoShape 103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8912" name="AutoShape 10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8891" name="Rectangle 105"/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892" name="Rectangle 106"/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7324" name="Group 10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8909" name="AutoShape 108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8910" name="AutoShape 109"/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7325" name="Freeform 11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326" name="Group 11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8907" name="AutoShape 112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8908" name="AutoShape 113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8896" name="Rectangle 114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328" name="Freeform 11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29" name="Freeform 11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99" name="Oval 117"/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7331" name="Freeform 11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901" name="AutoShape 119"/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02" name="AutoShape 120"/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03" name="Oval 121"/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04" name="Oval 122"/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8905" name="Oval 123"/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8906" name="Rectangle 124"/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71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798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B02BB984-6D9F-4DDD-BF24-47387CCFCD54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9876" name="Rectangle 63"/>
          <p:cNvSpPr>
            <a:spLocks noGrp="1" noChangeArrowheads="1"/>
          </p:cNvSpPr>
          <p:nvPr>
            <p:ph type="body" sz="half" idx="1"/>
          </p:nvPr>
        </p:nvSpPr>
        <p:spPr>
          <a:xfrm>
            <a:off x="6032500" y="1674814"/>
            <a:ext cx="4014788" cy="2503487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u="sng" smtClean="0">
                <a:solidFill>
                  <a:srgbClr val="CC0000"/>
                </a:solidFill>
              </a:rPr>
              <a:t>Q:</a:t>
            </a:r>
            <a:r>
              <a:rPr lang="en-US" altLang="en-US" smtClean="0"/>
              <a:t> will 2-way handshake always work in network?</a:t>
            </a:r>
          </a:p>
          <a:p>
            <a:r>
              <a:rPr lang="en-US" altLang="en-US" sz="2400"/>
              <a:t>variable </a:t>
            </a:r>
            <a:r>
              <a:rPr lang="en-US" altLang="en-US" sz="2400">
                <a:solidFill>
                  <a:srgbClr val="008000"/>
                </a:solidFill>
              </a:rPr>
              <a:t>delays</a:t>
            </a:r>
          </a:p>
          <a:p>
            <a:r>
              <a:rPr lang="en-US" altLang="en-US" sz="2400"/>
              <a:t>retransmitted messages (e.g. req_conn(x)) due to message </a:t>
            </a:r>
            <a:r>
              <a:rPr lang="en-US" altLang="en-US" sz="2400">
                <a:solidFill>
                  <a:srgbClr val="008000"/>
                </a:solidFill>
              </a:rPr>
              <a:t>loss</a:t>
            </a:r>
          </a:p>
          <a:p>
            <a:r>
              <a:rPr lang="en-US" altLang="en-US" sz="2400"/>
              <a:t>message reordering</a:t>
            </a:r>
          </a:p>
          <a:p>
            <a:r>
              <a:rPr lang="en-US" altLang="en-US" sz="2400"/>
              <a:t>can’t </a:t>
            </a:r>
            <a:r>
              <a:rPr lang="ja-JP" altLang="en-US" sz="2400"/>
              <a:t>“</a:t>
            </a:r>
            <a:r>
              <a:rPr lang="en-US" altLang="ja-JP" sz="2400"/>
              <a:t>see</a:t>
            </a:r>
            <a:r>
              <a:rPr lang="ja-JP" altLang="en-US" sz="2400"/>
              <a:t>”</a:t>
            </a:r>
            <a:r>
              <a:rPr lang="en-US" altLang="ja-JP" sz="2400"/>
              <a:t> other side</a:t>
            </a:r>
            <a:endParaRPr lang="en-US" altLang="en-US" sz="2400"/>
          </a:p>
        </p:txBody>
      </p:sp>
      <p:pic>
        <p:nvPicPr>
          <p:cNvPr id="98308" name="Picture 62" descr="Al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1957388"/>
            <a:ext cx="508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Picture 63" descr="Bo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350" y="1992313"/>
            <a:ext cx="6223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9" name="Text Box 49"/>
          <p:cNvSpPr txBox="1">
            <a:spLocks noChangeArrowheads="1"/>
          </p:cNvSpPr>
          <p:nvPr/>
        </p:nvSpPr>
        <p:spPr bwMode="auto">
          <a:xfrm>
            <a:off x="2065338" y="1335088"/>
            <a:ext cx="2652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/>
              <a:t>2-way handshake:</a:t>
            </a:r>
          </a:p>
        </p:txBody>
      </p:sp>
      <p:sp>
        <p:nvSpPr>
          <p:cNvPr id="79880" name="Line 50"/>
          <p:cNvSpPr>
            <a:spLocks noChangeShapeType="1"/>
          </p:cNvSpPr>
          <p:nvPr/>
        </p:nvSpPr>
        <p:spPr bwMode="auto">
          <a:xfrm>
            <a:off x="3114675" y="2689226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1" name="Line 51"/>
          <p:cNvSpPr>
            <a:spLocks noChangeShapeType="1"/>
          </p:cNvSpPr>
          <p:nvPr/>
        </p:nvSpPr>
        <p:spPr bwMode="auto">
          <a:xfrm>
            <a:off x="3070225" y="2606676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2" name="Line 53"/>
          <p:cNvSpPr>
            <a:spLocks noChangeShapeType="1"/>
          </p:cNvSpPr>
          <p:nvPr/>
        </p:nvSpPr>
        <p:spPr bwMode="auto">
          <a:xfrm>
            <a:off x="4600575" y="2633664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3" name="Line 54"/>
          <p:cNvSpPr>
            <a:spLocks noChangeShapeType="1"/>
          </p:cNvSpPr>
          <p:nvPr/>
        </p:nvSpPr>
        <p:spPr bwMode="auto">
          <a:xfrm flipH="1">
            <a:off x="3067050" y="3086101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4" name="Rectangle 56"/>
          <p:cNvSpPr>
            <a:spLocks noChangeArrowheads="1"/>
          </p:cNvSpPr>
          <p:nvPr/>
        </p:nvSpPr>
        <p:spPr bwMode="auto">
          <a:xfrm>
            <a:off x="3352800" y="2674939"/>
            <a:ext cx="89058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5" name="Text Box 55"/>
          <p:cNvSpPr txBox="1">
            <a:spLocks noChangeArrowheads="1"/>
          </p:cNvSpPr>
          <p:nvPr/>
        </p:nvSpPr>
        <p:spPr bwMode="auto">
          <a:xfrm>
            <a:off x="3319463" y="2652713"/>
            <a:ext cx="1047082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Let</a:t>
            </a:r>
            <a:r>
              <a:rPr lang="ja-JP" altLang="en-US"/>
              <a:t>’</a:t>
            </a:r>
            <a:r>
              <a:rPr lang="en-US" altLang="ja-JP"/>
              <a:t>s talk</a:t>
            </a:r>
            <a:endParaRPr lang="en-US" altLang="en-US"/>
          </a:p>
        </p:txBody>
      </p:sp>
      <p:sp>
        <p:nvSpPr>
          <p:cNvPr id="79886" name="Rectangle 57"/>
          <p:cNvSpPr>
            <a:spLocks noChangeArrowheads="1"/>
          </p:cNvSpPr>
          <p:nvPr/>
        </p:nvSpPr>
        <p:spPr bwMode="auto">
          <a:xfrm>
            <a:off x="3609975" y="3098801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87" name="Text Box 58"/>
          <p:cNvSpPr txBox="1">
            <a:spLocks noChangeArrowheads="1"/>
          </p:cNvSpPr>
          <p:nvPr/>
        </p:nvSpPr>
        <p:spPr bwMode="auto">
          <a:xfrm>
            <a:off x="3594101" y="3076575"/>
            <a:ext cx="447675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OK</a:t>
            </a:r>
          </a:p>
        </p:txBody>
      </p:sp>
      <p:sp>
        <p:nvSpPr>
          <p:cNvPr id="79888" name="Text Box 60"/>
          <p:cNvSpPr txBox="1">
            <a:spLocks noChangeArrowheads="1"/>
          </p:cNvSpPr>
          <p:nvPr/>
        </p:nvSpPr>
        <p:spPr bwMode="auto">
          <a:xfrm>
            <a:off x="4605339" y="2909888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C0000"/>
                </a:solidFill>
              </a:rPr>
              <a:t>ESTAB</a:t>
            </a:r>
          </a:p>
        </p:txBody>
      </p:sp>
      <p:sp>
        <p:nvSpPr>
          <p:cNvPr id="79889" name="Text Box 61"/>
          <p:cNvSpPr txBox="1">
            <a:spLocks noChangeArrowheads="1"/>
          </p:cNvSpPr>
          <p:nvPr/>
        </p:nvSpPr>
        <p:spPr bwMode="auto">
          <a:xfrm>
            <a:off x="2212976" y="3243263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C0000"/>
                </a:solidFill>
              </a:rPr>
              <a:t>ESTAB</a:t>
            </a:r>
          </a:p>
        </p:txBody>
      </p:sp>
      <p:sp>
        <p:nvSpPr>
          <p:cNvPr id="79890" name="Oval 66"/>
          <p:cNvSpPr>
            <a:spLocks noChangeArrowheads="1"/>
          </p:cNvSpPr>
          <p:nvPr/>
        </p:nvSpPr>
        <p:spPr bwMode="auto">
          <a:xfrm>
            <a:off x="3024189" y="3360738"/>
            <a:ext cx="90487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9891" name="Oval 67"/>
          <p:cNvSpPr>
            <a:spLocks noChangeArrowheads="1"/>
          </p:cNvSpPr>
          <p:nvPr/>
        </p:nvSpPr>
        <p:spPr bwMode="auto">
          <a:xfrm>
            <a:off x="4552950" y="3017838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9892" name="Text Box 72"/>
          <p:cNvSpPr txBox="1">
            <a:spLocks noChangeArrowheads="1"/>
          </p:cNvSpPr>
          <p:nvPr/>
        </p:nvSpPr>
        <p:spPr bwMode="auto">
          <a:xfrm>
            <a:off x="2036764" y="4645026"/>
            <a:ext cx="9731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/>
              <a:t>choose x</a:t>
            </a:r>
          </a:p>
          <a:p>
            <a:pPr algn="r">
              <a:defRPr/>
            </a:pPr>
            <a:endParaRPr lang="en-US"/>
          </a:p>
        </p:txBody>
      </p:sp>
      <p:sp>
        <p:nvSpPr>
          <p:cNvPr id="79893" name="Line 73"/>
          <p:cNvSpPr>
            <a:spLocks noChangeShapeType="1"/>
          </p:cNvSpPr>
          <p:nvPr/>
        </p:nvSpPr>
        <p:spPr bwMode="auto">
          <a:xfrm>
            <a:off x="3143250" y="4818063"/>
            <a:ext cx="1479550" cy="3159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94" name="Line 74"/>
          <p:cNvSpPr>
            <a:spLocks noChangeShapeType="1"/>
          </p:cNvSpPr>
          <p:nvPr/>
        </p:nvSpPr>
        <p:spPr bwMode="auto">
          <a:xfrm>
            <a:off x="3098800" y="4735514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95" name="Line 75"/>
          <p:cNvSpPr>
            <a:spLocks noChangeShapeType="1"/>
          </p:cNvSpPr>
          <p:nvPr/>
        </p:nvSpPr>
        <p:spPr bwMode="auto">
          <a:xfrm>
            <a:off x="4629150" y="4762501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96" name="Line 76"/>
          <p:cNvSpPr>
            <a:spLocks noChangeShapeType="1"/>
          </p:cNvSpPr>
          <p:nvPr/>
        </p:nvSpPr>
        <p:spPr bwMode="auto">
          <a:xfrm flipH="1">
            <a:off x="3095625" y="5214938"/>
            <a:ext cx="1479550" cy="315912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97" name="Rectangle 77"/>
          <p:cNvSpPr>
            <a:spLocks noChangeArrowheads="1"/>
          </p:cNvSpPr>
          <p:nvPr/>
        </p:nvSpPr>
        <p:spPr bwMode="auto">
          <a:xfrm>
            <a:off x="3460751" y="4803776"/>
            <a:ext cx="777875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898" name="Text Box 78"/>
          <p:cNvSpPr txBox="1">
            <a:spLocks noChangeArrowheads="1"/>
          </p:cNvSpPr>
          <p:nvPr/>
        </p:nvSpPr>
        <p:spPr bwMode="auto">
          <a:xfrm>
            <a:off x="3230564" y="4770438"/>
            <a:ext cx="1273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req_conn(x)</a:t>
            </a:r>
          </a:p>
        </p:txBody>
      </p:sp>
      <p:sp>
        <p:nvSpPr>
          <p:cNvPr id="79899" name="Rectangle 79"/>
          <p:cNvSpPr>
            <a:spLocks noChangeArrowheads="1"/>
          </p:cNvSpPr>
          <p:nvPr/>
        </p:nvSpPr>
        <p:spPr bwMode="auto">
          <a:xfrm>
            <a:off x="3638550" y="5227639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900" name="Text Box 81"/>
          <p:cNvSpPr txBox="1">
            <a:spLocks noChangeArrowheads="1"/>
          </p:cNvSpPr>
          <p:nvPr/>
        </p:nvSpPr>
        <p:spPr bwMode="auto">
          <a:xfrm>
            <a:off x="4633914" y="5038725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C0000"/>
                </a:solidFill>
              </a:rPr>
              <a:t>ESTAB</a:t>
            </a:r>
          </a:p>
        </p:txBody>
      </p:sp>
      <p:sp>
        <p:nvSpPr>
          <p:cNvPr id="79901" name="Text Box 82"/>
          <p:cNvSpPr txBox="1">
            <a:spLocks noChangeArrowheads="1"/>
          </p:cNvSpPr>
          <p:nvPr/>
        </p:nvSpPr>
        <p:spPr bwMode="auto">
          <a:xfrm>
            <a:off x="2241551" y="5372100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C0000"/>
                </a:solidFill>
              </a:rPr>
              <a:t>ESTAB</a:t>
            </a:r>
          </a:p>
        </p:txBody>
      </p:sp>
      <p:sp>
        <p:nvSpPr>
          <p:cNvPr id="79902" name="Oval 83"/>
          <p:cNvSpPr>
            <a:spLocks noChangeArrowheads="1"/>
          </p:cNvSpPr>
          <p:nvPr/>
        </p:nvSpPr>
        <p:spPr bwMode="auto">
          <a:xfrm>
            <a:off x="3052764" y="5489575"/>
            <a:ext cx="90487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9903" name="Oval 84"/>
          <p:cNvSpPr>
            <a:spLocks noChangeArrowheads="1"/>
          </p:cNvSpPr>
          <p:nvPr/>
        </p:nvSpPr>
        <p:spPr bwMode="auto">
          <a:xfrm>
            <a:off x="4581525" y="5146675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9904" name="Rectangle 86"/>
          <p:cNvSpPr>
            <a:spLocks noChangeArrowheads="1"/>
          </p:cNvSpPr>
          <p:nvPr/>
        </p:nvSpPr>
        <p:spPr bwMode="auto">
          <a:xfrm>
            <a:off x="3340101" y="5233988"/>
            <a:ext cx="1071563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79905" name="Text Box 85"/>
          <p:cNvSpPr txBox="1">
            <a:spLocks noChangeArrowheads="1"/>
          </p:cNvSpPr>
          <p:nvPr/>
        </p:nvSpPr>
        <p:spPr bwMode="auto">
          <a:xfrm>
            <a:off x="3224213" y="5195888"/>
            <a:ext cx="1274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acc_conn(x)</a:t>
            </a:r>
          </a:p>
        </p:txBody>
      </p:sp>
      <p:pic>
        <p:nvPicPr>
          <p:cNvPr id="98337" name="Picture 90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26" y="7334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907" name="Rectangle 91"/>
          <p:cNvSpPr>
            <a:spLocks noGrp="1" noChangeArrowheads="1"/>
          </p:cNvSpPr>
          <p:nvPr>
            <p:ph type="title"/>
          </p:nvPr>
        </p:nvSpPr>
        <p:spPr>
          <a:xfrm>
            <a:off x="2057400" y="133351"/>
            <a:ext cx="7772400" cy="849313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Agreeing to establish a connection</a:t>
            </a:r>
          </a:p>
        </p:txBody>
      </p:sp>
      <p:grpSp>
        <p:nvGrpSpPr>
          <p:cNvPr id="98339" name="Group 92"/>
          <p:cNvGrpSpPr>
            <a:grpSpLocks/>
          </p:cNvGrpSpPr>
          <p:nvPr/>
        </p:nvGrpSpPr>
        <p:grpSpPr bwMode="auto">
          <a:xfrm>
            <a:off x="2733676" y="4202113"/>
            <a:ext cx="574675" cy="520700"/>
            <a:chOff x="-44" y="1473"/>
            <a:chExt cx="981" cy="1105"/>
          </a:xfrm>
        </p:grpSpPr>
        <p:pic>
          <p:nvPicPr>
            <p:cNvPr id="98373" name="Picture 93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374" name="Freeform 9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8340" name="Group 95"/>
          <p:cNvGrpSpPr>
            <a:grpSpLocks/>
          </p:cNvGrpSpPr>
          <p:nvPr/>
        </p:nvGrpSpPr>
        <p:grpSpPr bwMode="auto">
          <a:xfrm>
            <a:off x="4495800" y="4183063"/>
            <a:ext cx="336550" cy="512762"/>
            <a:chOff x="4140" y="429"/>
            <a:chExt cx="1425" cy="2396"/>
          </a:xfrm>
        </p:grpSpPr>
        <p:sp>
          <p:nvSpPr>
            <p:cNvPr id="98341" name="Freeform 9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11" name="Rectangle 97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8343" name="Freeform 9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4" name="Freeform 9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14" name="Rectangle 100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8346" name="Group 10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940" name="AutoShape 102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9941" name="AutoShape 103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9916" name="Rectangle 104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8348" name="Group 10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938" name="AutoShape 106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9939" name="AutoShape 107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9918" name="Rectangle 108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9919" name="Rectangle 109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8351" name="Group 11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936" name="AutoShape 111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9937" name="AutoShape 112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8352" name="Freeform 11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8353" name="Group 11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934" name="AutoShape 115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79935" name="AutoShape 116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79923" name="Rectangle 117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8355" name="Freeform 11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6" name="Freeform 11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26" name="Oval 120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8358" name="Freeform 12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28" name="AutoShape 122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9929" name="AutoShape 123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9930" name="Oval 124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9931" name="Oval 125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9932" name="Oval 126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79933" name="Rectangle 127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75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089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0FA501D8-851E-46BE-82B7-A7CB4B2FF3E7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pic>
        <p:nvPicPr>
          <p:cNvPr id="99331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26" y="7334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133351"/>
            <a:ext cx="7772400" cy="849313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Agreeing to establish a connection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80902" name="Text Box 7"/>
          <p:cNvSpPr txBox="1">
            <a:spLocks noChangeArrowheads="1"/>
          </p:cNvSpPr>
          <p:nvPr/>
        </p:nvSpPr>
        <p:spPr bwMode="auto">
          <a:xfrm>
            <a:off x="2119314" y="1076325"/>
            <a:ext cx="492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/>
              <a:t>2-way handshake failure scenarios:</a:t>
            </a:r>
          </a:p>
        </p:txBody>
      </p:sp>
      <p:sp>
        <p:nvSpPr>
          <p:cNvPr id="80903" name="Line 25"/>
          <p:cNvSpPr>
            <a:spLocks noChangeShapeType="1"/>
          </p:cNvSpPr>
          <p:nvPr/>
        </p:nvSpPr>
        <p:spPr bwMode="auto">
          <a:xfrm flipH="1">
            <a:off x="3317875" y="2301875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0904" name="Line 39"/>
          <p:cNvSpPr>
            <a:spLocks noChangeShapeType="1"/>
          </p:cNvSpPr>
          <p:nvPr/>
        </p:nvSpPr>
        <p:spPr bwMode="auto">
          <a:xfrm flipH="1">
            <a:off x="4846639" y="2374901"/>
            <a:ext cx="1587" cy="3960813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393311" name="Group 95"/>
          <p:cNvGrpSpPr>
            <a:grpSpLocks/>
          </p:cNvGrpSpPr>
          <p:nvPr/>
        </p:nvGrpSpPr>
        <p:grpSpPr bwMode="auto">
          <a:xfrm>
            <a:off x="2014539" y="2927350"/>
            <a:ext cx="3646487" cy="3549650"/>
            <a:chOff x="309" y="1844"/>
            <a:chExt cx="2297" cy="2236"/>
          </a:xfrm>
        </p:grpSpPr>
        <p:sp>
          <p:nvSpPr>
            <p:cNvPr id="81035" name="Text Box 42"/>
            <p:cNvSpPr txBox="1">
              <a:spLocks noChangeArrowheads="1"/>
            </p:cNvSpPr>
            <p:nvPr/>
          </p:nvSpPr>
          <p:spPr bwMode="auto">
            <a:xfrm>
              <a:off x="309" y="1844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/>
                <a:t>retransmit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/>
                <a:t>req_conn(x)</a:t>
              </a:r>
            </a:p>
            <a:p>
              <a:pPr algn="r">
                <a:defRPr/>
              </a:pPr>
              <a:endParaRPr lang="en-US"/>
            </a:p>
          </p:txBody>
        </p:sp>
        <p:sp>
          <p:nvSpPr>
            <p:cNvPr id="99467" name="Freeform 43"/>
            <p:cNvSpPr>
              <a:spLocks/>
            </p:cNvSpPr>
            <p:nvPr/>
          </p:nvSpPr>
          <p:spPr bwMode="auto">
            <a:xfrm>
              <a:off x="1137" y="2027"/>
              <a:ext cx="962" cy="161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037" name="Text Box 44"/>
            <p:cNvSpPr txBox="1">
              <a:spLocks noChangeArrowheads="1"/>
            </p:cNvSpPr>
            <p:nvPr/>
          </p:nvSpPr>
          <p:spPr bwMode="auto">
            <a:xfrm>
              <a:off x="2120" y="3517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1038" name="Oval 45"/>
            <p:cNvSpPr>
              <a:spLocks noChangeArrowheads="1"/>
            </p:cNvSpPr>
            <p:nvPr/>
          </p:nvSpPr>
          <p:spPr bwMode="auto">
            <a:xfrm>
              <a:off x="2072" y="3597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9470" name="Group 46"/>
            <p:cNvGrpSpPr>
              <a:grpSpLocks/>
            </p:cNvGrpSpPr>
            <p:nvPr/>
          </p:nvGrpSpPr>
          <p:grpSpPr bwMode="auto">
            <a:xfrm>
              <a:off x="1198" y="2407"/>
              <a:ext cx="802" cy="212"/>
              <a:chOff x="1065" y="2085"/>
              <a:chExt cx="802" cy="212"/>
            </a:xfrm>
          </p:grpSpPr>
          <p:sp>
            <p:nvSpPr>
              <p:cNvPr id="81041" name="Rectangle 4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42" name="Text Box 48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/>
                  <a:t>req_conn(x)</a:t>
                </a:r>
              </a:p>
            </p:txBody>
          </p:sp>
        </p:grpSp>
        <p:sp>
          <p:nvSpPr>
            <p:cNvPr id="81040" name="Text Box 49"/>
            <p:cNvSpPr txBox="1">
              <a:spLocks noChangeArrowheads="1"/>
            </p:cNvSpPr>
            <p:nvPr/>
          </p:nvSpPr>
          <p:spPr bwMode="auto">
            <a:xfrm>
              <a:off x="980" y="3714"/>
              <a:ext cx="1336" cy="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half open connection!</a:t>
              </a:r>
            </a:p>
            <a:p>
              <a:pPr>
                <a:defRPr/>
              </a:pPr>
              <a:r>
                <a:rPr lang="en-US"/>
                <a:t>(no client!)</a:t>
              </a:r>
            </a:p>
          </p:txBody>
        </p:sp>
      </p:grpSp>
      <p:grpSp>
        <p:nvGrpSpPr>
          <p:cNvPr id="393309" name="Group 93"/>
          <p:cNvGrpSpPr>
            <a:grpSpLocks/>
          </p:cNvGrpSpPr>
          <p:nvPr/>
        </p:nvGrpSpPr>
        <p:grpSpPr bwMode="auto">
          <a:xfrm>
            <a:off x="2146300" y="4456113"/>
            <a:ext cx="3830638" cy="715962"/>
            <a:chOff x="406" y="2807"/>
            <a:chExt cx="2413" cy="451"/>
          </a:xfrm>
        </p:grpSpPr>
        <p:sp>
          <p:nvSpPr>
            <p:cNvPr id="81031" name="Line 40"/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032" name="Text Box 83"/>
            <p:cNvSpPr txBox="1">
              <a:spLocks noChangeArrowheads="1"/>
            </p:cNvSpPr>
            <p:nvPr/>
          </p:nvSpPr>
          <p:spPr bwMode="auto">
            <a:xfrm>
              <a:off x="406" y="2937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/>
                <a:t>client terminates</a:t>
              </a:r>
            </a:p>
          </p:txBody>
        </p:sp>
        <p:sp>
          <p:nvSpPr>
            <p:cNvPr id="81033" name="Text Box 84"/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/>
                <a:t>server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/>
                <a:t>forgets x</a:t>
              </a:r>
            </a:p>
          </p:txBody>
        </p:sp>
        <p:sp>
          <p:nvSpPr>
            <p:cNvPr id="81034" name="Text Box 85"/>
            <p:cNvSpPr txBox="1">
              <a:spLocks noChangeArrowheads="1"/>
            </p:cNvSpPr>
            <p:nvPr/>
          </p:nvSpPr>
          <p:spPr bwMode="auto">
            <a:xfrm>
              <a:off x="1269" y="2807"/>
              <a:ext cx="706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1400"/>
                <a:t>connection </a:t>
              </a:r>
            </a:p>
            <a:p>
              <a:pPr>
                <a:lnSpc>
                  <a:spcPct val="90000"/>
                </a:lnSpc>
                <a:defRPr/>
              </a:pPr>
              <a:r>
                <a:rPr lang="en-US" sz="1400"/>
                <a:t>x completes</a:t>
              </a:r>
            </a:p>
          </p:txBody>
        </p:sp>
      </p:grpSp>
      <p:grpSp>
        <p:nvGrpSpPr>
          <p:cNvPr id="393315" name="Group 99"/>
          <p:cNvGrpSpPr>
            <a:grpSpLocks/>
          </p:cNvGrpSpPr>
          <p:nvPr/>
        </p:nvGrpSpPr>
        <p:grpSpPr bwMode="auto">
          <a:xfrm>
            <a:off x="6334126" y="2914650"/>
            <a:ext cx="4048125" cy="3417888"/>
            <a:chOff x="3030" y="1831"/>
            <a:chExt cx="2550" cy="2153"/>
          </a:xfrm>
        </p:grpSpPr>
        <p:sp>
          <p:nvSpPr>
            <p:cNvPr id="81020" name="Text Box 69"/>
            <p:cNvSpPr txBox="1">
              <a:spLocks noChangeArrowheads="1"/>
            </p:cNvSpPr>
            <p:nvPr/>
          </p:nvSpPr>
          <p:spPr bwMode="auto">
            <a:xfrm>
              <a:off x="3030" y="1831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/>
                <a:t>retransmit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/>
                <a:t>req_conn(x)</a:t>
              </a:r>
            </a:p>
            <a:p>
              <a:pPr algn="r">
                <a:defRPr/>
              </a:pPr>
              <a:endParaRPr lang="en-US"/>
            </a:p>
          </p:txBody>
        </p:sp>
        <p:sp>
          <p:nvSpPr>
            <p:cNvPr id="99452" name="Freeform 70"/>
            <p:cNvSpPr>
              <a:spLocks/>
            </p:cNvSpPr>
            <p:nvPr/>
          </p:nvSpPr>
          <p:spPr bwMode="auto">
            <a:xfrm>
              <a:off x="3858" y="2021"/>
              <a:ext cx="962" cy="161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022" name="Text Box 71"/>
            <p:cNvSpPr txBox="1">
              <a:spLocks noChangeArrowheads="1"/>
            </p:cNvSpPr>
            <p:nvPr/>
          </p:nvSpPr>
          <p:spPr bwMode="auto">
            <a:xfrm>
              <a:off x="4841" y="350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1023" name="Oval 72"/>
            <p:cNvSpPr>
              <a:spLocks noChangeArrowheads="1"/>
            </p:cNvSpPr>
            <p:nvPr/>
          </p:nvSpPr>
          <p:spPr bwMode="auto">
            <a:xfrm>
              <a:off x="4793" y="358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1024" name="Rectangle 74"/>
            <p:cNvSpPr>
              <a:spLocks noChangeArrowheads="1"/>
            </p:cNvSpPr>
            <p:nvPr/>
          </p:nvSpPr>
          <p:spPr bwMode="auto">
            <a:xfrm>
              <a:off x="3991" y="3178"/>
              <a:ext cx="675" cy="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025" name="Text Box 75"/>
            <p:cNvSpPr txBox="1">
              <a:spLocks noChangeArrowheads="1"/>
            </p:cNvSpPr>
            <p:nvPr/>
          </p:nvSpPr>
          <p:spPr bwMode="auto">
            <a:xfrm>
              <a:off x="4059" y="3140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req_conn(x)</a:t>
              </a:r>
            </a:p>
          </p:txBody>
        </p:sp>
        <p:sp>
          <p:nvSpPr>
            <p:cNvPr id="99457" name="Freeform 86"/>
            <p:cNvSpPr>
              <a:spLocks/>
            </p:cNvSpPr>
            <p:nvPr/>
          </p:nvSpPr>
          <p:spPr bwMode="auto">
            <a:xfrm>
              <a:off x="3847" y="2645"/>
              <a:ext cx="946" cy="1195"/>
            </a:xfrm>
            <a:custGeom>
              <a:avLst/>
              <a:gdLst>
                <a:gd name="T0" fmla="*/ 0 w 946"/>
                <a:gd name="T1" fmla="*/ 15 h 1195"/>
                <a:gd name="T2" fmla="*/ 199 w 946"/>
                <a:gd name="T3" fmla="*/ 164 h 1195"/>
                <a:gd name="T4" fmla="*/ 320 w 946"/>
                <a:gd name="T5" fmla="*/ 960 h 1195"/>
                <a:gd name="T6" fmla="*/ 946 w 946"/>
                <a:gd name="T7" fmla="*/ 1138 h 119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027" name="Rectangle 88"/>
            <p:cNvSpPr>
              <a:spLocks noChangeArrowheads="1"/>
            </p:cNvSpPr>
            <p:nvPr/>
          </p:nvSpPr>
          <p:spPr bwMode="auto">
            <a:xfrm>
              <a:off x="4068" y="3612"/>
              <a:ext cx="448" cy="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028" name="Text Box 87"/>
            <p:cNvSpPr txBox="1">
              <a:spLocks noChangeArrowheads="1"/>
            </p:cNvSpPr>
            <p:nvPr/>
          </p:nvSpPr>
          <p:spPr bwMode="auto">
            <a:xfrm>
              <a:off x="3870" y="3584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data(x+1)</a:t>
              </a:r>
            </a:p>
          </p:txBody>
        </p:sp>
        <p:sp>
          <p:nvSpPr>
            <p:cNvPr id="81029" name="Text Box 89"/>
            <p:cNvSpPr txBox="1">
              <a:spLocks noChangeArrowheads="1"/>
            </p:cNvSpPr>
            <p:nvPr/>
          </p:nvSpPr>
          <p:spPr bwMode="auto">
            <a:xfrm>
              <a:off x="3062" y="2494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/>
                <a:t>retransmit</a:t>
              </a:r>
            </a:p>
            <a:p>
              <a:pPr algn="r">
                <a:lnSpc>
                  <a:spcPct val="85000"/>
                </a:lnSpc>
                <a:defRPr/>
              </a:pPr>
              <a:r>
                <a:rPr lang="en-US"/>
                <a:t>data(x+1)</a:t>
              </a:r>
            </a:p>
            <a:p>
              <a:pPr algn="r">
                <a:defRPr/>
              </a:pPr>
              <a:endParaRPr lang="en-US"/>
            </a:p>
          </p:txBody>
        </p:sp>
        <p:sp>
          <p:nvSpPr>
            <p:cNvPr id="81030" name="Text Box 90"/>
            <p:cNvSpPr txBox="1">
              <a:spLocks noChangeArrowheads="1"/>
            </p:cNvSpPr>
            <p:nvPr/>
          </p:nvSpPr>
          <p:spPr bwMode="auto">
            <a:xfrm>
              <a:off x="4842" y="3664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/>
                <a:t>accept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/>
                <a:t>data(x+1)</a:t>
              </a:r>
            </a:p>
          </p:txBody>
        </p:sp>
      </p:grpSp>
      <p:grpSp>
        <p:nvGrpSpPr>
          <p:cNvPr id="99339" name="Group 102"/>
          <p:cNvGrpSpPr>
            <a:grpSpLocks/>
          </p:cNvGrpSpPr>
          <p:nvPr/>
        </p:nvGrpSpPr>
        <p:grpSpPr bwMode="auto">
          <a:xfrm>
            <a:off x="2292351" y="1746251"/>
            <a:ext cx="3389313" cy="2136775"/>
            <a:chOff x="484" y="1100"/>
            <a:chExt cx="2135" cy="1346"/>
          </a:xfrm>
        </p:grpSpPr>
        <p:sp>
          <p:nvSpPr>
            <p:cNvPr id="80971" name="Text Box 103"/>
            <p:cNvSpPr txBox="1">
              <a:spLocks noChangeArrowheads="1"/>
            </p:cNvSpPr>
            <p:nvPr/>
          </p:nvSpPr>
          <p:spPr bwMode="auto">
            <a:xfrm>
              <a:off x="484" y="1393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defRPr/>
              </a:pPr>
              <a:r>
                <a:rPr lang="en-US"/>
                <a:t>choose x</a:t>
              </a:r>
            </a:p>
            <a:p>
              <a:pPr algn="r">
                <a:defRPr/>
              </a:pPr>
              <a:endParaRPr lang="en-US"/>
            </a:p>
          </p:txBody>
        </p:sp>
        <p:sp>
          <p:nvSpPr>
            <p:cNvPr id="80972" name="Line 104"/>
            <p:cNvSpPr>
              <a:spLocks noChangeShapeType="1"/>
            </p:cNvSpPr>
            <p:nvPr/>
          </p:nvSpPr>
          <p:spPr bwMode="auto">
            <a:xfrm>
              <a:off x="1159" y="1516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73" name="Line 105"/>
            <p:cNvSpPr>
              <a:spLocks noChangeShapeType="1"/>
            </p:cNvSpPr>
            <p:nvPr/>
          </p:nvSpPr>
          <p:spPr bwMode="auto">
            <a:xfrm flipH="1">
              <a:off x="1121" y="1739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74" name="Rectangle 106"/>
            <p:cNvSpPr>
              <a:spLocks noChangeArrowheads="1"/>
            </p:cNvSpPr>
            <p:nvPr/>
          </p:nvSpPr>
          <p:spPr bwMode="auto">
            <a:xfrm>
              <a:off x="1359" y="1507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75" name="Text Box 107"/>
            <p:cNvSpPr txBox="1">
              <a:spLocks noChangeArrowheads="1"/>
            </p:cNvSpPr>
            <p:nvPr/>
          </p:nvSpPr>
          <p:spPr bwMode="auto">
            <a:xfrm>
              <a:off x="1214" y="1486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req_conn(x)</a:t>
              </a:r>
            </a:p>
          </p:txBody>
        </p:sp>
        <p:sp>
          <p:nvSpPr>
            <p:cNvPr id="80976" name="Rectangle 108"/>
            <p:cNvSpPr>
              <a:spLocks noChangeArrowheads="1"/>
            </p:cNvSpPr>
            <p:nvPr/>
          </p:nvSpPr>
          <p:spPr bwMode="auto">
            <a:xfrm>
              <a:off x="1471" y="1774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77" name="Text Box 109"/>
            <p:cNvSpPr txBox="1">
              <a:spLocks noChangeArrowheads="1"/>
            </p:cNvSpPr>
            <p:nvPr/>
          </p:nvSpPr>
          <p:spPr bwMode="auto">
            <a:xfrm>
              <a:off x="2133" y="1649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0978" name="Text Box 110"/>
            <p:cNvSpPr txBox="1">
              <a:spLocks noChangeArrowheads="1"/>
            </p:cNvSpPr>
            <p:nvPr/>
          </p:nvSpPr>
          <p:spPr bwMode="auto">
            <a:xfrm>
              <a:off x="583" y="223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0979" name="Oval 111"/>
            <p:cNvSpPr>
              <a:spLocks noChangeArrowheads="1"/>
            </p:cNvSpPr>
            <p:nvPr/>
          </p:nvSpPr>
          <p:spPr bwMode="auto">
            <a:xfrm>
              <a:off x="1095" y="2298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80" name="Oval 112"/>
            <p:cNvSpPr>
              <a:spLocks noChangeArrowheads="1"/>
            </p:cNvSpPr>
            <p:nvPr/>
          </p:nvSpPr>
          <p:spPr bwMode="auto">
            <a:xfrm>
              <a:off x="2065" y="1723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9412" name="Group 113"/>
            <p:cNvGrpSpPr>
              <a:grpSpLocks/>
            </p:cNvGrpSpPr>
            <p:nvPr/>
          </p:nvGrpSpPr>
          <p:grpSpPr bwMode="auto">
            <a:xfrm>
              <a:off x="1277" y="1861"/>
              <a:ext cx="803" cy="212"/>
              <a:chOff x="1065" y="2085"/>
              <a:chExt cx="803" cy="212"/>
            </a:xfrm>
          </p:grpSpPr>
          <p:sp>
            <p:nvSpPr>
              <p:cNvPr id="81018" name="Rectangle 114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19" name="Text Box 115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/>
                  <a:t>acc_conn(x)</a:t>
                </a:r>
              </a:p>
            </p:txBody>
          </p:sp>
        </p:grpSp>
        <p:grpSp>
          <p:nvGrpSpPr>
            <p:cNvPr id="99413" name="Group 116"/>
            <p:cNvGrpSpPr>
              <a:grpSpLocks/>
            </p:cNvGrpSpPr>
            <p:nvPr/>
          </p:nvGrpSpPr>
          <p:grpSpPr bwMode="auto">
            <a:xfrm>
              <a:off x="834" y="1112"/>
              <a:ext cx="391" cy="307"/>
              <a:chOff x="-44" y="1473"/>
              <a:chExt cx="981" cy="1105"/>
            </a:xfrm>
          </p:grpSpPr>
          <p:pic>
            <p:nvPicPr>
              <p:cNvPr id="99447" name="Picture 11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448" name="Freeform 11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36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414" name="Group 119"/>
            <p:cNvGrpSpPr>
              <a:grpSpLocks/>
            </p:cNvGrpSpPr>
            <p:nvPr/>
          </p:nvGrpSpPr>
          <p:grpSpPr bwMode="auto">
            <a:xfrm>
              <a:off x="1973" y="1100"/>
              <a:ext cx="212" cy="323"/>
              <a:chOff x="4140" y="429"/>
              <a:chExt cx="1425" cy="2396"/>
            </a:xfrm>
          </p:grpSpPr>
          <p:sp>
            <p:nvSpPr>
              <p:cNvPr id="99415" name="Freeform 12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85" name="Rectangle 121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417" name="Freeform 12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18" name="Freeform 12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88" name="Rectangle 124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420" name="Group 12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1014" name="AutoShape 126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015" name="AutoShape 127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90" name="Rectangle 128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422" name="Group 12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1012" name="AutoShape 130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013" name="AutoShape 131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92" name="Rectangle 132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93" name="Rectangle 133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425" name="Group 13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1010" name="AutoShape 135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011" name="AutoShape 136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9426" name="Freeform 13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9427" name="Group 13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1008" name="AutoShape 139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009" name="AutoShape 140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97" name="Rectangle 141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429" name="Freeform 14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30" name="Freeform 14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00" name="Oval 144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432" name="Freeform 14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02" name="AutoShape 146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03" name="AutoShape 147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04" name="Oval 148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05" name="Oval 149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1006" name="Oval 150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007" name="Rectangle 151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93368" name="Group 152"/>
          <p:cNvGrpSpPr>
            <a:grpSpLocks/>
          </p:cNvGrpSpPr>
          <p:nvPr/>
        </p:nvGrpSpPr>
        <p:grpSpPr bwMode="auto">
          <a:xfrm>
            <a:off x="6524626" y="1757364"/>
            <a:ext cx="3933825" cy="4568825"/>
            <a:chOff x="3150" y="1107"/>
            <a:chExt cx="2478" cy="2878"/>
          </a:xfrm>
        </p:grpSpPr>
        <p:sp>
          <p:nvSpPr>
            <p:cNvPr id="80910" name="Line 153"/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1" name="Text Box 154"/>
            <p:cNvSpPr txBox="1">
              <a:spLocks noChangeArrowheads="1"/>
            </p:cNvSpPr>
            <p:nvPr/>
          </p:nvSpPr>
          <p:spPr bwMode="auto">
            <a:xfrm>
              <a:off x="3150" y="298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85000"/>
                </a:lnSpc>
                <a:defRPr/>
              </a:pPr>
              <a:r>
                <a:rPr lang="en-US"/>
                <a:t>client terminates</a:t>
              </a:r>
            </a:p>
          </p:txBody>
        </p:sp>
        <p:sp>
          <p:nvSpPr>
            <p:cNvPr id="80912" name="Line 155"/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3" name="Line 156"/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4" name="Rectangle 157"/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5" name="Text Box 158"/>
            <p:cNvSpPr txBox="1">
              <a:spLocks noChangeArrowheads="1"/>
            </p:cNvSpPr>
            <p:nvPr/>
          </p:nvSpPr>
          <p:spPr bwMode="auto">
            <a:xfrm>
              <a:off x="3312" y="2221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0916" name="Oval 159"/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7" name="Text Box 160"/>
            <p:cNvSpPr txBox="1">
              <a:spLocks noChangeArrowheads="1"/>
            </p:cNvSpPr>
            <p:nvPr/>
          </p:nvSpPr>
          <p:spPr bwMode="auto">
            <a:xfrm>
              <a:off x="3213" y="1380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defRPr/>
              </a:pPr>
              <a:r>
                <a:rPr lang="en-US"/>
                <a:t>choose x</a:t>
              </a:r>
            </a:p>
            <a:p>
              <a:pPr algn="r">
                <a:defRPr/>
              </a:pPr>
              <a:endParaRPr lang="en-US"/>
            </a:p>
          </p:txBody>
        </p:sp>
        <p:sp>
          <p:nvSpPr>
            <p:cNvPr id="80918" name="Line 161"/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19" name="Rectangle 162"/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20" name="Text Box 163"/>
            <p:cNvSpPr txBox="1">
              <a:spLocks noChangeArrowheads="1"/>
            </p:cNvSpPr>
            <p:nvPr/>
          </p:nvSpPr>
          <p:spPr bwMode="auto">
            <a:xfrm>
              <a:off x="3943" y="1473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req_conn(x)</a:t>
              </a:r>
            </a:p>
          </p:txBody>
        </p:sp>
        <p:sp>
          <p:nvSpPr>
            <p:cNvPr id="80921" name="Text Box 164"/>
            <p:cNvSpPr txBox="1">
              <a:spLocks noChangeArrowheads="1"/>
            </p:cNvSpPr>
            <p:nvPr/>
          </p:nvSpPr>
          <p:spPr bwMode="auto">
            <a:xfrm>
              <a:off x="4862" y="1636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0922" name="Oval 165"/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9354" name="Group 166"/>
            <p:cNvGrpSpPr>
              <a:grpSpLocks/>
            </p:cNvGrpSpPr>
            <p:nvPr/>
          </p:nvGrpSpPr>
          <p:grpSpPr bwMode="auto">
            <a:xfrm>
              <a:off x="4006" y="1848"/>
              <a:ext cx="803" cy="212"/>
              <a:chOff x="1065" y="2085"/>
              <a:chExt cx="803" cy="212"/>
            </a:xfrm>
          </p:grpSpPr>
          <p:sp>
            <p:nvSpPr>
              <p:cNvPr id="80969" name="Rectangle 16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70" name="Text Box 168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/>
                  <a:t>acc_conn(x)</a:t>
                </a:r>
              </a:p>
            </p:txBody>
          </p:sp>
        </p:grpSp>
        <p:sp>
          <p:nvSpPr>
            <p:cNvPr id="80924" name="Line 169"/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25" name="Rectangle 170"/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26" name="Text Box 171"/>
            <p:cNvSpPr txBox="1">
              <a:spLocks noChangeArrowheads="1"/>
            </p:cNvSpPr>
            <p:nvPr/>
          </p:nvSpPr>
          <p:spPr bwMode="auto">
            <a:xfrm>
              <a:off x="3989" y="2315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data(x+1)</a:t>
              </a:r>
            </a:p>
          </p:txBody>
        </p:sp>
        <p:sp>
          <p:nvSpPr>
            <p:cNvPr id="80927" name="Oval 172"/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0928" name="Text Box 173"/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/>
                <a:t>accept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/>
                <a:t>data(x+1)</a:t>
              </a:r>
            </a:p>
          </p:txBody>
        </p:sp>
        <p:grpSp>
          <p:nvGrpSpPr>
            <p:cNvPr id="99360" name="Group 174"/>
            <p:cNvGrpSpPr>
              <a:grpSpLocks/>
            </p:cNvGrpSpPr>
            <p:nvPr/>
          </p:nvGrpSpPr>
          <p:grpSpPr bwMode="auto">
            <a:xfrm>
              <a:off x="3826" y="2803"/>
              <a:ext cx="1515" cy="300"/>
              <a:chOff x="3818" y="2796"/>
              <a:chExt cx="1515" cy="300"/>
            </a:xfrm>
          </p:grpSpPr>
          <p:sp>
            <p:nvSpPr>
              <p:cNvPr id="80967" name="Line 175"/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68" name="Text Box 176"/>
              <p:cNvSpPr txBox="1">
                <a:spLocks noChangeArrowheads="1"/>
              </p:cNvSpPr>
              <p:nvPr/>
            </p:nvSpPr>
            <p:spPr bwMode="auto">
              <a:xfrm>
                <a:off x="3989" y="2796"/>
                <a:ext cx="706" cy="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90000"/>
                  </a:lnSpc>
                  <a:defRPr/>
                </a:pPr>
                <a:r>
                  <a:rPr lang="en-US" sz="1400"/>
                  <a:t>connection </a:t>
                </a: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1400"/>
                  <a:t>x completes</a:t>
                </a:r>
              </a:p>
            </p:txBody>
          </p:sp>
        </p:grpSp>
        <p:sp>
          <p:nvSpPr>
            <p:cNvPr id="80930" name="Text Box 177"/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85000"/>
                </a:lnSpc>
                <a:defRPr/>
              </a:pPr>
              <a:r>
                <a:rPr lang="en-US"/>
                <a:t>server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/>
                <a:t>forgets x</a:t>
              </a:r>
            </a:p>
          </p:txBody>
        </p:sp>
        <p:grpSp>
          <p:nvGrpSpPr>
            <p:cNvPr id="99362" name="Group 178"/>
            <p:cNvGrpSpPr>
              <a:grpSpLocks/>
            </p:cNvGrpSpPr>
            <p:nvPr/>
          </p:nvGrpSpPr>
          <p:grpSpPr bwMode="auto"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99396" name="Picture 17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97" name="Freeform 18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36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363" name="Group 181"/>
            <p:cNvGrpSpPr>
              <a:grpSpLocks/>
            </p:cNvGrpSpPr>
            <p:nvPr/>
          </p:nvGrpSpPr>
          <p:grpSpPr bwMode="auto"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99364" name="Freeform 18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4" name="Rectangle 18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366" name="Freeform 18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7" name="Freeform 18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7" name="Rectangle 18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369" name="Group 18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0963" name="AutoShape 18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0964" name="AutoShape 18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39" name="Rectangle 19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371" name="Group 19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0961" name="AutoShape 19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0962" name="AutoShape 19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41" name="Rectangle 19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42" name="Rectangle 19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99374" name="Group 19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0959" name="AutoShape 19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0960" name="AutoShape 19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99375" name="Freeform 19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9376" name="Group 20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0957" name="AutoShape 20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0958" name="AutoShape 20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0946" name="Rectangle 20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378" name="Freeform 20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79" name="Freeform 20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49" name="Oval 20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381" name="Freeform 20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51" name="AutoShape 20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52" name="AutoShape 20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53" name="Oval 21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54" name="Oval 21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0955" name="Oval 21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0956" name="Rectangle 21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036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9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9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192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F223FC1C-03A3-4D32-9117-DE35019EC341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pic>
        <p:nvPicPr>
          <p:cNvPr id="100355" name="Picture 8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779464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Rectangle 3"/>
          <p:cNvSpPr>
            <a:spLocks noGrp="1" noChangeArrowheads="1"/>
          </p:cNvSpPr>
          <p:nvPr>
            <p:ph type="title"/>
          </p:nvPr>
        </p:nvSpPr>
        <p:spPr>
          <a:xfrm>
            <a:off x="2024064" y="166688"/>
            <a:ext cx="5356225" cy="849312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TCP 3-way handshake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81926" name="Line 5"/>
          <p:cNvSpPr>
            <a:spLocks noChangeShapeType="1"/>
          </p:cNvSpPr>
          <p:nvPr/>
        </p:nvSpPr>
        <p:spPr bwMode="auto">
          <a:xfrm flipH="1">
            <a:off x="4806950" y="2314575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394342" name="Group 102"/>
          <p:cNvGrpSpPr>
            <a:grpSpLocks/>
          </p:cNvGrpSpPr>
          <p:nvPr/>
        </p:nvGrpSpPr>
        <p:grpSpPr bwMode="auto">
          <a:xfrm>
            <a:off x="2820988" y="2241551"/>
            <a:ext cx="4494212" cy="955675"/>
            <a:chOff x="810" y="1363"/>
            <a:chExt cx="2831" cy="602"/>
          </a:xfrm>
        </p:grpSpPr>
        <p:sp>
          <p:nvSpPr>
            <p:cNvPr id="81992" name="Line 10"/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93" name="Rectangle 12"/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94" name="Text Box 13"/>
            <p:cNvSpPr txBox="1">
              <a:spLocks noChangeArrowheads="1"/>
            </p:cNvSpPr>
            <p:nvPr/>
          </p:nvSpPr>
          <p:spPr bwMode="auto">
            <a:xfrm>
              <a:off x="2304" y="1624"/>
              <a:ext cx="110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 err="1">
                  <a:solidFill>
                    <a:srgbClr val="0000FF"/>
                  </a:solidFill>
                </a:rPr>
                <a:t>SYNbit</a:t>
              </a:r>
              <a:r>
                <a:rPr lang="en-US" dirty="0">
                  <a:solidFill>
                    <a:srgbClr val="0000FF"/>
                  </a:solidFill>
                </a:rPr>
                <a:t>=1, </a:t>
              </a:r>
              <a:r>
                <a:rPr lang="en-US" dirty="0" err="1">
                  <a:solidFill>
                    <a:srgbClr val="0000FF"/>
                  </a:solidFill>
                </a:rPr>
                <a:t>Seq</a:t>
              </a:r>
              <a:r>
                <a:rPr lang="en-US" dirty="0">
                  <a:solidFill>
                    <a:srgbClr val="0000FF"/>
                  </a:solidFill>
                </a:rPr>
                <a:t>=x</a:t>
              </a:r>
            </a:p>
          </p:txBody>
        </p:sp>
        <p:sp>
          <p:nvSpPr>
            <p:cNvPr id="81995" name="Text Box 21"/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choose init seq num, x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send TCP SYN msg</a:t>
              </a:r>
            </a:p>
          </p:txBody>
        </p:sp>
      </p:grpSp>
      <p:sp>
        <p:nvSpPr>
          <p:cNvPr id="81928" name="Line 22"/>
          <p:cNvSpPr>
            <a:spLocks noChangeShapeType="1"/>
          </p:cNvSpPr>
          <p:nvPr/>
        </p:nvSpPr>
        <p:spPr bwMode="auto">
          <a:xfrm flipH="1">
            <a:off x="7396164" y="2384425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94332" name="Text Box 92"/>
          <p:cNvSpPr txBox="1">
            <a:spLocks noChangeArrowheads="1"/>
          </p:cNvSpPr>
          <p:nvPr/>
        </p:nvSpPr>
        <p:spPr bwMode="auto">
          <a:xfrm>
            <a:off x="9582151" y="5222875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C0000"/>
                </a:solidFill>
              </a:rPr>
              <a:t>ESTAB</a:t>
            </a:r>
          </a:p>
        </p:txBody>
      </p:sp>
      <p:grpSp>
        <p:nvGrpSpPr>
          <p:cNvPr id="394349" name="Group 109"/>
          <p:cNvGrpSpPr>
            <a:grpSpLocks/>
          </p:cNvGrpSpPr>
          <p:nvPr/>
        </p:nvGrpSpPr>
        <p:grpSpPr bwMode="auto">
          <a:xfrm>
            <a:off x="4805363" y="2911476"/>
            <a:ext cx="4545012" cy="1425575"/>
            <a:chOff x="2060" y="1785"/>
            <a:chExt cx="2863" cy="898"/>
          </a:xfrm>
        </p:grpSpPr>
        <p:sp>
          <p:nvSpPr>
            <p:cNvPr id="81988" name="Line 11"/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89" name="Rectangle 14"/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90" name="Text Box 83"/>
            <p:cNvSpPr txBox="1">
              <a:spLocks noChangeArrowheads="1"/>
            </p:cNvSpPr>
            <p:nvPr/>
          </p:nvSpPr>
          <p:spPr bwMode="auto">
            <a:xfrm>
              <a:off x="2147" y="2169"/>
              <a:ext cx="155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 err="1">
                  <a:solidFill>
                    <a:srgbClr val="0000FF"/>
                  </a:solidFill>
                </a:rPr>
                <a:t>SYNbit</a:t>
              </a:r>
              <a:r>
                <a:rPr lang="en-US" dirty="0">
                  <a:solidFill>
                    <a:srgbClr val="0000FF"/>
                  </a:solidFill>
                </a:rPr>
                <a:t>=1, </a:t>
              </a:r>
              <a:r>
                <a:rPr lang="en-US" dirty="0" err="1">
                  <a:solidFill>
                    <a:srgbClr val="0000FF"/>
                  </a:solidFill>
                </a:rPr>
                <a:t>Seq</a:t>
              </a:r>
              <a:r>
                <a:rPr lang="en-US" dirty="0">
                  <a:solidFill>
                    <a:srgbClr val="0000FF"/>
                  </a:solidFill>
                </a:rPr>
                <a:t>=y</a:t>
              </a:r>
            </a:p>
            <a:p>
              <a:pPr>
                <a:defRPr/>
              </a:pPr>
              <a:r>
                <a:rPr lang="en-US" dirty="0" err="1">
                  <a:solidFill>
                    <a:srgbClr val="CC0000"/>
                  </a:solidFill>
                </a:rPr>
                <a:t>ACKbit</a:t>
              </a:r>
              <a:r>
                <a:rPr lang="en-US" dirty="0">
                  <a:solidFill>
                    <a:srgbClr val="CC0000"/>
                  </a:solidFill>
                </a:rPr>
                <a:t>=1</a:t>
              </a:r>
              <a:r>
                <a:rPr lang="en-US" dirty="0"/>
                <a:t>; </a:t>
              </a:r>
              <a:r>
                <a:rPr lang="en-US" dirty="0" err="1"/>
                <a:t>ACKnum</a:t>
              </a:r>
              <a:r>
                <a:rPr lang="en-US" dirty="0"/>
                <a:t>=x+1</a:t>
              </a:r>
            </a:p>
          </p:txBody>
        </p:sp>
        <p:sp>
          <p:nvSpPr>
            <p:cNvPr id="81991" name="Text Box 93"/>
            <p:cNvSpPr txBox="1">
              <a:spLocks noChangeArrowheads="1"/>
            </p:cNvSpPr>
            <p:nvPr/>
          </p:nvSpPr>
          <p:spPr bwMode="auto">
            <a:xfrm>
              <a:off x="3676" y="1785"/>
              <a:ext cx="1247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 dirty="0"/>
                <a:t>choose </a:t>
              </a:r>
              <a:r>
                <a:rPr lang="en-US" sz="1400" dirty="0" err="1"/>
                <a:t>init</a:t>
              </a:r>
              <a:r>
                <a:rPr lang="en-US" sz="1400" dirty="0"/>
                <a:t> </a:t>
              </a:r>
              <a:r>
                <a:rPr lang="en-US" sz="1400" dirty="0" err="1"/>
                <a:t>seq</a:t>
              </a:r>
              <a:r>
                <a:rPr lang="en-US" sz="1400" dirty="0"/>
                <a:t> </a:t>
              </a:r>
              <a:r>
                <a:rPr lang="en-US" sz="1400" dirty="0" err="1"/>
                <a:t>num</a:t>
              </a:r>
              <a:r>
                <a:rPr lang="en-US" sz="1400" dirty="0"/>
                <a:t>, y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 dirty="0"/>
                <a:t>send TCP </a:t>
              </a:r>
              <a:r>
                <a:rPr lang="en-US" sz="1400" dirty="0">
                  <a:solidFill>
                    <a:srgbClr val="0000FF"/>
                  </a:solidFill>
                </a:rPr>
                <a:t>SYNACK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 dirty="0" err="1">
                  <a:solidFill>
                    <a:srgbClr val="0000FF"/>
                  </a:solidFill>
                </a:rPr>
                <a:t>msg</a:t>
              </a:r>
              <a:r>
                <a:rPr lang="en-US" sz="1400" dirty="0">
                  <a:solidFill>
                    <a:srgbClr val="0000FF"/>
                  </a:solidFill>
                </a:rPr>
                <a:t>, </a:t>
              </a:r>
              <a:r>
                <a:rPr lang="en-US" sz="1400" dirty="0" err="1">
                  <a:solidFill>
                    <a:srgbClr val="0000FF"/>
                  </a:solidFill>
                </a:rPr>
                <a:t>acking</a:t>
              </a:r>
              <a:r>
                <a:rPr lang="en-US" sz="1400" dirty="0">
                  <a:solidFill>
                    <a:srgbClr val="0000FF"/>
                  </a:solidFill>
                </a:rPr>
                <a:t> SYN</a:t>
              </a:r>
            </a:p>
          </p:txBody>
        </p:sp>
      </p:grpSp>
      <p:grpSp>
        <p:nvGrpSpPr>
          <p:cNvPr id="394350" name="Group 110"/>
          <p:cNvGrpSpPr>
            <a:grpSpLocks/>
          </p:cNvGrpSpPr>
          <p:nvPr/>
        </p:nvGrpSpPr>
        <p:grpSpPr bwMode="auto">
          <a:xfrm>
            <a:off x="2503488" y="4010025"/>
            <a:ext cx="6650038" cy="1373188"/>
            <a:chOff x="610" y="2477"/>
            <a:chExt cx="4189" cy="865"/>
          </a:xfrm>
        </p:grpSpPr>
        <p:sp>
          <p:nvSpPr>
            <p:cNvPr id="81983" name="Line 84"/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84" name="Rectangle 89"/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1985" name="Text Box 90"/>
            <p:cNvSpPr txBox="1">
              <a:spLocks noChangeArrowheads="1"/>
            </p:cNvSpPr>
            <p:nvPr/>
          </p:nvSpPr>
          <p:spPr bwMode="auto">
            <a:xfrm>
              <a:off x="2081" y="2852"/>
              <a:ext cx="155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 err="1">
                  <a:solidFill>
                    <a:srgbClr val="CC0000"/>
                  </a:solidFill>
                </a:rPr>
                <a:t>ACKbit</a:t>
              </a:r>
              <a:r>
                <a:rPr lang="en-US" dirty="0">
                  <a:solidFill>
                    <a:srgbClr val="CC0000"/>
                  </a:solidFill>
                </a:rPr>
                <a:t>=1</a:t>
              </a:r>
              <a:r>
                <a:rPr lang="en-US" dirty="0"/>
                <a:t>, </a:t>
              </a:r>
              <a:r>
                <a:rPr lang="en-US" dirty="0" err="1"/>
                <a:t>ACKnum</a:t>
              </a:r>
              <a:r>
                <a:rPr lang="en-US" dirty="0"/>
                <a:t>=y+1</a:t>
              </a:r>
            </a:p>
          </p:txBody>
        </p:sp>
        <p:sp>
          <p:nvSpPr>
            <p:cNvPr id="81986" name="Text Box 94"/>
            <p:cNvSpPr txBox="1">
              <a:spLocks noChangeArrowheads="1"/>
            </p:cNvSpPr>
            <p:nvPr/>
          </p:nvSpPr>
          <p:spPr bwMode="auto">
            <a:xfrm>
              <a:off x="610" y="2477"/>
              <a:ext cx="1434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 dirty="0"/>
                <a:t>received SYNACK(x)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 dirty="0"/>
                <a:t>indicates server is live;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 dirty="0">
                  <a:solidFill>
                    <a:srgbClr val="0000FF"/>
                  </a:solidFill>
                </a:rPr>
                <a:t>send ACK for SYNACK</a:t>
              </a:r>
              <a:r>
                <a:rPr lang="en-US" sz="1400" dirty="0"/>
                <a:t>;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 dirty="0"/>
                <a:t>this segment may contain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 dirty="0"/>
                <a:t>client-to-server data</a:t>
              </a:r>
            </a:p>
          </p:txBody>
        </p:sp>
        <p:sp>
          <p:nvSpPr>
            <p:cNvPr id="81987" name="Text Box 95"/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received ACK(y) 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indicates client is live</a:t>
              </a:r>
            </a:p>
          </p:txBody>
        </p:sp>
      </p:grpSp>
      <p:grpSp>
        <p:nvGrpSpPr>
          <p:cNvPr id="394345" name="Group 105"/>
          <p:cNvGrpSpPr>
            <a:grpSpLocks/>
          </p:cNvGrpSpPr>
          <p:nvPr/>
        </p:nvGrpSpPr>
        <p:grpSpPr bwMode="auto">
          <a:xfrm>
            <a:off x="1824039" y="2279650"/>
            <a:ext cx="1030287" cy="700088"/>
            <a:chOff x="182" y="1387"/>
            <a:chExt cx="649" cy="441"/>
          </a:xfrm>
        </p:grpSpPr>
        <p:sp>
          <p:nvSpPr>
            <p:cNvPr id="81981" name="Text Box 91"/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SYNSENT</a:t>
              </a:r>
            </a:p>
          </p:txBody>
        </p:sp>
        <p:sp>
          <p:nvSpPr>
            <p:cNvPr id="81982" name="Line 103"/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4351" name="Group 111"/>
          <p:cNvGrpSpPr>
            <a:grpSpLocks/>
          </p:cNvGrpSpPr>
          <p:nvPr/>
        </p:nvGrpSpPr>
        <p:grpSpPr bwMode="auto">
          <a:xfrm>
            <a:off x="1825626" y="2940051"/>
            <a:ext cx="771525" cy="1622425"/>
            <a:chOff x="183" y="1803"/>
            <a:chExt cx="486" cy="1022"/>
          </a:xfrm>
        </p:grpSpPr>
        <p:sp>
          <p:nvSpPr>
            <p:cNvPr id="81979" name="Text Box 16"/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>
                  <a:solidFill>
                    <a:srgbClr val="CC0000"/>
                  </a:solidFill>
                </a:rPr>
                <a:t>ESTAB</a:t>
              </a:r>
            </a:p>
          </p:txBody>
        </p:sp>
        <p:sp>
          <p:nvSpPr>
            <p:cNvPr id="81980" name="Line 104"/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4348" name="Group 108"/>
          <p:cNvGrpSpPr>
            <a:grpSpLocks/>
          </p:cNvGrpSpPr>
          <p:nvPr/>
        </p:nvGrpSpPr>
        <p:grpSpPr bwMode="auto">
          <a:xfrm>
            <a:off x="9278939" y="2335213"/>
            <a:ext cx="1119187" cy="1192212"/>
            <a:chOff x="4878" y="1422"/>
            <a:chExt cx="705" cy="751"/>
          </a:xfrm>
        </p:grpSpPr>
        <p:sp>
          <p:nvSpPr>
            <p:cNvPr id="81977" name="Text Box 99"/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SYN RCVD</a:t>
              </a:r>
            </a:p>
          </p:txBody>
        </p:sp>
        <p:sp>
          <p:nvSpPr>
            <p:cNvPr id="81978" name="Line 106"/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94347" name="Line 107"/>
          <p:cNvSpPr>
            <a:spLocks noChangeShapeType="1"/>
          </p:cNvSpPr>
          <p:nvPr/>
        </p:nvSpPr>
        <p:spPr bwMode="auto">
          <a:xfrm>
            <a:off x="9993313" y="3536951"/>
            <a:ext cx="0" cy="170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100367" name="Group 113"/>
          <p:cNvGrpSpPr>
            <a:grpSpLocks/>
          </p:cNvGrpSpPr>
          <p:nvPr/>
        </p:nvGrpSpPr>
        <p:grpSpPr bwMode="auto">
          <a:xfrm>
            <a:off x="1830388" y="1590675"/>
            <a:ext cx="8551862" cy="736600"/>
            <a:chOff x="193" y="1002"/>
            <a:chExt cx="5387" cy="464"/>
          </a:xfrm>
        </p:grpSpPr>
        <p:sp>
          <p:nvSpPr>
            <p:cNvPr id="81937" name="Text Box 114"/>
            <p:cNvSpPr txBox="1">
              <a:spLocks noChangeArrowheads="1"/>
            </p:cNvSpPr>
            <p:nvPr/>
          </p:nvSpPr>
          <p:spPr bwMode="auto">
            <a:xfrm>
              <a:off x="195" y="1002"/>
              <a:ext cx="73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defRPr/>
              </a:pPr>
              <a:r>
                <a:rPr lang="en-US" i="1">
                  <a:solidFill>
                    <a:srgbClr val="000099"/>
                  </a:solidFill>
                </a:rPr>
                <a:t>client state</a:t>
              </a:r>
            </a:p>
            <a:p>
              <a:pPr algn="r">
                <a:defRPr/>
              </a:pPr>
              <a:endParaRPr lang="en-US" i="1">
                <a:solidFill>
                  <a:srgbClr val="000099"/>
                </a:solidFill>
              </a:endParaRPr>
            </a:p>
          </p:txBody>
        </p:sp>
        <p:sp>
          <p:nvSpPr>
            <p:cNvPr id="81938" name="Text Box 115"/>
            <p:cNvSpPr txBox="1">
              <a:spLocks noChangeArrowheads="1"/>
            </p:cNvSpPr>
            <p:nvPr/>
          </p:nvSpPr>
          <p:spPr bwMode="auto">
            <a:xfrm>
              <a:off x="193" y="1243"/>
              <a:ext cx="5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LISTEN</a:t>
              </a:r>
            </a:p>
          </p:txBody>
        </p:sp>
        <p:sp>
          <p:nvSpPr>
            <p:cNvPr id="81939" name="Text Box 116"/>
            <p:cNvSpPr txBox="1">
              <a:spLocks noChangeArrowheads="1"/>
            </p:cNvSpPr>
            <p:nvPr/>
          </p:nvSpPr>
          <p:spPr bwMode="auto">
            <a:xfrm>
              <a:off x="4800" y="1013"/>
              <a:ext cx="78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defRPr/>
              </a:pPr>
              <a:r>
                <a:rPr lang="en-US" i="1">
                  <a:solidFill>
                    <a:srgbClr val="000099"/>
                  </a:solidFill>
                </a:rPr>
                <a:t>server state</a:t>
              </a:r>
            </a:p>
            <a:p>
              <a:pPr algn="r">
                <a:defRPr/>
              </a:pPr>
              <a:endParaRPr lang="en-US" i="1">
                <a:solidFill>
                  <a:srgbClr val="000099"/>
                </a:solidFill>
              </a:endParaRPr>
            </a:p>
          </p:txBody>
        </p:sp>
        <p:sp>
          <p:nvSpPr>
            <p:cNvPr id="81940" name="Text Box 117"/>
            <p:cNvSpPr txBox="1">
              <a:spLocks noChangeArrowheads="1"/>
            </p:cNvSpPr>
            <p:nvPr/>
          </p:nvSpPr>
          <p:spPr bwMode="auto">
            <a:xfrm>
              <a:off x="5038" y="1254"/>
              <a:ext cx="5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LISTEN</a:t>
              </a:r>
            </a:p>
          </p:txBody>
        </p:sp>
        <p:grpSp>
          <p:nvGrpSpPr>
            <p:cNvPr id="100372" name="Group 118"/>
            <p:cNvGrpSpPr>
              <a:grpSpLocks/>
            </p:cNvGrpSpPr>
            <p:nvPr/>
          </p:nvGrpSpPr>
          <p:grpSpPr bwMode="auto">
            <a:xfrm>
              <a:off x="1914" y="1049"/>
              <a:ext cx="405" cy="378"/>
              <a:chOff x="-44" y="1473"/>
              <a:chExt cx="981" cy="1105"/>
            </a:xfrm>
          </p:grpSpPr>
          <p:pic>
            <p:nvPicPr>
              <p:cNvPr id="100406" name="Picture 11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0407" name="Freeform 12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326 w 356"/>
                  <a:gd name="T3" fmla="*/ 131 h 368"/>
                  <a:gd name="T4" fmla="*/ 2759 w 356"/>
                  <a:gd name="T5" fmla="*/ 2736 h 368"/>
                  <a:gd name="T6" fmla="*/ 608 w 356"/>
                  <a:gd name="T7" fmla="*/ 342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0373" name="Group 121"/>
            <p:cNvGrpSpPr>
              <a:grpSpLocks/>
            </p:cNvGrpSpPr>
            <p:nvPr/>
          </p:nvGrpSpPr>
          <p:grpSpPr bwMode="auto">
            <a:xfrm>
              <a:off x="3572" y="1051"/>
              <a:ext cx="212" cy="323"/>
              <a:chOff x="4140" y="429"/>
              <a:chExt cx="1425" cy="2396"/>
            </a:xfrm>
          </p:grpSpPr>
          <p:sp>
            <p:nvSpPr>
              <p:cNvPr id="100374" name="Freeform 12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4 w 354"/>
                  <a:gd name="T1" fmla="*/ 0 h 2742"/>
                  <a:gd name="T2" fmla="*/ 74 w 354"/>
                  <a:gd name="T3" fmla="*/ 95 h 2742"/>
                  <a:gd name="T4" fmla="*/ 73 w 354"/>
                  <a:gd name="T5" fmla="*/ 734 h 2742"/>
                  <a:gd name="T6" fmla="*/ 0 w 354"/>
                  <a:gd name="T7" fmla="*/ 768 h 2742"/>
                  <a:gd name="T8" fmla="*/ 1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4" name="Rectangle 12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0376" name="Freeform 12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45 w 211"/>
                  <a:gd name="T3" fmla="*/ 61 h 2537"/>
                  <a:gd name="T4" fmla="*/ 2 w 211"/>
                  <a:gd name="T5" fmla="*/ 69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77" name="Freeform 12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6 h 226"/>
                  <a:gd name="T4" fmla="*/ 70 w 328"/>
                  <a:gd name="T5" fmla="*/ 64 h 226"/>
                  <a:gd name="T6" fmla="*/ 0 w 328"/>
                  <a:gd name="T7" fmla="*/ 2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7" name="Rectangle 12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00379" name="Group 12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1973" name="AutoShape 12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974" name="AutoShape 12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1949" name="Rectangle 13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00381" name="Group 13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1971" name="AutoShape 13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972" name="AutoShape 13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1951" name="Rectangle 13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952" name="Rectangle 13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100384" name="Group 13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1969" name="AutoShape 13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970" name="AutoShape 13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0385" name="Freeform 13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0 w 328"/>
                  <a:gd name="T3" fmla="*/ 35 h 226"/>
                  <a:gd name="T4" fmla="*/ 70 w 328"/>
                  <a:gd name="T5" fmla="*/ 62 h 226"/>
                  <a:gd name="T6" fmla="*/ 0 w 328"/>
                  <a:gd name="T7" fmla="*/ 2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0386" name="Group 14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1967" name="AutoShape 14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81968" name="AutoShape 14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1956" name="Rectangle 14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0388" name="Freeform 14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62 w 296"/>
                  <a:gd name="T3" fmla="*/ 39 h 256"/>
                  <a:gd name="T4" fmla="*/ 62 w 296"/>
                  <a:gd name="T5" fmla="*/ 71 h 256"/>
                  <a:gd name="T6" fmla="*/ 0 w 296"/>
                  <a:gd name="T7" fmla="*/ 2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89" name="Freeform 14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65 w 304"/>
                  <a:gd name="T3" fmla="*/ 46 h 288"/>
                  <a:gd name="T4" fmla="*/ 61 w 304"/>
                  <a:gd name="T5" fmla="*/ 81 h 288"/>
                  <a:gd name="T6" fmla="*/ 2 w 304"/>
                  <a:gd name="T7" fmla="*/ 35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59" name="Oval 14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0391" name="Freeform 14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0 h 240"/>
                  <a:gd name="T2" fmla="*/ 2 w 306"/>
                  <a:gd name="T3" fmla="*/ 68 h 240"/>
                  <a:gd name="T4" fmla="*/ 65 w 306"/>
                  <a:gd name="T5" fmla="*/ 31 h 240"/>
                  <a:gd name="T6" fmla="*/ 62 w 306"/>
                  <a:gd name="T7" fmla="*/ 0 h 240"/>
                  <a:gd name="T8" fmla="*/ 0 w 306"/>
                  <a:gd name="T9" fmla="*/ 3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61" name="AutoShape 14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962" name="AutoShape 14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963" name="Oval 15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964" name="Oval 15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en-US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1965" name="Oval 15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1966" name="Rectangle 15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955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9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9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3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294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085F175B-1B45-4DB9-A348-50E1AC387812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title"/>
          </p:nvPr>
        </p:nvSpPr>
        <p:spPr>
          <a:xfrm>
            <a:off x="2024064" y="166688"/>
            <a:ext cx="5356225" cy="849312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TCP 3-way handshake: FSM</a:t>
            </a:r>
            <a:endParaRPr lang="en-US">
              <a:ea typeface="ＭＳ Ｐゴシック" charset="0"/>
              <a:cs typeface="+mj-cs"/>
            </a:endParaRPr>
          </a:p>
        </p:txBody>
      </p:sp>
      <p:pic>
        <p:nvPicPr>
          <p:cNvPr id="101380" name="Picture 4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1" y="827089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381" name="Group 47"/>
          <p:cNvGrpSpPr>
            <a:grpSpLocks/>
          </p:cNvGrpSpPr>
          <p:nvPr/>
        </p:nvGrpSpPr>
        <p:grpSpPr bwMode="auto">
          <a:xfrm>
            <a:off x="5214938" y="1246189"/>
            <a:ext cx="876300" cy="827087"/>
            <a:chOff x="1778" y="1720"/>
            <a:chExt cx="722" cy="642"/>
          </a:xfrm>
        </p:grpSpPr>
        <p:sp>
          <p:nvSpPr>
            <p:cNvPr id="82988" name="Oval 41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89" name="Oval 42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2951" name="Text Box 43"/>
          <p:cNvSpPr txBox="1">
            <a:spLocks noChangeArrowheads="1"/>
          </p:cNvSpPr>
          <p:nvPr/>
        </p:nvSpPr>
        <p:spPr bwMode="auto">
          <a:xfrm>
            <a:off x="5210175" y="1466851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closed</a:t>
            </a:r>
          </a:p>
        </p:txBody>
      </p:sp>
      <p:sp>
        <p:nvSpPr>
          <p:cNvPr id="82952" name="Text Box 46"/>
          <p:cNvSpPr txBox="1">
            <a:spLocks noChangeArrowheads="1"/>
          </p:cNvSpPr>
          <p:nvPr/>
        </p:nvSpPr>
        <p:spPr bwMode="auto">
          <a:xfrm>
            <a:off x="5121276" y="2498726"/>
            <a:ext cx="341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Symbol" charset="0"/>
              </a:rPr>
              <a:t>L</a:t>
            </a:r>
          </a:p>
        </p:txBody>
      </p:sp>
      <p:grpSp>
        <p:nvGrpSpPr>
          <p:cNvPr id="101384" name="Group 48"/>
          <p:cNvGrpSpPr>
            <a:grpSpLocks/>
          </p:cNvGrpSpPr>
          <p:nvPr/>
        </p:nvGrpSpPr>
        <p:grpSpPr bwMode="auto">
          <a:xfrm>
            <a:off x="5176838" y="3175000"/>
            <a:ext cx="876300" cy="827088"/>
            <a:chOff x="1778" y="1720"/>
            <a:chExt cx="722" cy="642"/>
          </a:xfrm>
        </p:grpSpPr>
        <p:sp>
          <p:nvSpPr>
            <p:cNvPr id="82986" name="Oval 49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87" name="Oval 50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2954" name="Text Box 51"/>
          <p:cNvSpPr txBox="1">
            <a:spLocks noChangeArrowheads="1"/>
          </p:cNvSpPr>
          <p:nvPr/>
        </p:nvSpPr>
        <p:spPr bwMode="auto">
          <a:xfrm>
            <a:off x="5235575" y="3395663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listen</a:t>
            </a:r>
          </a:p>
        </p:txBody>
      </p:sp>
      <p:grpSp>
        <p:nvGrpSpPr>
          <p:cNvPr id="101386" name="Group 52"/>
          <p:cNvGrpSpPr>
            <a:grpSpLocks/>
          </p:cNvGrpSpPr>
          <p:nvPr/>
        </p:nvGrpSpPr>
        <p:grpSpPr bwMode="auto">
          <a:xfrm>
            <a:off x="3167063" y="4227514"/>
            <a:ext cx="876300" cy="827087"/>
            <a:chOff x="1778" y="1720"/>
            <a:chExt cx="722" cy="642"/>
          </a:xfrm>
        </p:grpSpPr>
        <p:sp>
          <p:nvSpPr>
            <p:cNvPr id="82984" name="Oval 53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85" name="Oval 54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2956" name="Text Box 55"/>
          <p:cNvSpPr txBox="1">
            <a:spLocks noChangeArrowheads="1"/>
          </p:cNvSpPr>
          <p:nvPr/>
        </p:nvSpPr>
        <p:spPr bwMode="auto">
          <a:xfrm>
            <a:off x="3257551" y="4425951"/>
            <a:ext cx="65915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800">
                <a:latin typeface="Arial" charset="0"/>
              </a:rPr>
              <a:t>SYN</a:t>
            </a:r>
          </a:p>
          <a:p>
            <a:pPr>
              <a:lnSpc>
                <a:spcPct val="80000"/>
              </a:lnSpc>
              <a:defRPr/>
            </a:pPr>
            <a:r>
              <a:rPr lang="en-US" sz="1800">
                <a:latin typeface="Arial" charset="0"/>
              </a:rPr>
              <a:t>rcvd</a:t>
            </a:r>
          </a:p>
        </p:txBody>
      </p:sp>
      <p:grpSp>
        <p:nvGrpSpPr>
          <p:cNvPr id="101388" name="Group 56"/>
          <p:cNvGrpSpPr>
            <a:grpSpLocks/>
          </p:cNvGrpSpPr>
          <p:nvPr/>
        </p:nvGrpSpPr>
        <p:grpSpPr bwMode="auto">
          <a:xfrm>
            <a:off x="6643688" y="4189414"/>
            <a:ext cx="876300" cy="827087"/>
            <a:chOff x="1778" y="1720"/>
            <a:chExt cx="722" cy="642"/>
          </a:xfrm>
        </p:grpSpPr>
        <p:sp>
          <p:nvSpPr>
            <p:cNvPr id="82982" name="Oval 57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83" name="Oval 58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2958" name="Text Box 59"/>
          <p:cNvSpPr txBox="1">
            <a:spLocks noChangeArrowheads="1"/>
          </p:cNvSpPr>
          <p:nvPr/>
        </p:nvSpPr>
        <p:spPr bwMode="auto">
          <a:xfrm>
            <a:off x="6734176" y="4387851"/>
            <a:ext cx="65915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800">
                <a:latin typeface="Arial" charset="0"/>
              </a:rPr>
              <a:t>SYN</a:t>
            </a:r>
          </a:p>
          <a:p>
            <a:pPr>
              <a:lnSpc>
                <a:spcPct val="80000"/>
              </a:lnSpc>
              <a:defRPr/>
            </a:pPr>
            <a:r>
              <a:rPr lang="en-US" sz="1800">
                <a:latin typeface="Arial" charset="0"/>
              </a:rPr>
              <a:t>sent</a:t>
            </a:r>
          </a:p>
        </p:txBody>
      </p:sp>
      <p:grpSp>
        <p:nvGrpSpPr>
          <p:cNvPr id="101390" name="Group 60"/>
          <p:cNvGrpSpPr>
            <a:grpSpLocks/>
          </p:cNvGrpSpPr>
          <p:nvPr/>
        </p:nvGrpSpPr>
        <p:grpSpPr bwMode="auto">
          <a:xfrm>
            <a:off x="5210175" y="5060950"/>
            <a:ext cx="876300" cy="827088"/>
            <a:chOff x="1778" y="1720"/>
            <a:chExt cx="722" cy="642"/>
          </a:xfrm>
        </p:grpSpPr>
        <p:sp>
          <p:nvSpPr>
            <p:cNvPr id="82980" name="Oval 61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2981" name="Oval 62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2960" name="Text Box 63"/>
          <p:cNvSpPr txBox="1">
            <a:spLocks noChangeArrowheads="1"/>
          </p:cNvSpPr>
          <p:nvPr/>
        </p:nvSpPr>
        <p:spPr bwMode="auto">
          <a:xfrm>
            <a:off x="5172075" y="5348288"/>
            <a:ext cx="9334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1800">
                <a:latin typeface="Arial" charset="0"/>
              </a:rPr>
              <a:t>ESTAB</a:t>
            </a:r>
          </a:p>
        </p:txBody>
      </p:sp>
      <p:sp>
        <p:nvSpPr>
          <p:cNvPr id="82961" name="Text Box 66"/>
          <p:cNvSpPr txBox="1">
            <a:spLocks noChangeArrowheads="1"/>
          </p:cNvSpPr>
          <p:nvPr/>
        </p:nvSpPr>
        <p:spPr bwMode="auto">
          <a:xfrm>
            <a:off x="7050088" y="2687639"/>
            <a:ext cx="2894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200" b="1">
                <a:latin typeface="Courier New" charset="0"/>
              </a:rPr>
              <a:t>Socket clientSocket =   </a:t>
            </a:r>
          </a:p>
          <a:p>
            <a:pPr algn="l">
              <a:defRPr/>
            </a:pPr>
            <a:r>
              <a:rPr lang="en-US" sz="1200" b="1">
                <a:latin typeface="Courier New" charset="0"/>
              </a:rPr>
              <a:t>  newSocket("hostname","port number");</a:t>
            </a:r>
          </a:p>
        </p:txBody>
      </p:sp>
      <p:sp>
        <p:nvSpPr>
          <p:cNvPr id="82962" name="Line 67"/>
          <p:cNvSpPr>
            <a:spLocks noChangeShapeType="1"/>
          </p:cNvSpPr>
          <p:nvPr/>
        </p:nvSpPr>
        <p:spPr bwMode="auto">
          <a:xfrm>
            <a:off x="7180264" y="3317875"/>
            <a:ext cx="2528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2963" name="Text Box 68"/>
          <p:cNvSpPr txBox="1">
            <a:spLocks noChangeArrowheads="1"/>
          </p:cNvSpPr>
          <p:nvPr/>
        </p:nvSpPr>
        <p:spPr bwMode="auto">
          <a:xfrm>
            <a:off x="7145338" y="3351213"/>
            <a:ext cx="1262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SYN(seq=x)</a:t>
            </a:r>
          </a:p>
        </p:txBody>
      </p:sp>
      <p:sp>
        <p:nvSpPr>
          <p:cNvPr id="101395" name="Freeform 69"/>
          <p:cNvSpPr>
            <a:spLocks/>
          </p:cNvSpPr>
          <p:nvPr/>
        </p:nvSpPr>
        <p:spPr bwMode="auto">
          <a:xfrm>
            <a:off x="6107113" y="1727201"/>
            <a:ext cx="914400" cy="2384425"/>
          </a:xfrm>
          <a:custGeom>
            <a:avLst/>
            <a:gdLst>
              <a:gd name="T0" fmla="*/ 0 w 576"/>
              <a:gd name="T1" fmla="*/ 0 h 1138"/>
              <a:gd name="T2" fmla="*/ 2147483647 w 576"/>
              <a:gd name="T3" fmla="*/ 0 h 1138"/>
              <a:gd name="T4" fmla="*/ 2147483647 w 576"/>
              <a:gd name="T5" fmla="*/ 2147483647 h 1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1138">
                <a:moveTo>
                  <a:pt x="0" y="0"/>
                </a:moveTo>
                <a:lnTo>
                  <a:pt x="576" y="0"/>
                </a:lnTo>
                <a:lnTo>
                  <a:pt x="576" y="113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965" name="Line 70"/>
          <p:cNvSpPr>
            <a:spLocks noChangeShapeType="1"/>
          </p:cNvSpPr>
          <p:nvPr/>
        </p:nvSpPr>
        <p:spPr bwMode="auto">
          <a:xfrm>
            <a:off x="5599113" y="2133600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2966" name="Text Box 71"/>
          <p:cNvSpPr txBox="1">
            <a:spLocks noChangeArrowheads="1"/>
          </p:cNvSpPr>
          <p:nvPr/>
        </p:nvSpPr>
        <p:spPr bwMode="auto">
          <a:xfrm>
            <a:off x="3048000" y="2074863"/>
            <a:ext cx="257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200" b="1">
                <a:latin typeface="Courier New" charset="0"/>
              </a:rPr>
              <a:t>Socket connectionSocket = welcomeSocket.accept();</a:t>
            </a:r>
          </a:p>
        </p:txBody>
      </p:sp>
      <p:sp>
        <p:nvSpPr>
          <p:cNvPr id="82967" name="Line 72"/>
          <p:cNvSpPr>
            <a:spLocks noChangeShapeType="1"/>
          </p:cNvSpPr>
          <p:nvPr/>
        </p:nvSpPr>
        <p:spPr bwMode="auto">
          <a:xfrm>
            <a:off x="3406776" y="2522538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1399" name="Freeform 73"/>
          <p:cNvSpPr>
            <a:spLocks/>
          </p:cNvSpPr>
          <p:nvPr/>
        </p:nvSpPr>
        <p:spPr bwMode="auto">
          <a:xfrm>
            <a:off x="3575051" y="3836988"/>
            <a:ext cx="1579563" cy="373062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969" name="Text Box 74"/>
          <p:cNvSpPr txBox="1">
            <a:spLocks noChangeArrowheads="1"/>
          </p:cNvSpPr>
          <p:nvPr/>
        </p:nvSpPr>
        <p:spPr bwMode="auto">
          <a:xfrm>
            <a:off x="3309938" y="2838450"/>
            <a:ext cx="804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SYN(x)</a:t>
            </a:r>
          </a:p>
        </p:txBody>
      </p:sp>
      <p:sp>
        <p:nvSpPr>
          <p:cNvPr id="82970" name="Line 75"/>
          <p:cNvSpPr>
            <a:spLocks noChangeShapeType="1"/>
          </p:cNvSpPr>
          <p:nvPr/>
        </p:nvSpPr>
        <p:spPr bwMode="auto">
          <a:xfrm>
            <a:off x="2770189" y="3136900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2971" name="Text Box 76"/>
          <p:cNvSpPr txBox="1">
            <a:spLocks noChangeArrowheads="1"/>
          </p:cNvSpPr>
          <p:nvPr/>
        </p:nvSpPr>
        <p:spPr bwMode="auto">
          <a:xfrm>
            <a:off x="2454276" y="2989263"/>
            <a:ext cx="26066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en-US" sz="1400"/>
          </a:p>
          <a:p>
            <a:pPr>
              <a:lnSpc>
                <a:spcPct val="90000"/>
              </a:lnSpc>
              <a:defRPr/>
            </a:pPr>
            <a:r>
              <a:rPr lang="en-US" sz="1400"/>
              <a:t>SYNACK(seq=y,ACKnum=x+1)</a:t>
            </a:r>
          </a:p>
          <a:p>
            <a:pPr>
              <a:lnSpc>
                <a:spcPct val="90000"/>
              </a:lnSpc>
              <a:defRPr/>
            </a:pPr>
            <a:r>
              <a:rPr lang="en-US" sz="1400"/>
              <a:t>create new socket for </a:t>
            </a:r>
          </a:p>
          <a:p>
            <a:pPr>
              <a:lnSpc>
                <a:spcPct val="90000"/>
              </a:lnSpc>
              <a:defRPr/>
            </a:pPr>
            <a:r>
              <a:rPr lang="en-US" sz="1400"/>
              <a:t>communication back to client</a:t>
            </a:r>
          </a:p>
        </p:txBody>
      </p:sp>
      <p:sp>
        <p:nvSpPr>
          <p:cNvPr id="101403" name="Freeform 77"/>
          <p:cNvSpPr>
            <a:spLocks/>
          </p:cNvSpPr>
          <p:nvPr/>
        </p:nvSpPr>
        <p:spPr bwMode="auto">
          <a:xfrm flipV="1">
            <a:off x="3570288" y="5076826"/>
            <a:ext cx="1579562" cy="373063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1404" name="Freeform 78"/>
          <p:cNvSpPr>
            <a:spLocks/>
          </p:cNvSpPr>
          <p:nvPr/>
        </p:nvSpPr>
        <p:spPr bwMode="auto">
          <a:xfrm flipH="1" flipV="1">
            <a:off x="6137275" y="5094288"/>
            <a:ext cx="947738" cy="373062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974" name="Text Box 79"/>
          <p:cNvSpPr txBox="1">
            <a:spLocks noChangeArrowheads="1"/>
          </p:cNvSpPr>
          <p:nvPr/>
        </p:nvSpPr>
        <p:spPr bwMode="auto">
          <a:xfrm>
            <a:off x="7132639" y="4970463"/>
            <a:ext cx="2615075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en-US" sz="1400"/>
          </a:p>
          <a:p>
            <a:pPr>
              <a:lnSpc>
                <a:spcPct val="90000"/>
              </a:lnSpc>
              <a:defRPr/>
            </a:pPr>
            <a:r>
              <a:rPr lang="en-US" sz="1400"/>
              <a:t>SYNACK(seq=y,ACKnum=x+1)</a:t>
            </a:r>
          </a:p>
          <a:p>
            <a:pPr>
              <a:lnSpc>
                <a:spcPct val="90000"/>
              </a:lnSpc>
              <a:defRPr/>
            </a:pPr>
            <a:endParaRPr lang="en-US" sz="1400"/>
          </a:p>
        </p:txBody>
      </p:sp>
      <p:sp>
        <p:nvSpPr>
          <p:cNvPr id="82975" name="Line 80"/>
          <p:cNvSpPr>
            <a:spLocks noChangeShapeType="1"/>
          </p:cNvSpPr>
          <p:nvPr/>
        </p:nvSpPr>
        <p:spPr bwMode="auto">
          <a:xfrm>
            <a:off x="7242175" y="5435600"/>
            <a:ext cx="2528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2976" name="Text Box 81"/>
          <p:cNvSpPr txBox="1">
            <a:spLocks noChangeArrowheads="1"/>
          </p:cNvSpPr>
          <p:nvPr/>
        </p:nvSpPr>
        <p:spPr bwMode="auto">
          <a:xfrm>
            <a:off x="7542213" y="5248275"/>
            <a:ext cx="1760418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en-US" sz="1400"/>
          </a:p>
          <a:p>
            <a:pPr>
              <a:lnSpc>
                <a:spcPct val="90000"/>
              </a:lnSpc>
              <a:defRPr/>
            </a:pPr>
            <a:r>
              <a:rPr lang="en-US" sz="1400"/>
              <a:t>ACK(ACKnum=y+1)</a:t>
            </a:r>
          </a:p>
          <a:p>
            <a:pPr>
              <a:lnSpc>
                <a:spcPct val="90000"/>
              </a:lnSpc>
              <a:defRPr/>
            </a:pPr>
            <a:endParaRPr lang="en-US" sz="1400"/>
          </a:p>
        </p:txBody>
      </p:sp>
      <p:sp>
        <p:nvSpPr>
          <p:cNvPr id="82977" name="Line 82"/>
          <p:cNvSpPr>
            <a:spLocks noChangeShapeType="1"/>
          </p:cNvSpPr>
          <p:nvPr/>
        </p:nvSpPr>
        <p:spPr bwMode="auto">
          <a:xfrm>
            <a:off x="2373314" y="5822950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2978" name="Text Box 83"/>
          <p:cNvSpPr txBox="1">
            <a:spLocks noChangeArrowheads="1"/>
          </p:cNvSpPr>
          <p:nvPr/>
        </p:nvSpPr>
        <p:spPr bwMode="auto">
          <a:xfrm>
            <a:off x="2433638" y="5356225"/>
            <a:ext cx="1760418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en-US" sz="1400"/>
          </a:p>
          <a:p>
            <a:pPr>
              <a:lnSpc>
                <a:spcPct val="90000"/>
              </a:lnSpc>
              <a:defRPr/>
            </a:pPr>
            <a:r>
              <a:rPr lang="en-US" sz="1400"/>
              <a:t>ACK(ACKnum=y+1)</a:t>
            </a:r>
          </a:p>
          <a:p>
            <a:pPr>
              <a:lnSpc>
                <a:spcPct val="90000"/>
              </a:lnSpc>
              <a:defRPr/>
            </a:pPr>
            <a:endParaRPr lang="en-US" sz="1400"/>
          </a:p>
        </p:txBody>
      </p:sp>
      <p:sp>
        <p:nvSpPr>
          <p:cNvPr id="82979" name="Text Box 84"/>
          <p:cNvSpPr txBox="1">
            <a:spLocks noChangeArrowheads="1"/>
          </p:cNvSpPr>
          <p:nvPr/>
        </p:nvSpPr>
        <p:spPr bwMode="auto">
          <a:xfrm>
            <a:off x="3084513" y="5788026"/>
            <a:ext cx="341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Symbol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15669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39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213A657-07D5-4726-BC13-840E8242E1F7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pic>
        <p:nvPicPr>
          <p:cNvPr id="102403" name="Picture 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6" y="8382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3" name="Rectangle 45"/>
          <p:cNvSpPr>
            <a:spLocks noGrp="1" noChangeArrowheads="1"/>
          </p:cNvSpPr>
          <p:nvPr>
            <p:ph type="title"/>
          </p:nvPr>
        </p:nvSpPr>
        <p:spPr>
          <a:xfrm>
            <a:off x="1957388" y="241301"/>
            <a:ext cx="7772400" cy="72707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TCP: closing a connection</a:t>
            </a:r>
          </a:p>
        </p:txBody>
      </p:sp>
      <p:sp>
        <p:nvSpPr>
          <p:cNvPr id="83974" name="Rectangle 47"/>
          <p:cNvSpPr>
            <a:spLocks noGrp="1" noChangeArrowheads="1"/>
          </p:cNvSpPr>
          <p:nvPr>
            <p:ph type="body" sz="half" idx="2"/>
          </p:nvPr>
        </p:nvSpPr>
        <p:spPr>
          <a:xfrm>
            <a:off x="2260600" y="1328738"/>
            <a:ext cx="76835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client, server </a:t>
            </a:r>
            <a:r>
              <a:rPr lang="en-US" dirty="0">
                <a:solidFill>
                  <a:srgbClr val="008000"/>
                </a:solidFill>
                <a:ea typeface="ＭＳ Ｐゴシック" charset="0"/>
                <a:cs typeface="+mn-cs"/>
              </a:rPr>
              <a:t>each close their side of connection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 TCP segment with 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FIN bit = 1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respond to received FIN with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ACK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on receiving FIN, ACK can be combined with own FIN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simultaneous FIN exchanges can be handled</a:t>
            </a:r>
          </a:p>
        </p:txBody>
      </p:sp>
    </p:spTree>
    <p:extLst>
      <p:ext uri="{BB962C8B-B14F-4D97-AF65-F5344CB8AC3E}">
        <p14:creationId xmlns:p14="http://schemas.microsoft.com/office/powerpoint/2010/main" val="406135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49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6453D904-C04C-405A-8DCF-40B8B665B37A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pic>
        <p:nvPicPr>
          <p:cNvPr id="103427" name="Picture 6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6" y="8382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7" name="Line 4"/>
          <p:cNvSpPr>
            <a:spLocks noChangeShapeType="1"/>
          </p:cNvSpPr>
          <p:nvPr/>
        </p:nvSpPr>
        <p:spPr bwMode="auto">
          <a:xfrm flipH="1">
            <a:off x="4995864" y="2081213"/>
            <a:ext cx="1587" cy="39481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4998" name="Line 10"/>
          <p:cNvSpPr>
            <a:spLocks noChangeShapeType="1"/>
          </p:cNvSpPr>
          <p:nvPr/>
        </p:nvSpPr>
        <p:spPr bwMode="auto">
          <a:xfrm flipH="1">
            <a:off x="7585075" y="2151064"/>
            <a:ext cx="1588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396362" name="Group 74"/>
          <p:cNvGrpSpPr>
            <a:grpSpLocks/>
          </p:cNvGrpSpPr>
          <p:nvPr/>
        </p:nvGrpSpPr>
        <p:grpSpPr bwMode="auto">
          <a:xfrm>
            <a:off x="2068514" y="2762251"/>
            <a:ext cx="1335087" cy="854075"/>
            <a:chOff x="343" y="1740"/>
            <a:chExt cx="841" cy="538"/>
          </a:xfrm>
        </p:grpSpPr>
        <p:sp>
          <p:nvSpPr>
            <p:cNvPr id="85085" name="Text Box 34"/>
            <p:cNvSpPr txBox="1">
              <a:spLocks noChangeArrowheads="1"/>
            </p:cNvSpPr>
            <p:nvPr/>
          </p:nvSpPr>
          <p:spPr bwMode="auto">
            <a:xfrm>
              <a:off x="343" y="2066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FIN_WAIT_2</a:t>
              </a:r>
            </a:p>
          </p:txBody>
        </p:sp>
        <p:sp>
          <p:nvSpPr>
            <p:cNvPr id="85086" name="Line 35"/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6361" name="Group 73"/>
          <p:cNvGrpSpPr>
            <a:grpSpLocks/>
          </p:cNvGrpSpPr>
          <p:nvPr/>
        </p:nvGrpSpPr>
        <p:grpSpPr bwMode="auto">
          <a:xfrm>
            <a:off x="8699500" y="2101850"/>
            <a:ext cx="1390650" cy="960438"/>
            <a:chOff x="4520" y="1324"/>
            <a:chExt cx="876" cy="605"/>
          </a:xfrm>
        </p:grpSpPr>
        <p:sp>
          <p:nvSpPr>
            <p:cNvPr id="85083" name="Text Box 37"/>
            <p:cNvSpPr txBox="1">
              <a:spLocks noChangeArrowheads="1"/>
            </p:cNvSpPr>
            <p:nvPr/>
          </p:nvSpPr>
          <p:spPr bwMode="auto">
            <a:xfrm>
              <a:off x="4520" y="1717"/>
              <a:ext cx="8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CLOSE_WAIT</a:t>
              </a:r>
            </a:p>
          </p:txBody>
        </p:sp>
        <p:sp>
          <p:nvSpPr>
            <p:cNvPr id="85084" name="Line 38"/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6363" name="Group 75"/>
          <p:cNvGrpSpPr>
            <a:grpSpLocks/>
          </p:cNvGrpSpPr>
          <p:nvPr/>
        </p:nvGrpSpPr>
        <p:grpSpPr bwMode="auto">
          <a:xfrm>
            <a:off x="5037138" y="3870325"/>
            <a:ext cx="2495550" cy="579438"/>
            <a:chOff x="2213" y="2438"/>
            <a:chExt cx="1572" cy="365"/>
          </a:xfrm>
        </p:grpSpPr>
        <p:sp>
          <p:nvSpPr>
            <p:cNvPr id="85080" name="Line 41"/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81" name="Rectangle 42"/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82" name="Text Box 43"/>
            <p:cNvSpPr txBox="1">
              <a:spLocks noChangeArrowheads="1"/>
            </p:cNvSpPr>
            <p:nvPr/>
          </p:nvSpPr>
          <p:spPr bwMode="auto">
            <a:xfrm>
              <a:off x="2455" y="2562"/>
              <a:ext cx="106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FINbit=1, seq=y</a:t>
              </a:r>
            </a:p>
          </p:txBody>
        </p:sp>
      </p:grpSp>
      <p:grpSp>
        <p:nvGrpSpPr>
          <p:cNvPr id="396368" name="Group 80"/>
          <p:cNvGrpSpPr>
            <a:grpSpLocks/>
          </p:cNvGrpSpPr>
          <p:nvPr/>
        </p:nvGrpSpPr>
        <p:grpSpPr bwMode="auto">
          <a:xfrm>
            <a:off x="5067300" y="4578351"/>
            <a:ext cx="2508250" cy="582613"/>
            <a:chOff x="2232" y="2884"/>
            <a:chExt cx="1580" cy="367"/>
          </a:xfrm>
        </p:grpSpPr>
        <p:sp>
          <p:nvSpPr>
            <p:cNvPr id="85077" name="Line 44"/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78" name="Rectangle 46"/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79" name="Text Box 47"/>
            <p:cNvSpPr txBox="1">
              <a:spLocks noChangeArrowheads="1"/>
            </p:cNvSpPr>
            <p:nvPr/>
          </p:nvSpPr>
          <p:spPr bwMode="auto">
            <a:xfrm>
              <a:off x="2246" y="2958"/>
              <a:ext cx="154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ACKbit=1; ACKnum=y+1</a:t>
              </a:r>
            </a:p>
          </p:txBody>
        </p:sp>
      </p:grpSp>
      <p:grpSp>
        <p:nvGrpSpPr>
          <p:cNvPr id="396360" name="Group 72"/>
          <p:cNvGrpSpPr>
            <a:grpSpLocks/>
          </p:cNvGrpSpPr>
          <p:nvPr/>
        </p:nvGrpSpPr>
        <p:grpSpPr bwMode="auto">
          <a:xfrm>
            <a:off x="3614739" y="2901951"/>
            <a:ext cx="4930775" cy="854075"/>
            <a:chOff x="1317" y="1828"/>
            <a:chExt cx="3106" cy="538"/>
          </a:xfrm>
        </p:grpSpPr>
        <p:sp>
          <p:nvSpPr>
            <p:cNvPr id="85072" name="Line 13"/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73" name="Rectangle 14"/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74" name="Text Box 15"/>
            <p:cNvSpPr txBox="1">
              <a:spLocks noChangeArrowheads="1"/>
            </p:cNvSpPr>
            <p:nvPr/>
          </p:nvSpPr>
          <p:spPr bwMode="auto">
            <a:xfrm>
              <a:off x="2200" y="1875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ACKbit=1; ACKnum=x+1</a:t>
              </a:r>
            </a:p>
          </p:txBody>
        </p:sp>
        <p:sp>
          <p:nvSpPr>
            <p:cNvPr id="85075" name="Text Box 21"/>
            <p:cNvSpPr txBox="1">
              <a:spLocks noChangeArrowheads="1"/>
            </p:cNvSpPr>
            <p:nvPr/>
          </p:nvSpPr>
          <p:spPr bwMode="auto">
            <a:xfrm>
              <a:off x="1317" y="2066"/>
              <a:ext cx="867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wait for server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close</a:t>
              </a:r>
            </a:p>
          </p:txBody>
        </p:sp>
        <p:sp>
          <p:nvSpPr>
            <p:cNvPr id="85076" name="Text Box 49"/>
            <p:cNvSpPr txBox="1">
              <a:spLocks noChangeArrowheads="1"/>
            </p:cNvSpPr>
            <p:nvPr/>
          </p:nvSpPr>
          <p:spPr bwMode="auto">
            <a:xfrm>
              <a:off x="3822" y="1979"/>
              <a:ext cx="6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can still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send data</a:t>
              </a:r>
            </a:p>
          </p:txBody>
        </p:sp>
      </p:grpSp>
      <p:grpSp>
        <p:nvGrpSpPr>
          <p:cNvPr id="396366" name="Group 78"/>
          <p:cNvGrpSpPr>
            <a:grpSpLocks/>
          </p:cNvGrpSpPr>
          <p:nvPr/>
        </p:nvGrpSpPr>
        <p:grpSpPr bwMode="auto">
          <a:xfrm>
            <a:off x="7583488" y="3032125"/>
            <a:ext cx="2501900" cy="1735138"/>
            <a:chOff x="3817" y="1910"/>
            <a:chExt cx="1576" cy="1093"/>
          </a:xfrm>
        </p:grpSpPr>
        <p:sp>
          <p:nvSpPr>
            <p:cNvPr id="85068" name="Text Box 50"/>
            <p:cNvSpPr txBox="1">
              <a:spLocks noChangeArrowheads="1"/>
            </p:cNvSpPr>
            <p:nvPr/>
          </p:nvSpPr>
          <p:spPr bwMode="auto">
            <a:xfrm>
              <a:off x="3817" y="2703"/>
              <a:ext cx="79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can no longer</a:t>
              </a:r>
            </a:p>
            <a:p>
              <a:pPr algn="l">
                <a:lnSpc>
                  <a:spcPct val="90000"/>
                </a:lnSpc>
                <a:defRPr/>
              </a:pPr>
              <a:r>
                <a:rPr lang="en-US" sz="1400"/>
                <a:t>send data</a:t>
              </a:r>
            </a:p>
          </p:txBody>
        </p:sp>
        <p:grpSp>
          <p:nvGrpSpPr>
            <p:cNvPr id="103500" name="Group 76"/>
            <p:cNvGrpSpPr>
              <a:grpSpLocks/>
            </p:cNvGrpSpPr>
            <p:nvPr/>
          </p:nvGrpSpPr>
          <p:grpSpPr bwMode="auto">
            <a:xfrm>
              <a:off x="4691" y="1910"/>
              <a:ext cx="702" cy="723"/>
              <a:chOff x="4691" y="1910"/>
              <a:chExt cx="702" cy="723"/>
            </a:xfrm>
          </p:grpSpPr>
          <p:sp>
            <p:nvSpPr>
              <p:cNvPr id="85070" name="Line 39"/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5071" name="Text Box 55"/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/>
                  <a:t>LAST_ACK</a:t>
                </a:r>
              </a:p>
            </p:txBody>
          </p:sp>
        </p:grpSp>
      </p:grpSp>
      <p:grpSp>
        <p:nvGrpSpPr>
          <p:cNvPr id="396370" name="Group 82"/>
          <p:cNvGrpSpPr>
            <a:grpSpLocks/>
          </p:cNvGrpSpPr>
          <p:nvPr/>
        </p:nvGrpSpPr>
        <p:grpSpPr bwMode="auto">
          <a:xfrm>
            <a:off x="9166226" y="4213226"/>
            <a:ext cx="917575" cy="1223963"/>
            <a:chOff x="4814" y="2654"/>
            <a:chExt cx="578" cy="771"/>
          </a:xfrm>
        </p:grpSpPr>
        <p:sp>
          <p:nvSpPr>
            <p:cNvPr id="85066" name="Text Box 11"/>
            <p:cNvSpPr txBox="1">
              <a:spLocks noChangeArrowheads="1"/>
            </p:cNvSpPr>
            <p:nvPr/>
          </p:nvSpPr>
          <p:spPr bwMode="auto">
            <a:xfrm>
              <a:off x="4814" y="3213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CLOSED</a:t>
              </a:r>
            </a:p>
          </p:txBody>
        </p:sp>
        <p:sp>
          <p:nvSpPr>
            <p:cNvPr id="85067" name="Line 57"/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6365" name="Group 77"/>
          <p:cNvGrpSpPr>
            <a:grpSpLocks/>
          </p:cNvGrpSpPr>
          <p:nvPr/>
        </p:nvGrpSpPr>
        <p:grpSpPr bwMode="auto">
          <a:xfrm>
            <a:off x="2109789" y="3605214"/>
            <a:ext cx="1400175" cy="1044575"/>
            <a:chOff x="369" y="2271"/>
            <a:chExt cx="882" cy="658"/>
          </a:xfrm>
        </p:grpSpPr>
        <p:sp>
          <p:nvSpPr>
            <p:cNvPr id="85064" name="Text Box 58"/>
            <p:cNvSpPr txBox="1">
              <a:spLocks noChangeArrowheads="1"/>
            </p:cNvSpPr>
            <p:nvPr/>
          </p:nvSpPr>
          <p:spPr bwMode="auto">
            <a:xfrm>
              <a:off x="369" y="2717"/>
              <a:ext cx="8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TIMED_WAIT</a:t>
              </a:r>
            </a:p>
          </p:txBody>
        </p:sp>
        <p:sp>
          <p:nvSpPr>
            <p:cNvPr id="85065" name="Line 60"/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6369" name="Group 81"/>
          <p:cNvGrpSpPr>
            <a:grpSpLocks/>
          </p:cNvGrpSpPr>
          <p:nvPr/>
        </p:nvGrpSpPr>
        <p:grpSpPr bwMode="auto">
          <a:xfrm>
            <a:off x="2198688" y="4486276"/>
            <a:ext cx="2743200" cy="1768475"/>
            <a:chOff x="425" y="2826"/>
            <a:chExt cx="1728" cy="1114"/>
          </a:xfrm>
        </p:grpSpPr>
        <p:sp>
          <p:nvSpPr>
            <p:cNvPr id="85058" name="Line 52"/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59" name="Text Box 51"/>
            <p:cNvSpPr txBox="1">
              <a:spLocks noChangeArrowheads="1"/>
            </p:cNvSpPr>
            <p:nvPr/>
          </p:nvSpPr>
          <p:spPr bwMode="auto">
            <a:xfrm>
              <a:off x="1216" y="3093"/>
              <a:ext cx="937" cy="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timed wait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for 2*max 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segment lifetime</a:t>
              </a:r>
            </a:p>
          </p:txBody>
        </p:sp>
        <p:sp>
          <p:nvSpPr>
            <p:cNvPr id="85060" name="Line 53"/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61" name="Line 54"/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62" name="Text Box 59"/>
            <p:cNvSpPr txBox="1">
              <a:spLocks noChangeArrowheads="1"/>
            </p:cNvSpPr>
            <p:nvPr/>
          </p:nvSpPr>
          <p:spPr bwMode="auto">
            <a:xfrm>
              <a:off x="425" y="3728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CLOSED</a:t>
              </a:r>
            </a:p>
          </p:txBody>
        </p:sp>
        <p:sp>
          <p:nvSpPr>
            <p:cNvPr id="85063" name="Line 61"/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5008" name="Rectangle 62"/>
          <p:cNvSpPr>
            <a:spLocks noGrp="1" noChangeArrowheads="1"/>
          </p:cNvSpPr>
          <p:nvPr>
            <p:ph type="title"/>
          </p:nvPr>
        </p:nvSpPr>
        <p:spPr>
          <a:xfrm>
            <a:off x="1957388" y="241301"/>
            <a:ext cx="7772400" cy="72707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TCP: closing a connection</a:t>
            </a:r>
          </a:p>
        </p:txBody>
      </p:sp>
      <p:grpSp>
        <p:nvGrpSpPr>
          <p:cNvPr id="396359" name="Group 71"/>
          <p:cNvGrpSpPr>
            <a:grpSpLocks/>
          </p:cNvGrpSpPr>
          <p:nvPr/>
        </p:nvGrpSpPr>
        <p:grpSpPr bwMode="auto">
          <a:xfrm>
            <a:off x="2074864" y="2046289"/>
            <a:ext cx="1335087" cy="700087"/>
            <a:chOff x="347" y="1289"/>
            <a:chExt cx="841" cy="441"/>
          </a:xfrm>
        </p:grpSpPr>
        <p:sp>
          <p:nvSpPr>
            <p:cNvPr id="85056" name="Text Box 31"/>
            <p:cNvSpPr txBox="1">
              <a:spLocks noChangeArrowheads="1"/>
            </p:cNvSpPr>
            <p:nvPr/>
          </p:nvSpPr>
          <p:spPr bwMode="auto">
            <a:xfrm>
              <a:off x="347" y="1518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FIN_WAIT_1</a:t>
              </a:r>
            </a:p>
          </p:txBody>
        </p:sp>
        <p:sp>
          <p:nvSpPr>
            <p:cNvPr id="85057" name="Line 32"/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96358" name="Group 70"/>
          <p:cNvGrpSpPr>
            <a:grpSpLocks/>
          </p:cNvGrpSpPr>
          <p:nvPr/>
        </p:nvGrpSpPr>
        <p:grpSpPr bwMode="auto">
          <a:xfrm>
            <a:off x="2728913" y="2100263"/>
            <a:ext cx="4775200" cy="1014412"/>
            <a:chOff x="759" y="1323"/>
            <a:chExt cx="3008" cy="639"/>
          </a:xfrm>
        </p:grpSpPr>
        <p:sp>
          <p:nvSpPr>
            <p:cNvPr id="85051" name="Line 6"/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52" name="Rectangle 7"/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53" name="Text Box 8"/>
            <p:cNvSpPr txBox="1">
              <a:spLocks noChangeArrowheads="1"/>
            </p:cNvSpPr>
            <p:nvPr/>
          </p:nvSpPr>
          <p:spPr bwMode="auto">
            <a:xfrm>
              <a:off x="2430" y="1493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FINbit=1, seq=x</a:t>
              </a:r>
            </a:p>
          </p:txBody>
        </p:sp>
        <p:sp>
          <p:nvSpPr>
            <p:cNvPr id="85054" name="Text Box 9"/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can no longer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send but can</a:t>
              </a:r>
            </a:p>
            <a:p>
              <a:pPr algn="r">
                <a:lnSpc>
                  <a:spcPct val="90000"/>
                </a:lnSpc>
                <a:defRPr/>
              </a:pPr>
              <a:r>
                <a:rPr lang="en-US" sz="1400"/>
                <a:t> receive data</a:t>
              </a:r>
            </a:p>
          </p:txBody>
        </p:sp>
        <p:sp>
          <p:nvSpPr>
            <p:cNvPr id="85055" name="Text Box 67"/>
            <p:cNvSpPr txBox="1">
              <a:spLocks noChangeArrowheads="1"/>
            </p:cNvSpPr>
            <p:nvPr/>
          </p:nvSpPr>
          <p:spPr bwMode="auto">
            <a:xfrm>
              <a:off x="759" y="1323"/>
              <a:ext cx="14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>
                  <a:latin typeface="Courier New" charset="0"/>
                </a:rPr>
                <a:t>clientSocket.close()</a:t>
              </a:r>
            </a:p>
          </p:txBody>
        </p:sp>
      </p:grpSp>
      <p:sp>
        <p:nvSpPr>
          <p:cNvPr id="85011" name="Text Box 84"/>
          <p:cNvSpPr txBox="1">
            <a:spLocks noChangeArrowheads="1"/>
          </p:cNvSpPr>
          <p:nvPr/>
        </p:nvSpPr>
        <p:spPr bwMode="auto">
          <a:xfrm>
            <a:off x="2022476" y="1368426"/>
            <a:ext cx="11604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i="1">
                <a:solidFill>
                  <a:srgbClr val="000099"/>
                </a:solidFill>
              </a:rPr>
              <a:t>client state</a:t>
            </a:r>
          </a:p>
          <a:p>
            <a:pPr algn="r">
              <a:defRPr/>
            </a:pPr>
            <a:endParaRPr lang="en-US" i="1">
              <a:solidFill>
                <a:srgbClr val="000099"/>
              </a:solidFill>
            </a:endParaRPr>
          </a:p>
        </p:txBody>
      </p:sp>
      <p:sp>
        <p:nvSpPr>
          <p:cNvPr id="85012" name="Text Box 85"/>
          <p:cNvSpPr txBox="1">
            <a:spLocks noChangeArrowheads="1"/>
          </p:cNvSpPr>
          <p:nvPr/>
        </p:nvSpPr>
        <p:spPr bwMode="auto">
          <a:xfrm>
            <a:off x="8877300" y="1385889"/>
            <a:ext cx="12382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i="1">
                <a:solidFill>
                  <a:srgbClr val="000099"/>
                </a:solidFill>
              </a:rPr>
              <a:t>server state</a:t>
            </a:r>
          </a:p>
          <a:p>
            <a:pPr algn="r">
              <a:defRPr/>
            </a:pPr>
            <a:endParaRPr lang="en-US" i="1">
              <a:solidFill>
                <a:srgbClr val="000099"/>
              </a:solidFill>
            </a:endParaRPr>
          </a:p>
        </p:txBody>
      </p:sp>
      <p:sp>
        <p:nvSpPr>
          <p:cNvPr id="85013" name="Text Box 86"/>
          <p:cNvSpPr txBox="1">
            <a:spLocks noChangeArrowheads="1"/>
          </p:cNvSpPr>
          <p:nvPr/>
        </p:nvSpPr>
        <p:spPr bwMode="auto">
          <a:xfrm>
            <a:off x="9293226" y="1768475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ESTAB</a:t>
            </a:r>
          </a:p>
        </p:txBody>
      </p:sp>
      <p:sp>
        <p:nvSpPr>
          <p:cNvPr id="85014" name="Text Box 87"/>
          <p:cNvSpPr txBox="1">
            <a:spLocks noChangeArrowheads="1"/>
          </p:cNvSpPr>
          <p:nvPr/>
        </p:nvSpPr>
        <p:spPr bwMode="auto">
          <a:xfrm>
            <a:off x="2057401" y="1751013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ESTAB</a:t>
            </a:r>
          </a:p>
        </p:txBody>
      </p:sp>
      <p:grpSp>
        <p:nvGrpSpPr>
          <p:cNvPr id="103446" name="Group 88"/>
          <p:cNvGrpSpPr>
            <a:grpSpLocks/>
          </p:cNvGrpSpPr>
          <p:nvPr/>
        </p:nvGrpSpPr>
        <p:grpSpPr bwMode="auto">
          <a:xfrm>
            <a:off x="4664075" y="1443039"/>
            <a:ext cx="642938" cy="600075"/>
            <a:chOff x="-44" y="1473"/>
            <a:chExt cx="981" cy="1105"/>
          </a:xfrm>
        </p:grpSpPr>
        <p:pic>
          <p:nvPicPr>
            <p:cNvPr id="103480" name="Picture 8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81" name="Freeform 9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3447" name="Group 91"/>
          <p:cNvGrpSpPr>
            <a:grpSpLocks/>
          </p:cNvGrpSpPr>
          <p:nvPr/>
        </p:nvGrpSpPr>
        <p:grpSpPr bwMode="auto">
          <a:xfrm>
            <a:off x="7296150" y="1446213"/>
            <a:ext cx="336550" cy="512762"/>
            <a:chOff x="4140" y="429"/>
            <a:chExt cx="1425" cy="2396"/>
          </a:xfrm>
        </p:grpSpPr>
        <p:sp>
          <p:nvSpPr>
            <p:cNvPr id="103448" name="Freeform 9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18" name="Rectangle 93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50" name="Freeform 9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1" name="Freeform 9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21" name="Rectangle 96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3453" name="Group 9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5047" name="AutoShape 9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5048" name="AutoShape 99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5023" name="Rectangle 100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3455" name="Group 10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5045" name="AutoShape 102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5046" name="AutoShape 103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5025" name="Rectangle 104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26" name="Rectangle 105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3458" name="Group 10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043" name="AutoShape 107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5044" name="AutoShape 108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3459" name="Freeform 10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460" name="Group 11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5041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5042" name="AutoShape 11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5030" name="Rectangle 113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62" name="Freeform 11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3" name="Freeform 11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3" name="Oval 116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65" name="Freeform 11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5" name="AutoShape 118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36" name="AutoShape 119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37" name="Oval 120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38" name="Oval 121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5039" name="Oval 122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5040" name="Rectangle 123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606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9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9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9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601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F5860F7D-2FE8-4AA0-92D7-5054B31B51D4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860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51325" cy="4648200"/>
          </a:xfrm>
        </p:spPr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connection management</a:t>
            </a:r>
          </a:p>
          <a:p>
            <a:pPr marL="566738" indent="-566738">
              <a:buNone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104454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39814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145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704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DA0ACD6-1B3D-421F-9D62-B5E73BD0E1BB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1" y="1600200"/>
            <a:ext cx="776287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i="1">
                <a:solidFill>
                  <a:srgbClr val="CC0000"/>
                </a:solidFill>
              </a:rPr>
              <a:t>congestion</a:t>
            </a:r>
            <a:r>
              <a:rPr lang="en-US" altLang="en-US" sz="3200">
                <a:solidFill>
                  <a:srgbClr val="CC0000"/>
                </a:solidFill>
              </a:rPr>
              <a:t>:</a:t>
            </a:r>
            <a:endParaRPr lang="en-US" altLang="en-US" smtClean="0">
              <a:solidFill>
                <a:srgbClr val="CC0000"/>
              </a:solidFill>
            </a:endParaRPr>
          </a:p>
          <a:p>
            <a:r>
              <a:rPr lang="en-US" altLang="en-US" smtClean="0"/>
              <a:t>informally: </a:t>
            </a:r>
            <a:r>
              <a:rPr lang="ja-JP" altLang="en-US" smtClean="0"/>
              <a:t>“</a:t>
            </a:r>
            <a:r>
              <a:rPr lang="en-US" altLang="ja-JP" smtClean="0"/>
              <a:t>too many sources sending too much data too fast for </a:t>
            </a:r>
            <a:r>
              <a:rPr lang="en-US" altLang="ja-JP" i="1" smtClean="0">
                <a:solidFill>
                  <a:srgbClr val="000099"/>
                </a:solidFill>
              </a:rPr>
              <a:t>network</a:t>
            </a:r>
            <a:r>
              <a:rPr lang="en-US" altLang="ja-JP" smtClean="0"/>
              <a:t> to handle</a:t>
            </a:r>
            <a:r>
              <a:rPr lang="ja-JP" altLang="en-US" smtClean="0"/>
              <a:t>”</a:t>
            </a:r>
            <a:endParaRPr lang="en-US" altLang="ja-JP" smtClean="0"/>
          </a:p>
          <a:p>
            <a:r>
              <a:rPr lang="en-US" altLang="en-US" smtClean="0"/>
              <a:t>different from flow control!</a:t>
            </a:r>
          </a:p>
          <a:p>
            <a:r>
              <a:rPr lang="en-US" altLang="en-US" smtClean="0"/>
              <a:t>manifestations:</a:t>
            </a:r>
          </a:p>
          <a:p>
            <a:pPr lvl="1"/>
            <a:r>
              <a:rPr lang="en-US" altLang="en-US" sz="2800"/>
              <a:t>lost packets (buffer overflow at routers)</a:t>
            </a:r>
          </a:p>
          <a:p>
            <a:pPr lvl="1"/>
            <a:r>
              <a:rPr lang="en-US" altLang="en-US" sz="2800"/>
              <a:t>long delays (queueing in router buffers)</a:t>
            </a:r>
          </a:p>
          <a:p>
            <a:r>
              <a:rPr lang="en-US" altLang="en-US" smtClean="0"/>
              <a:t>a top-10 problem!</a:t>
            </a:r>
          </a:p>
          <a:p>
            <a:endParaRPr lang="en-US" altLang="en-US" sz="2400"/>
          </a:p>
        </p:txBody>
      </p:sp>
      <p:pic>
        <p:nvPicPr>
          <p:cNvPr id="105476" name="Picture 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6" y="10922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0738" y="352425"/>
            <a:ext cx="7772400" cy="1030288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Principles of congestion control</a:t>
            </a:r>
            <a:endParaRPr lang="en-US">
              <a:ea typeface="ＭＳ Ｐゴシック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67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80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4069FB9E-F38E-4B4B-B29A-540E33167FDB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06499" name="Freeform 9"/>
          <p:cNvSpPr>
            <a:spLocks/>
          </p:cNvSpPr>
          <p:nvPr/>
        </p:nvSpPr>
        <p:spPr bwMode="auto">
          <a:xfrm flipH="1">
            <a:off x="5756276" y="1647826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00" name="Group 124"/>
          <p:cNvGrpSpPr>
            <a:grpSpLocks/>
          </p:cNvGrpSpPr>
          <p:nvPr/>
        </p:nvGrpSpPr>
        <p:grpSpPr bwMode="auto">
          <a:xfrm>
            <a:off x="5422901" y="2344739"/>
            <a:ext cx="525463" cy="434975"/>
            <a:chOff x="-44" y="1473"/>
            <a:chExt cx="981" cy="1105"/>
          </a:xfrm>
        </p:grpSpPr>
        <p:pic>
          <p:nvPicPr>
            <p:cNvPr id="106672" name="Picture 125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673" name="Freeform 1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06501" name="Picture 12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2" name="Freeform 3"/>
          <p:cNvSpPr>
            <a:spLocks/>
          </p:cNvSpPr>
          <p:nvPr/>
        </p:nvSpPr>
        <p:spPr bwMode="auto">
          <a:xfrm>
            <a:off x="9740901" y="2840039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Freeform 6"/>
          <p:cNvSpPr>
            <a:spLocks/>
          </p:cNvSpPr>
          <p:nvPr/>
        </p:nvSpPr>
        <p:spPr bwMode="auto">
          <a:xfrm>
            <a:off x="10117139" y="1858964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4" name="Freeform 12"/>
          <p:cNvSpPr>
            <a:spLocks/>
          </p:cNvSpPr>
          <p:nvPr/>
        </p:nvSpPr>
        <p:spPr bwMode="auto">
          <a:xfrm flipH="1">
            <a:off x="4881564" y="2589214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74" name="Rectangle 14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1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88075" name="Rectangle 15"/>
          <p:cNvSpPr>
            <a:spLocks noGrp="1" noChangeArrowheads="1"/>
          </p:cNvSpPr>
          <p:nvPr>
            <p:ph type="body" sz="half" idx="1"/>
          </p:nvPr>
        </p:nvSpPr>
        <p:spPr>
          <a:xfrm>
            <a:off x="1771651" y="1514475"/>
            <a:ext cx="3152775" cy="1938338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000">
                <a:ea typeface="ＭＳ Ｐゴシック" charset="0"/>
              </a:rPr>
              <a:t>two senders, two receivers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>
                <a:ea typeface="ＭＳ Ｐゴシック" charset="0"/>
              </a:rPr>
              <a:t>one router, infinite buffers 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>
                <a:ea typeface="ＭＳ Ｐゴシック" charset="0"/>
              </a:rPr>
              <a:t>output link capacity: R</a:t>
            </a:r>
          </a:p>
          <a:p>
            <a:pPr>
              <a:buFont typeface="Wingdings" charset="0"/>
              <a:buChar char="v"/>
              <a:defRPr/>
            </a:pPr>
            <a:r>
              <a:rPr lang="en-US" sz="2000">
                <a:ea typeface="ＭＳ Ｐゴシック" charset="0"/>
              </a:rPr>
              <a:t>no retransmission</a:t>
            </a:r>
          </a:p>
          <a:p>
            <a:pPr>
              <a:buFont typeface="Wingdings" charset="0"/>
              <a:buChar char="v"/>
              <a:defRPr/>
            </a:pPr>
            <a:endParaRPr lang="en-US" sz="2400">
              <a:ea typeface="ＭＳ Ｐゴシック" charset="0"/>
            </a:endParaRPr>
          </a:p>
        </p:txBody>
      </p:sp>
      <p:sp>
        <p:nvSpPr>
          <p:cNvPr id="88076" name="Rectangle 16"/>
          <p:cNvSpPr>
            <a:spLocks noGrp="1" noChangeArrowheads="1"/>
          </p:cNvSpPr>
          <p:nvPr>
            <p:ph type="body" sz="half" idx="2"/>
          </p:nvPr>
        </p:nvSpPr>
        <p:spPr>
          <a:xfrm>
            <a:off x="2954339" y="5802314"/>
            <a:ext cx="3297237" cy="7842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000">
                <a:ea typeface="ＭＳ Ｐゴシック" charset="0"/>
              </a:rPr>
              <a:t>maximum per-connection throughput: R/2</a:t>
            </a:r>
          </a:p>
        </p:txBody>
      </p:sp>
      <p:sp>
        <p:nvSpPr>
          <p:cNvPr id="106508" name="Oval 18"/>
          <p:cNvSpPr>
            <a:spLocks noChangeArrowheads="1"/>
          </p:cNvSpPr>
          <p:nvPr/>
        </p:nvSpPr>
        <p:spPr bwMode="auto">
          <a:xfrm>
            <a:off x="7159626" y="3087688"/>
            <a:ext cx="1063625" cy="2349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6509" name="Line 19"/>
          <p:cNvSpPr>
            <a:spLocks noChangeShapeType="1"/>
          </p:cNvSpPr>
          <p:nvPr/>
        </p:nvSpPr>
        <p:spPr bwMode="auto">
          <a:xfrm>
            <a:off x="7159625" y="3068638"/>
            <a:ext cx="0" cy="146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0" name="Line 20"/>
          <p:cNvSpPr>
            <a:spLocks noChangeShapeType="1"/>
          </p:cNvSpPr>
          <p:nvPr/>
        </p:nvSpPr>
        <p:spPr bwMode="auto">
          <a:xfrm>
            <a:off x="8223250" y="3068638"/>
            <a:ext cx="0" cy="14605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1" name="Rectangle 21"/>
          <p:cNvSpPr>
            <a:spLocks noChangeArrowheads="1"/>
          </p:cNvSpPr>
          <p:nvPr/>
        </p:nvSpPr>
        <p:spPr bwMode="auto">
          <a:xfrm>
            <a:off x="7159626" y="3068639"/>
            <a:ext cx="252413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6512" name="Rectangle 22"/>
          <p:cNvSpPr>
            <a:spLocks noChangeArrowheads="1"/>
          </p:cNvSpPr>
          <p:nvPr/>
        </p:nvSpPr>
        <p:spPr bwMode="auto">
          <a:xfrm>
            <a:off x="7900988" y="3059114"/>
            <a:ext cx="322262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6513" name="Oval 23"/>
          <p:cNvSpPr>
            <a:spLocks noChangeArrowheads="1"/>
          </p:cNvSpPr>
          <p:nvPr/>
        </p:nvSpPr>
        <p:spPr bwMode="auto">
          <a:xfrm>
            <a:off x="7148514" y="2900363"/>
            <a:ext cx="1063625" cy="2730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06514" name="Group 24"/>
          <p:cNvGrpSpPr>
            <a:grpSpLocks/>
          </p:cNvGrpSpPr>
          <p:nvPr/>
        </p:nvGrpSpPr>
        <p:grpSpPr bwMode="auto">
          <a:xfrm>
            <a:off x="7405688" y="2959100"/>
            <a:ext cx="527050" cy="160338"/>
            <a:chOff x="2848" y="848"/>
            <a:chExt cx="140" cy="98"/>
          </a:xfrm>
        </p:grpSpPr>
        <p:sp>
          <p:nvSpPr>
            <p:cNvPr id="106669" name="Line 2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670" name="Line 2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671" name="Line 2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6515" name="Group 28"/>
          <p:cNvGrpSpPr>
            <a:grpSpLocks/>
          </p:cNvGrpSpPr>
          <p:nvPr/>
        </p:nvGrpSpPr>
        <p:grpSpPr bwMode="auto">
          <a:xfrm flipV="1">
            <a:off x="7405688" y="2957513"/>
            <a:ext cx="527050" cy="158750"/>
            <a:chOff x="2848" y="848"/>
            <a:chExt cx="140" cy="98"/>
          </a:xfrm>
        </p:grpSpPr>
        <p:sp>
          <p:nvSpPr>
            <p:cNvPr id="106666" name="Line 2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667" name="Line 3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668" name="Line 3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516" name="Text Box 32"/>
          <p:cNvSpPr txBox="1">
            <a:spLocks noChangeArrowheads="1"/>
          </p:cNvSpPr>
          <p:nvPr/>
        </p:nvSpPr>
        <p:spPr bwMode="auto">
          <a:xfrm>
            <a:off x="7405689" y="2178050"/>
            <a:ext cx="14239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1200">
                <a:solidFill>
                  <a:schemeClr val="tx2"/>
                </a:solidFill>
                <a:latin typeface="Arial" panose="020B0604020202020204" pitchFamily="34" charset="0"/>
              </a:rPr>
              <a:t>unlimited shared output link buffers</a:t>
            </a:r>
          </a:p>
        </p:txBody>
      </p:sp>
      <p:sp>
        <p:nvSpPr>
          <p:cNvPr id="106517" name="Line 33"/>
          <p:cNvSpPr>
            <a:spLocks noChangeShapeType="1"/>
          </p:cNvSpPr>
          <p:nvPr/>
        </p:nvSpPr>
        <p:spPr bwMode="auto">
          <a:xfrm flipH="1">
            <a:off x="6043614" y="2722564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8" name="Line 34"/>
          <p:cNvSpPr>
            <a:spLocks noChangeShapeType="1"/>
          </p:cNvSpPr>
          <p:nvPr/>
        </p:nvSpPr>
        <p:spPr bwMode="auto">
          <a:xfrm flipH="1">
            <a:off x="6529388" y="2722564"/>
            <a:ext cx="4381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19" name="Group 35"/>
          <p:cNvGrpSpPr>
            <a:grpSpLocks/>
          </p:cNvGrpSpPr>
          <p:nvPr/>
        </p:nvGrpSpPr>
        <p:grpSpPr bwMode="auto">
          <a:xfrm>
            <a:off x="5983289" y="1703389"/>
            <a:ext cx="650875" cy="904875"/>
            <a:chOff x="12762" y="10336"/>
            <a:chExt cx="1027" cy="1700"/>
          </a:xfrm>
        </p:grpSpPr>
        <p:sp>
          <p:nvSpPr>
            <p:cNvPr id="106660" name="Rectangle 36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61" name="Rectangle 37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62" name="Line 38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3" name="Line 39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4" name="Line 40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5" name="Line 41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20" name="Text Box 42"/>
          <p:cNvSpPr txBox="1">
            <a:spLocks noChangeArrowheads="1"/>
          </p:cNvSpPr>
          <p:nvPr/>
        </p:nvSpPr>
        <p:spPr bwMode="auto">
          <a:xfrm>
            <a:off x="5308601" y="1863725"/>
            <a:ext cx="63341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000">
                <a:solidFill>
                  <a:schemeClr val="tx2"/>
                </a:solidFill>
                <a:latin typeface="Arial" panose="020B0604020202020204" pitchFamily="34" charset="0"/>
              </a:rPr>
              <a:t>Host A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6521" name="Text Box 43"/>
          <p:cNvSpPr txBox="1">
            <a:spLocks noChangeArrowheads="1"/>
          </p:cNvSpPr>
          <p:nvPr/>
        </p:nvSpPr>
        <p:spPr bwMode="auto">
          <a:xfrm>
            <a:off x="4578351" y="1136651"/>
            <a:ext cx="2132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latin typeface="Arial" panose="020B0604020202020204" pitchFamily="34" charset="0"/>
              </a:rPr>
              <a:t>original data: </a:t>
            </a:r>
            <a:r>
              <a:rPr lang="en-US" altLang="en-US" sz="2400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solidFill>
                  <a:srgbClr val="CC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CC0000"/>
                </a:solidFill>
                <a:latin typeface="Arial" panose="020B0604020202020204" pitchFamily="34" charset="0"/>
              </a:rPr>
              <a:t> </a:t>
            </a:r>
            <a:endParaRPr lang="en-US" altLang="en-US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06522" name="Line 44"/>
          <p:cNvSpPr>
            <a:spLocks noChangeShapeType="1"/>
          </p:cNvSpPr>
          <p:nvPr/>
        </p:nvSpPr>
        <p:spPr bwMode="auto">
          <a:xfrm flipH="1">
            <a:off x="5605463" y="3579814"/>
            <a:ext cx="4381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23" name="Group 45"/>
          <p:cNvGrpSpPr>
            <a:grpSpLocks/>
          </p:cNvGrpSpPr>
          <p:nvPr/>
        </p:nvGrpSpPr>
        <p:grpSpPr bwMode="auto">
          <a:xfrm>
            <a:off x="5126039" y="2598739"/>
            <a:ext cx="650875" cy="904875"/>
            <a:chOff x="12762" y="10336"/>
            <a:chExt cx="1027" cy="1700"/>
          </a:xfrm>
        </p:grpSpPr>
        <p:sp>
          <p:nvSpPr>
            <p:cNvPr id="106654" name="Rectangle 46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55" name="Rectangle 47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56" name="Line 48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7" name="Line 49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8" name="Line 50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9" name="Line 51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24" name="Text Box 52"/>
          <p:cNvSpPr txBox="1">
            <a:spLocks noChangeArrowheads="1"/>
          </p:cNvSpPr>
          <p:nvPr/>
        </p:nvSpPr>
        <p:spPr bwMode="auto">
          <a:xfrm>
            <a:off x="4225926" y="3413125"/>
            <a:ext cx="63341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000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6525" name="Line 53"/>
          <p:cNvSpPr>
            <a:spLocks noChangeShapeType="1"/>
          </p:cNvSpPr>
          <p:nvPr/>
        </p:nvSpPr>
        <p:spPr bwMode="auto">
          <a:xfrm flipH="1">
            <a:off x="6529388" y="3122613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26" name="Line 54"/>
          <p:cNvSpPr>
            <a:spLocks noChangeShapeType="1"/>
          </p:cNvSpPr>
          <p:nvPr/>
        </p:nvSpPr>
        <p:spPr bwMode="auto">
          <a:xfrm flipH="1">
            <a:off x="8148638" y="3122613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27" name="Line 55"/>
          <p:cNvSpPr>
            <a:spLocks noChangeShapeType="1"/>
          </p:cNvSpPr>
          <p:nvPr/>
        </p:nvSpPr>
        <p:spPr bwMode="auto">
          <a:xfrm flipH="1">
            <a:off x="8272464" y="2722564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28" name="Line 57"/>
          <p:cNvSpPr>
            <a:spLocks noChangeShapeType="1"/>
          </p:cNvSpPr>
          <p:nvPr/>
        </p:nvSpPr>
        <p:spPr bwMode="auto">
          <a:xfrm flipH="1">
            <a:off x="9166225" y="2732088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29" name="Group 58"/>
          <p:cNvGrpSpPr>
            <a:grpSpLocks/>
          </p:cNvGrpSpPr>
          <p:nvPr/>
        </p:nvGrpSpPr>
        <p:grpSpPr bwMode="auto">
          <a:xfrm>
            <a:off x="9478964" y="1808164"/>
            <a:ext cx="650875" cy="904875"/>
            <a:chOff x="12762" y="10336"/>
            <a:chExt cx="1027" cy="1700"/>
          </a:xfrm>
        </p:grpSpPr>
        <p:sp>
          <p:nvSpPr>
            <p:cNvPr id="106648" name="Rectangle 5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49" name="Rectangle 6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50" name="Line 6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1" name="Line 6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2" name="Line 6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3" name="Line 6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530" name="Group 65"/>
          <p:cNvGrpSpPr>
            <a:grpSpLocks/>
          </p:cNvGrpSpPr>
          <p:nvPr/>
        </p:nvGrpSpPr>
        <p:grpSpPr bwMode="auto">
          <a:xfrm>
            <a:off x="9097964" y="2825751"/>
            <a:ext cx="650875" cy="906463"/>
            <a:chOff x="12762" y="10336"/>
            <a:chExt cx="1027" cy="1700"/>
          </a:xfrm>
        </p:grpSpPr>
        <p:sp>
          <p:nvSpPr>
            <p:cNvPr id="106642" name="Rectangle 66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43" name="Rectangle 67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44" name="Line 68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5" name="Line 69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6" name="Line 70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7" name="Line 71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31" name="Oval 72"/>
          <p:cNvSpPr>
            <a:spLocks noChangeArrowheads="1"/>
          </p:cNvSpPr>
          <p:nvPr/>
        </p:nvSpPr>
        <p:spPr bwMode="auto">
          <a:xfrm>
            <a:off x="6319839" y="1760539"/>
            <a:ext cx="92075" cy="904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6532" name="Oval 73"/>
          <p:cNvSpPr>
            <a:spLocks noChangeArrowheads="1"/>
          </p:cNvSpPr>
          <p:nvPr/>
        </p:nvSpPr>
        <p:spPr bwMode="auto">
          <a:xfrm>
            <a:off x="5376864" y="2636839"/>
            <a:ext cx="92075" cy="904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6533" name="Line 74"/>
          <p:cNvSpPr>
            <a:spLocks noChangeShapeType="1"/>
          </p:cNvSpPr>
          <p:nvPr/>
        </p:nvSpPr>
        <p:spPr bwMode="auto">
          <a:xfrm>
            <a:off x="5894389" y="1539876"/>
            <a:ext cx="369887" cy="252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34" name="Text Box 75"/>
          <p:cNvSpPr txBox="1">
            <a:spLocks noChangeArrowheads="1"/>
          </p:cNvSpPr>
          <p:nvPr/>
        </p:nvSpPr>
        <p:spPr bwMode="auto">
          <a:xfrm>
            <a:off x="8351838" y="1217613"/>
            <a:ext cx="1790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latin typeface="Arial" panose="020B0604020202020204" pitchFamily="34" charset="0"/>
              </a:rPr>
              <a:t>throughput:</a:t>
            </a:r>
            <a:r>
              <a:rPr lang="en-US" altLang="en-US" sz="2400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solidFill>
                  <a:srgbClr val="CC0000"/>
                </a:solidFill>
                <a:latin typeface="Arial" panose="020B0604020202020204" pitchFamily="34" charset="0"/>
              </a:rPr>
              <a:t>out</a:t>
            </a:r>
            <a:endParaRPr lang="en-US" altLang="en-US" sz="2400">
              <a:solidFill>
                <a:srgbClr val="CC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6535" name="Line 76"/>
          <p:cNvSpPr>
            <a:spLocks noChangeShapeType="1"/>
          </p:cNvSpPr>
          <p:nvPr/>
        </p:nvSpPr>
        <p:spPr bwMode="auto">
          <a:xfrm>
            <a:off x="9196389" y="1627188"/>
            <a:ext cx="52863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36" name="Line 77"/>
          <p:cNvSpPr>
            <a:spLocks noChangeShapeType="1"/>
          </p:cNvSpPr>
          <p:nvPr/>
        </p:nvSpPr>
        <p:spPr bwMode="auto">
          <a:xfrm flipH="1">
            <a:off x="7948614" y="2598738"/>
            <a:ext cx="333375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37" name="Group 78"/>
          <p:cNvGrpSpPr>
            <a:grpSpLocks/>
          </p:cNvGrpSpPr>
          <p:nvPr/>
        </p:nvGrpSpPr>
        <p:grpSpPr bwMode="auto">
          <a:xfrm>
            <a:off x="7519988" y="2989263"/>
            <a:ext cx="673100" cy="266700"/>
            <a:chOff x="10808" y="10250"/>
            <a:chExt cx="1018" cy="403"/>
          </a:xfrm>
        </p:grpSpPr>
        <p:sp>
          <p:nvSpPr>
            <p:cNvPr id="106631" name="Rectangle 79"/>
            <p:cNvSpPr>
              <a:spLocks noChangeArrowheads="1"/>
            </p:cNvSpPr>
            <p:nvPr/>
          </p:nvSpPr>
          <p:spPr bwMode="auto">
            <a:xfrm>
              <a:off x="10832" y="10250"/>
              <a:ext cx="994" cy="403"/>
            </a:xfrm>
            <a:prstGeom prst="rect">
              <a:avLst/>
            </a:pr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632" name="Freeform 80"/>
            <p:cNvSpPr>
              <a:spLocks/>
            </p:cNvSpPr>
            <p:nvPr/>
          </p:nvSpPr>
          <p:spPr bwMode="auto">
            <a:xfrm>
              <a:off x="11198" y="10272"/>
              <a:ext cx="610" cy="374"/>
            </a:xfrm>
            <a:custGeom>
              <a:avLst/>
              <a:gdLst>
                <a:gd name="T0" fmla="*/ 0 w 855"/>
                <a:gd name="T1" fmla="*/ 0 h 390"/>
                <a:gd name="T2" fmla="*/ 81 w 855"/>
                <a:gd name="T3" fmla="*/ 0 h 390"/>
                <a:gd name="T4" fmla="*/ 81 w 855"/>
                <a:gd name="T5" fmla="*/ 291 h 390"/>
                <a:gd name="T6" fmla="*/ 4 w 855"/>
                <a:gd name="T7" fmla="*/ 291 h 3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5" h="390">
                  <a:moveTo>
                    <a:pt x="0" y="0"/>
                  </a:moveTo>
                  <a:lnTo>
                    <a:pt x="855" y="0"/>
                  </a:lnTo>
                  <a:lnTo>
                    <a:pt x="855" y="390"/>
                  </a:lnTo>
                  <a:lnTo>
                    <a:pt x="45" y="39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3" name="Line 81"/>
            <p:cNvSpPr>
              <a:spLocks noChangeShapeType="1"/>
            </p:cNvSpPr>
            <p:nvPr/>
          </p:nvSpPr>
          <p:spPr bwMode="auto">
            <a:xfrm>
              <a:off x="10808" y="10272"/>
              <a:ext cx="39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4" name="Line 82"/>
            <p:cNvSpPr>
              <a:spLocks noChangeShapeType="1"/>
            </p:cNvSpPr>
            <p:nvPr/>
          </p:nvSpPr>
          <p:spPr bwMode="auto">
            <a:xfrm>
              <a:off x="10830" y="10646"/>
              <a:ext cx="38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5" name="Line 83"/>
            <p:cNvSpPr>
              <a:spLocks noChangeShapeType="1"/>
            </p:cNvSpPr>
            <p:nvPr/>
          </p:nvSpPr>
          <p:spPr bwMode="auto">
            <a:xfrm>
              <a:off x="11744" y="10329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6" name="Line 84"/>
            <p:cNvSpPr>
              <a:spLocks noChangeShapeType="1"/>
            </p:cNvSpPr>
            <p:nvPr/>
          </p:nvSpPr>
          <p:spPr bwMode="auto">
            <a:xfrm>
              <a:off x="11679" y="10329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7" name="Line 85"/>
            <p:cNvSpPr>
              <a:spLocks noChangeShapeType="1"/>
            </p:cNvSpPr>
            <p:nvPr/>
          </p:nvSpPr>
          <p:spPr bwMode="auto">
            <a:xfrm>
              <a:off x="11614" y="10329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8" name="Line 86"/>
            <p:cNvSpPr>
              <a:spLocks noChangeShapeType="1"/>
            </p:cNvSpPr>
            <p:nvPr/>
          </p:nvSpPr>
          <p:spPr bwMode="auto">
            <a:xfrm>
              <a:off x="11549" y="1032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9" name="Line 87"/>
            <p:cNvSpPr>
              <a:spLocks noChangeShapeType="1"/>
            </p:cNvSpPr>
            <p:nvPr/>
          </p:nvSpPr>
          <p:spPr bwMode="auto">
            <a:xfrm>
              <a:off x="11484" y="10322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0" name="Line 88"/>
            <p:cNvSpPr>
              <a:spLocks noChangeShapeType="1"/>
            </p:cNvSpPr>
            <p:nvPr/>
          </p:nvSpPr>
          <p:spPr bwMode="auto">
            <a:xfrm>
              <a:off x="11418" y="10322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1" name="Line 89"/>
            <p:cNvSpPr>
              <a:spLocks noChangeShapeType="1"/>
            </p:cNvSpPr>
            <p:nvPr/>
          </p:nvSpPr>
          <p:spPr bwMode="auto">
            <a:xfrm>
              <a:off x="10909" y="10452"/>
              <a:ext cx="417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38" name="Freeform 90"/>
          <p:cNvSpPr>
            <a:spLocks/>
          </p:cNvSpPr>
          <p:nvPr/>
        </p:nvSpPr>
        <p:spPr bwMode="auto">
          <a:xfrm>
            <a:off x="5424489" y="2713038"/>
            <a:ext cx="3952875" cy="952500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39" name="Freeform 91"/>
          <p:cNvSpPr>
            <a:spLocks/>
          </p:cNvSpPr>
          <p:nvPr/>
        </p:nvSpPr>
        <p:spPr bwMode="auto">
          <a:xfrm>
            <a:off x="6367463" y="1808163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40" name="Group 107"/>
          <p:cNvGrpSpPr>
            <a:grpSpLocks/>
          </p:cNvGrpSpPr>
          <p:nvPr/>
        </p:nvGrpSpPr>
        <p:grpSpPr bwMode="auto">
          <a:xfrm>
            <a:off x="3152776" y="4102101"/>
            <a:ext cx="2333625" cy="1704975"/>
            <a:chOff x="837" y="2465"/>
            <a:chExt cx="1470" cy="1074"/>
          </a:xfrm>
        </p:grpSpPr>
        <p:sp>
          <p:nvSpPr>
            <p:cNvPr id="88189" name="Line 94"/>
            <p:cNvSpPr>
              <a:spLocks noChangeShapeType="1"/>
            </p:cNvSpPr>
            <p:nvPr/>
          </p:nvSpPr>
          <p:spPr bwMode="auto">
            <a:xfrm>
              <a:off x="1141" y="250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90" name="Line 95"/>
            <p:cNvSpPr>
              <a:spLocks noChangeShapeType="1"/>
            </p:cNvSpPr>
            <p:nvPr/>
          </p:nvSpPr>
          <p:spPr bwMode="auto">
            <a:xfrm flipV="1">
              <a:off x="1135" y="3307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91" name="Line 96"/>
            <p:cNvSpPr>
              <a:spLocks noChangeShapeType="1"/>
            </p:cNvSpPr>
            <p:nvPr/>
          </p:nvSpPr>
          <p:spPr bwMode="auto">
            <a:xfrm>
              <a:off x="1855" y="2595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623" name="Freeform 97"/>
            <p:cNvSpPr>
              <a:spLocks/>
            </p:cNvSpPr>
            <p:nvPr/>
          </p:nvSpPr>
          <p:spPr bwMode="auto">
            <a:xfrm>
              <a:off x="1137" y="2573"/>
              <a:ext cx="1170" cy="732"/>
            </a:xfrm>
            <a:custGeom>
              <a:avLst/>
              <a:gdLst>
                <a:gd name="T0" fmla="*/ 0 w 1170"/>
                <a:gd name="T1" fmla="*/ 732 h 732"/>
                <a:gd name="T2" fmla="*/ 720 w 1170"/>
                <a:gd name="T3" fmla="*/ 0 h 732"/>
                <a:gd name="T4" fmla="*/ 1170 w 1170"/>
                <a:gd name="T5" fmla="*/ 0 h 7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0" h="732">
                  <a:moveTo>
                    <a:pt x="0" y="732"/>
                  </a:moveTo>
                  <a:lnTo>
                    <a:pt x="720" y="0"/>
                  </a:lnTo>
                  <a:lnTo>
                    <a:pt x="117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193" name="Line 98"/>
            <p:cNvSpPr>
              <a:spLocks noChangeShapeType="1"/>
            </p:cNvSpPr>
            <p:nvPr/>
          </p:nvSpPr>
          <p:spPr bwMode="auto">
            <a:xfrm>
              <a:off x="1089" y="2573"/>
              <a:ext cx="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94" name="Line 99"/>
            <p:cNvSpPr>
              <a:spLocks noChangeShapeType="1"/>
            </p:cNvSpPr>
            <p:nvPr/>
          </p:nvSpPr>
          <p:spPr bwMode="auto">
            <a:xfrm>
              <a:off x="1853" y="3311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95" name="Text Box 100"/>
            <p:cNvSpPr txBox="1">
              <a:spLocks noChangeArrowheads="1"/>
            </p:cNvSpPr>
            <p:nvPr/>
          </p:nvSpPr>
          <p:spPr bwMode="auto">
            <a:xfrm>
              <a:off x="837" y="2465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88196" name="Text Box 101"/>
            <p:cNvSpPr txBox="1">
              <a:spLocks noChangeArrowheads="1"/>
            </p:cNvSpPr>
            <p:nvPr/>
          </p:nvSpPr>
          <p:spPr bwMode="auto">
            <a:xfrm>
              <a:off x="1721" y="3333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88197" name="Text Box 102"/>
            <p:cNvSpPr txBox="1">
              <a:spLocks noChangeArrowheads="1"/>
            </p:cNvSpPr>
            <p:nvPr/>
          </p:nvSpPr>
          <p:spPr bwMode="auto">
            <a:xfrm rot="16200000">
              <a:off x="828" y="2839"/>
              <a:ext cx="3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Symbol" charset="0"/>
                </a:rPr>
                <a:t>l</a:t>
              </a:r>
              <a:r>
                <a:rPr lang="en-US" sz="2000" baseline="-25000">
                  <a:latin typeface="Arial" charset="0"/>
                </a:rPr>
                <a:t>out</a:t>
              </a:r>
            </a:p>
          </p:txBody>
        </p:sp>
        <p:sp>
          <p:nvSpPr>
            <p:cNvPr id="88198" name="Text Box 103"/>
            <p:cNvSpPr txBox="1">
              <a:spLocks noChangeArrowheads="1"/>
            </p:cNvSpPr>
            <p:nvPr/>
          </p:nvSpPr>
          <p:spPr bwMode="auto">
            <a:xfrm>
              <a:off x="1392" y="3287"/>
              <a:ext cx="28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Symbol" charset="0"/>
                </a:rPr>
                <a:t>l</a:t>
              </a:r>
              <a:r>
                <a:rPr lang="en-US" sz="2000" baseline="-25000">
                  <a:latin typeface="Arial" charset="0"/>
                </a:rPr>
                <a:t>in</a:t>
              </a:r>
            </a:p>
          </p:txBody>
        </p:sp>
        <p:sp>
          <p:nvSpPr>
            <p:cNvPr id="88199" name="Line 106"/>
            <p:cNvSpPr>
              <a:spLocks noChangeShapeType="1"/>
            </p:cNvSpPr>
            <p:nvPr/>
          </p:nvSpPr>
          <p:spPr bwMode="auto">
            <a:xfrm>
              <a:off x="1153" y="2574"/>
              <a:ext cx="6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6541" name="Group 120"/>
          <p:cNvGrpSpPr>
            <a:grpSpLocks/>
          </p:cNvGrpSpPr>
          <p:nvPr/>
        </p:nvGrpSpPr>
        <p:grpSpPr bwMode="auto">
          <a:xfrm>
            <a:off x="6902452" y="4000501"/>
            <a:ext cx="1866900" cy="1808163"/>
            <a:chOff x="4191" y="2667"/>
            <a:chExt cx="1176" cy="1139"/>
          </a:xfrm>
        </p:grpSpPr>
        <p:sp>
          <p:nvSpPr>
            <p:cNvPr id="88181" name="Line 109"/>
            <p:cNvSpPr>
              <a:spLocks noChangeShapeType="1"/>
            </p:cNvSpPr>
            <p:nvPr/>
          </p:nvSpPr>
          <p:spPr bwMode="auto">
            <a:xfrm>
              <a:off x="4451" y="2774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82" name="Line 110"/>
            <p:cNvSpPr>
              <a:spLocks noChangeShapeType="1"/>
            </p:cNvSpPr>
            <p:nvPr/>
          </p:nvSpPr>
          <p:spPr bwMode="auto">
            <a:xfrm flipV="1">
              <a:off x="4445" y="3574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83" name="Line 111"/>
            <p:cNvSpPr>
              <a:spLocks noChangeShapeType="1"/>
            </p:cNvSpPr>
            <p:nvPr/>
          </p:nvSpPr>
          <p:spPr bwMode="auto">
            <a:xfrm>
              <a:off x="5165" y="2862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615" name="Freeform 112"/>
            <p:cNvSpPr>
              <a:spLocks/>
            </p:cNvSpPr>
            <p:nvPr/>
          </p:nvSpPr>
          <p:spPr bwMode="auto">
            <a:xfrm>
              <a:off x="4447" y="2667"/>
              <a:ext cx="723" cy="90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3" h="905">
                  <a:moveTo>
                    <a:pt x="0" y="905"/>
                  </a:moveTo>
                  <a:cubicBezTo>
                    <a:pt x="95" y="876"/>
                    <a:pt x="460" y="883"/>
                    <a:pt x="573" y="732"/>
                  </a:cubicBezTo>
                  <a:cubicBezTo>
                    <a:pt x="723" y="490"/>
                    <a:pt x="658" y="152"/>
                    <a:pt x="68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185" name="Line 114"/>
            <p:cNvSpPr>
              <a:spLocks noChangeShapeType="1"/>
            </p:cNvSpPr>
            <p:nvPr/>
          </p:nvSpPr>
          <p:spPr bwMode="auto">
            <a:xfrm>
              <a:off x="5163" y="3578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86" name="Text Box 116"/>
            <p:cNvSpPr txBox="1">
              <a:spLocks noChangeArrowheads="1"/>
            </p:cNvSpPr>
            <p:nvPr/>
          </p:nvSpPr>
          <p:spPr bwMode="auto">
            <a:xfrm>
              <a:off x="5031" y="3600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88187" name="Text Box 117"/>
            <p:cNvSpPr txBox="1">
              <a:spLocks noChangeArrowheads="1"/>
            </p:cNvSpPr>
            <p:nvPr/>
          </p:nvSpPr>
          <p:spPr bwMode="auto">
            <a:xfrm rot="-5400000">
              <a:off x="4066" y="3102"/>
              <a:ext cx="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Arial" charset="0"/>
                </a:rPr>
                <a:t>delay</a:t>
              </a:r>
              <a:endParaRPr lang="en-US" sz="2000" baseline="-25000">
                <a:latin typeface="Arial" charset="0"/>
              </a:endParaRPr>
            </a:p>
          </p:txBody>
        </p:sp>
        <p:sp>
          <p:nvSpPr>
            <p:cNvPr id="88188" name="Text Box 118"/>
            <p:cNvSpPr txBox="1">
              <a:spLocks noChangeArrowheads="1"/>
            </p:cNvSpPr>
            <p:nvPr/>
          </p:nvSpPr>
          <p:spPr bwMode="auto">
            <a:xfrm>
              <a:off x="4702" y="3554"/>
              <a:ext cx="28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Symbol" charset="0"/>
                </a:rPr>
                <a:t>l</a:t>
              </a:r>
              <a:r>
                <a:rPr lang="en-US" sz="2000" baseline="-25000">
                  <a:latin typeface="Arial" charset="0"/>
                </a:rPr>
                <a:t>in</a:t>
              </a:r>
            </a:p>
          </p:txBody>
        </p:sp>
      </p:grpSp>
      <p:sp>
        <p:nvSpPr>
          <p:cNvPr id="88111" name="Rectangle 121"/>
          <p:cNvSpPr>
            <a:spLocks noChangeArrowheads="1"/>
          </p:cNvSpPr>
          <p:nvPr/>
        </p:nvSpPr>
        <p:spPr bwMode="auto">
          <a:xfrm>
            <a:off x="6338889" y="5786439"/>
            <a:ext cx="3603625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000">
                <a:latin typeface="Gill Sans MT" charset="0"/>
                <a:ea typeface="ＭＳ Ｐゴシック" charset="0"/>
              </a:rPr>
              <a:t>large delays as arrival rate, </a:t>
            </a:r>
            <a:r>
              <a:rPr lang="en-US" sz="2000">
                <a:latin typeface="Symbol" charset="0"/>
                <a:ea typeface="ＭＳ Ｐゴシック" charset="0"/>
              </a:rPr>
              <a:t>l</a:t>
            </a:r>
            <a:r>
              <a:rPr lang="en-US" sz="2000" baseline="-25000">
                <a:latin typeface="Gill Sans MT" charset="0"/>
                <a:ea typeface="ＭＳ Ｐゴシック" charset="0"/>
              </a:rPr>
              <a:t>in</a:t>
            </a:r>
            <a:r>
              <a:rPr lang="en-US" sz="2000">
                <a:latin typeface="Gill Sans MT" charset="0"/>
                <a:ea typeface="ＭＳ Ｐゴシック" charset="0"/>
              </a:rPr>
              <a:t>, approaches capacity</a:t>
            </a:r>
          </a:p>
        </p:txBody>
      </p:sp>
      <p:grpSp>
        <p:nvGrpSpPr>
          <p:cNvPr id="106543" name="Group 127"/>
          <p:cNvGrpSpPr>
            <a:grpSpLocks/>
          </p:cNvGrpSpPr>
          <p:nvPr/>
        </p:nvGrpSpPr>
        <p:grpSpPr bwMode="auto">
          <a:xfrm>
            <a:off x="10217151" y="2430464"/>
            <a:ext cx="231775" cy="441325"/>
            <a:chOff x="4140" y="429"/>
            <a:chExt cx="1425" cy="2396"/>
          </a:xfrm>
        </p:grpSpPr>
        <p:sp>
          <p:nvSpPr>
            <p:cNvPr id="106580" name="Freeform 12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50" name="Rectangle 129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82" name="Freeform 13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83" name="Freeform 13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53" name="Rectangle 132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85" name="Group 13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8179" name="AutoShape 134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80" name="AutoShape 135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55" name="Rectangle 136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87" name="Group 13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8177" name="AutoShape 138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78" name="AutoShape 139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57" name="Rectangle 140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58" name="Rectangle 141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90" name="Group 14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8175" name="AutoShape 14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76" name="AutoShape 144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6591" name="Freeform 14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592" name="Group 14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173" name="AutoShape 147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74" name="AutoShape 148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62" name="Rectangle 149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94" name="Freeform 15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95" name="Freeform 15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65" name="Oval 152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97" name="Freeform 15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67" name="AutoShape 154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68" name="AutoShape 155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69" name="Oval 156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70" name="Oval 157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8171" name="Oval 158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72" name="Rectangle 159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6544" name="Group 160"/>
          <p:cNvGrpSpPr>
            <a:grpSpLocks/>
          </p:cNvGrpSpPr>
          <p:nvPr/>
        </p:nvGrpSpPr>
        <p:grpSpPr bwMode="auto">
          <a:xfrm>
            <a:off x="4537076" y="3321051"/>
            <a:ext cx="525463" cy="434975"/>
            <a:chOff x="-44" y="1473"/>
            <a:chExt cx="981" cy="1105"/>
          </a:xfrm>
        </p:grpSpPr>
        <p:pic>
          <p:nvPicPr>
            <p:cNvPr id="106578" name="Picture 161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79" name="Freeform 16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6545" name="Group 163"/>
          <p:cNvGrpSpPr>
            <a:grpSpLocks/>
          </p:cNvGrpSpPr>
          <p:nvPr/>
        </p:nvGrpSpPr>
        <p:grpSpPr bwMode="auto">
          <a:xfrm>
            <a:off x="9899651" y="3395664"/>
            <a:ext cx="231775" cy="441325"/>
            <a:chOff x="4140" y="429"/>
            <a:chExt cx="1425" cy="2396"/>
          </a:xfrm>
        </p:grpSpPr>
        <p:sp>
          <p:nvSpPr>
            <p:cNvPr id="106546" name="Freeform 16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16" name="Rectangle 165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48" name="Freeform 16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49" name="Freeform 16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19" name="Rectangle 168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51" name="Group 16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8145" name="AutoShape 170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46" name="AutoShape 171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21" name="Rectangle 172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53" name="Group 17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8143" name="AutoShape 174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44" name="AutoShape 175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23" name="Rectangle 176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24" name="Rectangle 177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6556" name="Group 17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8141" name="AutoShape 179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42" name="AutoShape 180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6557" name="Freeform 18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558" name="Group 18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139" name="AutoShape 183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8140" name="AutoShape 184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28" name="Rectangle 185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60" name="Freeform 18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61" name="Freeform 18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31" name="Oval 188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63" name="Freeform 18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33" name="AutoShape 190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34" name="AutoShape 191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35" name="Oval 192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36" name="Oval 193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8137" name="Oval 194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8138" name="Rectangle 195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44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8909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A76C1498-39F3-428E-A9AB-8565B1A6792C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07523" name="Freeform 247"/>
          <p:cNvSpPr>
            <a:spLocks/>
          </p:cNvSpPr>
          <p:nvPr/>
        </p:nvSpPr>
        <p:spPr bwMode="auto">
          <a:xfrm flipH="1">
            <a:off x="3635376" y="3465514"/>
            <a:ext cx="250825" cy="1201737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24" name="Group 322"/>
          <p:cNvGrpSpPr>
            <a:grpSpLocks/>
          </p:cNvGrpSpPr>
          <p:nvPr/>
        </p:nvGrpSpPr>
        <p:grpSpPr bwMode="auto">
          <a:xfrm>
            <a:off x="3240088" y="4425951"/>
            <a:ext cx="525462" cy="434975"/>
            <a:chOff x="-44" y="1473"/>
            <a:chExt cx="981" cy="1105"/>
          </a:xfrm>
        </p:grpSpPr>
        <p:pic>
          <p:nvPicPr>
            <p:cNvPr id="107677" name="Picture 323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678" name="Freeform 32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7525" name="Freeform 254"/>
          <p:cNvSpPr>
            <a:spLocks/>
          </p:cNvSpPr>
          <p:nvPr/>
        </p:nvSpPr>
        <p:spPr bwMode="auto">
          <a:xfrm>
            <a:off x="8483601" y="497046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6" name="Freeform 243"/>
          <p:cNvSpPr>
            <a:spLocks/>
          </p:cNvSpPr>
          <p:nvPr/>
        </p:nvSpPr>
        <p:spPr bwMode="auto">
          <a:xfrm flipH="1">
            <a:off x="2590801" y="46672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073275" y="1135063"/>
            <a:ext cx="7975600" cy="1905000"/>
          </a:xfrm>
        </p:spPr>
        <p:txBody>
          <a:bodyPr>
            <a:normAutofit fontScale="925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>
                <a:ea typeface="ＭＳ Ｐゴシック" charset="0"/>
                <a:cs typeface="+mn-cs"/>
              </a:rPr>
              <a:t>one router, </a:t>
            </a:r>
            <a:r>
              <a:rPr lang="en-US" i="1">
                <a:solidFill>
                  <a:srgbClr val="000099"/>
                </a:solidFill>
                <a:ea typeface="ＭＳ Ｐゴシック" charset="0"/>
                <a:cs typeface="+mn-cs"/>
              </a:rPr>
              <a:t>finite</a:t>
            </a:r>
            <a:r>
              <a:rPr lang="en-US">
                <a:ea typeface="ＭＳ Ｐゴシック" charset="0"/>
                <a:cs typeface="+mn-cs"/>
              </a:rPr>
              <a:t> buffers </a:t>
            </a:r>
          </a:p>
          <a:p>
            <a:pPr>
              <a:buFont typeface="Wingdings" charset="0"/>
              <a:buChar char="v"/>
              <a:defRPr/>
            </a:pPr>
            <a:r>
              <a:rPr lang="en-US">
                <a:ea typeface="ＭＳ Ｐゴシック" charset="0"/>
                <a:cs typeface="+mn-cs"/>
              </a:rPr>
              <a:t>sender retransmission of timed-out packet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application-layer input = application-layer output:</a:t>
            </a:r>
            <a:r>
              <a:rPr lang="en-US">
                <a:latin typeface="Symbol" charset="0"/>
                <a:ea typeface="ＭＳ Ｐゴシック" charset="0"/>
              </a:rPr>
              <a:t> l</a:t>
            </a:r>
            <a:r>
              <a:rPr lang="en-US" baseline="-25000">
                <a:latin typeface="Arial" charset="0"/>
                <a:ea typeface="ＭＳ Ｐゴシック" charset="0"/>
              </a:rPr>
              <a:t>in </a:t>
            </a:r>
            <a:r>
              <a:rPr lang="en-US">
                <a:latin typeface="Arial" charset="0"/>
                <a:ea typeface="ＭＳ Ｐゴシック" charset="0"/>
              </a:rPr>
              <a:t>= </a:t>
            </a:r>
            <a:r>
              <a:rPr lang="en-US">
                <a:latin typeface="Symbol" charset="0"/>
                <a:ea typeface="ＭＳ Ｐゴシック" charset="0"/>
              </a:rPr>
              <a:t>l</a:t>
            </a:r>
            <a:r>
              <a:rPr lang="en-US" baseline="-25000">
                <a:latin typeface="Arial" charset="0"/>
                <a:ea typeface="ＭＳ Ｐゴシック" charset="0"/>
              </a:rPr>
              <a:t>out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transport-layer input includes </a:t>
            </a:r>
            <a:r>
              <a:rPr lang="en-US" i="1">
                <a:ea typeface="ＭＳ Ｐゴシック" charset="0"/>
              </a:rPr>
              <a:t>retransmissions </a:t>
            </a:r>
            <a:r>
              <a:rPr lang="en-US">
                <a:ea typeface="ＭＳ Ｐゴシック" charset="0"/>
              </a:rPr>
              <a:t>:</a:t>
            </a:r>
            <a:r>
              <a:rPr lang="en-US">
                <a:latin typeface="Symbol" charset="0"/>
                <a:ea typeface="ＭＳ Ｐゴシック" charset="0"/>
              </a:rPr>
              <a:t> l</a:t>
            </a:r>
            <a:r>
              <a:rPr lang="en-US" baseline="-25000">
                <a:latin typeface="Arial" charset="0"/>
                <a:ea typeface="ＭＳ Ｐゴシック" charset="0"/>
              </a:rPr>
              <a:t>in </a:t>
            </a:r>
            <a:r>
              <a:rPr lang="en-US">
                <a:latin typeface="Arial" charset="0"/>
                <a:ea typeface="ＭＳ Ｐゴシック" charset="0"/>
              </a:rPr>
              <a:t>   </a:t>
            </a:r>
            <a:r>
              <a:rPr lang="en-US">
                <a:latin typeface="Symbol" charset="0"/>
                <a:ea typeface="ＭＳ Ｐゴシック" charset="0"/>
              </a:rPr>
              <a:t>l</a:t>
            </a:r>
            <a:r>
              <a:rPr lang="en-US" baseline="-25000">
                <a:latin typeface="Arial" charset="0"/>
                <a:ea typeface="ＭＳ Ｐゴシック" charset="0"/>
              </a:rPr>
              <a:t>in</a:t>
            </a:r>
            <a:endParaRPr lang="en-US" i="1">
              <a:ea typeface="ＭＳ Ｐゴシック" charset="0"/>
            </a:endParaRPr>
          </a:p>
          <a:p>
            <a:pPr>
              <a:buFont typeface="Wingdings" charset="0"/>
              <a:buChar char="v"/>
              <a:defRPr/>
            </a:pPr>
            <a:endParaRPr lang="en-US" sz="2400">
              <a:ea typeface="ＭＳ Ｐゴシック" charset="0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sp>
        <p:nvSpPr>
          <p:cNvPr id="107528" name="Oval 3"/>
          <p:cNvSpPr>
            <a:spLocks noChangeArrowheads="1"/>
          </p:cNvSpPr>
          <p:nvPr/>
        </p:nvSpPr>
        <p:spPr bwMode="auto">
          <a:xfrm>
            <a:off x="5319714" y="5326063"/>
            <a:ext cx="1304925" cy="303212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29" name="Line 4"/>
          <p:cNvSpPr>
            <a:spLocks noChangeShapeType="1"/>
          </p:cNvSpPr>
          <p:nvPr/>
        </p:nvSpPr>
        <p:spPr bwMode="auto">
          <a:xfrm>
            <a:off x="5319713" y="5302251"/>
            <a:ext cx="0" cy="18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0" name="Line 5"/>
          <p:cNvSpPr>
            <a:spLocks noChangeShapeType="1"/>
          </p:cNvSpPr>
          <p:nvPr/>
        </p:nvSpPr>
        <p:spPr bwMode="auto">
          <a:xfrm>
            <a:off x="6624638" y="5302251"/>
            <a:ext cx="0" cy="1873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1" name="Rectangle 6"/>
          <p:cNvSpPr>
            <a:spLocks noChangeArrowheads="1"/>
          </p:cNvSpPr>
          <p:nvPr/>
        </p:nvSpPr>
        <p:spPr bwMode="auto">
          <a:xfrm>
            <a:off x="5319713" y="5302250"/>
            <a:ext cx="309562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32" name="Rectangle 7"/>
          <p:cNvSpPr>
            <a:spLocks noChangeArrowheads="1"/>
          </p:cNvSpPr>
          <p:nvPr/>
        </p:nvSpPr>
        <p:spPr bwMode="auto">
          <a:xfrm>
            <a:off x="6229350" y="5289550"/>
            <a:ext cx="395288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33" name="Oval 8"/>
          <p:cNvSpPr>
            <a:spLocks noChangeArrowheads="1"/>
          </p:cNvSpPr>
          <p:nvPr/>
        </p:nvSpPr>
        <p:spPr bwMode="auto">
          <a:xfrm>
            <a:off x="5314951" y="5103814"/>
            <a:ext cx="1306513" cy="352425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07534" name="Group 9"/>
          <p:cNvGrpSpPr>
            <a:grpSpLocks/>
          </p:cNvGrpSpPr>
          <p:nvPr/>
        </p:nvGrpSpPr>
        <p:grpSpPr bwMode="auto">
          <a:xfrm>
            <a:off x="5621338" y="5160964"/>
            <a:ext cx="647700" cy="206375"/>
            <a:chOff x="2848" y="848"/>
            <a:chExt cx="140" cy="98"/>
          </a:xfrm>
        </p:grpSpPr>
        <p:sp>
          <p:nvSpPr>
            <p:cNvPr id="107674" name="Line 1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675" name="Line 1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676" name="Line 1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7535" name="Line 13"/>
          <p:cNvSpPr>
            <a:spLocks noChangeShapeType="1"/>
          </p:cNvSpPr>
          <p:nvPr/>
        </p:nvSpPr>
        <p:spPr bwMode="auto">
          <a:xfrm>
            <a:off x="5621339" y="5359401"/>
            <a:ext cx="231775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6" name="Line 14"/>
          <p:cNvSpPr>
            <a:spLocks noChangeShapeType="1"/>
          </p:cNvSpPr>
          <p:nvPr/>
        </p:nvSpPr>
        <p:spPr bwMode="auto">
          <a:xfrm flipV="1">
            <a:off x="6065838" y="5159375"/>
            <a:ext cx="203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7" name="Line 15"/>
          <p:cNvSpPr>
            <a:spLocks noChangeShapeType="1"/>
          </p:cNvSpPr>
          <p:nvPr/>
        </p:nvSpPr>
        <p:spPr bwMode="auto">
          <a:xfrm flipV="1">
            <a:off x="5834063" y="5159376"/>
            <a:ext cx="241300" cy="200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8" name="Text Box 16"/>
          <p:cNvSpPr txBox="1">
            <a:spLocks noChangeArrowheads="1"/>
          </p:cNvSpPr>
          <p:nvPr/>
        </p:nvSpPr>
        <p:spPr bwMode="auto">
          <a:xfrm>
            <a:off x="4232276" y="5934075"/>
            <a:ext cx="2136775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finite shared output link buffers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39" name="Line 17"/>
          <p:cNvSpPr>
            <a:spLocks noChangeShapeType="1"/>
          </p:cNvSpPr>
          <p:nvPr/>
        </p:nvSpPr>
        <p:spPr bwMode="auto">
          <a:xfrm flipH="1">
            <a:off x="3948113" y="4856163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0" name="Line 18"/>
          <p:cNvSpPr>
            <a:spLocks noChangeShapeType="1"/>
          </p:cNvSpPr>
          <p:nvPr/>
        </p:nvSpPr>
        <p:spPr bwMode="auto">
          <a:xfrm flipH="1">
            <a:off x="4545013" y="4856164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41" name="Group 59"/>
          <p:cNvGrpSpPr>
            <a:grpSpLocks/>
          </p:cNvGrpSpPr>
          <p:nvPr/>
        </p:nvGrpSpPr>
        <p:grpSpPr bwMode="auto">
          <a:xfrm>
            <a:off x="3875088" y="3541713"/>
            <a:ext cx="798512" cy="1166812"/>
            <a:chOff x="12762" y="10336"/>
            <a:chExt cx="1027" cy="1700"/>
          </a:xfrm>
        </p:grpSpPr>
        <p:sp>
          <p:nvSpPr>
            <p:cNvPr id="107668" name="Rectangle 6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69" name="Rectangle 6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70" name="Line 6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1" name="Line 6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2" name="Line 6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3" name="Line 6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42" name="Text Box 66"/>
          <p:cNvSpPr txBox="1">
            <a:spLocks noChangeArrowheads="1"/>
          </p:cNvSpPr>
          <p:nvPr/>
        </p:nvSpPr>
        <p:spPr bwMode="auto">
          <a:xfrm>
            <a:off x="3811589" y="4654550"/>
            <a:ext cx="852487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43" name="Text Box 67"/>
          <p:cNvSpPr txBox="1">
            <a:spLocks noChangeArrowheads="1"/>
          </p:cNvSpPr>
          <p:nvPr/>
        </p:nvSpPr>
        <p:spPr bwMode="auto">
          <a:xfrm>
            <a:off x="4892675" y="3427414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44" name="Line 68"/>
          <p:cNvSpPr>
            <a:spLocks noChangeShapeType="1"/>
          </p:cNvSpPr>
          <p:nvPr/>
        </p:nvSpPr>
        <p:spPr bwMode="auto">
          <a:xfrm flipH="1">
            <a:off x="3409951" y="5961064"/>
            <a:ext cx="5381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45" name="Group 109"/>
          <p:cNvGrpSpPr>
            <a:grpSpLocks/>
          </p:cNvGrpSpPr>
          <p:nvPr/>
        </p:nvGrpSpPr>
        <p:grpSpPr bwMode="auto">
          <a:xfrm>
            <a:off x="2822576" y="4695826"/>
            <a:ext cx="798513" cy="1166813"/>
            <a:chOff x="12762" y="10336"/>
            <a:chExt cx="1027" cy="1700"/>
          </a:xfrm>
        </p:grpSpPr>
        <p:sp>
          <p:nvSpPr>
            <p:cNvPr id="107662" name="Rectangle 1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63" name="Rectangle 1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64" name="Line 1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5" name="Line 1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6" name="Line 1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7" name="Line 1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46" name="Text Box 116"/>
          <p:cNvSpPr txBox="1">
            <a:spLocks noChangeArrowheads="1"/>
          </p:cNvSpPr>
          <p:nvPr/>
        </p:nvSpPr>
        <p:spPr bwMode="auto">
          <a:xfrm>
            <a:off x="2692400" y="6073775"/>
            <a:ext cx="8778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47" name="Line 117"/>
          <p:cNvSpPr>
            <a:spLocks noChangeShapeType="1"/>
          </p:cNvSpPr>
          <p:nvPr/>
        </p:nvSpPr>
        <p:spPr bwMode="auto">
          <a:xfrm flipH="1">
            <a:off x="4545013" y="5372100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8" name="Line 118"/>
          <p:cNvSpPr>
            <a:spLocks noChangeShapeType="1"/>
          </p:cNvSpPr>
          <p:nvPr/>
        </p:nvSpPr>
        <p:spPr bwMode="auto">
          <a:xfrm flipH="1">
            <a:off x="6534151" y="5372100"/>
            <a:ext cx="747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9" name="Line 119"/>
          <p:cNvSpPr>
            <a:spLocks noChangeShapeType="1"/>
          </p:cNvSpPr>
          <p:nvPr/>
        </p:nvSpPr>
        <p:spPr bwMode="auto">
          <a:xfrm flipH="1">
            <a:off x="6684963" y="4856163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0" name="Line 120"/>
          <p:cNvSpPr>
            <a:spLocks noChangeShapeType="1"/>
          </p:cNvSpPr>
          <p:nvPr/>
        </p:nvSpPr>
        <p:spPr bwMode="auto">
          <a:xfrm flipH="1">
            <a:off x="6673851" y="5973763"/>
            <a:ext cx="677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1" name="Line 121"/>
          <p:cNvSpPr>
            <a:spLocks noChangeShapeType="1"/>
          </p:cNvSpPr>
          <p:nvPr/>
        </p:nvSpPr>
        <p:spPr bwMode="auto">
          <a:xfrm flipH="1">
            <a:off x="7783513" y="4868863"/>
            <a:ext cx="539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52" name="Group 162"/>
          <p:cNvGrpSpPr>
            <a:grpSpLocks/>
          </p:cNvGrpSpPr>
          <p:nvPr/>
        </p:nvGrpSpPr>
        <p:grpSpPr bwMode="auto">
          <a:xfrm>
            <a:off x="8167688" y="3676651"/>
            <a:ext cx="798512" cy="1166813"/>
            <a:chOff x="12762" y="10336"/>
            <a:chExt cx="1027" cy="1700"/>
          </a:xfrm>
        </p:grpSpPr>
        <p:sp>
          <p:nvSpPr>
            <p:cNvPr id="107656" name="Rectangle 163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57" name="Rectangle 164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58" name="Line 165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9" name="Line 166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0" name="Line 167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1" name="Line 168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553" name="Group 209"/>
          <p:cNvGrpSpPr>
            <a:grpSpLocks/>
          </p:cNvGrpSpPr>
          <p:nvPr/>
        </p:nvGrpSpPr>
        <p:grpSpPr bwMode="auto">
          <a:xfrm>
            <a:off x="7699376" y="4989513"/>
            <a:ext cx="798513" cy="1168400"/>
            <a:chOff x="12762" y="10336"/>
            <a:chExt cx="1027" cy="1700"/>
          </a:xfrm>
        </p:grpSpPr>
        <p:sp>
          <p:nvSpPr>
            <p:cNvPr id="107650" name="Rectangle 2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51" name="Rectangle 2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52" name="Line 2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3" name="Line 2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4" name="Line 2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5" name="Line 2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54" name="Oval 216"/>
          <p:cNvSpPr>
            <a:spLocks noChangeArrowheads="1"/>
          </p:cNvSpPr>
          <p:nvPr/>
        </p:nvSpPr>
        <p:spPr bwMode="auto">
          <a:xfrm>
            <a:off x="4287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55" name="Oval 217"/>
          <p:cNvSpPr>
            <a:spLocks noChangeArrowheads="1"/>
          </p:cNvSpPr>
          <p:nvPr/>
        </p:nvSpPr>
        <p:spPr bwMode="auto">
          <a:xfrm>
            <a:off x="3128963" y="4745039"/>
            <a:ext cx="114300" cy="117475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56" name="Text Box 218"/>
          <p:cNvSpPr txBox="1">
            <a:spLocks noChangeArrowheads="1"/>
          </p:cNvSpPr>
          <p:nvPr/>
        </p:nvSpPr>
        <p:spPr bwMode="auto">
          <a:xfrm>
            <a:off x="9107488" y="3629026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7557" name="Line 219"/>
          <p:cNvSpPr>
            <a:spLocks noChangeShapeType="1"/>
          </p:cNvSpPr>
          <p:nvPr/>
        </p:nvSpPr>
        <p:spPr bwMode="auto">
          <a:xfrm flipH="1" flipV="1">
            <a:off x="6116639" y="5580064"/>
            <a:ext cx="7937" cy="407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58" name="Group 220"/>
          <p:cNvGrpSpPr>
            <a:grpSpLocks/>
          </p:cNvGrpSpPr>
          <p:nvPr/>
        </p:nvGrpSpPr>
        <p:grpSpPr bwMode="auto">
          <a:xfrm>
            <a:off x="6111876" y="5211764"/>
            <a:ext cx="385763" cy="319087"/>
            <a:chOff x="11283" y="10423"/>
            <a:chExt cx="475" cy="374"/>
          </a:xfrm>
        </p:grpSpPr>
        <p:sp>
          <p:nvSpPr>
            <p:cNvPr id="107643" name="Rectangle 221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644" name="Line 222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5" name="Line 223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6" name="Line 224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7" name="Line 225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8" name="Line 226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9" name="Line 227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59" name="Line 228"/>
          <p:cNvSpPr>
            <a:spLocks noChangeShapeType="1"/>
          </p:cNvSpPr>
          <p:nvPr/>
        </p:nvSpPr>
        <p:spPr bwMode="auto">
          <a:xfrm>
            <a:off x="6369051" y="3995738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0" name="Freeform 229"/>
          <p:cNvSpPr>
            <a:spLocks/>
          </p:cNvSpPr>
          <p:nvPr/>
        </p:nvSpPr>
        <p:spPr bwMode="auto">
          <a:xfrm>
            <a:off x="3187701" y="4843464"/>
            <a:ext cx="4854575" cy="1228725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80808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1" name="Freeform 230"/>
          <p:cNvSpPr>
            <a:spLocks/>
          </p:cNvSpPr>
          <p:nvPr/>
        </p:nvSpPr>
        <p:spPr bwMode="auto">
          <a:xfrm>
            <a:off x="4346575" y="3676650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2" name="Oval 231"/>
          <p:cNvSpPr>
            <a:spLocks noChangeArrowheads="1"/>
          </p:cNvSpPr>
          <p:nvPr/>
        </p:nvSpPr>
        <p:spPr bwMode="auto">
          <a:xfrm>
            <a:off x="4287838" y="3849689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63" name="Text Box 232"/>
          <p:cNvSpPr txBox="1">
            <a:spLocks noChangeArrowheads="1"/>
          </p:cNvSpPr>
          <p:nvPr/>
        </p:nvSpPr>
        <p:spPr bwMode="auto">
          <a:xfrm>
            <a:off x="4775200" y="3756025"/>
            <a:ext cx="23495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89133" name="Line 233"/>
          <p:cNvSpPr>
            <a:spLocks noChangeShapeType="1"/>
          </p:cNvSpPr>
          <p:nvPr/>
        </p:nvSpPr>
        <p:spPr bwMode="auto">
          <a:xfrm>
            <a:off x="4433888" y="3916363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9134" name="Line 234"/>
          <p:cNvSpPr>
            <a:spLocks noChangeShapeType="1"/>
          </p:cNvSpPr>
          <p:nvPr/>
        </p:nvSpPr>
        <p:spPr bwMode="auto">
          <a:xfrm>
            <a:off x="4429125" y="3683000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9135" name="Line 235"/>
          <p:cNvSpPr>
            <a:spLocks noChangeShapeType="1"/>
          </p:cNvSpPr>
          <p:nvPr/>
        </p:nvSpPr>
        <p:spPr bwMode="auto">
          <a:xfrm>
            <a:off x="8640763" y="3835400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89136" name="Text Box 236"/>
          <p:cNvSpPr txBox="1">
            <a:spLocks noChangeArrowheads="1"/>
          </p:cNvSpPr>
          <p:nvPr/>
        </p:nvSpPr>
        <p:spPr bwMode="auto">
          <a:xfrm>
            <a:off x="8623300" y="2657475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2000" i="1">
                <a:latin typeface="Comic Sans MS" panose="030F0702030302020204" pitchFamily="66" charset="0"/>
              </a:rPr>
              <a:t>‘</a:t>
            </a:r>
            <a:endParaRPr lang="en-US" altLang="en-US" sz="2000" i="1">
              <a:latin typeface="Comic Sans MS" panose="030F0702030302020204" pitchFamily="66" charset="0"/>
            </a:endParaRPr>
          </a:p>
        </p:txBody>
      </p:sp>
      <p:grpSp>
        <p:nvGrpSpPr>
          <p:cNvPr id="107568" name="Group 237"/>
          <p:cNvGrpSpPr>
            <a:grpSpLocks/>
          </p:cNvGrpSpPr>
          <p:nvPr/>
        </p:nvGrpSpPr>
        <p:grpSpPr bwMode="auto">
          <a:xfrm>
            <a:off x="8945564" y="2886076"/>
            <a:ext cx="160337" cy="142875"/>
            <a:chOff x="174" y="3986"/>
            <a:chExt cx="51" cy="62"/>
          </a:xfrm>
        </p:grpSpPr>
        <p:sp>
          <p:nvSpPr>
            <p:cNvPr id="107641" name="Freeform 238"/>
            <p:cNvSpPr>
              <a:spLocks/>
            </p:cNvSpPr>
            <p:nvPr/>
          </p:nvSpPr>
          <p:spPr bwMode="auto">
            <a:xfrm>
              <a:off x="176" y="3986"/>
              <a:ext cx="49" cy="48"/>
            </a:xfrm>
            <a:custGeom>
              <a:avLst/>
              <a:gdLst>
                <a:gd name="T0" fmla="*/ 0 w 49"/>
                <a:gd name="T1" fmla="*/ 0 h 62"/>
                <a:gd name="T2" fmla="*/ 49 w 49"/>
                <a:gd name="T3" fmla="*/ 5 h 62"/>
                <a:gd name="T4" fmla="*/ 4 w 49"/>
                <a:gd name="T5" fmla="*/ 1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62">
                  <a:moveTo>
                    <a:pt x="0" y="0"/>
                  </a:moveTo>
                  <a:lnTo>
                    <a:pt x="49" y="32"/>
                  </a:lnTo>
                  <a:lnTo>
                    <a:pt x="4" y="62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211" name="Line 239"/>
            <p:cNvSpPr>
              <a:spLocks noChangeShapeType="1"/>
            </p:cNvSpPr>
            <p:nvPr/>
          </p:nvSpPr>
          <p:spPr bwMode="auto">
            <a:xfrm>
              <a:off x="174" y="4048"/>
              <a:ext cx="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pic>
        <p:nvPicPr>
          <p:cNvPr id="107569" name="Picture 24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39" name="Rectangle 241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107571" name="Freeform 250"/>
          <p:cNvSpPr>
            <a:spLocks/>
          </p:cNvSpPr>
          <p:nvPr/>
        </p:nvSpPr>
        <p:spPr bwMode="auto">
          <a:xfrm>
            <a:off x="8940801" y="3665538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7572" name="Group 256"/>
          <p:cNvGrpSpPr>
            <a:grpSpLocks/>
          </p:cNvGrpSpPr>
          <p:nvPr/>
        </p:nvGrpSpPr>
        <p:grpSpPr bwMode="auto">
          <a:xfrm>
            <a:off x="9077326" y="4564064"/>
            <a:ext cx="231775" cy="441325"/>
            <a:chOff x="4140" y="429"/>
            <a:chExt cx="1425" cy="2396"/>
          </a:xfrm>
        </p:grpSpPr>
        <p:sp>
          <p:nvSpPr>
            <p:cNvPr id="107609" name="Freeform 25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79" name="Rectangle 258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611" name="Freeform 25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12" name="Freeform 26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82" name="Rectangle 261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614" name="Group 26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9208" name="AutoShape 263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209" name="AutoShape 264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84" name="Rectangle 265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616" name="Group 26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9206" name="AutoShape 267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207" name="AutoShape 268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86" name="Rectangle 269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87" name="Rectangle 270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619" name="Group 27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204" name="AutoShape 272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205" name="AutoShape 273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7620" name="Freeform 27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7621" name="Group 27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202" name="AutoShape 276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203" name="AutoShape 277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91" name="Rectangle 278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623" name="Freeform 27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24" name="Freeform 28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94" name="Oval 281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626" name="Freeform 28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96" name="AutoShape 283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97" name="AutoShape 284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98" name="Oval 285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99" name="Oval 286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200" name="Oval 287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201" name="Rectangle 288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7573" name="Group 289"/>
          <p:cNvGrpSpPr>
            <a:grpSpLocks/>
          </p:cNvGrpSpPr>
          <p:nvPr/>
        </p:nvGrpSpPr>
        <p:grpSpPr bwMode="auto">
          <a:xfrm>
            <a:off x="8659814" y="5867401"/>
            <a:ext cx="231775" cy="441325"/>
            <a:chOff x="4140" y="429"/>
            <a:chExt cx="1425" cy="2396"/>
          </a:xfrm>
        </p:grpSpPr>
        <p:sp>
          <p:nvSpPr>
            <p:cNvPr id="107577" name="Freeform 29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47" name="Rectangle 29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79" name="Freeform 29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0" name="Freeform 29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50" name="Rectangle 294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582" name="Group 29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9176" name="AutoShape 296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177" name="AutoShape 297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52" name="Rectangle 298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584" name="Group 29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9174" name="AutoShape 300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175" name="AutoShape 301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54" name="Rectangle 302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55" name="Rectangle 303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7587" name="Group 30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172" name="AutoShape 305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173" name="AutoShape 306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7588" name="Freeform 30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7589" name="Group 30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170" name="AutoShape 309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171" name="AutoShape 310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159" name="Rectangle 311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91" name="Freeform 31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2" name="Freeform 31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62" name="Oval 314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94" name="Freeform 31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64" name="AutoShape 316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65" name="AutoShape 317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66" name="Oval 318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67" name="Oval 319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168" name="Oval 320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89169" name="Rectangle 321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7574" name="Group 325"/>
          <p:cNvGrpSpPr>
            <a:grpSpLocks/>
          </p:cNvGrpSpPr>
          <p:nvPr/>
        </p:nvGrpSpPr>
        <p:grpSpPr bwMode="auto">
          <a:xfrm>
            <a:off x="2185988" y="5594351"/>
            <a:ext cx="525462" cy="434975"/>
            <a:chOff x="-44" y="1473"/>
            <a:chExt cx="981" cy="1105"/>
          </a:xfrm>
        </p:grpSpPr>
        <p:pic>
          <p:nvPicPr>
            <p:cNvPr id="107575" name="Picture 326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76" name="Freeform 32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9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011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F66D2C05-B6D5-4139-9063-7D1B6141E8F7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108547" name="Freeform 305"/>
          <p:cNvSpPr>
            <a:spLocks/>
          </p:cNvSpPr>
          <p:nvPr/>
        </p:nvSpPr>
        <p:spPr bwMode="auto">
          <a:xfrm flipH="1">
            <a:off x="3635376" y="3465514"/>
            <a:ext cx="250825" cy="1201737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48" name="Group 380"/>
          <p:cNvGrpSpPr>
            <a:grpSpLocks/>
          </p:cNvGrpSpPr>
          <p:nvPr/>
        </p:nvGrpSpPr>
        <p:grpSpPr bwMode="auto">
          <a:xfrm>
            <a:off x="3240088" y="4425951"/>
            <a:ext cx="525462" cy="434975"/>
            <a:chOff x="-44" y="1473"/>
            <a:chExt cx="981" cy="1105"/>
          </a:xfrm>
        </p:grpSpPr>
        <p:pic>
          <p:nvPicPr>
            <p:cNvPr id="108713" name="Picture 381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714" name="Freeform 3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08549" name="Freeform 376"/>
          <p:cNvSpPr>
            <a:spLocks/>
          </p:cNvSpPr>
          <p:nvPr/>
        </p:nvSpPr>
        <p:spPr bwMode="auto">
          <a:xfrm>
            <a:off x="8483601" y="497046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0" name="Freeform 302"/>
          <p:cNvSpPr>
            <a:spLocks/>
          </p:cNvSpPr>
          <p:nvPr/>
        </p:nvSpPr>
        <p:spPr bwMode="auto">
          <a:xfrm flipH="1">
            <a:off x="2590801" y="46672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1" name="Freeform 299"/>
          <p:cNvSpPr>
            <a:spLocks/>
          </p:cNvSpPr>
          <p:nvPr/>
        </p:nvSpPr>
        <p:spPr bwMode="auto">
          <a:xfrm>
            <a:off x="8940801" y="3665538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63776" y="1387475"/>
            <a:ext cx="3743325" cy="1430338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0099"/>
                </a:solidFill>
                <a:ea typeface="ＭＳ Ｐゴシック" charset="0"/>
              </a:rPr>
              <a:t>idealization: perfect knowledge</a:t>
            </a:r>
          </a:p>
          <a:p>
            <a:pPr>
              <a:lnSpc>
                <a:spcPct val="80000"/>
              </a:lnSpc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sender sends only when router buffers available </a:t>
            </a:r>
          </a:p>
          <a:p>
            <a:pPr>
              <a:lnSpc>
                <a:spcPct val="80000"/>
              </a:lnSpc>
              <a:buFont typeface="Wingdings" charset="0"/>
              <a:buChar char="v"/>
              <a:defRPr/>
            </a:pPr>
            <a:endParaRPr lang="en-US" sz="2400">
              <a:ea typeface="ＭＳ Ｐゴシック" charset="0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sp>
        <p:nvSpPr>
          <p:cNvPr id="108553" name="Oval 4"/>
          <p:cNvSpPr>
            <a:spLocks noChangeArrowheads="1"/>
          </p:cNvSpPr>
          <p:nvPr/>
        </p:nvSpPr>
        <p:spPr bwMode="auto">
          <a:xfrm>
            <a:off x="5319714" y="5326063"/>
            <a:ext cx="1304925" cy="303212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8554" name="Line 5"/>
          <p:cNvSpPr>
            <a:spLocks noChangeShapeType="1"/>
          </p:cNvSpPr>
          <p:nvPr/>
        </p:nvSpPr>
        <p:spPr bwMode="auto">
          <a:xfrm>
            <a:off x="5319713" y="5302251"/>
            <a:ext cx="0" cy="18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5" name="Line 6"/>
          <p:cNvSpPr>
            <a:spLocks noChangeShapeType="1"/>
          </p:cNvSpPr>
          <p:nvPr/>
        </p:nvSpPr>
        <p:spPr bwMode="auto">
          <a:xfrm>
            <a:off x="6624638" y="5302251"/>
            <a:ext cx="0" cy="1873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6" name="Rectangle 7"/>
          <p:cNvSpPr>
            <a:spLocks noChangeArrowheads="1"/>
          </p:cNvSpPr>
          <p:nvPr/>
        </p:nvSpPr>
        <p:spPr bwMode="auto">
          <a:xfrm>
            <a:off x="5319713" y="5302250"/>
            <a:ext cx="309562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57" name="Rectangle 8"/>
          <p:cNvSpPr>
            <a:spLocks noChangeArrowheads="1"/>
          </p:cNvSpPr>
          <p:nvPr/>
        </p:nvSpPr>
        <p:spPr bwMode="auto">
          <a:xfrm>
            <a:off x="6229350" y="5289550"/>
            <a:ext cx="395288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58" name="Oval 9"/>
          <p:cNvSpPr>
            <a:spLocks noChangeArrowheads="1"/>
          </p:cNvSpPr>
          <p:nvPr/>
        </p:nvSpPr>
        <p:spPr bwMode="auto">
          <a:xfrm>
            <a:off x="5314951" y="5103814"/>
            <a:ext cx="1306513" cy="352425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08559" name="Group 10"/>
          <p:cNvGrpSpPr>
            <a:grpSpLocks/>
          </p:cNvGrpSpPr>
          <p:nvPr/>
        </p:nvGrpSpPr>
        <p:grpSpPr bwMode="auto">
          <a:xfrm>
            <a:off x="5621338" y="5160964"/>
            <a:ext cx="647700" cy="206375"/>
            <a:chOff x="2848" y="848"/>
            <a:chExt cx="140" cy="98"/>
          </a:xfrm>
        </p:grpSpPr>
        <p:sp>
          <p:nvSpPr>
            <p:cNvPr id="108710" name="Line 1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711" name="Line 1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712" name="Line 1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8560" name="Line 14"/>
          <p:cNvSpPr>
            <a:spLocks noChangeShapeType="1"/>
          </p:cNvSpPr>
          <p:nvPr/>
        </p:nvSpPr>
        <p:spPr bwMode="auto">
          <a:xfrm>
            <a:off x="5621339" y="5359401"/>
            <a:ext cx="231775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1" name="Line 15"/>
          <p:cNvSpPr>
            <a:spLocks noChangeShapeType="1"/>
          </p:cNvSpPr>
          <p:nvPr/>
        </p:nvSpPr>
        <p:spPr bwMode="auto">
          <a:xfrm flipV="1">
            <a:off x="6065838" y="5159375"/>
            <a:ext cx="203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2" name="Line 16"/>
          <p:cNvSpPr>
            <a:spLocks noChangeShapeType="1"/>
          </p:cNvSpPr>
          <p:nvPr/>
        </p:nvSpPr>
        <p:spPr bwMode="auto">
          <a:xfrm flipV="1">
            <a:off x="5834063" y="5159376"/>
            <a:ext cx="241300" cy="200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63" name="Text Box 17"/>
          <p:cNvSpPr txBox="1">
            <a:spLocks noChangeArrowheads="1"/>
          </p:cNvSpPr>
          <p:nvPr/>
        </p:nvSpPr>
        <p:spPr bwMode="auto">
          <a:xfrm>
            <a:off x="4232276" y="5934075"/>
            <a:ext cx="2136775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finite shared output link buffers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64" name="Line 18"/>
          <p:cNvSpPr>
            <a:spLocks noChangeShapeType="1"/>
          </p:cNvSpPr>
          <p:nvPr/>
        </p:nvSpPr>
        <p:spPr bwMode="auto">
          <a:xfrm flipH="1">
            <a:off x="3948113" y="4856163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65" name="Line 19"/>
          <p:cNvSpPr>
            <a:spLocks noChangeShapeType="1"/>
          </p:cNvSpPr>
          <p:nvPr/>
        </p:nvSpPr>
        <p:spPr bwMode="auto">
          <a:xfrm flipH="1">
            <a:off x="4545013" y="4856164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66" name="Group 60"/>
          <p:cNvGrpSpPr>
            <a:grpSpLocks/>
          </p:cNvGrpSpPr>
          <p:nvPr/>
        </p:nvGrpSpPr>
        <p:grpSpPr bwMode="auto">
          <a:xfrm>
            <a:off x="3875088" y="3541713"/>
            <a:ext cx="798512" cy="1166812"/>
            <a:chOff x="12762" y="10336"/>
            <a:chExt cx="1027" cy="1700"/>
          </a:xfrm>
        </p:grpSpPr>
        <p:sp>
          <p:nvSpPr>
            <p:cNvPr id="108704" name="Rectangle 61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705" name="Rectangle 62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706" name="Line 63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7" name="Line 64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8" name="Line 65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9" name="Line 66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567" name="Text Box 68"/>
          <p:cNvSpPr txBox="1">
            <a:spLocks noChangeArrowheads="1"/>
          </p:cNvSpPr>
          <p:nvPr/>
        </p:nvSpPr>
        <p:spPr bwMode="auto">
          <a:xfrm>
            <a:off x="4892675" y="3427414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68" name="Line 69"/>
          <p:cNvSpPr>
            <a:spLocks noChangeShapeType="1"/>
          </p:cNvSpPr>
          <p:nvPr/>
        </p:nvSpPr>
        <p:spPr bwMode="auto">
          <a:xfrm flipH="1">
            <a:off x="3409951" y="5961064"/>
            <a:ext cx="5381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69" name="Group 110"/>
          <p:cNvGrpSpPr>
            <a:grpSpLocks/>
          </p:cNvGrpSpPr>
          <p:nvPr/>
        </p:nvGrpSpPr>
        <p:grpSpPr bwMode="auto">
          <a:xfrm>
            <a:off x="2822576" y="4695826"/>
            <a:ext cx="798513" cy="1166813"/>
            <a:chOff x="12762" y="10336"/>
            <a:chExt cx="1027" cy="1700"/>
          </a:xfrm>
        </p:grpSpPr>
        <p:sp>
          <p:nvSpPr>
            <p:cNvPr id="108698" name="Rectangle 111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99" name="Rectangle 112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700" name="Line 113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1" name="Line 114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2" name="Line 115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3" name="Line 116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570" name="Line 118"/>
          <p:cNvSpPr>
            <a:spLocks noChangeShapeType="1"/>
          </p:cNvSpPr>
          <p:nvPr/>
        </p:nvSpPr>
        <p:spPr bwMode="auto">
          <a:xfrm flipH="1">
            <a:off x="4545013" y="5372100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71" name="Line 119"/>
          <p:cNvSpPr>
            <a:spLocks noChangeShapeType="1"/>
          </p:cNvSpPr>
          <p:nvPr/>
        </p:nvSpPr>
        <p:spPr bwMode="auto">
          <a:xfrm flipH="1">
            <a:off x="6534151" y="5372100"/>
            <a:ext cx="747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72" name="Line 120"/>
          <p:cNvSpPr>
            <a:spLocks noChangeShapeType="1"/>
          </p:cNvSpPr>
          <p:nvPr/>
        </p:nvSpPr>
        <p:spPr bwMode="auto">
          <a:xfrm flipH="1">
            <a:off x="6684963" y="4856163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73" name="Line 121"/>
          <p:cNvSpPr>
            <a:spLocks noChangeShapeType="1"/>
          </p:cNvSpPr>
          <p:nvPr/>
        </p:nvSpPr>
        <p:spPr bwMode="auto">
          <a:xfrm flipH="1">
            <a:off x="6673851" y="5973763"/>
            <a:ext cx="677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74" name="Line 122"/>
          <p:cNvSpPr>
            <a:spLocks noChangeShapeType="1"/>
          </p:cNvSpPr>
          <p:nvPr/>
        </p:nvSpPr>
        <p:spPr bwMode="auto">
          <a:xfrm flipH="1">
            <a:off x="7783513" y="4868863"/>
            <a:ext cx="539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75" name="Group 163"/>
          <p:cNvGrpSpPr>
            <a:grpSpLocks/>
          </p:cNvGrpSpPr>
          <p:nvPr/>
        </p:nvGrpSpPr>
        <p:grpSpPr bwMode="auto">
          <a:xfrm>
            <a:off x="8167688" y="3676651"/>
            <a:ext cx="798512" cy="1166813"/>
            <a:chOff x="12762" y="10336"/>
            <a:chExt cx="1027" cy="1700"/>
          </a:xfrm>
        </p:grpSpPr>
        <p:sp>
          <p:nvSpPr>
            <p:cNvPr id="108692" name="Rectangle 164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93" name="Rectangle 165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94" name="Line 166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5" name="Line 167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6" name="Line 168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7" name="Line 169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8576" name="Group 210"/>
          <p:cNvGrpSpPr>
            <a:grpSpLocks/>
          </p:cNvGrpSpPr>
          <p:nvPr/>
        </p:nvGrpSpPr>
        <p:grpSpPr bwMode="auto">
          <a:xfrm>
            <a:off x="7699376" y="4989513"/>
            <a:ext cx="798513" cy="1168400"/>
            <a:chOff x="12762" y="10336"/>
            <a:chExt cx="1027" cy="1700"/>
          </a:xfrm>
        </p:grpSpPr>
        <p:sp>
          <p:nvSpPr>
            <p:cNvPr id="108686" name="Rectangle 211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87" name="Rectangle 212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88" name="Line 213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9" name="Line 214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0" name="Line 215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1" name="Line 216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577" name="Oval 217"/>
          <p:cNvSpPr>
            <a:spLocks noChangeArrowheads="1"/>
          </p:cNvSpPr>
          <p:nvPr/>
        </p:nvSpPr>
        <p:spPr bwMode="auto">
          <a:xfrm>
            <a:off x="4287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8578" name="Oval 218"/>
          <p:cNvSpPr>
            <a:spLocks noChangeArrowheads="1"/>
          </p:cNvSpPr>
          <p:nvPr/>
        </p:nvSpPr>
        <p:spPr bwMode="auto">
          <a:xfrm>
            <a:off x="3128963" y="4745039"/>
            <a:ext cx="114300" cy="117475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8579" name="Text Box 219"/>
          <p:cNvSpPr txBox="1">
            <a:spLocks noChangeArrowheads="1"/>
          </p:cNvSpPr>
          <p:nvPr/>
        </p:nvSpPr>
        <p:spPr bwMode="auto">
          <a:xfrm>
            <a:off x="9107488" y="3629026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80" name="Line 220"/>
          <p:cNvSpPr>
            <a:spLocks noChangeShapeType="1"/>
          </p:cNvSpPr>
          <p:nvPr/>
        </p:nvSpPr>
        <p:spPr bwMode="auto">
          <a:xfrm flipH="1" flipV="1">
            <a:off x="6116639" y="5580064"/>
            <a:ext cx="7937" cy="407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81" name="Group 221"/>
          <p:cNvGrpSpPr>
            <a:grpSpLocks/>
          </p:cNvGrpSpPr>
          <p:nvPr/>
        </p:nvGrpSpPr>
        <p:grpSpPr bwMode="auto">
          <a:xfrm>
            <a:off x="6111876" y="5211764"/>
            <a:ext cx="385763" cy="319087"/>
            <a:chOff x="11283" y="10423"/>
            <a:chExt cx="475" cy="374"/>
          </a:xfrm>
        </p:grpSpPr>
        <p:sp>
          <p:nvSpPr>
            <p:cNvPr id="108679" name="Rectangle 222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680" name="Line 223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1" name="Line 224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2" name="Line 225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3" name="Line 226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4" name="Line 227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5" name="Line 228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582" name="Line 229"/>
          <p:cNvSpPr>
            <a:spLocks noChangeShapeType="1"/>
          </p:cNvSpPr>
          <p:nvPr/>
        </p:nvSpPr>
        <p:spPr bwMode="auto">
          <a:xfrm>
            <a:off x="6369051" y="3995738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83" name="Freeform 230"/>
          <p:cNvSpPr>
            <a:spLocks/>
          </p:cNvSpPr>
          <p:nvPr/>
        </p:nvSpPr>
        <p:spPr bwMode="auto">
          <a:xfrm>
            <a:off x="3187701" y="4843464"/>
            <a:ext cx="4854575" cy="1228725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80808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84" name="Freeform 231"/>
          <p:cNvSpPr>
            <a:spLocks/>
          </p:cNvSpPr>
          <p:nvPr/>
        </p:nvSpPr>
        <p:spPr bwMode="auto">
          <a:xfrm>
            <a:off x="4346575" y="3676650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85" name="Oval 232"/>
          <p:cNvSpPr>
            <a:spLocks noChangeArrowheads="1"/>
          </p:cNvSpPr>
          <p:nvPr/>
        </p:nvSpPr>
        <p:spPr bwMode="auto">
          <a:xfrm>
            <a:off x="4287838" y="3849689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8586" name="Text Box 233"/>
          <p:cNvSpPr txBox="1">
            <a:spLocks noChangeArrowheads="1"/>
          </p:cNvSpPr>
          <p:nvPr/>
        </p:nvSpPr>
        <p:spPr bwMode="auto">
          <a:xfrm>
            <a:off x="4775200" y="3756025"/>
            <a:ext cx="23495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90156" name="Line 234"/>
          <p:cNvSpPr>
            <a:spLocks noChangeShapeType="1"/>
          </p:cNvSpPr>
          <p:nvPr/>
        </p:nvSpPr>
        <p:spPr bwMode="auto">
          <a:xfrm>
            <a:off x="4433888" y="3916363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0157" name="Line 235"/>
          <p:cNvSpPr>
            <a:spLocks noChangeShapeType="1"/>
          </p:cNvSpPr>
          <p:nvPr/>
        </p:nvSpPr>
        <p:spPr bwMode="auto">
          <a:xfrm>
            <a:off x="4429125" y="3683000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0158" name="Line 236"/>
          <p:cNvSpPr>
            <a:spLocks noChangeShapeType="1"/>
          </p:cNvSpPr>
          <p:nvPr/>
        </p:nvSpPr>
        <p:spPr bwMode="auto">
          <a:xfrm>
            <a:off x="8640763" y="3835400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5569" name="Rectangle 241"/>
          <p:cNvSpPr>
            <a:spLocks noChangeArrowheads="1"/>
          </p:cNvSpPr>
          <p:nvPr/>
        </p:nvSpPr>
        <p:spPr bwMode="auto">
          <a:xfrm>
            <a:off x="4235451" y="3590926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5570" name="Rectangle 242"/>
          <p:cNvSpPr>
            <a:spLocks noChangeArrowheads="1"/>
          </p:cNvSpPr>
          <p:nvPr/>
        </p:nvSpPr>
        <p:spPr bwMode="auto">
          <a:xfrm>
            <a:off x="3905251" y="3824289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5571" name="Text Box 243"/>
          <p:cNvSpPr txBox="1">
            <a:spLocks noChangeArrowheads="1"/>
          </p:cNvSpPr>
          <p:nvPr/>
        </p:nvSpPr>
        <p:spPr bwMode="auto">
          <a:xfrm>
            <a:off x="3281364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sp>
        <p:nvSpPr>
          <p:cNvPr id="355587" name="Text Box 259"/>
          <p:cNvSpPr txBox="1">
            <a:spLocks noChangeArrowheads="1"/>
          </p:cNvSpPr>
          <p:nvPr/>
        </p:nvSpPr>
        <p:spPr bwMode="auto">
          <a:xfrm>
            <a:off x="5246689" y="4783138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grpSp>
        <p:nvGrpSpPr>
          <p:cNvPr id="355617" name="Group 289"/>
          <p:cNvGrpSpPr>
            <a:grpSpLocks/>
          </p:cNvGrpSpPr>
          <p:nvPr/>
        </p:nvGrpSpPr>
        <p:grpSpPr bwMode="auto">
          <a:xfrm>
            <a:off x="6494463" y="1201739"/>
            <a:ext cx="1936750" cy="1704975"/>
            <a:chOff x="2974" y="778"/>
            <a:chExt cx="1220" cy="1074"/>
          </a:xfrm>
        </p:grpSpPr>
        <p:sp>
          <p:nvSpPr>
            <p:cNvPr id="90237" name="Line 278"/>
            <p:cNvSpPr>
              <a:spLocks noChangeShapeType="1"/>
            </p:cNvSpPr>
            <p:nvPr/>
          </p:nvSpPr>
          <p:spPr bwMode="auto">
            <a:xfrm>
              <a:off x="3278" y="820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38" name="Line 279"/>
            <p:cNvSpPr>
              <a:spLocks noChangeShapeType="1"/>
            </p:cNvSpPr>
            <p:nvPr/>
          </p:nvSpPr>
          <p:spPr bwMode="auto">
            <a:xfrm flipV="1">
              <a:off x="3272" y="1620"/>
              <a:ext cx="92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39" name="Line 280"/>
            <p:cNvSpPr>
              <a:spLocks noChangeShapeType="1"/>
            </p:cNvSpPr>
            <p:nvPr/>
          </p:nvSpPr>
          <p:spPr bwMode="auto">
            <a:xfrm>
              <a:off x="3992" y="908"/>
              <a:ext cx="0" cy="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71" name="Freeform 281"/>
            <p:cNvSpPr>
              <a:spLocks/>
            </p:cNvSpPr>
            <p:nvPr/>
          </p:nvSpPr>
          <p:spPr bwMode="auto">
            <a:xfrm>
              <a:off x="3274" y="886"/>
              <a:ext cx="720" cy="732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241" name="Line 282"/>
            <p:cNvSpPr>
              <a:spLocks noChangeShapeType="1"/>
            </p:cNvSpPr>
            <p:nvPr/>
          </p:nvSpPr>
          <p:spPr bwMode="auto">
            <a:xfrm>
              <a:off x="3226" y="886"/>
              <a:ext cx="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42" name="Line 283"/>
            <p:cNvSpPr>
              <a:spLocks noChangeShapeType="1"/>
            </p:cNvSpPr>
            <p:nvPr/>
          </p:nvSpPr>
          <p:spPr bwMode="auto">
            <a:xfrm>
              <a:off x="3990" y="1624"/>
              <a:ext cx="0" cy="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43" name="Text Box 284"/>
            <p:cNvSpPr txBox="1">
              <a:spLocks noChangeArrowheads="1"/>
            </p:cNvSpPr>
            <p:nvPr/>
          </p:nvSpPr>
          <p:spPr bwMode="auto">
            <a:xfrm>
              <a:off x="2974" y="778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90244" name="Text Box 285"/>
            <p:cNvSpPr txBox="1">
              <a:spLocks noChangeArrowheads="1"/>
            </p:cNvSpPr>
            <p:nvPr/>
          </p:nvSpPr>
          <p:spPr bwMode="auto">
            <a:xfrm>
              <a:off x="3858" y="1646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/>
                <a:t>R/2</a:t>
              </a:r>
            </a:p>
          </p:txBody>
        </p:sp>
        <p:sp>
          <p:nvSpPr>
            <p:cNvPr id="90245" name="Text Box 286"/>
            <p:cNvSpPr txBox="1">
              <a:spLocks noChangeArrowheads="1"/>
            </p:cNvSpPr>
            <p:nvPr/>
          </p:nvSpPr>
          <p:spPr bwMode="auto">
            <a:xfrm rot="16200000">
              <a:off x="2960" y="1147"/>
              <a:ext cx="3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Symbol" charset="0"/>
                </a:rPr>
                <a:t>l</a:t>
              </a:r>
              <a:r>
                <a:rPr lang="en-US" sz="2000" baseline="-25000">
                  <a:latin typeface="Arial" charset="0"/>
                </a:rPr>
                <a:t>out</a:t>
              </a:r>
            </a:p>
          </p:txBody>
        </p:sp>
        <p:sp>
          <p:nvSpPr>
            <p:cNvPr id="90246" name="Text Box 287"/>
            <p:cNvSpPr txBox="1">
              <a:spLocks noChangeArrowheads="1"/>
            </p:cNvSpPr>
            <p:nvPr/>
          </p:nvSpPr>
          <p:spPr bwMode="auto">
            <a:xfrm>
              <a:off x="3529" y="1600"/>
              <a:ext cx="28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>
                  <a:latin typeface="Symbol" charset="0"/>
                </a:rPr>
                <a:t>l</a:t>
              </a:r>
              <a:r>
                <a:rPr lang="en-US" sz="2000" baseline="-25000">
                  <a:latin typeface="Arial" charset="0"/>
                </a:rPr>
                <a:t>in</a:t>
              </a:r>
            </a:p>
          </p:txBody>
        </p:sp>
        <p:sp>
          <p:nvSpPr>
            <p:cNvPr id="90247" name="Line 288"/>
            <p:cNvSpPr>
              <a:spLocks noChangeShapeType="1"/>
            </p:cNvSpPr>
            <p:nvPr/>
          </p:nvSpPr>
          <p:spPr bwMode="auto">
            <a:xfrm>
              <a:off x="3290" y="887"/>
              <a:ext cx="6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pic>
        <p:nvPicPr>
          <p:cNvPr id="108595" name="Picture 29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65" name="Rectangle 294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108597" name="Text Box 308"/>
          <p:cNvSpPr txBox="1">
            <a:spLocks noChangeArrowheads="1"/>
          </p:cNvSpPr>
          <p:nvPr/>
        </p:nvSpPr>
        <p:spPr bwMode="auto">
          <a:xfrm>
            <a:off x="2692400" y="6073775"/>
            <a:ext cx="8778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8598" name="Text Box 309"/>
          <p:cNvSpPr txBox="1">
            <a:spLocks noChangeArrowheads="1"/>
          </p:cNvSpPr>
          <p:nvPr/>
        </p:nvSpPr>
        <p:spPr bwMode="auto">
          <a:xfrm>
            <a:off x="3822700" y="4705350"/>
            <a:ext cx="8524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08599" name="Group 310"/>
          <p:cNvGrpSpPr>
            <a:grpSpLocks/>
          </p:cNvGrpSpPr>
          <p:nvPr/>
        </p:nvGrpSpPr>
        <p:grpSpPr bwMode="auto">
          <a:xfrm>
            <a:off x="9077326" y="4564064"/>
            <a:ext cx="231775" cy="441325"/>
            <a:chOff x="4140" y="429"/>
            <a:chExt cx="1425" cy="2396"/>
          </a:xfrm>
        </p:grpSpPr>
        <p:sp>
          <p:nvSpPr>
            <p:cNvPr id="108636" name="Freeform 31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06" name="Rectangle 312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38" name="Freeform 31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39" name="Freeform 31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09" name="Rectangle 315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41" name="Group 31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235" name="AutoShape 317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36" name="AutoShape 318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211" name="Rectangle 319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43" name="Group 32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233" name="AutoShape 321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34" name="AutoShape 322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213" name="Rectangle 323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14" name="Rectangle 324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46" name="Group 32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231" name="AutoShape 326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32" name="AutoShape 327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8647" name="Freeform 32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8648" name="Group 32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229" name="AutoShape 330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30" name="AutoShape 331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218" name="Rectangle 332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50" name="Freeform 33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51" name="Freeform 33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21" name="Oval 335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53" name="Freeform 33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223" name="AutoShape 337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24" name="AutoShape 338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25" name="Oval 339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26" name="Oval 340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0227" name="Oval 341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228" name="Rectangle 342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8600" name="Group 343"/>
          <p:cNvGrpSpPr>
            <a:grpSpLocks/>
          </p:cNvGrpSpPr>
          <p:nvPr/>
        </p:nvGrpSpPr>
        <p:grpSpPr bwMode="auto">
          <a:xfrm>
            <a:off x="8659814" y="5867401"/>
            <a:ext cx="231775" cy="441325"/>
            <a:chOff x="4140" y="429"/>
            <a:chExt cx="1425" cy="2396"/>
          </a:xfrm>
        </p:grpSpPr>
        <p:sp>
          <p:nvSpPr>
            <p:cNvPr id="108604" name="Freeform 34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74" name="Rectangle 345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06" name="Freeform 34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7" name="Freeform 34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77" name="Rectangle 348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09" name="Group 34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203" name="AutoShape 350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04" name="AutoShape 351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179" name="Rectangle 352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11" name="Group 35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201" name="AutoShape 354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02" name="AutoShape 355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181" name="Rectangle 356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182" name="Rectangle 357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8614" name="Group 35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199" name="AutoShape 359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00" name="AutoShape 360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8615" name="Freeform 36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8616" name="Group 36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197" name="AutoShape 363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198" name="AutoShape 364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0186" name="Rectangle 365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18" name="Freeform 36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9" name="Freeform 36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89" name="Oval 368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621" name="Freeform 36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91" name="AutoShape 370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192" name="AutoShape 371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193" name="Oval 372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194" name="Oval 373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0195" name="Oval 374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0196" name="Rectangle 375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8601" name="Group 377"/>
          <p:cNvGrpSpPr>
            <a:grpSpLocks/>
          </p:cNvGrpSpPr>
          <p:nvPr/>
        </p:nvGrpSpPr>
        <p:grpSpPr bwMode="auto">
          <a:xfrm>
            <a:off x="2185988" y="5605464"/>
            <a:ext cx="525462" cy="434975"/>
            <a:chOff x="-44" y="1473"/>
            <a:chExt cx="981" cy="1105"/>
          </a:xfrm>
        </p:grpSpPr>
        <p:pic>
          <p:nvPicPr>
            <p:cNvPr id="108602" name="Picture 378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603" name="Freeform 37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385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5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3542 L 0.0007 0.17802 L 0.08681 0.17894 L 0.04723 0.24191 L 0.19584 0.2419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55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83 0.2419 L 0.23889 0.24214 " pathEditMode="relative" ptsTypes="AA">
                                      <p:cBhvr>
                                        <p:cTn id="30" dur="3000" fill="hold"/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355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88 0.24213 L 0.30624 0.24213 L 0.37083 0.15324 L 0.46041 0.15324 L 0.45902 0.01343 " pathEditMode="relative" ptsTypes="AAAAA">
                                      <p:cBhvr>
                                        <p:cTn id="37" dur="2000" fill="hold"/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355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55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569" grpId="0" animBg="1"/>
      <p:bldP spid="355569" grpId="1" animBg="1"/>
      <p:bldP spid="355569" grpId="2" animBg="1"/>
      <p:bldP spid="355569" grpId="3" animBg="1"/>
      <p:bldP spid="355569" grpId="4" animBg="1"/>
      <p:bldP spid="355569" grpId="5" animBg="1"/>
      <p:bldP spid="355570" grpId="0" animBg="1"/>
      <p:bldP spid="355570" grpId="1" animBg="1"/>
      <p:bldP spid="355571" grpId="0"/>
      <p:bldP spid="355571" grpId="1"/>
      <p:bldP spid="355587" grpId="0"/>
      <p:bldP spid="355587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11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B86B7EC9-4B1C-4426-B9F6-BB7DA8DD09F8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09571" name="Freeform 249"/>
          <p:cNvSpPr>
            <a:spLocks/>
          </p:cNvSpPr>
          <p:nvPr/>
        </p:nvSpPr>
        <p:spPr bwMode="auto">
          <a:xfrm flipH="1">
            <a:off x="3635376" y="3465514"/>
            <a:ext cx="250825" cy="1201737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572" name="Group 328"/>
          <p:cNvGrpSpPr>
            <a:grpSpLocks/>
          </p:cNvGrpSpPr>
          <p:nvPr/>
        </p:nvGrpSpPr>
        <p:grpSpPr bwMode="auto">
          <a:xfrm>
            <a:off x="3240088" y="4425951"/>
            <a:ext cx="525462" cy="434975"/>
            <a:chOff x="-44" y="1473"/>
            <a:chExt cx="981" cy="1105"/>
          </a:xfrm>
        </p:grpSpPr>
        <p:pic>
          <p:nvPicPr>
            <p:cNvPr id="109724" name="Picture 329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725" name="Freeform 33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402434" name="Picture 2" descr="garbage_ca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Oval 3"/>
          <p:cNvSpPr>
            <a:spLocks noChangeArrowheads="1"/>
          </p:cNvSpPr>
          <p:nvPr/>
        </p:nvSpPr>
        <p:spPr bwMode="auto">
          <a:xfrm>
            <a:off x="5319714" y="5348288"/>
            <a:ext cx="1304925" cy="303212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9575" name="Line 4"/>
          <p:cNvSpPr>
            <a:spLocks noChangeShapeType="1"/>
          </p:cNvSpPr>
          <p:nvPr/>
        </p:nvSpPr>
        <p:spPr bwMode="auto">
          <a:xfrm>
            <a:off x="5319713" y="5324476"/>
            <a:ext cx="0" cy="18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Line 5"/>
          <p:cNvSpPr>
            <a:spLocks noChangeShapeType="1"/>
          </p:cNvSpPr>
          <p:nvPr/>
        </p:nvSpPr>
        <p:spPr bwMode="auto">
          <a:xfrm>
            <a:off x="6624638" y="5324476"/>
            <a:ext cx="0" cy="1873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Rectangle 6"/>
          <p:cNvSpPr>
            <a:spLocks noChangeArrowheads="1"/>
          </p:cNvSpPr>
          <p:nvPr/>
        </p:nvSpPr>
        <p:spPr bwMode="auto">
          <a:xfrm>
            <a:off x="5319713" y="5324475"/>
            <a:ext cx="309562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9578" name="Rectangle 7"/>
          <p:cNvSpPr>
            <a:spLocks noChangeArrowheads="1"/>
          </p:cNvSpPr>
          <p:nvPr/>
        </p:nvSpPr>
        <p:spPr bwMode="auto">
          <a:xfrm>
            <a:off x="6229350" y="5311775"/>
            <a:ext cx="395288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9579" name="Oval 8"/>
          <p:cNvSpPr>
            <a:spLocks noChangeArrowheads="1"/>
          </p:cNvSpPr>
          <p:nvPr/>
        </p:nvSpPr>
        <p:spPr bwMode="auto">
          <a:xfrm>
            <a:off x="5314951" y="5126039"/>
            <a:ext cx="1306513" cy="352425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09580" name="Group 9"/>
          <p:cNvGrpSpPr>
            <a:grpSpLocks/>
          </p:cNvGrpSpPr>
          <p:nvPr/>
        </p:nvGrpSpPr>
        <p:grpSpPr bwMode="auto">
          <a:xfrm>
            <a:off x="5621338" y="5183189"/>
            <a:ext cx="647700" cy="206375"/>
            <a:chOff x="2848" y="848"/>
            <a:chExt cx="140" cy="98"/>
          </a:xfrm>
        </p:grpSpPr>
        <p:sp>
          <p:nvSpPr>
            <p:cNvPr id="109721" name="Line 1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722" name="Line 1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723" name="Line 1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81" name="Line 13"/>
          <p:cNvSpPr>
            <a:spLocks noChangeShapeType="1"/>
          </p:cNvSpPr>
          <p:nvPr/>
        </p:nvSpPr>
        <p:spPr bwMode="auto">
          <a:xfrm>
            <a:off x="5621339" y="5381626"/>
            <a:ext cx="231775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Line 14"/>
          <p:cNvSpPr>
            <a:spLocks noChangeShapeType="1"/>
          </p:cNvSpPr>
          <p:nvPr/>
        </p:nvSpPr>
        <p:spPr bwMode="auto">
          <a:xfrm flipV="1">
            <a:off x="6065838" y="5181600"/>
            <a:ext cx="203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Line 15"/>
          <p:cNvSpPr>
            <a:spLocks noChangeShapeType="1"/>
          </p:cNvSpPr>
          <p:nvPr/>
        </p:nvSpPr>
        <p:spPr bwMode="auto">
          <a:xfrm flipV="1">
            <a:off x="5834063" y="5181601"/>
            <a:ext cx="241300" cy="200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 flipH="1">
            <a:off x="394811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 flipH="1">
            <a:off x="4545013" y="4878389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586" name="Group 58"/>
          <p:cNvGrpSpPr>
            <a:grpSpLocks/>
          </p:cNvGrpSpPr>
          <p:nvPr/>
        </p:nvGrpSpPr>
        <p:grpSpPr bwMode="auto">
          <a:xfrm>
            <a:off x="3875088" y="3563938"/>
            <a:ext cx="798512" cy="1166812"/>
            <a:chOff x="12762" y="10336"/>
            <a:chExt cx="1027" cy="1700"/>
          </a:xfrm>
        </p:grpSpPr>
        <p:sp>
          <p:nvSpPr>
            <p:cNvPr id="109715" name="Rectangle 5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16" name="Rectangle 6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17" name="Line 6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8" name="Line 6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9" name="Line 6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20" name="Line 6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587" name="Text Box 66"/>
          <p:cNvSpPr txBox="1">
            <a:spLocks noChangeArrowheads="1"/>
          </p:cNvSpPr>
          <p:nvPr/>
        </p:nvSpPr>
        <p:spPr bwMode="auto">
          <a:xfrm>
            <a:off x="4892675" y="3449639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9588" name="Line 67"/>
          <p:cNvSpPr>
            <a:spLocks noChangeShapeType="1"/>
          </p:cNvSpPr>
          <p:nvPr/>
        </p:nvSpPr>
        <p:spPr bwMode="auto">
          <a:xfrm flipH="1">
            <a:off x="3409951" y="5983289"/>
            <a:ext cx="5381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589" name="Group 108"/>
          <p:cNvGrpSpPr>
            <a:grpSpLocks/>
          </p:cNvGrpSpPr>
          <p:nvPr/>
        </p:nvGrpSpPr>
        <p:grpSpPr bwMode="auto">
          <a:xfrm>
            <a:off x="2822576" y="4718051"/>
            <a:ext cx="798513" cy="1166813"/>
            <a:chOff x="12762" y="10336"/>
            <a:chExt cx="1027" cy="1700"/>
          </a:xfrm>
        </p:grpSpPr>
        <p:sp>
          <p:nvSpPr>
            <p:cNvPr id="109709" name="Rectangle 1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10" name="Rectangle 1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11" name="Line 1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2" name="Line 1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3" name="Line 1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4" name="Line 1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590" name="Line 116"/>
          <p:cNvSpPr>
            <a:spLocks noChangeShapeType="1"/>
          </p:cNvSpPr>
          <p:nvPr/>
        </p:nvSpPr>
        <p:spPr bwMode="auto">
          <a:xfrm flipH="1">
            <a:off x="4545013" y="5394325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91" name="Line 117"/>
          <p:cNvSpPr>
            <a:spLocks noChangeShapeType="1"/>
          </p:cNvSpPr>
          <p:nvPr/>
        </p:nvSpPr>
        <p:spPr bwMode="auto">
          <a:xfrm flipH="1">
            <a:off x="6534151" y="5394325"/>
            <a:ext cx="747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92" name="Line 118"/>
          <p:cNvSpPr>
            <a:spLocks noChangeShapeType="1"/>
          </p:cNvSpPr>
          <p:nvPr/>
        </p:nvSpPr>
        <p:spPr bwMode="auto">
          <a:xfrm flipH="1">
            <a:off x="668496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93" name="Line 119"/>
          <p:cNvSpPr>
            <a:spLocks noChangeShapeType="1"/>
          </p:cNvSpPr>
          <p:nvPr/>
        </p:nvSpPr>
        <p:spPr bwMode="auto">
          <a:xfrm flipH="1">
            <a:off x="6673851" y="5995988"/>
            <a:ext cx="677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94" name="Line 120"/>
          <p:cNvSpPr>
            <a:spLocks noChangeShapeType="1"/>
          </p:cNvSpPr>
          <p:nvPr/>
        </p:nvSpPr>
        <p:spPr bwMode="auto">
          <a:xfrm flipH="1">
            <a:off x="7783513" y="4891088"/>
            <a:ext cx="539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595" name="Group 161"/>
          <p:cNvGrpSpPr>
            <a:grpSpLocks/>
          </p:cNvGrpSpPr>
          <p:nvPr/>
        </p:nvGrpSpPr>
        <p:grpSpPr bwMode="auto">
          <a:xfrm>
            <a:off x="8167688" y="3698876"/>
            <a:ext cx="798512" cy="1166813"/>
            <a:chOff x="12762" y="10336"/>
            <a:chExt cx="1027" cy="1700"/>
          </a:xfrm>
        </p:grpSpPr>
        <p:sp>
          <p:nvSpPr>
            <p:cNvPr id="109703" name="Rectangle 16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04" name="Rectangle 16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705" name="Line 16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6" name="Line 16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7" name="Line 16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8" name="Line 16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9596" name="Group 208"/>
          <p:cNvGrpSpPr>
            <a:grpSpLocks/>
          </p:cNvGrpSpPr>
          <p:nvPr/>
        </p:nvGrpSpPr>
        <p:grpSpPr bwMode="auto">
          <a:xfrm>
            <a:off x="7699376" y="5011738"/>
            <a:ext cx="798513" cy="1168400"/>
            <a:chOff x="12762" y="10336"/>
            <a:chExt cx="1027" cy="1700"/>
          </a:xfrm>
        </p:grpSpPr>
        <p:sp>
          <p:nvSpPr>
            <p:cNvPr id="109697" name="Rectangle 2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698" name="Rectangle 2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699" name="Line 2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0" name="Line 2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1" name="Line 2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2" name="Line 2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597" name="Oval 215"/>
          <p:cNvSpPr>
            <a:spLocks noChangeArrowheads="1"/>
          </p:cNvSpPr>
          <p:nvPr/>
        </p:nvSpPr>
        <p:spPr bwMode="auto">
          <a:xfrm>
            <a:off x="4287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9598" name="Oval 216"/>
          <p:cNvSpPr>
            <a:spLocks noChangeArrowheads="1"/>
          </p:cNvSpPr>
          <p:nvPr/>
        </p:nvSpPr>
        <p:spPr bwMode="auto">
          <a:xfrm>
            <a:off x="3128963" y="4767264"/>
            <a:ext cx="114300" cy="117475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9599" name="Text Box 217"/>
          <p:cNvSpPr txBox="1">
            <a:spLocks noChangeArrowheads="1"/>
          </p:cNvSpPr>
          <p:nvPr/>
        </p:nvSpPr>
        <p:spPr bwMode="auto">
          <a:xfrm>
            <a:off x="9107488" y="3651251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09600" name="Group 218"/>
          <p:cNvGrpSpPr>
            <a:grpSpLocks/>
          </p:cNvGrpSpPr>
          <p:nvPr/>
        </p:nvGrpSpPr>
        <p:grpSpPr bwMode="auto">
          <a:xfrm>
            <a:off x="6111876" y="5233989"/>
            <a:ext cx="385763" cy="319087"/>
            <a:chOff x="11283" y="10423"/>
            <a:chExt cx="475" cy="374"/>
          </a:xfrm>
        </p:grpSpPr>
        <p:sp>
          <p:nvSpPr>
            <p:cNvPr id="109690" name="Rectangle 219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9691" name="Line 220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2" name="Line 221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3" name="Line 222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4" name="Line 223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5" name="Line 224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6" name="Line 225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601" name="Line 226"/>
          <p:cNvSpPr>
            <a:spLocks noChangeShapeType="1"/>
          </p:cNvSpPr>
          <p:nvPr/>
        </p:nvSpPr>
        <p:spPr bwMode="auto">
          <a:xfrm>
            <a:off x="6369051" y="4017963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02" name="Freeform 227"/>
          <p:cNvSpPr>
            <a:spLocks/>
          </p:cNvSpPr>
          <p:nvPr/>
        </p:nvSpPr>
        <p:spPr bwMode="auto">
          <a:xfrm>
            <a:off x="3187701" y="4865689"/>
            <a:ext cx="4854575" cy="1228725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80808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03" name="Freeform 228"/>
          <p:cNvSpPr>
            <a:spLocks/>
          </p:cNvSpPr>
          <p:nvPr/>
        </p:nvSpPr>
        <p:spPr bwMode="auto">
          <a:xfrm>
            <a:off x="4346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04" name="Oval 229"/>
          <p:cNvSpPr>
            <a:spLocks noChangeArrowheads="1"/>
          </p:cNvSpPr>
          <p:nvPr/>
        </p:nvSpPr>
        <p:spPr bwMode="auto">
          <a:xfrm>
            <a:off x="4287838" y="3871914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9605" name="Text Box 230"/>
          <p:cNvSpPr txBox="1">
            <a:spLocks noChangeArrowheads="1"/>
          </p:cNvSpPr>
          <p:nvPr/>
        </p:nvSpPr>
        <p:spPr bwMode="auto">
          <a:xfrm>
            <a:off x="4775200" y="3778250"/>
            <a:ext cx="23495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91175" name="Line 231"/>
          <p:cNvSpPr>
            <a:spLocks noChangeShapeType="1"/>
          </p:cNvSpPr>
          <p:nvPr/>
        </p:nvSpPr>
        <p:spPr bwMode="auto">
          <a:xfrm>
            <a:off x="4433888" y="3938588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1176" name="Line 232"/>
          <p:cNvSpPr>
            <a:spLocks noChangeShapeType="1"/>
          </p:cNvSpPr>
          <p:nvPr/>
        </p:nvSpPr>
        <p:spPr bwMode="auto">
          <a:xfrm>
            <a:off x="4429125" y="37052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1177" name="Line 233"/>
          <p:cNvSpPr>
            <a:spLocks noChangeShapeType="1"/>
          </p:cNvSpPr>
          <p:nvPr/>
        </p:nvSpPr>
        <p:spPr bwMode="auto">
          <a:xfrm>
            <a:off x="8640763" y="38576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402666" name="Rectangle 234"/>
          <p:cNvSpPr>
            <a:spLocks noChangeArrowheads="1"/>
          </p:cNvSpPr>
          <p:nvPr/>
        </p:nvSpPr>
        <p:spPr bwMode="auto">
          <a:xfrm>
            <a:off x="4235451" y="3613151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402667" name="Rectangle 235"/>
          <p:cNvSpPr>
            <a:spLocks noChangeArrowheads="1"/>
          </p:cNvSpPr>
          <p:nvPr/>
        </p:nvSpPr>
        <p:spPr bwMode="auto">
          <a:xfrm>
            <a:off x="3905251" y="3846514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402668" name="Text Box 236"/>
          <p:cNvSpPr txBox="1">
            <a:spLocks noChangeArrowheads="1"/>
          </p:cNvSpPr>
          <p:nvPr/>
        </p:nvSpPr>
        <p:spPr bwMode="auto">
          <a:xfrm>
            <a:off x="3281364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sp>
        <p:nvSpPr>
          <p:cNvPr id="402669" name="Text Box 237"/>
          <p:cNvSpPr txBox="1">
            <a:spLocks noChangeArrowheads="1"/>
          </p:cNvSpPr>
          <p:nvPr/>
        </p:nvSpPr>
        <p:spPr bwMode="auto">
          <a:xfrm>
            <a:off x="5310188" y="4805363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>
                <a:solidFill>
                  <a:srgbClr val="006600"/>
                </a:solidFill>
                <a:latin typeface="Arial" charset="0"/>
              </a:rPr>
              <a:t>no buffer space!</a:t>
            </a:r>
          </a:p>
        </p:txBody>
      </p:sp>
      <p:sp>
        <p:nvSpPr>
          <p:cNvPr id="91182" name="Rectangle 238"/>
          <p:cNvSpPr>
            <a:spLocks noGrp="1" noChangeArrowheads="1"/>
          </p:cNvSpPr>
          <p:nvPr>
            <p:ph type="body" sz="half" idx="1"/>
          </p:nvPr>
        </p:nvSpPr>
        <p:spPr>
          <a:xfrm>
            <a:off x="2084388" y="1116013"/>
            <a:ext cx="3536950" cy="191611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000099"/>
                </a:solidFill>
                <a:ea typeface="ＭＳ Ｐゴシック" charset="0"/>
                <a:cs typeface="+mn-cs"/>
              </a:rPr>
              <a:t>Idealization: </a:t>
            </a: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known loss</a:t>
            </a:r>
            <a:r>
              <a:rPr lang="en-US" sz="2400">
                <a:ea typeface="ＭＳ Ｐゴシック" charset="0"/>
              </a:rPr>
              <a:t> packets can be lost, dropped at router due  to full buffers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sender only resends if packet </a:t>
            </a:r>
            <a:r>
              <a:rPr lang="en-US" sz="2400" i="1">
                <a:ea typeface="ＭＳ Ｐゴシック" charset="0"/>
              </a:rPr>
              <a:t>known</a:t>
            </a:r>
            <a:r>
              <a:rPr lang="en-US" sz="2400">
                <a:ea typeface="ＭＳ Ｐゴシック" charset="0"/>
              </a:rPr>
              <a:t> to be lost</a:t>
            </a: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pic>
        <p:nvPicPr>
          <p:cNvPr id="109614" name="Picture 24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84" name="Rectangle 244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109616" name="Freeform 246"/>
          <p:cNvSpPr>
            <a:spLocks/>
          </p:cNvSpPr>
          <p:nvPr/>
        </p:nvSpPr>
        <p:spPr bwMode="auto">
          <a:xfrm flipH="1">
            <a:off x="2590801" y="46672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7" name="Freeform 252"/>
          <p:cNvSpPr>
            <a:spLocks/>
          </p:cNvSpPr>
          <p:nvPr/>
        </p:nvSpPr>
        <p:spPr bwMode="auto">
          <a:xfrm>
            <a:off x="8940801" y="3665538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8" name="Freeform 255"/>
          <p:cNvSpPr>
            <a:spLocks/>
          </p:cNvSpPr>
          <p:nvPr/>
        </p:nvSpPr>
        <p:spPr bwMode="auto">
          <a:xfrm>
            <a:off x="8461376" y="4981575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9" name="Text Box 257"/>
          <p:cNvSpPr txBox="1">
            <a:spLocks noChangeArrowheads="1"/>
          </p:cNvSpPr>
          <p:nvPr/>
        </p:nvSpPr>
        <p:spPr bwMode="auto">
          <a:xfrm>
            <a:off x="3822700" y="4705350"/>
            <a:ext cx="8524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09620" name="Text Box 258"/>
          <p:cNvSpPr txBox="1">
            <a:spLocks noChangeArrowheads="1"/>
          </p:cNvSpPr>
          <p:nvPr/>
        </p:nvSpPr>
        <p:spPr bwMode="auto">
          <a:xfrm>
            <a:off x="2692400" y="6073775"/>
            <a:ext cx="8778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09621" name="Group 259"/>
          <p:cNvGrpSpPr>
            <a:grpSpLocks/>
          </p:cNvGrpSpPr>
          <p:nvPr/>
        </p:nvGrpSpPr>
        <p:grpSpPr bwMode="auto">
          <a:xfrm>
            <a:off x="9077326" y="4564064"/>
            <a:ext cx="231775" cy="441325"/>
            <a:chOff x="4140" y="429"/>
            <a:chExt cx="1425" cy="2396"/>
          </a:xfrm>
        </p:grpSpPr>
        <p:sp>
          <p:nvSpPr>
            <p:cNvPr id="109658" name="Freeform 26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28" name="Rectangle 26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60" name="Freeform 26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61" name="Freeform 26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31" name="Rectangle 264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63" name="Group 26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57" name="AutoShape 266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58" name="AutoShape 267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33" name="Rectangle 268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65" name="Group 26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55" name="AutoShape 270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56" name="AutoShape 271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35" name="Rectangle 272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36" name="Rectangle 273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68" name="Group 27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253" name="AutoShape 275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54" name="AutoShape 276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9669" name="Freeform 27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9670" name="Group 27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251" name="AutoShape 279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52" name="AutoShape 280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40" name="Rectangle 281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72" name="Freeform 28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73" name="Freeform 28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43" name="Oval 284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75" name="Freeform 28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45" name="AutoShape 286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46" name="AutoShape 287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47" name="Oval 288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48" name="Oval 289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1249" name="Oval 290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50" name="Rectangle 291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9622" name="Group 292"/>
          <p:cNvGrpSpPr>
            <a:grpSpLocks/>
          </p:cNvGrpSpPr>
          <p:nvPr/>
        </p:nvGrpSpPr>
        <p:grpSpPr bwMode="auto">
          <a:xfrm>
            <a:off x="8659814" y="5867401"/>
            <a:ext cx="231775" cy="441325"/>
            <a:chOff x="4140" y="429"/>
            <a:chExt cx="1425" cy="2396"/>
          </a:xfrm>
        </p:grpSpPr>
        <p:sp>
          <p:nvSpPr>
            <p:cNvPr id="109626" name="Freeform 29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96" name="Rectangle 294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28" name="Freeform 29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9" name="Freeform 29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99" name="Rectangle 297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31" name="Group 29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25" name="AutoShape 299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26" name="AutoShape 300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01" name="Rectangle 301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33" name="Group 30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23" name="AutoShape 303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24" name="AutoShape 304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03" name="Rectangle 305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04" name="Rectangle 306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09636" name="Group 30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221" name="AutoShape 308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22" name="AutoShape 30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9637" name="Freeform 31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9638" name="Group 31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219" name="AutoShape 312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1220" name="AutoShape 313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08" name="Rectangle 314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40" name="Freeform 31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1" name="Freeform 31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11" name="Oval 317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43" name="Freeform 31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213" name="AutoShape 319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14" name="AutoShape 320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15" name="Oval 321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16" name="Oval 322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1217" name="Oval 323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1218" name="Rectangle 324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9623" name="Group 325"/>
          <p:cNvGrpSpPr>
            <a:grpSpLocks/>
          </p:cNvGrpSpPr>
          <p:nvPr/>
        </p:nvGrpSpPr>
        <p:grpSpPr bwMode="auto">
          <a:xfrm>
            <a:off x="2185988" y="5605464"/>
            <a:ext cx="525462" cy="434975"/>
            <a:chOff x="-44" y="1473"/>
            <a:chExt cx="981" cy="1105"/>
          </a:xfrm>
        </p:grpSpPr>
        <p:pic>
          <p:nvPicPr>
            <p:cNvPr id="109624" name="Picture 326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625" name="Freeform 32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209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026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0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3542 L 0.0007 0.17802 L 0.08681 0.17894 L 0.04723 0.24191 L 0.19584 0.2419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4026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402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83 0.2419 L 0.19808 0.35139 " pathEditMode="relative" ptsTypes="AA">
                                      <p:cBhvr>
                                        <p:cTn id="34" dur="2000" fill="hold"/>
                                        <p:tgtEl>
                                          <p:spTgt spid="4026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02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02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666" grpId="0" animBg="1"/>
      <p:bldP spid="402666" grpId="1" animBg="1"/>
      <p:bldP spid="402666" grpId="2" animBg="1"/>
      <p:bldP spid="402666" grpId="3" animBg="1"/>
      <p:bldP spid="402666" grpId="4" animBg="1"/>
      <p:bldP spid="402667" grpId="0" animBg="1"/>
      <p:bldP spid="402668" grpId="0"/>
      <p:bldP spid="402668" grpId="1"/>
      <p:bldP spid="402669" grpId="0"/>
      <p:bldP spid="402669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216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A7EDA198-6FF3-489A-8371-24615E672874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10595" name="Freeform 270"/>
          <p:cNvSpPr>
            <a:spLocks/>
          </p:cNvSpPr>
          <p:nvPr/>
        </p:nvSpPr>
        <p:spPr bwMode="auto">
          <a:xfrm flipH="1">
            <a:off x="3635376" y="3465514"/>
            <a:ext cx="250825" cy="1201737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0596" name="Group 350"/>
          <p:cNvGrpSpPr>
            <a:grpSpLocks/>
          </p:cNvGrpSpPr>
          <p:nvPr/>
        </p:nvGrpSpPr>
        <p:grpSpPr bwMode="auto">
          <a:xfrm>
            <a:off x="3240088" y="4425951"/>
            <a:ext cx="525462" cy="434975"/>
            <a:chOff x="-44" y="1473"/>
            <a:chExt cx="981" cy="1105"/>
          </a:xfrm>
        </p:grpSpPr>
        <p:pic>
          <p:nvPicPr>
            <p:cNvPr id="110764" name="Picture 351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765" name="Freeform 35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10597" name="Picture 2" descr="garbage_ca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8" name="Oval 4"/>
          <p:cNvSpPr>
            <a:spLocks noChangeArrowheads="1"/>
          </p:cNvSpPr>
          <p:nvPr/>
        </p:nvSpPr>
        <p:spPr bwMode="auto">
          <a:xfrm>
            <a:off x="5319714" y="5348288"/>
            <a:ext cx="1304925" cy="303212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0599" name="Line 5"/>
          <p:cNvSpPr>
            <a:spLocks noChangeShapeType="1"/>
          </p:cNvSpPr>
          <p:nvPr/>
        </p:nvSpPr>
        <p:spPr bwMode="auto">
          <a:xfrm>
            <a:off x="5319713" y="5324476"/>
            <a:ext cx="0" cy="18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0" name="Line 6"/>
          <p:cNvSpPr>
            <a:spLocks noChangeShapeType="1"/>
          </p:cNvSpPr>
          <p:nvPr/>
        </p:nvSpPr>
        <p:spPr bwMode="auto">
          <a:xfrm>
            <a:off x="6624638" y="5324476"/>
            <a:ext cx="0" cy="1873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Rectangle 7"/>
          <p:cNvSpPr>
            <a:spLocks noChangeArrowheads="1"/>
          </p:cNvSpPr>
          <p:nvPr/>
        </p:nvSpPr>
        <p:spPr bwMode="auto">
          <a:xfrm>
            <a:off x="5319713" y="5324475"/>
            <a:ext cx="309562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0602" name="Rectangle 8"/>
          <p:cNvSpPr>
            <a:spLocks noChangeArrowheads="1"/>
          </p:cNvSpPr>
          <p:nvPr/>
        </p:nvSpPr>
        <p:spPr bwMode="auto">
          <a:xfrm>
            <a:off x="6229350" y="5311775"/>
            <a:ext cx="395288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0603" name="Oval 9"/>
          <p:cNvSpPr>
            <a:spLocks noChangeArrowheads="1"/>
          </p:cNvSpPr>
          <p:nvPr/>
        </p:nvSpPr>
        <p:spPr bwMode="auto">
          <a:xfrm>
            <a:off x="5314951" y="5126039"/>
            <a:ext cx="1306513" cy="352425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0604" name="Group 10"/>
          <p:cNvGrpSpPr>
            <a:grpSpLocks/>
          </p:cNvGrpSpPr>
          <p:nvPr/>
        </p:nvGrpSpPr>
        <p:grpSpPr bwMode="auto">
          <a:xfrm>
            <a:off x="5621338" y="5183189"/>
            <a:ext cx="647700" cy="206375"/>
            <a:chOff x="2848" y="848"/>
            <a:chExt cx="140" cy="98"/>
          </a:xfrm>
        </p:grpSpPr>
        <p:sp>
          <p:nvSpPr>
            <p:cNvPr id="110761" name="Line 1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762" name="Line 1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763" name="Line 1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0605" name="Line 14"/>
          <p:cNvSpPr>
            <a:spLocks noChangeShapeType="1"/>
          </p:cNvSpPr>
          <p:nvPr/>
        </p:nvSpPr>
        <p:spPr bwMode="auto">
          <a:xfrm>
            <a:off x="5621339" y="5381626"/>
            <a:ext cx="231775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6" name="Line 15"/>
          <p:cNvSpPr>
            <a:spLocks noChangeShapeType="1"/>
          </p:cNvSpPr>
          <p:nvPr/>
        </p:nvSpPr>
        <p:spPr bwMode="auto">
          <a:xfrm flipV="1">
            <a:off x="6065838" y="5181600"/>
            <a:ext cx="203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7" name="Line 16"/>
          <p:cNvSpPr>
            <a:spLocks noChangeShapeType="1"/>
          </p:cNvSpPr>
          <p:nvPr/>
        </p:nvSpPr>
        <p:spPr bwMode="auto">
          <a:xfrm flipV="1">
            <a:off x="5834063" y="5181601"/>
            <a:ext cx="241300" cy="200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8" name="Line 17"/>
          <p:cNvSpPr>
            <a:spLocks noChangeShapeType="1"/>
          </p:cNvSpPr>
          <p:nvPr/>
        </p:nvSpPr>
        <p:spPr bwMode="auto">
          <a:xfrm flipH="1">
            <a:off x="394811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09" name="Line 18"/>
          <p:cNvSpPr>
            <a:spLocks noChangeShapeType="1"/>
          </p:cNvSpPr>
          <p:nvPr/>
        </p:nvSpPr>
        <p:spPr bwMode="auto">
          <a:xfrm flipH="1">
            <a:off x="4545013" y="4878389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0610" name="Group 59"/>
          <p:cNvGrpSpPr>
            <a:grpSpLocks/>
          </p:cNvGrpSpPr>
          <p:nvPr/>
        </p:nvGrpSpPr>
        <p:grpSpPr bwMode="auto">
          <a:xfrm>
            <a:off x="3875088" y="3563938"/>
            <a:ext cx="798512" cy="1166812"/>
            <a:chOff x="12762" y="10336"/>
            <a:chExt cx="1027" cy="1700"/>
          </a:xfrm>
        </p:grpSpPr>
        <p:sp>
          <p:nvSpPr>
            <p:cNvPr id="110755" name="Rectangle 6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56" name="Rectangle 6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57" name="Line 6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8" name="Line 6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9" name="Line 6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60" name="Line 6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11" name="Text Box 67"/>
          <p:cNvSpPr txBox="1">
            <a:spLocks noChangeArrowheads="1"/>
          </p:cNvSpPr>
          <p:nvPr/>
        </p:nvSpPr>
        <p:spPr bwMode="auto">
          <a:xfrm>
            <a:off x="4892675" y="3449639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0612" name="Line 68"/>
          <p:cNvSpPr>
            <a:spLocks noChangeShapeType="1"/>
          </p:cNvSpPr>
          <p:nvPr/>
        </p:nvSpPr>
        <p:spPr bwMode="auto">
          <a:xfrm flipH="1">
            <a:off x="3409951" y="5983289"/>
            <a:ext cx="5381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0613" name="Group 109"/>
          <p:cNvGrpSpPr>
            <a:grpSpLocks/>
          </p:cNvGrpSpPr>
          <p:nvPr/>
        </p:nvGrpSpPr>
        <p:grpSpPr bwMode="auto">
          <a:xfrm>
            <a:off x="2822576" y="4718051"/>
            <a:ext cx="798513" cy="1166813"/>
            <a:chOff x="12762" y="10336"/>
            <a:chExt cx="1027" cy="1700"/>
          </a:xfrm>
        </p:grpSpPr>
        <p:sp>
          <p:nvSpPr>
            <p:cNvPr id="110749" name="Rectangle 1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50" name="Rectangle 1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51" name="Line 1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2" name="Line 1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3" name="Line 1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4" name="Line 1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14" name="Line 117"/>
          <p:cNvSpPr>
            <a:spLocks noChangeShapeType="1"/>
          </p:cNvSpPr>
          <p:nvPr/>
        </p:nvSpPr>
        <p:spPr bwMode="auto">
          <a:xfrm flipH="1">
            <a:off x="4545013" y="5394325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15" name="Line 118"/>
          <p:cNvSpPr>
            <a:spLocks noChangeShapeType="1"/>
          </p:cNvSpPr>
          <p:nvPr/>
        </p:nvSpPr>
        <p:spPr bwMode="auto">
          <a:xfrm flipH="1">
            <a:off x="6534151" y="5394325"/>
            <a:ext cx="747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16" name="Line 119"/>
          <p:cNvSpPr>
            <a:spLocks noChangeShapeType="1"/>
          </p:cNvSpPr>
          <p:nvPr/>
        </p:nvSpPr>
        <p:spPr bwMode="auto">
          <a:xfrm flipH="1">
            <a:off x="668496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17" name="Line 120"/>
          <p:cNvSpPr>
            <a:spLocks noChangeShapeType="1"/>
          </p:cNvSpPr>
          <p:nvPr/>
        </p:nvSpPr>
        <p:spPr bwMode="auto">
          <a:xfrm flipH="1">
            <a:off x="6673851" y="5995988"/>
            <a:ext cx="677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18" name="Line 121"/>
          <p:cNvSpPr>
            <a:spLocks noChangeShapeType="1"/>
          </p:cNvSpPr>
          <p:nvPr/>
        </p:nvSpPr>
        <p:spPr bwMode="auto">
          <a:xfrm flipH="1">
            <a:off x="7783513" y="4891088"/>
            <a:ext cx="539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0619" name="Group 162"/>
          <p:cNvGrpSpPr>
            <a:grpSpLocks/>
          </p:cNvGrpSpPr>
          <p:nvPr/>
        </p:nvGrpSpPr>
        <p:grpSpPr bwMode="auto">
          <a:xfrm>
            <a:off x="8167688" y="3698876"/>
            <a:ext cx="798512" cy="1166813"/>
            <a:chOff x="12762" y="10336"/>
            <a:chExt cx="1027" cy="1700"/>
          </a:xfrm>
        </p:grpSpPr>
        <p:sp>
          <p:nvSpPr>
            <p:cNvPr id="110743" name="Rectangle 163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44" name="Rectangle 164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45" name="Line 165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6" name="Line 166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7" name="Line 167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8" name="Line 168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620" name="Group 209"/>
          <p:cNvGrpSpPr>
            <a:grpSpLocks/>
          </p:cNvGrpSpPr>
          <p:nvPr/>
        </p:nvGrpSpPr>
        <p:grpSpPr bwMode="auto">
          <a:xfrm>
            <a:off x="7699376" y="5011738"/>
            <a:ext cx="798513" cy="1168400"/>
            <a:chOff x="12762" y="10336"/>
            <a:chExt cx="1027" cy="1700"/>
          </a:xfrm>
        </p:grpSpPr>
        <p:sp>
          <p:nvSpPr>
            <p:cNvPr id="110737" name="Rectangle 2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38" name="Rectangle 2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39" name="Line 2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0" name="Line 2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1" name="Line 2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2" name="Line 2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21" name="Oval 216"/>
          <p:cNvSpPr>
            <a:spLocks noChangeArrowheads="1"/>
          </p:cNvSpPr>
          <p:nvPr/>
        </p:nvSpPr>
        <p:spPr bwMode="auto">
          <a:xfrm>
            <a:off x="4287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0622" name="Oval 217"/>
          <p:cNvSpPr>
            <a:spLocks noChangeArrowheads="1"/>
          </p:cNvSpPr>
          <p:nvPr/>
        </p:nvSpPr>
        <p:spPr bwMode="auto">
          <a:xfrm>
            <a:off x="3128963" y="4767264"/>
            <a:ext cx="114300" cy="117475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0623" name="Text Box 218"/>
          <p:cNvSpPr txBox="1">
            <a:spLocks noChangeArrowheads="1"/>
          </p:cNvSpPr>
          <p:nvPr/>
        </p:nvSpPr>
        <p:spPr bwMode="auto">
          <a:xfrm>
            <a:off x="9107488" y="3651251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10624" name="Group 219"/>
          <p:cNvGrpSpPr>
            <a:grpSpLocks/>
          </p:cNvGrpSpPr>
          <p:nvPr/>
        </p:nvGrpSpPr>
        <p:grpSpPr bwMode="auto">
          <a:xfrm>
            <a:off x="6111876" y="5233989"/>
            <a:ext cx="385763" cy="319087"/>
            <a:chOff x="11283" y="10423"/>
            <a:chExt cx="475" cy="374"/>
          </a:xfrm>
        </p:grpSpPr>
        <p:sp>
          <p:nvSpPr>
            <p:cNvPr id="110730" name="Rectangle 220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0731" name="Line 221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2" name="Line 222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3" name="Line 223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4" name="Line 224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5" name="Line 225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6" name="Line 226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25" name="Line 227"/>
          <p:cNvSpPr>
            <a:spLocks noChangeShapeType="1"/>
          </p:cNvSpPr>
          <p:nvPr/>
        </p:nvSpPr>
        <p:spPr bwMode="auto">
          <a:xfrm>
            <a:off x="6369051" y="4017963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26" name="Freeform 228"/>
          <p:cNvSpPr>
            <a:spLocks/>
          </p:cNvSpPr>
          <p:nvPr/>
        </p:nvSpPr>
        <p:spPr bwMode="auto">
          <a:xfrm>
            <a:off x="3187701" y="4865689"/>
            <a:ext cx="4854575" cy="1228725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80808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27" name="Freeform 229"/>
          <p:cNvSpPr>
            <a:spLocks/>
          </p:cNvSpPr>
          <p:nvPr/>
        </p:nvSpPr>
        <p:spPr bwMode="auto">
          <a:xfrm>
            <a:off x="4346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28" name="Oval 230"/>
          <p:cNvSpPr>
            <a:spLocks noChangeArrowheads="1"/>
          </p:cNvSpPr>
          <p:nvPr/>
        </p:nvSpPr>
        <p:spPr bwMode="auto">
          <a:xfrm>
            <a:off x="4287838" y="3871914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0629" name="Text Box 231"/>
          <p:cNvSpPr txBox="1">
            <a:spLocks noChangeArrowheads="1"/>
          </p:cNvSpPr>
          <p:nvPr/>
        </p:nvSpPr>
        <p:spPr bwMode="auto">
          <a:xfrm>
            <a:off x="4775200" y="3778250"/>
            <a:ext cx="23495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92199" name="Line 232"/>
          <p:cNvSpPr>
            <a:spLocks noChangeShapeType="1"/>
          </p:cNvSpPr>
          <p:nvPr/>
        </p:nvSpPr>
        <p:spPr bwMode="auto">
          <a:xfrm>
            <a:off x="4433888" y="3938588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2200" name="Line 233"/>
          <p:cNvSpPr>
            <a:spLocks noChangeShapeType="1"/>
          </p:cNvSpPr>
          <p:nvPr/>
        </p:nvSpPr>
        <p:spPr bwMode="auto">
          <a:xfrm>
            <a:off x="4429125" y="37052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2201" name="Line 234"/>
          <p:cNvSpPr>
            <a:spLocks noChangeShapeType="1"/>
          </p:cNvSpPr>
          <p:nvPr/>
        </p:nvSpPr>
        <p:spPr bwMode="auto">
          <a:xfrm>
            <a:off x="8640763" y="38576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403691" name="Rectangle 235"/>
          <p:cNvSpPr>
            <a:spLocks noChangeArrowheads="1"/>
          </p:cNvSpPr>
          <p:nvPr/>
        </p:nvSpPr>
        <p:spPr bwMode="auto">
          <a:xfrm>
            <a:off x="3905251" y="3846514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403692" name="Text Box 236"/>
          <p:cNvSpPr txBox="1">
            <a:spLocks noChangeArrowheads="1"/>
          </p:cNvSpPr>
          <p:nvPr/>
        </p:nvSpPr>
        <p:spPr bwMode="auto">
          <a:xfrm>
            <a:off x="5249864" y="4805363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sp>
        <p:nvSpPr>
          <p:cNvPr id="403693" name="Rectangle 237"/>
          <p:cNvSpPr>
            <a:spLocks noChangeArrowheads="1"/>
          </p:cNvSpPr>
          <p:nvPr/>
        </p:nvSpPr>
        <p:spPr bwMode="auto">
          <a:xfrm>
            <a:off x="3905251" y="3844926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pic>
        <p:nvPicPr>
          <p:cNvPr id="110636" name="Picture 260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6" name="Rectangle 261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92207" name="Rectangle 264"/>
          <p:cNvSpPr>
            <a:spLocks noGrp="1" noChangeArrowheads="1"/>
          </p:cNvSpPr>
          <p:nvPr>
            <p:ph type="body" sz="half" idx="1"/>
          </p:nvPr>
        </p:nvSpPr>
        <p:spPr>
          <a:xfrm>
            <a:off x="2084388" y="1116013"/>
            <a:ext cx="3536950" cy="191611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000099"/>
                </a:solidFill>
                <a:ea typeface="ＭＳ Ｐゴシック" charset="0"/>
                <a:cs typeface="+mn-cs"/>
              </a:rPr>
              <a:t>Idealization: </a:t>
            </a: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known loss</a:t>
            </a:r>
            <a:r>
              <a:rPr lang="en-US" sz="2400">
                <a:ea typeface="ＭＳ Ｐゴシック" charset="0"/>
              </a:rPr>
              <a:t> packets can be lost, dropped at router due  to full buffers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sender only resends if packet </a:t>
            </a:r>
            <a:r>
              <a:rPr lang="en-US" sz="2400" i="1">
                <a:ea typeface="ＭＳ Ｐゴシック" charset="0"/>
              </a:rPr>
              <a:t>known</a:t>
            </a:r>
            <a:r>
              <a:rPr lang="en-US" sz="2400">
                <a:ea typeface="ＭＳ Ｐゴシック" charset="0"/>
              </a:rPr>
              <a:t> to be lost</a:t>
            </a: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grpSp>
        <p:nvGrpSpPr>
          <p:cNvPr id="403736" name="Group 280"/>
          <p:cNvGrpSpPr>
            <a:grpSpLocks/>
          </p:cNvGrpSpPr>
          <p:nvPr/>
        </p:nvGrpSpPr>
        <p:grpSpPr bwMode="auto">
          <a:xfrm>
            <a:off x="6124575" y="1244600"/>
            <a:ext cx="4306888" cy="2076450"/>
            <a:chOff x="2898" y="784"/>
            <a:chExt cx="2713" cy="1308"/>
          </a:xfrm>
        </p:grpSpPr>
        <p:sp>
          <p:nvSpPr>
            <p:cNvPr id="92283" name="Line 239"/>
            <p:cNvSpPr>
              <a:spLocks noChangeShapeType="1"/>
            </p:cNvSpPr>
            <p:nvPr/>
          </p:nvSpPr>
          <p:spPr bwMode="auto">
            <a:xfrm>
              <a:off x="3208" y="784"/>
              <a:ext cx="0" cy="10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84" name="Line 240"/>
            <p:cNvSpPr>
              <a:spLocks noChangeShapeType="1"/>
            </p:cNvSpPr>
            <p:nvPr/>
          </p:nvSpPr>
          <p:spPr bwMode="auto">
            <a:xfrm rot="5400000">
              <a:off x="3771" y="1303"/>
              <a:ext cx="0" cy="11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85" name="Text Box 241"/>
            <p:cNvSpPr txBox="1">
              <a:spLocks noChangeArrowheads="1"/>
            </p:cNvSpPr>
            <p:nvPr/>
          </p:nvSpPr>
          <p:spPr bwMode="auto">
            <a:xfrm>
              <a:off x="2938" y="814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400">
                  <a:latin typeface="Arial" charset="0"/>
                  <a:cs typeface="Arial" charset="0"/>
                </a:rPr>
                <a:t>R/2</a:t>
              </a:r>
            </a:p>
          </p:txBody>
        </p:sp>
        <p:sp>
          <p:nvSpPr>
            <p:cNvPr id="92286" name="Line 242"/>
            <p:cNvSpPr>
              <a:spLocks noChangeShapeType="1"/>
            </p:cNvSpPr>
            <p:nvPr/>
          </p:nvSpPr>
          <p:spPr bwMode="auto">
            <a:xfrm rot="5400000">
              <a:off x="4054" y="72"/>
              <a:ext cx="0" cy="1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87" name="Line 243"/>
            <p:cNvSpPr>
              <a:spLocks noChangeShapeType="1"/>
            </p:cNvSpPr>
            <p:nvPr/>
          </p:nvSpPr>
          <p:spPr bwMode="auto">
            <a:xfrm rot="10800000">
              <a:off x="4196" y="932"/>
              <a:ext cx="0" cy="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88" name="Text Box 244"/>
            <p:cNvSpPr txBox="1">
              <a:spLocks noChangeArrowheads="1"/>
            </p:cNvSpPr>
            <p:nvPr/>
          </p:nvSpPr>
          <p:spPr bwMode="auto">
            <a:xfrm>
              <a:off x="4063" y="1846"/>
              <a:ext cx="2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400">
                  <a:latin typeface="Arial" charset="0"/>
                  <a:cs typeface="Arial" charset="0"/>
                </a:rPr>
                <a:t>R/2</a:t>
              </a:r>
            </a:p>
          </p:txBody>
        </p:sp>
        <p:sp>
          <p:nvSpPr>
            <p:cNvPr id="110720" name="Freeform 245"/>
            <p:cNvSpPr>
              <a:spLocks/>
            </p:cNvSpPr>
            <p:nvPr/>
          </p:nvSpPr>
          <p:spPr bwMode="auto">
            <a:xfrm>
              <a:off x="3211" y="913"/>
              <a:ext cx="1636" cy="955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6" h="955">
                  <a:moveTo>
                    <a:pt x="0" y="955"/>
                  </a:moveTo>
                  <a:cubicBezTo>
                    <a:pt x="126" y="837"/>
                    <a:pt x="27" y="927"/>
                    <a:pt x="758" y="246"/>
                  </a:cubicBezTo>
                  <a:cubicBezTo>
                    <a:pt x="1095" y="0"/>
                    <a:pt x="1453" y="57"/>
                    <a:pt x="1636" y="7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721" name="Group 246"/>
            <p:cNvGrpSpPr>
              <a:grpSpLocks/>
            </p:cNvGrpSpPr>
            <p:nvPr/>
          </p:nvGrpSpPr>
          <p:grpSpPr bwMode="auto">
            <a:xfrm>
              <a:off x="3563" y="1861"/>
              <a:ext cx="269" cy="231"/>
              <a:chOff x="3655" y="1791"/>
              <a:chExt cx="269" cy="231"/>
            </a:xfrm>
          </p:grpSpPr>
          <p:sp>
            <p:nvSpPr>
              <p:cNvPr id="92297" name="Text Box 247"/>
              <p:cNvSpPr txBox="1">
                <a:spLocks noChangeArrowheads="1"/>
              </p:cNvSpPr>
              <p:nvPr/>
            </p:nvSpPr>
            <p:spPr bwMode="auto">
              <a:xfrm>
                <a:off x="3655" y="1791"/>
                <a:ext cx="26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800">
                    <a:latin typeface="Symbol" charset="0"/>
                    <a:cs typeface="Arial" charset="0"/>
                  </a:rPr>
                  <a:t>l</a:t>
                </a:r>
                <a:r>
                  <a:rPr lang="en-US" sz="1800" baseline="-25000">
                    <a:latin typeface="Arial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92298" name="Line 248"/>
              <p:cNvSpPr>
                <a:spLocks noChangeShapeType="1"/>
              </p:cNvSpPr>
              <p:nvPr/>
            </p:nvSpPr>
            <p:spPr bwMode="auto">
              <a:xfrm flipV="1">
                <a:off x="3810" y="1846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91" name="Text Box 249"/>
            <p:cNvSpPr txBox="1">
              <a:spLocks noChangeArrowheads="1"/>
            </p:cNvSpPr>
            <p:nvPr/>
          </p:nvSpPr>
          <p:spPr bwMode="auto">
            <a:xfrm rot="-5400000">
              <a:off x="2819" y="1277"/>
              <a:ext cx="3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800">
                  <a:latin typeface="Symbol" charset="0"/>
                  <a:cs typeface="Arial" charset="0"/>
                </a:rPr>
                <a:t>l</a:t>
              </a:r>
              <a:r>
                <a:rPr lang="en-US" sz="1800" baseline="-25000">
                  <a:latin typeface="Arial" charset="0"/>
                  <a:cs typeface="Arial" charset="0"/>
                </a:rPr>
                <a:t>out</a:t>
              </a:r>
            </a:p>
          </p:txBody>
        </p:sp>
        <p:sp>
          <p:nvSpPr>
            <p:cNvPr id="92292" name="Line 250"/>
            <p:cNvSpPr>
              <a:spLocks noChangeShapeType="1"/>
            </p:cNvSpPr>
            <p:nvPr/>
          </p:nvSpPr>
          <p:spPr bwMode="auto">
            <a:xfrm rot="10800000" flipH="1">
              <a:off x="3182" y="922"/>
              <a:ext cx="1019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93" name="Oval 251"/>
            <p:cNvSpPr>
              <a:spLocks noChangeArrowheads="1"/>
            </p:cNvSpPr>
            <p:nvPr/>
          </p:nvSpPr>
          <p:spPr bwMode="auto">
            <a:xfrm>
              <a:off x="4173" y="1005"/>
              <a:ext cx="56" cy="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94" name="Text Box 252"/>
            <p:cNvSpPr txBox="1">
              <a:spLocks noChangeArrowheads="1"/>
            </p:cNvSpPr>
            <p:nvPr/>
          </p:nvSpPr>
          <p:spPr bwMode="auto">
            <a:xfrm>
              <a:off x="4426" y="1106"/>
              <a:ext cx="1185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defRPr/>
              </a:pPr>
              <a:r>
                <a:rPr lang="en-US" sz="1400" dirty="0">
                  <a:latin typeface="Arial" charset="0"/>
                </a:rPr>
                <a:t>when sending at R/2, some packets are retransmissions but asymptotic </a:t>
              </a:r>
              <a:r>
                <a:rPr lang="en-US" sz="1400" dirty="0" err="1">
                  <a:latin typeface="Arial" charset="0"/>
                </a:rPr>
                <a:t>goodput</a:t>
              </a:r>
              <a:r>
                <a:rPr lang="en-US" sz="1400" dirty="0">
                  <a:latin typeface="Arial" charset="0"/>
                </a:rPr>
                <a:t> is still R/2 (why?)</a:t>
              </a:r>
            </a:p>
          </p:txBody>
        </p:sp>
        <p:sp>
          <p:nvSpPr>
            <p:cNvPr id="92295" name="Line 253"/>
            <p:cNvSpPr>
              <a:spLocks noChangeShapeType="1"/>
            </p:cNvSpPr>
            <p:nvPr/>
          </p:nvSpPr>
          <p:spPr bwMode="auto">
            <a:xfrm flipH="1" flipV="1">
              <a:off x="4201" y="1033"/>
              <a:ext cx="245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96" name="Line 265"/>
            <p:cNvSpPr>
              <a:spLocks noChangeShapeType="1"/>
            </p:cNvSpPr>
            <p:nvPr/>
          </p:nvSpPr>
          <p:spPr bwMode="auto">
            <a:xfrm flipV="1">
              <a:off x="4722" y="946"/>
              <a:ext cx="121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10640" name="Freeform 267"/>
          <p:cNvSpPr>
            <a:spLocks/>
          </p:cNvSpPr>
          <p:nvPr/>
        </p:nvSpPr>
        <p:spPr bwMode="auto">
          <a:xfrm flipH="1">
            <a:off x="2590801" y="46672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41" name="Freeform 273"/>
          <p:cNvSpPr>
            <a:spLocks/>
          </p:cNvSpPr>
          <p:nvPr/>
        </p:nvSpPr>
        <p:spPr bwMode="auto">
          <a:xfrm>
            <a:off x="8940801" y="3665538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42" name="Freeform 276"/>
          <p:cNvSpPr>
            <a:spLocks/>
          </p:cNvSpPr>
          <p:nvPr/>
        </p:nvSpPr>
        <p:spPr bwMode="auto">
          <a:xfrm>
            <a:off x="8472489" y="4981575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43" name="Text Box 278"/>
          <p:cNvSpPr txBox="1">
            <a:spLocks noChangeArrowheads="1"/>
          </p:cNvSpPr>
          <p:nvPr/>
        </p:nvSpPr>
        <p:spPr bwMode="auto">
          <a:xfrm>
            <a:off x="3822700" y="4705350"/>
            <a:ext cx="8524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0644" name="Text Box 279"/>
          <p:cNvSpPr txBox="1">
            <a:spLocks noChangeArrowheads="1"/>
          </p:cNvSpPr>
          <p:nvPr/>
        </p:nvSpPr>
        <p:spPr bwMode="auto">
          <a:xfrm>
            <a:off x="2692400" y="6073775"/>
            <a:ext cx="8778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10645" name="Group 281"/>
          <p:cNvGrpSpPr>
            <a:grpSpLocks/>
          </p:cNvGrpSpPr>
          <p:nvPr/>
        </p:nvGrpSpPr>
        <p:grpSpPr bwMode="auto">
          <a:xfrm>
            <a:off x="9077326" y="4564064"/>
            <a:ext cx="231775" cy="441325"/>
            <a:chOff x="4140" y="429"/>
            <a:chExt cx="1425" cy="2396"/>
          </a:xfrm>
        </p:grpSpPr>
        <p:sp>
          <p:nvSpPr>
            <p:cNvPr id="110682" name="Freeform 28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2" name="Rectangle 283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84" name="Freeform 28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85" name="Freeform 28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5" name="Rectangle 286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87" name="Group 28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81" name="AutoShape 288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82" name="AutoShape 289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57" name="Rectangle 290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89" name="Group 29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79" name="AutoShape 292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80" name="AutoShape 293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59" name="Rectangle 294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60" name="Rectangle 295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92" name="Group 29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77" name="AutoShape 29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78" name="AutoShape 298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0693" name="Freeform 29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694" name="Group 30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75" name="AutoShape 301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76" name="AutoShape 302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64" name="Rectangle 303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96" name="Freeform 30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97" name="Freeform 30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7" name="Oval 306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99" name="Freeform 30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9" name="AutoShape 30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70" name="AutoShape 309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71" name="Oval 310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72" name="Oval 311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273" name="Oval 312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74" name="Rectangle 313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0646" name="Group 314"/>
          <p:cNvGrpSpPr>
            <a:grpSpLocks/>
          </p:cNvGrpSpPr>
          <p:nvPr/>
        </p:nvGrpSpPr>
        <p:grpSpPr bwMode="auto">
          <a:xfrm>
            <a:off x="8659814" y="5867401"/>
            <a:ext cx="231775" cy="441325"/>
            <a:chOff x="4140" y="429"/>
            <a:chExt cx="1425" cy="2396"/>
          </a:xfrm>
        </p:grpSpPr>
        <p:sp>
          <p:nvSpPr>
            <p:cNvPr id="110650" name="Freeform 31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20" name="Rectangle 316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52" name="Freeform 31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3" name="Freeform 31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23" name="Rectangle 319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55" name="Group 32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49" name="AutoShape 321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50" name="AutoShape 322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25" name="Rectangle 323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57" name="Group 32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47" name="AutoShape 325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48" name="AutoShape 326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27" name="Rectangle 327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28" name="Rectangle 328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0660" name="Group 32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45" name="AutoShape 330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46" name="AutoShape 33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0661" name="Freeform 33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662" name="Group 33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43" name="AutoShape 334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2244" name="AutoShape 335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2232" name="Rectangle 336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64" name="Freeform 33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5" name="Freeform 33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5" name="Oval 339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667" name="Freeform 34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7" name="AutoShape 341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38" name="AutoShape 342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39" name="Oval 343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40" name="Oval 344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241" name="Oval 345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2242" name="Rectangle 346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0647" name="Group 347"/>
          <p:cNvGrpSpPr>
            <a:grpSpLocks/>
          </p:cNvGrpSpPr>
          <p:nvPr/>
        </p:nvGrpSpPr>
        <p:grpSpPr bwMode="auto">
          <a:xfrm>
            <a:off x="2185988" y="5605464"/>
            <a:ext cx="525462" cy="434975"/>
            <a:chOff x="-44" y="1473"/>
            <a:chExt cx="981" cy="1105"/>
          </a:xfrm>
        </p:grpSpPr>
        <p:pic>
          <p:nvPicPr>
            <p:cNvPr id="110648" name="Picture 348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49" name="Freeform 34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689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44444E-6 L 0.03333 4.44444E-6 L 0.03333 0.14583 L 0.1191 0.14583 L 0.07969 0.20625 L 0.22622 0.20625 " pathEditMode="relative" ptsTypes="AAAAAA">
                                      <p:cBhvr>
                                        <p:cTn id="6" dur="2000" fill="hold"/>
                                        <p:tgtEl>
                                          <p:spTgt spid="403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622 0.20625 L 0.275 0.20648 " pathEditMode="relative" ptsTypes="AA">
                                      <p:cBhvr>
                                        <p:cTn id="13" dur="3000" fill="hold"/>
                                        <p:tgtEl>
                                          <p:spTgt spid="403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403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 0.20649 L 0.34289 0.20649 L 0.40834 0.11598 L 0.49775 0.12084 L 0.49775 -0.011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403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403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03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691" grpId="0" animBg="1"/>
      <p:bldP spid="403691" grpId="1" animBg="1"/>
      <p:bldP spid="403691" grpId="2" animBg="1"/>
      <p:bldP spid="403691" grpId="3" animBg="1"/>
      <p:bldP spid="403692" grpId="0"/>
      <p:bldP spid="40369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318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3A6DCD7-CEE2-4B01-B2E0-1AE9AF6F5ECD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11619" name="Freeform 273"/>
          <p:cNvSpPr>
            <a:spLocks/>
          </p:cNvSpPr>
          <p:nvPr/>
        </p:nvSpPr>
        <p:spPr bwMode="auto">
          <a:xfrm flipH="1">
            <a:off x="3635376" y="3465514"/>
            <a:ext cx="250825" cy="1201737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1620" name="Group 357"/>
          <p:cNvGrpSpPr>
            <a:grpSpLocks/>
          </p:cNvGrpSpPr>
          <p:nvPr/>
        </p:nvGrpSpPr>
        <p:grpSpPr bwMode="auto">
          <a:xfrm>
            <a:off x="3240088" y="4425951"/>
            <a:ext cx="525462" cy="434975"/>
            <a:chOff x="-44" y="1473"/>
            <a:chExt cx="981" cy="1105"/>
          </a:xfrm>
        </p:grpSpPr>
        <p:pic>
          <p:nvPicPr>
            <p:cNvPr id="111793" name="Picture 358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794" name="Freeform 35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11621" name="Oval 3"/>
          <p:cNvSpPr>
            <a:spLocks noChangeArrowheads="1"/>
          </p:cNvSpPr>
          <p:nvPr/>
        </p:nvSpPr>
        <p:spPr bwMode="auto">
          <a:xfrm>
            <a:off x="5319714" y="5348288"/>
            <a:ext cx="1304925" cy="303212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1622" name="Line 4"/>
          <p:cNvSpPr>
            <a:spLocks noChangeShapeType="1"/>
          </p:cNvSpPr>
          <p:nvPr/>
        </p:nvSpPr>
        <p:spPr bwMode="auto">
          <a:xfrm>
            <a:off x="5319713" y="5324476"/>
            <a:ext cx="0" cy="187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3" name="Line 5"/>
          <p:cNvSpPr>
            <a:spLocks noChangeShapeType="1"/>
          </p:cNvSpPr>
          <p:nvPr/>
        </p:nvSpPr>
        <p:spPr bwMode="auto">
          <a:xfrm>
            <a:off x="6624638" y="5324476"/>
            <a:ext cx="0" cy="187325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4" name="Rectangle 6"/>
          <p:cNvSpPr>
            <a:spLocks noChangeArrowheads="1"/>
          </p:cNvSpPr>
          <p:nvPr/>
        </p:nvSpPr>
        <p:spPr bwMode="auto">
          <a:xfrm>
            <a:off x="5319713" y="5324475"/>
            <a:ext cx="309562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1625" name="Rectangle 7"/>
          <p:cNvSpPr>
            <a:spLocks noChangeArrowheads="1"/>
          </p:cNvSpPr>
          <p:nvPr/>
        </p:nvSpPr>
        <p:spPr bwMode="auto">
          <a:xfrm>
            <a:off x="6229350" y="5311775"/>
            <a:ext cx="395288" cy="1841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1626" name="Oval 8"/>
          <p:cNvSpPr>
            <a:spLocks noChangeArrowheads="1"/>
          </p:cNvSpPr>
          <p:nvPr/>
        </p:nvSpPr>
        <p:spPr bwMode="auto">
          <a:xfrm>
            <a:off x="5314951" y="5126039"/>
            <a:ext cx="1306513" cy="352425"/>
          </a:xfrm>
          <a:prstGeom prst="ellipse">
            <a:avLst/>
          </a:prstGeom>
          <a:solidFill>
            <a:srgbClr val="80808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1627" name="Group 9"/>
          <p:cNvGrpSpPr>
            <a:grpSpLocks/>
          </p:cNvGrpSpPr>
          <p:nvPr/>
        </p:nvGrpSpPr>
        <p:grpSpPr bwMode="auto">
          <a:xfrm>
            <a:off x="5621338" y="5183189"/>
            <a:ext cx="647700" cy="206375"/>
            <a:chOff x="2848" y="848"/>
            <a:chExt cx="140" cy="98"/>
          </a:xfrm>
        </p:grpSpPr>
        <p:sp>
          <p:nvSpPr>
            <p:cNvPr id="111790" name="Line 1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791" name="Line 1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792" name="Line 1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1628" name="Line 13"/>
          <p:cNvSpPr>
            <a:spLocks noChangeShapeType="1"/>
          </p:cNvSpPr>
          <p:nvPr/>
        </p:nvSpPr>
        <p:spPr bwMode="auto">
          <a:xfrm>
            <a:off x="5621339" y="5381626"/>
            <a:ext cx="231775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9" name="Line 14"/>
          <p:cNvSpPr>
            <a:spLocks noChangeShapeType="1"/>
          </p:cNvSpPr>
          <p:nvPr/>
        </p:nvSpPr>
        <p:spPr bwMode="auto">
          <a:xfrm flipV="1">
            <a:off x="6065838" y="5181600"/>
            <a:ext cx="203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30" name="Line 15"/>
          <p:cNvSpPr>
            <a:spLocks noChangeShapeType="1"/>
          </p:cNvSpPr>
          <p:nvPr/>
        </p:nvSpPr>
        <p:spPr bwMode="auto">
          <a:xfrm flipV="1">
            <a:off x="5834063" y="5181601"/>
            <a:ext cx="241300" cy="200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31" name="Line 16"/>
          <p:cNvSpPr>
            <a:spLocks noChangeShapeType="1"/>
          </p:cNvSpPr>
          <p:nvPr/>
        </p:nvSpPr>
        <p:spPr bwMode="auto">
          <a:xfrm flipH="1">
            <a:off x="394811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32" name="Line 17"/>
          <p:cNvSpPr>
            <a:spLocks noChangeShapeType="1"/>
          </p:cNvSpPr>
          <p:nvPr/>
        </p:nvSpPr>
        <p:spPr bwMode="auto">
          <a:xfrm flipH="1">
            <a:off x="4545013" y="4878389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1633" name="Group 58"/>
          <p:cNvGrpSpPr>
            <a:grpSpLocks/>
          </p:cNvGrpSpPr>
          <p:nvPr/>
        </p:nvGrpSpPr>
        <p:grpSpPr bwMode="auto">
          <a:xfrm>
            <a:off x="3875088" y="3563938"/>
            <a:ext cx="798512" cy="1166812"/>
            <a:chOff x="12762" y="10336"/>
            <a:chExt cx="1027" cy="1700"/>
          </a:xfrm>
        </p:grpSpPr>
        <p:sp>
          <p:nvSpPr>
            <p:cNvPr id="111784" name="Rectangle 5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85" name="Rectangle 6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86" name="Line 6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7" name="Line 6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8" name="Line 6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9" name="Line 6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634" name="Text Box 65"/>
          <p:cNvSpPr txBox="1">
            <a:spLocks noChangeArrowheads="1"/>
          </p:cNvSpPr>
          <p:nvPr/>
        </p:nvSpPr>
        <p:spPr bwMode="auto">
          <a:xfrm>
            <a:off x="3822700" y="4705350"/>
            <a:ext cx="8524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1635" name="Text Box 66"/>
          <p:cNvSpPr txBox="1">
            <a:spLocks noChangeArrowheads="1"/>
          </p:cNvSpPr>
          <p:nvPr/>
        </p:nvSpPr>
        <p:spPr bwMode="auto">
          <a:xfrm>
            <a:off x="4892675" y="3449639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1636" name="Line 67"/>
          <p:cNvSpPr>
            <a:spLocks noChangeShapeType="1"/>
          </p:cNvSpPr>
          <p:nvPr/>
        </p:nvSpPr>
        <p:spPr bwMode="auto">
          <a:xfrm flipH="1">
            <a:off x="3409951" y="5983289"/>
            <a:ext cx="5381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1637" name="Group 108"/>
          <p:cNvGrpSpPr>
            <a:grpSpLocks/>
          </p:cNvGrpSpPr>
          <p:nvPr/>
        </p:nvGrpSpPr>
        <p:grpSpPr bwMode="auto">
          <a:xfrm>
            <a:off x="2822576" y="4718051"/>
            <a:ext cx="798513" cy="1166813"/>
            <a:chOff x="12762" y="10336"/>
            <a:chExt cx="1027" cy="1700"/>
          </a:xfrm>
        </p:grpSpPr>
        <p:sp>
          <p:nvSpPr>
            <p:cNvPr id="111778" name="Rectangle 1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79" name="Rectangle 1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80" name="Line 1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1" name="Line 1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2" name="Line 1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3" name="Line 1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638" name="Line 116"/>
          <p:cNvSpPr>
            <a:spLocks noChangeShapeType="1"/>
          </p:cNvSpPr>
          <p:nvPr/>
        </p:nvSpPr>
        <p:spPr bwMode="auto">
          <a:xfrm flipH="1">
            <a:off x="4545013" y="5394325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39" name="Line 117"/>
          <p:cNvSpPr>
            <a:spLocks noChangeShapeType="1"/>
          </p:cNvSpPr>
          <p:nvPr/>
        </p:nvSpPr>
        <p:spPr bwMode="auto">
          <a:xfrm flipH="1">
            <a:off x="6534151" y="5394325"/>
            <a:ext cx="747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40" name="Line 118"/>
          <p:cNvSpPr>
            <a:spLocks noChangeShapeType="1"/>
          </p:cNvSpPr>
          <p:nvPr/>
        </p:nvSpPr>
        <p:spPr bwMode="auto">
          <a:xfrm flipH="1">
            <a:off x="6684963" y="4878388"/>
            <a:ext cx="1135062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41" name="Line 119"/>
          <p:cNvSpPr>
            <a:spLocks noChangeShapeType="1"/>
          </p:cNvSpPr>
          <p:nvPr/>
        </p:nvSpPr>
        <p:spPr bwMode="auto">
          <a:xfrm flipH="1">
            <a:off x="6673851" y="5995988"/>
            <a:ext cx="677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42" name="Line 120"/>
          <p:cNvSpPr>
            <a:spLocks noChangeShapeType="1"/>
          </p:cNvSpPr>
          <p:nvPr/>
        </p:nvSpPr>
        <p:spPr bwMode="auto">
          <a:xfrm flipH="1">
            <a:off x="7783513" y="4891088"/>
            <a:ext cx="539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1643" name="Group 161"/>
          <p:cNvGrpSpPr>
            <a:grpSpLocks/>
          </p:cNvGrpSpPr>
          <p:nvPr/>
        </p:nvGrpSpPr>
        <p:grpSpPr bwMode="auto">
          <a:xfrm>
            <a:off x="8167688" y="3698876"/>
            <a:ext cx="798512" cy="1166813"/>
            <a:chOff x="12762" y="10336"/>
            <a:chExt cx="1027" cy="1700"/>
          </a:xfrm>
        </p:grpSpPr>
        <p:sp>
          <p:nvSpPr>
            <p:cNvPr id="111772" name="Rectangle 16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73" name="Rectangle 16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74" name="Line 16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5" name="Line 16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6" name="Line 16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7" name="Line 16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1644" name="Group 208"/>
          <p:cNvGrpSpPr>
            <a:grpSpLocks/>
          </p:cNvGrpSpPr>
          <p:nvPr/>
        </p:nvGrpSpPr>
        <p:grpSpPr bwMode="auto">
          <a:xfrm>
            <a:off x="7699376" y="5011738"/>
            <a:ext cx="798513" cy="1168400"/>
            <a:chOff x="12762" y="10336"/>
            <a:chExt cx="1027" cy="1700"/>
          </a:xfrm>
        </p:grpSpPr>
        <p:sp>
          <p:nvSpPr>
            <p:cNvPr id="111766" name="Rectangle 2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67" name="Rectangle 2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68" name="Line 2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9" name="Line 2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0" name="Line 2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1" name="Line 2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645" name="Oval 215"/>
          <p:cNvSpPr>
            <a:spLocks noChangeArrowheads="1"/>
          </p:cNvSpPr>
          <p:nvPr/>
        </p:nvSpPr>
        <p:spPr bwMode="auto">
          <a:xfrm>
            <a:off x="4287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1646" name="Oval 216"/>
          <p:cNvSpPr>
            <a:spLocks noChangeArrowheads="1"/>
          </p:cNvSpPr>
          <p:nvPr/>
        </p:nvSpPr>
        <p:spPr bwMode="auto">
          <a:xfrm>
            <a:off x="3128963" y="4767264"/>
            <a:ext cx="114300" cy="117475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1647" name="Text Box 217"/>
          <p:cNvSpPr txBox="1">
            <a:spLocks noChangeArrowheads="1"/>
          </p:cNvSpPr>
          <p:nvPr/>
        </p:nvSpPr>
        <p:spPr bwMode="auto">
          <a:xfrm>
            <a:off x="9107488" y="3651251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11648" name="Group 218"/>
          <p:cNvGrpSpPr>
            <a:grpSpLocks/>
          </p:cNvGrpSpPr>
          <p:nvPr/>
        </p:nvGrpSpPr>
        <p:grpSpPr bwMode="auto">
          <a:xfrm>
            <a:off x="6111876" y="5233989"/>
            <a:ext cx="385763" cy="319087"/>
            <a:chOff x="11283" y="10423"/>
            <a:chExt cx="475" cy="374"/>
          </a:xfrm>
        </p:grpSpPr>
        <p:sp>
          <p:nvSpPr>
            <p:cNvPr id="111759" name="Rectangle 219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1760" name="Line 220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1" name="Line 221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2" name="Line 222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3" name="Line 223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4" name="Line 224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5" name="Line 225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649" name="Line 226"/>
          <p:cNvSpPr>
            <a:spLocks noChangeShapeType="1"/>
          </p:cNvSpPr>
          <p:nvPr/>
        </p:nvSpPr>
        <p:spPr bwMode="auto">
          <a:xfrm>
            <a:off x="6369051" y="4017963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50" name="Freeform 227"/>
          <p:cNvSpPr>
            <a:spLocks/>
          </p:cNvSpPr>
          <p:nvPr/>
        </p:nvSpPr>
        <p:spPr bwMode="auto">
          <a:xfrm>
            <a:off x="3187701" y="4865689"/>
            <a:ext cx="4854575" cy="1228725"/>
          </a:xfrm>
          <a:custGeom>
            <a:avLst/>
            <a:gdLst>
              <a:gd name="T0" fmla="*/ 0 w 6225"/>
              <a:gd name="T1" fmla="*/ 0 h 1501"/>
              <a:gd name="T2" fmla="*/ 0 w 6225"/>
              <a:gd name="T3" fmla="*/ 2147483647 h 1501"/>
              <a:gd name="T4" fmla="*/ 2147483647 w 6225"/>
              <a:gd name="T5" fmla="*/ 2147483647 h 1501"/>
              <a:gd name="T6" fmla="*/ 2147483647 w 6225"/>
              <a:gd name="T7" fmla="*/ 2147483647 h 1501"/>
              <a:gd name="T8" fmla="*/ 2147483647 w 6225"/>
              <a:gd name="T9" fmla="*/ 2147483647 h 1501"/>
              <a:gd name="T10" fmla="*/ 2147483647 w 6225"/>
              <a:gd name="T11" fmla="*/ 2147483647 h 1501"/>
              <a:gd name="T12" fmla="*/ 2147483647 w 6225"/>
              <a:gd name="T13" fmla="*/ 2147483647 h 1501"/>
              <a:gd name="T14" fmla="*/ 2147483647 w 6225"/>
              <a:gd name="T15" fmla="*/ 2147483647 h 15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225" h="1501">
                <a:moveTo>
                  <a:pt x="0" y="0"/>
                </a:moveTo>
                <a:lnTo>
                  <a:pt x="0" y="1486"/>
                </a:lnTo>
                <a:lnTo>
                  <a:pt x="1005" y="1501"/>
                </a:lnTo>
                <a:lnTo>
                  <a:pt x="1860" y="706"/>
                </a:lnTo>
                <a:lnTo>
                  <a:pt x="5085" y="721"/>
                </a:lnTo>
                <a:lnTo>
                  <a:pt x="4305" y="1456"/>
                </a:lnTo>
                <a:lnTo>
                  <a:pt x="6225" y="1456"/>
                </a:lnTo>
                <a:lnTo>
                  <a:pt x="6220" y="391"/>
                </a:lnTo>
              </a:path>
            </a:pathLst>
          </a:custGeom>
          <a:noFill/>
          <a:ln w="38100" cmpd="sng">
            <a:solidFill>
              <a:srgbClr val="80808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51" name="Freeform 228"/>
          <p:cNvSpPr>
            <a:spLocks/>
          </p:cNvSpPr>
          <p:nvPr/>
        </p:nvSpPr>
        <p:spPr bwMode="auto">
          <a:xfrm>
            <a:off x="4346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52" name="Oval 229"/>
          <p:cNvSpPr>
            <a:spLocks noChangeArrowheads="1"/>
          </p:cNvSpPr>
          <p:nvPr/>
        </p:nvSpPr>
        <p:spPr bwMode="auto">
          <a:xfrm>
            <a:off x="4287838" y="3871914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1653" name="Text Box 230"/>
          <p:cNvSpPr txBox="1">
            <a:spLocks noChangeArrowheads="1"/>
          </p:cNvSpPr>
          <p:nvPr/>
        </p:nvSpPr>
        <p:spPr bwMode="auto">
          <a:xfrm>
            <a:off x="4886325" y="3778250"/>
            <a:ext cx="23495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93223" name="Line 231"/>
          <p:cNvSpPr>
            <a:spLocks noChangeShapeType="1"/>
          </p:cNvSpPr>
          <p:nvPr/>
        </p:nvSpPr>
        <p:spPr bwMode="auto">
          <a:xfrm>
            <a:off x="4433888" y="3938588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3224" name="Line 232"/>
          <p:cNvSpPr>
            <a:spLocks noChangeShapeType="1"/>
          </p:cNvSpPr>
          <p:nvPr/>
        </p:nvSpPr>
        <p:spPr bwMode="auto">
          <a:xfrm>
            <a:off x="4429125" y="37052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3225" name="Line 233"/>
          <p:cNvSpPr>
            <a:spLocks noChangeShapeType="1"/>
          </p:cNvSpPr>
          <p:nvPr/>
        </p:nvSpPr>
        <p:spPr bwMode="auto">
          <a:xfrm>
            <a:off x="8640763" y="3857625"/>
            <a:ext cx="514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34" name="Rectangle 234"/>
          <p:cNvSpPr>
            <a:spLocks noChangeArrowheads="1"/>
          </p:cNvSpPr>
          <p:nvPr/>
        </p:nvSpPr>
        <p:spPr bwMode="auto">
          <a:xfrm>
            <a:off x="4235451" y="3613151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35" name="Rectangle 235"/>
          <p:cNvSpPr>
            <a:spLocks noChangeArrowheads="1"/>
          </p:cNvSpPr>
          <p:nvPr/>
        </p:nvSpPr>
        <p:spPr bwMode="auto">
          <a:xfrm>
            <a:off x="3905251" y="3846514"/>
            <a:ext cx="244475" cy="1555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36" name="Text Box 236"/>
          <p:cNvSpPr txBox="1">
            <a:spLocks noChangeArrowheads="1"/>
          </p:cNvSpPr>
          <p:nvPr/>
        </p:nvSpPr>
        <p:spPr bwMode="auto">
          <a:xfrm>
            <a:off x="3281364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sp>
        <p:nvSpPr>
          <p:cNvPr id="358637" name="Text Box 237"/>
          <p:cNvSpPr txBox="1">
            <a:spLocks noChangeArrowheads="1"/>
          </p:cNvSpPr>
          <p:nvPr/>
        </p:nvSpPr>
        <p:spPr bwMode="auto">
          <a:xfrm>
            <a:off x="5248276" y="4805363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1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grpSp>
        <p:nvGrpSpPr>
          <p:cNvPr id="358640" name="Group 240"/>
          <p:cNvGrpSpPr>
            <a:grpSpLocks/>
          </p:cNvGrpSpPr>
          <p:nvPr/>
        </p:nvGrpSpPr>
        <p:grpSpPr bwMode="auto">
          <a:xfrm>
            <a:off x="2900364" y="3300413"/>
            <a:ext cx="947737" cy="869950"/>
            <a:chOff x="3283" y="2142"/>
            <a:chExt cx="597" cy="548"/>
          </a:xfrm>
        </p:grpSpPr>
        <p:grpSp>
          <p:nvGrpSpPr>
            <p:cNvPr id="111754" name="Group 241"/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93326" name="Picture 24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93327" name="Rectangle 243"/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324" name="Text Box 244"/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sz="1200" b="1" i="1">
                  <a:solidFill>
                    <a:schemeClr val="accent2"/>
                  </a:solidFill>
                  <a:latin typeface="Comic Sans MS" charset="0"/>
                </a:rPr>
                <a:t>timeout</a:t>
              </a:r>
            </a:p>
          </p:txBody>
        </p:sp>
        <p:pic>
          <p:nvPicPr>
            <p:cNvPr id="93325" name="Picture 24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58646" name="Line 246"/>
          <p:cNvSpPr>
            <a:spLocks noChangeShapeType="1"/>
          </p:cNvSpPr>
          <p:nvPr/>
        </p:nvSpPr>
        <p:spPr bwMode="auto">
          <a:xfrm>
            <a:off x="6616700" y="1244600"/>
            <a:ext cx="0" cy="171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47" name="Line 247"/>
          <p:cNvSpPr>
            <a:spLocks noChangeShapeType="1"/>
          </p:cNvSpPr>
          <p:nvPr/>
        </p:nvSpPr>
        <p:spPr bwMode="auto">
          <a:xfrm rot="5400000">
            <a:off x="7509669" y="2067719"/>
            <a:ext cx="0" cy="179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48" name="Text Box 248"/>
          <p:cNvSpPr txBox="1">
            <a:spLocks noChangeArrowheads="1"/>
          </p:cNvSpPr>
          <p:nvPr/>
        </p:nvSpPr>
        <p:spPr bwMode="auto">
          <a:xfrm>
            <a:off x="6188076" y="1303338"/>
            <a:ext cx="460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400">
                <a:latin typeface="Arial" charset="0"/>
                <a:cs typeface="Arial" charset="0"/>
              </a:rPr>
              <a:t>R/2</a:t>
            </a:r>
          </a:p>
        </p:txBody>
      </p:sp>
      <p:sp>
        <p:nvSpPr>
          <p:cNvPr id="358649" name="Line 249"/>
          <p:cNvSpPr>
            <a:spLocks noChangeShapeType="1"/>
          </p:cNvSpPr>
          <p:nvPr/>
        </p:nvSpPr>
        <p:spPr bwMode="auto">
          <a:xfrm rot="5400000">
            <a:off x="7959725" y="114300"/>
            <a:ext cx="0" cy="2698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358651" name="Text Box 251"/>
          <p:cNvSpPr txBox="1">
            <a:spLocks noChangeArrowheads="1"/>
          </p:cNvSpPr>
          <p:nvPr/>
        </p:nvSpPr>
        <p:spPr bwMode="auto">
          <a:xfrm>
            <a:off x="7974014" y="2919413"/>
            <a:ext cx="460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400">
                <a:latin typeface="Arial" charset="0"/>
                <a:cs typeface="Arial" charset="0"/>
              </a:rPr>
              <a:t>R/2</a:t>
            </a:r>
          </a:p>
        </p:txBody>
      </p:sp>
      <p:grpSp>
        <p:nvGrpSpPr>
          <p:cNvPr id="358653" name="Group 253"/>
          <p:cNvGrpSpPr>
            <a:grpSpLocks/>
          </p:cNvGrpSpPr>
          <p:nvPr/>
        </p:nvGrpSpPr>
        <p:grpSpPr bwMode="auto">
          <a:xfrm>
            <a:off x="7180264" y="2954338"/>
            <a:ext cx="427037" cy="366712"/>
            <a:chOff x="3655" y="1791"/>
            <a:chExt cx="269" cy="231"/>
          </a:xfrm>
        </p:grpSpPr>
        <p:sp>
          <p:nvSpPr>
            <p:cNvPr id="93321" name="Text Box 254"/>
            <p:cNvSpPr txBox="1">
              <a:spLocks noChangeArrowheads="1"/>
            </p:cNvSpPr>
            <p:nvPr/>
          </p:nvSpPr>
          <p:spPr bwMode="auto">
            <a:xfrm>
              <a:off x="3655" y="1791"/>
              <a:ext cx="2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800">
                  <a:latin typeface="Symbol" charset="0"/>
                  <a:cs typeface="Arial" charset="0"/>
                </a:rPr>
                <a:t>l</a:t>
              </a:r>
              <a:r>
                <a:rPr lang="en-US" sz="1800" baseline="-25000">
                  <a:latin typeface="Arial" charset="0"/>
                  <a:cs typeface="Arial" charset="0"/>
                </a:rPr>
                <a:t>in</a:t>
              </a:r>
            </a:p>
          </p:txBody>
        </p:sp>
        <p:sp>
          <p:nvSpPr>
            <p:cNvPr id="93322" name="Line 255"/>
            <p:cNvSpPr>
              <a:spLocks noChangeShapeType="1"/>
            </p:cNvSpPr>
            <p:nvPr/>
          </p:nvSpPr>
          <p:spPr bwMode="auto">
            <a:xfrm flipV="1">
              <a:off x="3810" y="1846"/>
              <a:ext cx="24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58656" name="Text Box 256"/>
          <p:cNvSpPr txBox="1">
            <a:spLocks noChangeArrowheads="1"/>
          </p:cNvSpPr>
          <p:nvPr/>
        </p:nvSpPr>
        <p:spPr bwMode="auto">
          <a:xfrm rot="16200000">
            <a:off x="5999163" y="2027238"/>
            <a:ext cx="617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800">
                <a:latin typeface="Symbol" charset="0"/>
                <a:cs typeface="Arial" charset="0"/>
              </a:rPr>
              <a:t>l</a:t>
            </a:r>
            <a:r>
              <a:rPr lang="en-US" sz="1800" baseline="-25000">
                <a:latin typeface="Arial" charset="0"/>
                <a:cs typeface="Arial" charset="0"/>
              </a:rPr>
              <a:t>out</a:t>
            </a:r>
          </a:p>
        </p:txBody>
      </p:sp>
      <p:sp>
        <p:nvSpPr>
          <p:cNvPr id="358657" name="Line 257"/>
          <p:cNvSpPr>
            <a:spLocks noChangeShapeType="1"/>
          </p:cNvSpPr>
          <p:nvPr/>
        </p:nvSpPr>
        <p:spPr bwMode="auto">
          <a:xfrm rot="10800000" flipH="1">
            <a:off x="6575426" y="1463675"/>
            <a:ext cx="16176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358662" name="Group 262"/>
          <p:cNvGrpSpPr>
            <a:grpSpLocks/>
          </p:cNvGrpSpPr>
          <p:nvPr/>
        </p:nvGrpSpPr>
        <p:grpSpPr bwMode="auto">
          <a:xfrm>
            <a:off x="8170863" y="1479550"/>
            <a:ext cx="2260600" cy="1479550"/>
            <a:chOff x="4187" y="932"/>
            <a:chExt cx="1424" cy="932"/>
          </a:xfrm>
        </p:grpSpPr>
        <p:sp>
          <p:nvSpPr>
            <p:cNvPr id="93317" name="Line 250"/>
            <p:cNvSpPr>
              <a:spLocks noChangeShapeType="1"/>
            </p:cNvSpPr>
            <p:nvPr/>
          </p:nvSpPr>
          <p:spPr bwMode="auto">
            <a:xfrm rot="10800000">
              <a:off x="4196" y="932"/>
              <a:ext cx="0" cy="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18" name="Oval 258"/>
            <p:cNvSpPr>
              <a:spLocks noChangeArrowheads="1"/>
            </p:cNvSpPr>
            <p:nvPr/>
          </p:nvSpPr>
          <p:spPr bwMode="auto">
            <a:xfrm>
              <a:off x="4187" y="1026"/>
              <a:ext cx="56" cy="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19" name="Text Box 259"/>
            <p:cNvSpPr txBox="1">
              <a:spLocks noChangeArrowheads="1"/>
            </p:cNvSpPr>
            <p:nvPr/>
          </p:nvSpPr>
          <p:spPr bwMode="auto">
            <a:xfrm>
              <a:off x="4426" y="1106"/>
              <a:ext cx="1185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defRPr/>
              </a:pPr>
              <a:r>
                <a:rPr lang="en-US" sz="1400">
                  <a:latin typeface="Arial" charset="0"/>
                </a:rPr>
                <a:t>when sending at R/2, some packets are retransmissions including duplicated that are delivered!</a:t>
              </a:r>
            </a:p>
          </p:txBody>
        </p:sp>
        <p:sp>
          <p:nvSpPr>
            <p:cNvPr id="93320" name="Line 260"/>
            <p:cNvSpPr>
              <a:spLocks noChangeShapeType="1"/>
            </p:cNvSpPr>
            <p:nvPr/>
          </p:nvSpPr>
          <p:spPr bwMode="auto">
            <a:xfrm flipH="1" flipV="1">
              <a:off x="4201" y="1033"/>
              <a:ext cx="245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58661" name="Freeform 261"/>
          <p:cNvSpPr>
            <a:spLocks/>
          </p:cNvSpPr>
          <p:nvPr/>
        </p:nvSpPr>
        <p:spPr bwMode="auto">
          <a:xfrm>
            <a:off x="6613525" y="1571626"/>
            <a:ext cx="2535238" cy="1382713"/>
          </a:xfrm>
          <a:custGeom>
            <a:avLst/>
            <a:gdLst>
              <a:gd name="T0" fmla="*/ 0 w 1597"/>
              <a:gd name="T1" fmla="*/ 2147483647 h 871"/>
              <a:gd name="T2" fmla="*/ 2147483647 w 1597"/>
              <a:gd name="T3" fmla="*/ 2147483647 h 871"/>
              <a:gd name="T4" fmla="*/ 2147483647 w 1597"/>
              <a:gd name="T5" fmla="*/ 2147483647 h 871"/>
              <a:gd name="T6" fmla="*/ 2147483647 w 1597"/>
              <a:gd name="T7" fmla="*/ 2147483647 h 8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97" h="871">
                <a:moveTo>
                  <a:pt x="0" y="871"/>
                </a:moveTo>
                <a:cubicBezTo>
                  <a:pt x="166" y="737"/>
                  <a:pt x="664" y="154"/>
                  <a:pt x="994" y="66"/>
                </a:cubicBezTo>
                <a:cubicBezTo>
                  <a:pt x="1172" y="20"/>
                  <a:pt x="1158" y="4"/>
                  <a:pt x="1466" y="2"/>
                </a:cubicBezTo>
                <a:cubicBezTo>
                  <a:pt x="1596" y="0"/>
                  <a:pt x="1570" y="3"/>
                  <a:pt x="1597" y="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1672" name="Freeform 264"/>
          <p:cNvSpPr>
            <a:spLocks/>
          </p:cNvSpPr>
          <p:nvPr/>
        </p:nvSpPr>
        <p:spPr bwMode="auto">
          <a:xfrm>
            <a:off x="8461376" y="4981575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73" name="Freeform 267"/>
          <p:cNvSpPr>
            <a:spLocks/>
          </p:cNvSpPr>
          <p:nvPr/>
        </p:nvSpPr>
        <p:spPr bwMode="auto">
          <a:xfrm>
            <a:off x="8940801" y="3676650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74" name="Freeform 270"/>
          <p:cNvSpPr>
            <a:spLocks/>
          </p:cNvSpPr>
          <p:nvPr/>
        </p:nvSpPr>
        <p:spPr bwMode="auto">
          <a:xfrm flipH="1">
            <a:off x="2590801" y="46672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75" name="Text Box 275"/>
          <p:cNvSpPr txBox="1">
            <a:spLocks noChangeArrowheads="1"/>
          </p:cNvSpPr>
          <p:nvPr/>
        </p:nvSpPr>
        <p:spPr bwMode="auto">
          <a:xfrm>
            <a:off x="2692400" y="6073775"/>
            <a:ext cx="8778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93245" name="Rectangle 281"/>
          <p:cNvSpPr>
            <a:spLocks noChangeArrowheads="1"/>
          </p:cNvSpPr>
          <p:nvPr/>
        </p:nvSpPr>
        <p:spPr bwMode="auto">
          <a:xfrm>
            <a:off x="1901826" y="1039813"/>
            <a:ext cx="4310063" cy="191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Realistic: </a:t>
            </a: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duplicates</a:t>
            </a:r>
            <a:r>
              <a:rPr lang="en-US" sz="2400">
                <a:latin typeface="Gill Sans MT" charset="0"/>
                <a:ea typeface="ＭＳ Ｐゴシック" charset="0"/>
              </a:rPr>
              <a:t>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packets can be lost, dropped at router due  to full buffers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sender times out prematurely, sending </a:t>
            </a:r>
            <a:r>
              <a:rPr lang="en-US" sz="2400" i="1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two</a:t>
            </a:r>
            <a:r>
              <a:rPr lang="en-US" sz="2400" i="1">
                <a:latin typeface="Gill Sans MT" charset="0"/>
                <a:ea typeface="ＭＳ Ｐゴシック" charset="0"/>
              </a:rPr>
              <a:t> </a:t>
            </a:r>
            <a:r>
              <a:rPr lang="en-US" sz="2400">
                <a:latin typeface="Gill Sans MT" charset="0"/>
                <a:ea typeface="ＭＳ Ｐゴシック" charset="0"/>
              </a:rPr>
              <a:t>copies, both of which are delivered</a:t>
            </a:r>
            <a:endParaRPr lang="en-US" sz="2800">
              <a:latin typeface="Gill Sans MT" charset="0"/>
              <a:ea typeface="ＭＳ Ｐゴシック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800">
              <a:latin typeface="Gill Sans MT" charset="0"/>
              <a:ea typeface="ＭＳ Ｐゴシック" charset="0"/>
            </a:endParaRPr>
          </a:p>
        </p:txBody>
      </p:sp>
      <p:pic>
        <p:nvPicPr>
          <p:cNvPr id="111677" name="Picture 286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247" name="Rectangle 287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grpSp>
        <p:nvGrpSpPr>
          <p:cNvPr id="111679" name="Group 288"/>
          <p:cNvGrpSpPr>
            <a:grpSpLocks/>
          </p:cNvGrpSpPr>
          <p:nvPr/>
        </p:nvGrpSpPr>
        <p:grpSpPr bwMode="auto">
          <a:xfrm>
            <a:off x="9077326" y="4564064"/>
            <a:ext cx="231775" cy="441325"/>
            <a:chOff x="4140" y="429"/>
            <a:chExt cx="1425" cy="2396"/>
          </a:xfrm>
        </p:grpSpPr>
        <p:sp>
          <p:nvSpPr>
            <p:cNvPr id="111716" name="Freeform 28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86" name="Rectangle 290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718" name="Freeform 29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19" name="Freeform 29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89" name="Rectangle 293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721" name="Group 29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315" name="AutoShape 295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316" name="AutoShape 296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91" name="Rectangle 297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723" name="Group 29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313" name="AutoShape 299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314" name="AutoShape 300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93" name="Rectangle 301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94" name="Rectangle 302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726" name="Group 30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311" name="AutoShape 304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312" name="AutoShape 305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1727" name="Freeform 30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1728" name="Group 30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309" name="AutoShape 308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310" name="AutoShape 309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98" name="Rectangle 310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730" name="Freeform 31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31" name="Freeform 31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01" name="Oval 313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733" name="Freeform 31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03" name="AutoShape 315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04" name="AutoShape 316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05" name="Oval 317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06" name="Oval 318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3307" name="Oval 319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308" name="Rectangle 320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1680" name="Group 321"/>
          <p:cNvGrpSpPr>
            <a:grpSpLocks/>
          </p:cNvGrpSpPr>
          <p:nvPr/>
        </p:nvGrpSpPr>
        <p:grpSpPr bwMode="auto">
          <a:xfrm>
            <a:off x="8659814" y="5867401"/>
            <a:ext cx="231775" cy="441325"/>
            <a:chOff x="4140" y="429"/>
            <a:chExt cx="1425" cy="2396"/>
          </a:xfrm>
        </p:grpSpPr>
        <p:sp>
          <p:nvSpPr>
            <p:cNvPr id="111684" name="Freeform 32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4" name="Rectangle 323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686" name="Freeform 32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7" name="Freeform 32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7" name="Rectangle 326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689" name="Group 32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83" name="AutoShape 328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284" name="AutoShape 329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59" name="Rectangle 330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691" name="Group 33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81" name="AutoShape 332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282" name="AutoShape 333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61" name="Rectangle 334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62" name="Rectangle 335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1694" name="Group 33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79" name="AutoShape 33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280" name="AutoShape 338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1695" name="Freeform 33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1696" name="Group 34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77" name="AutoShape 341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278" name="AutoShape 342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3266" name="Rectangle 343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698" name="Freeform 34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99" name="Freeform 34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69" name="Oval 346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701" name="Freeform 34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71" name="AutoShape 34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72" name="AutoShape 349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73" name="Oval 350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74" name="Oval 351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3275" name="Oval 352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3276" name="Rectangle 353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1681" name="Group 354"/>
          <p:cNvGrpSpPr>
            <a:grpSpLocks/>
          </p:cNvGrpSpPr>
          <p:nvPr/>
        </p:nvGrpSpPr>
        <p:grpSpPr bwMode="auto">
          <a:xfrm>
            <a:off x="2185988" y="5605464"/>
            <a:ext cx="525462" cy="434975"/>
            <a:chOff x="-44" y="1473"/>
            <a:chExt cx="981" cy="1105"/>
          </a:xfrm>
        </p:grpSpPr>
        <p:pic>
          <p:nvPicPr>
            <p:cNvPr id="111682" name="Picture 355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83" name="Freeform 35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930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5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3542 L 0.0007 0.17802 L 0.08681 0.17894 L 0.04723 0.24191 L 0.19584 0.2419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58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83 0.2419 L 0.23593 0.24144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281 0.24075 L 0.30833 0.24075 L 0.34982 0.18056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-300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8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5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82 0.18056 L 0.3743 0.15278 L 0.46198 0.15278 L 0.46076 0.01621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8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358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11111E-6 L 0.03542 -1.11111E-6 L 0.03785 0.14306 L 0.11719 0.14468 L 0.0842 0.20648 L 0.34271 0.20648 L 0.4099 0.1169 L 0.49635 0.11852 L 0.49635 -0.01805 " pathEditMode="relative" ptsTypes="AAAAAAAAA">
                                      <p:cBhvr>
                                        <p:cTn id="48" dur="2000" fill="hold"/>
                                        <p:tgtEl>
                                          <p:spTgt spid="3586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358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5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5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5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5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5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5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5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5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5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34" grpId="0" animBg="1"/>
      <p:bldP spid="358634" grpId="1" animBg="1"/>
      <p:bldP spid="358634" grpId="2" animBg="1"/>
      <p:bldP spid="358634" grpId="3" animBg="1"/>
      <p:bldP spid="358634" grpId="4" animBg="1"/>
      <p:bldP spid="358634" grpId="5" animBg="1"/>
      <p:bldP spid="358634" grpId="6" animBg="1"/>
      <p:bldP spid="358635" grpId="0" animBg="1"/>
      <p:bldP spid="358635" grpId="1" animBg="1"/>
      <p:bldP spid="358636" grpId="0"/>
      <p:bldP spid="358636" grpId="1"/>
      <p:bldP spid="358637" grpId="0"/>
      <p:bldP spid="358637" grpId="1"/>
      <p:bldP spid="358648" grpId="0"/>
      <p:bldP spid="358651" grpId="0"/>
      <p:bldP spid="35865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42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9718E7C-960D-423E-921B-B619F78BDD65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94212" name="Line 245"/>
          <p:cNvSpPr>
            <a:spLocks noChangeShapeType="1"/>
          </p:cNvSpPr>
          <p:nvPr/>
        </p:nvSpPr>
        <p:spPr bwMode="auto">
          <a:xfrm>
            <a:off x="6616700" y="1244600"/>
            <a:ext cx="0" cy="171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4213" name="Text Box 247"/>
          <p:cNvSpPr txBox="1">
            <a:spLocks noChangeArrowheads="1"/>
          </p:cNvSpPr>
          <p:nvPr/>
        </p:nvSpPr>
        <p:spPr bwMode="auto">
          <a:xfrm>
            <a:off x="6221414" y="1292225"/>
            <a:ext cx="460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400">
                <a:latin typeface="Arial" charset="0"/>
                <a:cs typeface="Arial" charset="0"/>
              </a:rPr>
              <a:t>R/2</a:t>
            </a:r>
          </a:p>
        </p:txBody>
      </p:sp>
      <p:sp>
        <p:nvSpPr>
          <p:cNvPr id="94214" name="Line 248"/>
          <p:cNvSpPr>
            <a:spLocks noChangeShapeType="1"/>
          </p:cNvSpPr>
          <p:nvPr/>
        </p:nvSpPr>
        <p:spPr bwMode="auto">
          <a:xfrm rot="5400000">
            <a:off x="7959725" y="114300"/>
            <a:ext cx="0" cy="2698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4215" name="Text Box 253"/>
          <p:cNvSpPr txBox="1">
            <a:spLocks noChangeArrowheads="1"/>
          </p:cNvSpPr>
          <p:nvPr/>
        </p:nvSpPr>
        <p:spPr bwMode="auto">
          <a:xfrm rot="16200000">
            <a:off x="5999163" y="2027238"/>
            <a:ext cx="617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800">
                <a:latin typeface="Symbol" charset="0"/>
                <a:cs typeface="Arial" charset="0"/>
              </a:rPr>
              <a:t>l</a:t>
            </a:r>
            <a:r>
              <a:rPr lang="en-US" sz="1800" baseline="-25000">
                <a:latin typeface="Arial" charset="0"/>
                <a:cs typeface="Arial" charset="0"/>
              </a:rPr>
              <a:t>out</a:t>
            </a:r>
          </a:p>
        </p:txBody>
      </p:sp>
      <p:sp>
        <p:nvSpPr>
          <p:cNvPr id="94216" name="Line 254"/>
          <p:cNvSpPr>
            <a:spLocks noChangeShapeType="1"/>
          </p:cNvSpPr>
          <p:nvPr/>
        </p:nvSpPr>
        <p:spPr bwMode="auto">
          <a:xfrm rot="10800000" flipH="1">
            <a:off x="6575426" y="1463675"/>
            <a:ext cx="1617663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112648" name="Group 255"/>
          <p:cNvGrpSpPr>
            <a:grpSpLocks/>
          </p:cNvGrpSpPr>
          <p:nvPr/>
        </p:nvGrpSpPr>
        <p:grpSpPr bwMode="auto">
          <a:xfrm>
            <a:off x="8170863" y="1479550"/>
            <a:ext cx="2260600" cy="1479550"/>
            <a:chOff x="4187" y="932"/>
            <a:chExt cx="1424" cy="932"/>
          </a:xfrm>
        </p:grpSpPr>
        <p:sp>
          <p:nvSpPr>
            <p:cNvPr id="94228" name="Line 256"/>
            <p:cNvSpPr>
              <a:spLocks noChangeShapeType="1"/>
            </p:cNvSpPr>
            <p:nvPr/>
          </p:nvSpPr>
          <p:spPr bwMode="auto">
            <a:xfrm rot="10800000">
              <a:off x="4196" y="932"/>
              <a:ext cx="0" cy="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4229" name="Oval 257"/>
            <p:cNvSpPr>
              <a:spLocks noChangeArrowheads="1"/>
            </p:cNvSpPr>
            <p:nvPr/>
          </p:nvSpPr>
          <p:spPr bwMode="auto">
            <a:xfrm>
              <a:off x="4187" y="1026"/>
              <a:ext cx="56" cy="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4230" name="Text Box 258"/>
            <p:cNvSpPr txBox="1">
              <a:spLocks noChangeArrowheads="1"/>
            </p:cNvSpPr>
            <p:nvPr/>
          </p:nvSpPr>
          <p:spPr bwMode="auto">
            <a:xfrm>
              <a:off x="4426" y="1106"/>
              <a:ext cx="1185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>
                <a:defRPr/>
              </a:pPr>
              <a:r>
                <a:rPr lang="en-US" sz="1400">
                  <a:latin typeface="Arial" charset="0"/>
                </a:rPr>
                <a:t>when sending at R/2, some packets are retransmissions including duplicated that are delivered!</a:t>
              </a:r>
            </a:p>
          </p:txBody>
        </p:sp>
        <p:sp>
          <p:nvSpPr>
            <p:cNvPr id="94231" name="Line 259"/>
            <p:cNvSpPr>
              <a:spLocks noChangeShapeType="1"/>
            </p:cNvSpPr>
            <p:nvPr/>
          </p:nvSpPr>
          <p:spPr bwMode="auto">
            <a:xfrm flipH="1" flipV="1">
              <a:off x="4201" y="1033"/>
              <a:ext cx="245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12649" name="Freeform 260"/>
          <p:cNvSpPr>
            <a:spLocks/>
          </p:cNvSpPr>
          <p:nvPr/>
        </p:nvSpPr>
        <p:spPr bwMode="auto">
          <a:xfrm>
            <a:off x="6613525" y="1571626"/>
            <a:ext cx="2535238" cy="1382713"/>
          </a:xfrm>
          <a:custGeom>
            <a:avLst/>
            <a:gdLst>
              <a:gd name="T0" fmla="*/ 0 w 1597"/>
              <a:gd name="T1" fmla="*/ 2147483647 h 871"/>
              <a:gd name="T2" fmla="*/ 2147483647 w 1597"/>
              <a:gd name="T3" fmla="*/ 2147483647 h 871"/>
              <a:gd name="T4" fmla="*/ 2147483647 w 1597"/>
              <a:gd name="T5" fmla="*/ 2147483647 h 871"/>
              <a:gd name="T6" fmla="*/ 2147483647 w 1597"/>
              <a:gd name="T7" fmla="*/ 2147483647 h 8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97" h="871">
                <a:moveTo>
                  <a:pt x="0" y="871"/>
                </a:moveTo>
                <a:cubicBezTo>
                  <a:pt x="166" y="737"/>
                  <a:pt x="664" y="154"/>
                  <a:pt x="994" y="66"/>
                </a:cubicBezTo>
                <a:cubicBezTo>
                  <a:pt x="1172" y="20"/>
                  <a:pt x="1158" y="4"/>
                  <a:pt x="1466" y="2"/>
                </a:cubicBezTo>
                <a:cubicBezTo>
                  <a:pt x="1596" y="0"/>
                  <a:pt x="1570" y="3"/>
                  <a:pt x="1597" y="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219" name="Rectangle 261"/>
          <p:cNvSpPr>
            <a:spLocks noChangeArrowheads="1"/>
          </p:cNvSpPr>
          <p:nvPr/>
        </p:nvSpPr>
        <p:spPr bwMode="auto">
          <a:xfrm>
            <a:off x="2151064" y="3836988"/>
            <a:ext cx="81438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688975" indent="-231775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ja-JP" altLang="en-US" sz="2800">
                <a:solidFill>
                  <a:srgbClr val="CC0000"/>
                </a:solidFill>
                <a:latin typeface="Gill Sans MT" panose="020B0502020104020203" pitchFamily="34" charset="0"/>
              </a:rPr>
              <a:t>“</a:t>
            </a:r>
            <a:r>
              <a:rPr lang="en-US" altLang="ja-JP" sz="2800">
                <a:solidFill>
                  <a:srgbClr val="CC0000"/>
                </a:solidFill>
                <a:latin typeface="Gill Sans MT" panose="020B0502020104020203" pitchFamily="34" charset="0"/>
              </a:rPr>
              <a:t>costs</a:t>
            </a:r>
            <a:r>
              <a:rPr lang="ja-JP" altLang="en-US" sz="2800">
                <a:solidFill>
                  <a:srgbClr val="CC0000"/>
                </a:solidFill>
                <a:latin typeface="Gill Sans MT" panose="020B0502020104020203" pitchFamily="34" charset="0"/>
              </a:rPr>
              <a:t>”</a:t>
            </a:r>
            <a:r>
              <a:rPr lang="en-US" altLang="ja-JP" sz="2800">
                <a:solidFill>
                  <a:srgbClr val="CC0000"/>
                </a:solidFill>
                <a:latin typeface="Gill Sans MT" panose="020B0502020104020203" pitchFamily="34" charset="0"/>
              </a:rPr>
              <a:t> of congestion:</a:t>
            </a:r>
            <a:r>
              <a:rPr lang="en-US" altLang="ja-JP" sz="2800">
                <a:latin typeface="Gill Sans MT" panose="020B0502020104020203" pitchFamily="34" charset="0"/>
              </a:rPr>
              <a:t> </a:t>
            </a: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latin typeface="Gill Sans MT" panose="020B0502020104020203" pitchFamily="34" charset="0"/>
              </a:rPr>
              <a:t>more work (retrans) for given </a:t>
            </a: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goodput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endParaRPr lang="en-US" altLang="ja-JP" sz="2400">
              <a:latin typeface="Gill Sans MT" panose="020B0502020104020203" pitchFamily="34" charset="0"/>
            </a:endParaRP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400">
                <a:latin typeface="Gill Sans MT" panose="020B0502020104020203" pitchFamily="34" charset="0"/>
              </a:rPr>
              <a:t>unneeded retransmissions: link carries multiple copies of pkt</a:t>
            </a:r>
          </a:p>
          <a:p>
            <a:pPr lvl="1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Gill Sans MT" panose="020B0502020104020203" pitchFamily="34" charset="0"/>
              </a:rPr>
              <a:t>decreasing goodput</a:t>
            </a: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en-US" sz="2400">
              <a:latin typeface="Gill Sans MT" panose="020B0502020104020203" pitchFamily="34" charset="0"/>
            </a:endParaRPr>
          </a:p>
        </p:txBody>
      </p:sp>
      <p:sp>
        <p:nvSpPr>
          <p:cNvPr id="94220" name="Line 262"/>
          <p:cNvSpPr>
            <a:spLocks noChangeShapeType="1"/>
          </p:cNvSpPr>
          <p:nvPr/>
        </p:nvSpPr>
        <p:spPr bwMode="auto">
          <a:xfrm rot="5400000">
            <a:off x="7509669" y="2067719"/>
            <a:ext cx="0" cy="179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4221" name="Text Box 263"/>
          <p:cNvSpPr txBox="1">
            <a:spLocks noChangeArrowheads="1"/>
          </p:cNvSpPr>
          <p:nvPr/>
        </p:nvSpPr>
        <p:spPr bwMode="auto">
          <a:xfrm>
            <a:off x="7974014" y="2930525"/>
            <a:ext cx="460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r>
              <a:rPr lang="en-US" sz="1400">
                <a:latin typeface="Arial" charset="0"/>
                <a:cs typeface="Arial" charset="0"/>
              </a:rPr>
              <a:t>R/2</a:t>
            </a:r>
          </a:p>
        </p:txBody>
      </p:sp>
      <p:grpSp>
        <p:nvGrpSpPr>
          <p:cNvPr id="112653" name="Group 264"/>
          <p:cNvGrpSpPr>
            <a:grpSpLocks/>
          </p:cNvGrpSpPr>
          <p:nvPr/>
        </p:nvGrpSpPr>
        <p:grpSpPr bwMode="auto">
          <a:xfrm>
            <a:off x="7180264" y="2954338"/>
            <a:ext cx="427037" cy="366712"/>
            <a:chOff x="3655" y="1791"/>
            <a:chExt cx="269" cy="231"/>
          </a:xfrm>
        </p:grpSpPr>
        <p:sp>
          <p:nvSpPr>
            <p:cNvPr id="94226" name="Text Box 265"/>
            <p:cNvSpPr txBox="1">
              <a:spLocks noChangeArrowheads="1"/>
            </p:cNvSpPr>
            <p:nvPr/>
          </p:nvSpPr>
          <p:spPr bwMode="auto">
            <a:xfrm>
              <a:off x="3655" y="1791"/>
              <a:ext cx="2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l" eaLnBrk="1" hangingPunct="1">
                <a:defRPr/>
              </a:pPr>
              <a:r>
                <a:rPr lang="en-US" sz="1800">
                  <a:latin typeface="Symbol" charset="0"/>
                  <a:cs typeface="Arial" charset="0"/>
                </a:rPr>
                <a:t>l</a:t>
              </a:r>
              <a:r>
                <a:rPr lang="en-US" sz="1800" baseline="-25000">
                  <a:latin typeface="Arial" charset="0"/>
                  <a:cs typeface="Arial" charset="0"/>
                </a:rPr>
                <a:t>in</a:t>
              </a:r>
            </a:p>
          </p:txBody>
        </p:sp>
        <p:sp>
          <p:nvSpPr>
            <p:cNvPr id="94227" name="Line 266"/>
            <p:cNvSpPr>
              <a:spLocks noChangeShapeType="1"/>
            </p:cNvSpPr>
            <p:nvPr/>
          </p:nvSpPr>
          <p:spPr bwMode="auto">
            <a:xfrm flipV="1">
              <a:off x="3810" y="1846"/>
              <a:ext cx="24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pic>
        <p:nvPicPr>
          <p:cNvPr id="112654" name="Picture 27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24" name="Rectangle 271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2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94225" name="Rectangle 273"/>
          <p:cNvSpPr>
            <a:spLocks noChangeArrowheads="1"/>
          </p:cNvSpPr>
          <p:nvPr/>
        </p:nvSpPr>
        <p:spPr bwMode="auto">
          <a:xfrm>
            <a:off x="1901826" y="1039813"/>
            <a:ext cx="4310063" cy="191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Realistic: </a:t>
            </a: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duplicates</a:t>
            </a:r>
            <a:r>
              <a:rPr lang="en-US" sz="2400">
                <a:latin typeface="Gill Sans MT" charset="0"/>
                <a:ea typeface="ＭＳ Ｐゴシック" charset="0"/>
              </a:rPr>
              <a:t>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packets can be lost, dropped at router due  to full buffers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400">
                <a:latin typeface="Gill Sans MT" charset="0"/>
                <a:ea typeface="ＭＳ Ｐゴシック" charset="0"/>
              </a:rPr>
              <a:t>sender times out prematurely, sending </a:t>
            </a:r>
            <a:r>
              <a:rPr lang="en-US" sz="2400" i="1">
                <a:solidFill>
                  <a:srgbClr val="000099"/>
                </a:solidFill>
                <a:latin typeface="Gill Sans MT" charset="0"/>
                <a:ea typeface="ＭＳ Ｐゴシック" charset="0"/>
              </a:rPr>
              <a:t>two</a:t>
            </a:r>
            <a:r>
              <a:rPr lang="en-US" sz="2400" i="1">
                <a:latin typeface="Gill Sans MT" charset="0"/>
                <a:ea typeface="ＭＳ Ｐゴシック" charset="0"/>
              </a:rPr>
              <a:t> </a:t>
            </a:r>
            <a:r>
              <a:rPr lang="en-US" sz="2400">
                <a:latin typeface="Gill Sans MT" charset="0"/>
                <a:ea typeface="ＭＳ Ｐゴシック" charset="0"/>
              </a:rPr>
              <a:t>copies, both of which are delivered</a:t>
            </a:r>
            <a:endParaRPr lang="en-US" sz="2800">
              <a:latin typeface="Gill Sans MT" charset="0"/>
              <a:ea typeface="ＭＳ Ｐゴシック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800">
              <a:latin typeface="Gill Sans MT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1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52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52D4A064-A005-4ECF-8792-53DCD6447576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13667" name="Freeform 354"/>
          <p:cNvSpPr>
            <a:spLocks/>
          </p:cNvSpPr>
          <p:nvPr/>
        </p:nvSpPr>
        <p:spPr bwMode="auto">
          <a:xfrm flipH="1">
            <a:off x="4092575" y="3136901"/>
            <a:ext cx="236538" cy="101441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68" name="Freeform 350"/>
          <p:cNvSpPr>
            <a:spLocks/>
          </p:cNvSpPr>
          <p:nvPr/>
        </p:nvSpPr>
        <p:spPr bwMode="auto">
          <a:xfrm flipH="1">
            <a:off x="2076450" y="5118101"/>
            <a:ext cx="236538" cy="101441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69" name="Freeform 347"/>
          <p:cNvSpPr>
            <a:spLocks/>
          </p:cNvSpPr>
          <p:nvPr/>
        </p:nvSpPr>
        <p:spPr bwMode="auto">
          <a:xfrm>
            <a:off x="8334375" y="5316538"/>
            <a:ext cx="236538" cy="1014412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0" name="Freeform 344"/>
          <p:cNvSpPr>
            <a:spLocks/>
          </p:cNvSpPr>
          <p:nvPr/>
        </p:nvSpPr>
        <p:spPr bwMode="auto">
          <a:xfrm>
            <a:off x="8767764" y="3302001"/>
            <a:ext cx="236537" cy="101441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0426" y="1273176"/>
            <a:ext cx="8334375" cy="1247775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four senders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multihop paths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timeout/retransmit</a:t>
            </a: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sp>
        <p:nvSpPr>
          <p:cNvPr id="95241" name="Rectangle 7"/>
          <p:cNvSpPr>
            <a:spLocks noChangeArrowheads="1"/>
          </p:cNvSpPr>
          <p:nvPr/>
        </p:nvSpPr>
        <p:spPr bwMode="auto">
          <a:xfrm>
            <a:off x="5775326" y="1106488"/>
            <a:ext cx="437356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800" u="sng">
                <a:solidFill>
                  <a:srgbClr val="CC0000"/>
                </a:solidFill>
                <a:latin typeface="Gill Sans MT" panose="020B0502020104020203" pitchFamily="34" charset="0"/>
              </a:rPr>
              <a:t>Q:</a:t>
            </a:r>
            <a:r>
              <a:rPr lang="en-US" alt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>
                <a:latin typeface="Gill Sans MT" panose="020B0502020104020203" pitchFamily="34" charset="0"/>
              </a:rPr>
              <a:t>what happens as </a:t>
            </a:r>
            <a:r>
              <a:rPr lang="en-US" altLang="en-US" sz="2400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solidFill>
                  <a:srgbClr val="CC0000"/>
                </a:solidFill>
                <a:latin typeface="Gill Sans MT" panose="020B0502020104020203" pitchFamily="34" charset="0"/>
              </a:rPr>
              <a:t>in</a:t>
            </a:r>
            <a:r>
              <a:rPr lang="en-US" altLang="en-US" sz="2400">
                <a:solidFill>
                  <a:srgbClr val="CC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>
                <a:latin typeface="Gill Sans MT" panose="020B0502020104020203" pitchFamily="34" charset="0"/>
              </a:rPr>
              <a:t>and </a:t>
            </a:r>
            <a:r>
              <a:rPr lang="en-US" altLang="en-US" sz="2400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solidFill>
                  <a:srgbClr val="CC0000"/>
                </a:solidFill>
                <a:latin typeface="Gill Sans MT" panose="020B0502020104020203" pitchFamily="34" charset="0"/>
              </a:rPr>
              <a:t>in</a:t>
            </a:r>
            <a:r>
              <a:rPr lang="ja-JP" altLang="en-US" sz="2400" b="1" baseline="30000">
                <a:solidFill>
                  <a:srgbClr val="CC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 increase</a:t>
            </a:r>
            <a:r>
              <a:rPr lang="en-US" altLang="ja-JP" sz="2400">
                <a:solidFill>
                  <a:srgbClr val="FF0000"/>
                </a:solidFill>
                <a:latin typeface="Gill Sans MT" panose="020B0502020104020203" pitchFamily="34" charset="0"/>
              </a:rPr>
              <a:t> ?</a:t>
            </a:r>
            <a:endParaRPr lang="en-US" altLang="en-US" sz="240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13673" name="Text Box 14"/>
          <p:cNvSpPr txBox="1">
            <a:spLocks noChangeArrowheads="1"/>
          </p:cNvSpPr>
          <p:nvPr/>
        </p:nvSpPr>
        <p:spPr bwMode="auto">
          <a:xfrm>
            <a:off x="5695950" y="3822700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finite shared output link buffers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674" name="Line 15"/>
          <p:cNvSpPr>
            <a:spLocks noChangeShapeType="1"/>
          </p:cNvSpPr>
          <p:nvPr/>
        </p:nvSpPr>
        <p:spPr bwMode="auto">
          <a:xfrm flipH="1">
            <a:off x="4383089" y="4203701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5" name="Line 16"/>
          <p:cNvSpPr>
            <a:spLocks noChangeShapeType="1"/>
          </p:cNvSpPr>
          <p:nvPr/>
        </p:nvSpPr>
        <p:spPr bwMode="auto">
          <a:xfrm flipH="1">
            <a:off x="4868863" y="4203700"/>
            <a:ext cx="4381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676" name="Group 58"/>
          <p:cNvGrpSpPr>
            <a:grpSpLocks/>
          </p:cNvGrpSpPr>
          <p:nvPr/>
        </p:nvGrpSpPr>
        <p:grpSpPr bwMode="auto">
          <a:xfrm>
            <a:off x="4322764" y="3184526"/>
            <a:ext cx="650875" cy="904875"/>
            <a:chOff x="12762" y="10336"/>
            <a:chExt cx="1027" cy="1700"/>
          </a:xfrm>
        </p:grpSpPr>
        <p:sp>
          <p:nvSpPr>
            <p:cNvPr id="113997" name="Rectangle 5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98" name="Rectangle 6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99" name="Line 6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0" name="Line 6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1" name="Line 6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2" name="Line 6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677" name="Text Box 65"/>
          <p:cNvSpPr txBox="1">
            <a:spLocks noChangeArrowheads="1"/>
          </p:cNvSpPr>
          <p:nvPr/>
        </p:nvSpPr>
        <p:spPr bwMode="auto">
          <a:xfrm>
            <a:off x="4224338" y="2870201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400">
                <a:solidFill>
                  <a:schemeClr val="tx2"/>
                </a:solidFill>
                <a:latin typeface="Arial" panose="020B0604020202020204" pitchFamily="34" charset="0"/>
              </a:rPr>
              <a:t>Host A</a:t>
            </a:r>
          </a:p>
        </p:txBody>
      </p:sp>
      <p:sp>
        <p:nvSpPr>
          <p:cNvPr id="113678" name="Line 67"/>
          <p:cNvSpPr>
            <a:spLocks noChangeShapeType="1"/>
          </p:cNvSpPr>
          <p:nvPr/>
        </p:nvSpPr>
        <p:spPr bwMode="auto">
          <a:xfrm flipH="1">
            <a:off x="3028951" y="6184901"/>
            <a:ext cx="1458913" cy="111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679" name="Group 109"/>
          <p:cNvGrpSpPr>
            <a:grpSpLocks/>
          </p:cNvGrpSpPr>
          <p:nvPr/>
        </p:nvGrpSpPr>
        <p:grpSpPr bwMode="auto">
          <a:xfrm>
            <a:off x="2312989" y="5156201"/>
            <a:ext cx="650875" cy="904875"/>
            <a:chOff x="12762" y="10336"/>
            <a:chExt cx="1027" cy="1700"/>
          </a:xfrm>
        </p:grpSpPr>
        <p:sp>
          <p:nvSpPr>
            <p:cNvPr id="113991" name="Rectangle 110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92" name="Rectangle 111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93" name="Line 112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4" name="Line 113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5" name="Line 114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6" name="Line 115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680" name="Line 117"/>
          <p:cNvSpPr>
            <a:spLocks noChangeShapeType="1"/>
          </p:cNvSpPr>
          <p:nvPr/>
        </p:nvSpPr>
        <p:spPr bwMode="auto">
          <a:xfrm flipH="1">
            <a:off x="4868863" y="4632325"/>
            <a:ext cx="7239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1" name="Line 118"/>
          <p:cNvSpPr>
            <a:spLocks noChangeShapeType="1"/>
          </p:cNvSpPr>
          <p:nvPr/>
        </p:nvSpPr>
        <p:spPr bwMode="auto">
          <a:xfrm flipH="1" flipV="1">
            <a:off x="6650038" y="4651376"/>
            <a:ext cx="779462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2" name="Line 119"/>
          <p:cNvSpPr>
            <a:spLocks noChangeShapeType="1"/>
          </p:cNvSpPr>
          <p:nvPr/>
        </p:nvSpPr>
        <p:spPr bwMode="auto">
          <a:xfrm flipH="1">
            <a:off x="6592889" y="4222750"/>
            <a:ext cx="1296987" cy="1295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3" name="Line 120"/>
          <p:cNvSpPr>
            <a:spLocks noChangeShapeType="1"/>
          </p:cNvSpPr>
          <p:nvPr/>
        </p:nvSpPr>
        <p:spPr bwMode="auto">
          <a:xfrm flipH="1">
            <a:off x="7848600" y="4241800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4" name="Freeform 123"/>
          <p:cNvSpPr>
            <a:spLocks/>
          </p:cNvSpPr>
          <p:nvPr/>
        </p:nvSpPr>
        <p:spPr bwMode="auto">
          <a:xfrm>
            <a:off x="8274051" y="3659188"/>
            <a:ext cx="315913" cy="360362"/>
          </a:xfrm>
          <a:custGeom>
            <a:avLst/>
            <a:gdLst>
              <a:gd name="T0" fmla="*/ 2147483647 w 650"/>
              <a:gd name="T1" fmla="*/ 2147483647 h 735"/>
              <a:gd name="T2" fmla="*/ 2147483647 w 650"/>
              <a:gd name="T3" fmla="*/ 2147483647 h 735"/>
              <a:gd name="T4" fmla="*/ 2147483647 w 650"/>
              <a:gd name="T5" fmla="*/ 2147483647 h 735"/>
              <a:gd name="T6" fmla="*/ 2147483647 w 650"/>
              <a:gd name="T7" fmla="*/ 2147483647 h 735"/>
              <a:gd name="T8" fmla="*/ 2147483647 w 650"/>
              <a:gd name="T9" fmla="*/ 2147483647 h 735"/>
              <a:gd name="T10" fmla="*/ 2147483647 w 650"/>
              <a:gd name="T11" fmla="*/ 2147483647 h 735"/>
              <a:gd name="T12" fmla="*/ 2147483647 w 650"/>
              <a:gd name="T13" fmla="*/ 2147483647 h 735"/>
              <a:gd name="T14" fmla="*/ 2147483647 w 650"/>
              <a:gd name="T15" fmla="*/ 2147483647 h 735"/>
              <a:gd name="T16" fmla="*/ 2147483647 w 650"/>
              <a:gd name="T17" fmla="*/ 2147483647 h 735"/>
              <a:gd name="T18" fmla="*/ 2147483647 w 650"/>
              <a:gd name="T19" fmla="*/ 0 h 735"/>
              <a:gd name="T20" fmla="*/ 2147483647 w 650"/>
              <a:gd name="T21" fmla="*/ 2147483647 h 735"/>
              <a:gd name="T22" fmla="*/ 2147483647 w 650"/>
              <a:gd name="T23" fmla="*/ 2147483647 h 735"/>
              <a:gd name="T24" fmla="*/ 2147483647 w 650"/>
              <a:gd name="T25" fmla="*/ 2147483647 h 735"/>
              <a:gd name="T26" fmla="*/ 2147483647 w 650"/>
              <a:gd name="T27" fmla="*/ 2147483647 h 735"/>
              <a:gd name="T28" fmla="*/ 2147483647 w 650"/>
              <a:gd name="T29" fmla="*/ 2147483647 h 735"/>
              <a:gd name="T30" fmla="*/ 2147483647 w 650"/>
              <a:gd name="T31" fmla="*/ 2147483647 h 735"/>
              <a:gd name="T32" fmla="*/ 2147483647 w 650"/>
              <a:gd name="T33" fmla="*/ 2147483647 h 735"/>
              <a:gd name="T34" fmla="*/ 2147483647 w 650"/>
              <a:gd name="T35" fmla="*/ 2147483647 h 735"/>
              <a:gd name="T36" fmla="*/ 2147483647 w 650"/>
              <a:gd name="T37" fmla="*/ 2147483647 h 735"/>
              <a:gd name="T38" fmla="*/ 2147483647 w 650"/>
              <a:gd name="T39" fmla="*/ 2147483647 h 735"/>
              <a:gd name="T40" fmla="*/ 2147483647 w 650"/>
              <a:gd name="T41" fmla="*/ 2147483647 h 735"/>
              <a:gd name="T42" fmla="*/ 0 w 650"/>
              <a:gd name="T43" fmla="*/ 2147483647 h 735"/>
              <a:gd name="T44" fmla="*/ 2147483647 w 650"/>
              <a:gd name="T45" fmla="*/ 2147483647 h 735"/>
              <a:gd name="T46" fmla="*/ 2147483647 w 650"/>
              <a:gd name="T47" fmla="*/ 2147483647 h 735"/>
              <a:gd name="T48" fmla="*/ 2147483647 w 650"/>
              <a:gd name="T49" fmla="*/ 2147483647 h 735"/>
              <a:gd name="T50" fmla="*/ 2147483647 w 650"/>
              <a:gd name="T51" fmla="*/ 2147483647 h 735"/>
              <a:gd name="T52" fmla="*/ 2147483647 w 650"/>
              <a:gd name="T53" fmla="*/ 2147483647 h 735"/>
              <a:gd name="T54" fmla="*/ 2147483647 w 650"/>
              <a:gd name="T55" fmla="*/ 2147483647 h 735"/>
              <a:gd name="T56" fmla="*/ 2147483647 w 650"/>
              <a:gd name="T57" fmla="*/ 2147483647 h 735"/>
              <a:gd name="T58" fmla="*/ 2147483647 w 650"/>
              <a:gd name="T59" fmla="*/ 2147483647 h 735"/>
              <a:gd name="T60" fmla="*/ 2147483647 w 650"/>
              <a:gd name="T61" fmla="*/ 2147483647 h 735"/>
              <a:gd name="T62" fmla="*/ 2147483647 w 650"/>
              <a:gd name="T63" fmla="*/ 2147483647 h 735"/>
              <a:gd name="T64" fmla="*/ 2147483647 w 650"/>
              <a:gd name="T65" fmla="*/ 2147483647 h 735"/>
              <a:gd name="T66" fmla="*/ 2147483647 w 650"/>
              <a:gd name="T67" fmla="*/ 2147483647 h 735"/>
              <a:gd name="T68" fmla="*/ 2147483647 w 650"/>
              <a:gd name="T69" fmla="*/ 2147483647 h 735"/>
              <a:gd name="T70" fmla="*/ 2147483647 w 650"/>
              <a:gd name="T71" fmla="*/ 2147483647 h 735"/>
              <a:gd name="T72" fmla="*/ 2147483647 w 650"/>
              <a:gd name="T73" fmla="*/ 2147483647 h 735"/>
              <a:gd name="T74" fmla="*/ 2147483647 w 650"/>
              <a:gd name="T75" fmla="*/ 2147483647 h 735"/>
              <a:gd name="T76" fmla="*/ 2147483647 w 650"/>
              <a:gd name="T77" fmla="*/ 2147483647 h 735"/>
              <a:gd name="T78" fmla="*/ 2147483647 w 650"/>
              <a:gd name="T79" fmla="*/ 2147483647 h 735"/>
              <a:gd name="T80" fmla="*/ 2147483647 w 650"/>
              <a:gd name="T81" fmla="*/ 2147483647 h 735"/>
              <a:gd name="T82" fmla="*/ 2147483647 w 650"/>
              <a:gd name="T83" fmla="*/ 2147483647 h 735"/>
              <a:gd name="T84" fmla="*/ 2147483647 w 650"/>
              <a:gd name="T85" fmla="*/ 2147483647 h 735"/>
              <a:gd name="T86" fmla="*/ 2147483647 w 650"/>
              <a:gd name="T87" fmla="*/ 2147483647 h 735"/>
              <a:gd name="T88" fmla="*/ 2147483647 w 650"/>
              <a:gd name="T89" fmla="*/ 2147483647 h 735"/>
              <a:gd name="T90" fmla="*/ 2147483647 w 650"/>
              <a:gd name="T91" fmla="*/ 2147483647 h 735"/>
              <a:gd name="T92" fmla="*/ 2147483647 w 650"/>
              <a:gd name="T93" fmla="*/ 2147483647 h 735"/>
              <a:gd name="T94" fmla="*/ 2147483647 w 650"/>
              <a:gd name="T95" fmla="*/ 2147483647 h 735"/>
              <a:gd name="T96" fmla="*/ 2147483647 w 650"/>
              <a:gd name="T97" fmla="*/ 2147483647 h 73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650" h="735">
                <a:moveTo>
                  <a:pt x="645" y="27"/>
                </a:moveTo>
                <a:lnTo>
                  <a:pt x="642" y="26"/>
                </a:lnTo>
                <a:lnTo>
                  <a:pt x="631" y="23"/>
                </a:lnTo>
                <a:lnTo>
                  <a:pt x="615" y="19"/>
                </a:lnTo>
                <a:lnTo>
                  <a:pt x="592" y="15"/>
                </a:lnTo>
                <a:lnTo>
                  <a:pt x="565" y="10"/>
                </a:lnTo>
                <a:lnTo>
                  <a:pt x="533" y="6"/>
                </a:lnTo>
                <a:lnTo>
                  <a:pt x="496" y="3"/>
                </a:lnTo>
                <a:lnTo>
                  <a:pt x="456" y="1"/>
                </a:lnTo>
                <a:lnTo>
                  <a:pt x="411" y="0"/>
                </a:lnTo>
                <a:lnTo>
                  <a:pt x="364" y="2"/>
                </a:lnTo>
                <a:lnTo>
                  <a:pt x="315" y="6"/>
                </a:lnTo>
                <a:lnTo>
                  <a:pt x="262" y="15"/>
                </a:lnTo>
                <a:lnTo>
                  <a:pt x="209" y="26"/>
                </a:lnTo>
                <a:lnTo>
                  <a:pt x="154" y="42"/>
                </a:lnTo>
                <a:lnTo>
                  <a:pt x="98" y="61"/>
                </a:lnTo>
                <a:lnTo>
                  <a:pt x="42" y="87"/>
                </a:lnTo>
                <a:lnTo>
                  <a:pt x="38" y="101"/>
                </a:lnTo>
                <a:lnTo>
                  <a:pt x="28" y="141"/>
                </a:lnTo>
                <a:lnTo>
                  <a:pt x="17" y="203"/>
                </a:lnTo>
                <a:lnTo>
                  <a:pt x="6" y="283"/>
                </a:lnTo>
                <a:lnTo>
                  <a:pt x="0" y="378"/>
                </a:lnTo>
                <a:lnTo>
                  <a:pt x="5" y="484"/>
                </a:lnTo>
                <a:lnTo>
                  <a:pt x="21" y="599"/>
                </a:lnTo>
                <a:lnTo>
                  <a:pt x="54" y="716"/>
                </a:lnTo>
                <a:lnTo>
                  <a:pt x="58" y="716"/>
                </a:lnTo>
                <a:lnTo>
                  <a:pt x="66" y="715"/>
                </a:lnTo>
                <a:lnTo>
                  <a:pt x="80" y="713"/>
                </a:lnTo>
                <a:lnTo>
                  <a:pt x="99" y="712"/>
                </a:lnTo>
                <a:lnTo>
                  <a:pt x="124" y="710"/>
                </a:lnTo>
                <a:lnTo>
                  <a:pt x="153" y="708"/>
                </a:lnTo>
                <a:lnTo>
                  <a:pt x="188" y="707"/>
                </a:lnTo>
                <a:lnTo>
                  <a:pt x="225" y="706"/>
                </a:lnTo>
                <a:lnTo>
                  <a:pt x="267" y="705"/>
                </a:lnTo>
                <a:lnTo>
                  <a:pt x="313" y="706"/>
                </a:lnTo>
                <a:lnTo>
                  <a:pt x="362" y="707"/>
                </a:lnTo>
                <a:lnTo>
                  <a:pt x="415" y="709"/>
                </a:lnTo>
                <a:lnTo>
                  <a:pt x="470" y="713"/>
                </a:lnTo>
                <a:lnTo>
                  <a:pt x="528" y="719"/>
                </a:lnTo>
                <a:lnTo>
                  <a:pt x="588" y="726"/>
                </a:lnTo>
                <a:lnTo>
                  <a:pt x="650" y="735"/>
                </a:lnTo>
                <a:lnTo>
                  <a:pt x="647" y="713"/>
                </a:lnTo>
                <a:lnTo>
                  <a:pt x="641" y="655"/>
                </a:lnTo>
                <a:lnTo>
                  <a:pt x="631" y="568"/>
                </a:lnTo>
                <a:lnTo>
                  <a:pt x="623" y="462"/>
                </a:lnTo>
                <a:lnTo>
                  <a:pt x="618" y="345"/>
                </a:lnTo>
                <a:lnTo>
                  <a:pt x="618" y="229"/>
                </a:lnTo>
                <a:lnTo>
                  <a:pt x="627" y="119"/>
                </a:lnTo>
                <a:lnTo>
                  <a:pt x="645" y="27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5" name="Freeform 124"/>
          <p:cNvSpPr>
            <a:spLocks/>
          </p:cNvSpPr>
          <p:nvPr/>
        </p:nvSpPr>
        <p:spPr bwMode="auto">
          <a:xfrm>
            <a:off x="8308976" y="3757614"/>
            <a:ext cx="519113" cy="357187"/>
          </a:xfrm>
          <a:custGeom>
            <a:avLst/>
            <a:gdLst>
              <a:gd name="T0" fmla="*/ 2147483647 w 1071"/>
              <a:gd name="T1" fmla="*/ 2147483647 h 731"/>
              <a:gd name="T2" fmla="*/ 0 w 1071"/>
              <a:gd name="T3" fmla="*/ 2147483647 h 731"/>
              <a:gd name="T4" fmla="*/ 2147483647 w 1071"/>
              <a:gd name="T5" fmla="*/ 2147483647 h 731"/>
              <a:gd name="T6" fmla="*/ 2147483647 w 1071"/>
              <a:gd name="T7" fmla="*/ 2147483647 h 731"/>
              <a:gd name="T8" fmla="*/ 2147483647 w 1071"/>
              <a:gd name="T9" fmla="*/ 2147483647 h 731"/>
              <a:gd name="T10" fmla="*/ 2147483647 w 1071"/>
              <a:gd name="T11" fmla="*/ 2147483647 h 731"/>
              <a:gd name="T12" fmla="*/ 2147483647 w 1071"/>
              <a:gd name="T13" fmla="*/ 2147483647 h 731"/>
              <a:gd name="T14" fmla="*/ 2147483647 w 1071"/>
              <a:gd name="T15" fmla="*/ 2147483647 h 731"/>
              <a:gd name="T16" fmla="*/ 2147483647 w 1071"/>
              <a:gd name="T17" fmla="*/ 2147483647 h 731"/>
              <a:gd name="T18" fmla="*/ 2147483647 w 1071"/>
              <a:gd name="T19" fmla="*/ 2147483647 h 731"/>
              <a:gd name="T20" fmla="*/ 2147483647 w 1071"/>
              <a:gd name="T21" fmla="*/ 2147483647 h 731"/>
              <a:gd name="T22" fmla="*/ 2147483647 w 1071"/>
              <a:gd name="T23" fmla="*/ 2147483647 h 731"/>
              <a:gd name="T24" fmla="*/ 2147483647 w 1071"/>
              <a:gd name="T25" fmla="*/ 2147483647 h 731"/>
              <a:gd name="T26" fmla="*/ 2147483647 w 1071"/>
              <a:gd name="T27" fmla="*/ 2147483647 h 731"/>
              <a:gd name="T28" fmla="*/ 2147483647 w 1071"/>
              <a:gd name="T29" fmla="*/ 2147483647 h 731"/>
              <a:gd name="T30" fmla="*/ 2147483647 w 1071"/>
              <a:gd name="T31" fmla="*/ 2147483647 h 731"/>
              <a:gd name="T32" fmla="*/ 2147483647 w 1071"/>
              <a:gd name="T33" fmla="*/ 2147483647 h 731"/>
              <a:gd name="T34" fmla="*/ 2147483647 w 1071"/>
              <a:gd name="T35" fmla="*/ 2147483647 h 731"/>
              <a:gd name="T36" fmla="*/ 2147483647 w 1071"/>
              <a:gd name="T37" fmla="*/ 2147483647 h 731"/>
              <a:gd name="T38" fmla="*/ 2147483647 w 1071"/>
              <a:gd name="T39" fmla="*/ 2147483647 h 731"/>
              <a:gd name="T40" fmla="*/ 2147483647 w 1071"/>
              <a:gd name="T41" fmla="*/ 2147483647 h 731"/>
              <a:gd name="T42" fmla="*/ 2147483647 w 1071"/>
              <a:gd name="T43" fmla="*/ 2147483647 h 731"/>
              <a:gd name="T44" fmla="*/ 2147483647 w 1071"/>
              <a:gd name="T45" fmla="*/ 2147483647 h 731"/>
              <a:gd name="T46" fmla="*/ 2147483647 w 1071"/>
              <a:gd name="T47" fmla="*/ 2147483647 h 731"/>
              <a:gd name="T48" fmla="*/ 2147483647 w 1071"/>
              <a:gd name="T49" fmla="*/ 2147483647 h 731"/>
              <a:gd name="T50" fmla="*/ 2147483647 w 1071"/>
              <a:gd name="T51" fmla="*/ 2147483647 h 731"/>
              <a:gd name="T52" fmla="*/ 2147483647 w 1071"/>
              <a:gd name="T53" fmla="*/ 0 h 731"/>
              <a:gd name="T54" fmla="*/ 2147483647 w 1071"/>
              <a:gd name="T55" fmla="*/ 2147483647 h 731"/>
              <a:gd name="T56" fmla="*/ 2147483647 w 1071"/>
              <a:gd name="T57" fmla="*/ 2147483647 h 731"/>
              <a:gd name="T58" fmla="*/ 2147483647 w 1071"/>
              <a:gd name="T59" fmla="*/ 2147483647 h 731"/>
              <a:gd name="T60" fmla="*/ 2147483647 w 1071"/>
              <a:gd name="T61" fmla="*/ 2147483647 h 731"/>
              <a:gd name="T62" fmla="*/ 2147483647 w 1071"/>
              <a:gd name="T63" fmla="*/ 2147483647 h 731"/>
              <a:gd name="T64" fmla="*/ 2147483647 w 1071"/>
              <a:gd name="T65" fmla="*/ 2147483647 h 731"/>
              <a:gd name="T66" fmla="*/ 2147483647 w 1071"/>
              <a:gd name="T67" fmla="*/ 2147483647 h 731"/>
              <a:gd name="T68" fmla="*/ 2147483647 w 1071"/>
              <a:gd name="T69" fmla="*/ 2147483647 h 731"/>
              <a:gd name="T70" fmla="*/ 2147483647 w 1071"/>
              <a:gd name="T71" fmla="*/ 2147483647 h 731"/>
              <a:gd name="T72" fmla="*/ 2147483647 w 1071"/>
              <a:gd name="T73" fmla="*/ 2147483647 h 731"/>
              <a:gd name="T74" fmla="*/ 2147483647 w 1071"/>
              <a:gd name="T75" fmla="*/ 2147483647 h 731"/>
              <a:gd name="T76" fmla="*/ 2147483647 w 1071"/>
              <a:gd name="T77" fmla="*/ 2147483647 h 731"/>
              <a:gd name="T78" fmla="*/ 2147483647 w 1071"/>
              <a:gd name="T79" fmla="*/ 2147483647 h 731"/>
              <a:gd name="T80" fmla="*/ 2147483647 w 1071"/>
              <a:gd name="T81" fmla="*/ 2147483647 h 731"/>
              <a:gd name="T82" fmla="*/ 2147483647 w 1071"/>
              <a:gd name="T83" fmla="*/ 2147483647 h 731"/>
              <a:gd name="T84" fmla="*/ 2147483647 w 1071"/>
              <a:gd name="T85" fmla="*/ 2147483647 h 731"/>
              <a:gd name="T86" fmla="*/ 2147483647 w 1071"/>
              <a:gd name="T87" fmla="*/ 2147483647 h 731"/>
              <a:gd name="T88" fmla="*/ 2147483647 w 1071"/>
              <a:gd name="T89" fmla="*/ 2147483647 h 731"/>
              <a:gd name="T90" fmla="*/ 2147483647 w 1071"/>
              <a:gd name="T91" fmla="*/ 2147483647 h 731"/>
              <a:gd name="T92" fmla="*/ 2147483647 w 1071"/>
              <a:gd name="T93" fmla="*/ 2147483647 h 731"/>
              <a:gd name="T94" fmla="*/ 2147483647 w 1071"/>
              <a:gd name="T95" fmla="*/ 2147483647 h 731"/>
              <a:gd name="T96" fmla="*/ 2147483647 w 1071"/>
              <a:gd name="T97" fmla="*/ 2147483647 h 731"/>
              <a:gd name="T98" fmla="*/ 2147483647 w 1071"/>
              <a:gd name="T99" fmla="*/ 2147483647 h 731"/>
              <a:gd name="T100" fmla="*/ 2147483647 w 1071"/>
              <a:gd name="T101" fmla="*/ 2147483647 h 731"/>
              <a:gd name="T102" fmla="*/ 2147483647 w 1071"/>
              <a:gd name="T103" fmla="*/ 2147483647 h 731"/>
              <a:gd name="T104" fmla="*/ 2147483647 w 1071"/>
              <a:gd name="T105" fmla="*/ 2147483647 h 731"/>
              <a:gd name="T106" fmla="*/ 2147483647 w 1071"/>
              <a:gd name="T107" fmla="*/ 2147483647 h 731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1071" h="731">
                <a:moveTo>
                  <a:pt x="6" y="552"/>
                </a:moveTo>
                <a:lnTo>
                  <a:pt x="0" y="642"/>
                </a:lnTo>
                <a:lnTo>
                  <a:pt x="698" y="731"/>
                </a:lnTo>
                <a:lnTo>
                  <a:pt x="703" y="729"/>
                </a:lnTo>
                <a:lnTo>
                  <a:pt x="717" y="722"/>
                </a:lnTo>
                <a:lnTo>
                  <a:pt x="740" y="710"/>
                </a:lnTo>
                <a:lnTo>
                  <a:pt x="768" y="694"/>
                </a:lnTo>
                <a:lnTo>
                  <a:pt x="801" y="672"/>
                </a:lnTo>
                <a:lnTo>
                  <a:pt x="838" y="645"/>
                </a:lnTo>
                <a:lnTo>
                  <a:pt x="876" y="614"/>
                </a:lnTo>
                <a:lnTo>
                  <a:pt x="915" y="577"/>
                </a:lnTo>
                <a:lnTo>
                  <a:pt x="953" y="536"/>
                </a:lnTo>
                <a:lnTo>
                  <a:pt x="988" y="491"/>
                </a:lnTo>
                <a:lnTo>
                  <a:pt x="1018" y="439"/>
                </a:lnTo>
                <a:lnTo>
                  <a:pt x="1043" y="383"/>
                </a:lnTo>
                <a:lnTo>
                  <a:pt x="1061" y="322"/>
                </a:lnTo>
                <a:lnTo>
                  <a:pt x="1071" y="255"/>
                </a:lnTo>
                <a:lnTo>
                  <a:pt x="1070" y="185"/>
                </a:lnTo>
                <a:lnTo>
                  <a:pt x="1057" y="108"/>
                </a:lnTo>
                <a:lnTo>
                  <a:pt x="1055" y="104"/>
                </a:lnTo>
                <a:lnTo>
                  <a:pt x="1049" y="92"/>
                </a:lnTo>
                <a:lnTo>
                  <a:pt x="1037" y="76"/>
                </a:lnTo>
                <a:lnTo>
                  <a:pt x="1022" y="57"/>
                </a:lnTo>
                <a:lnTo>
                  <a:pt x="1002" y="37"/>
                </a:lnTo>
                <a:lnTo>
                  <a:pt x="979" y="20"/>
                </a:lnTo>
                <a:lnTo>
                  <a:pt x="951" y="7"/>
                </a:lnTo>
                <a:lnTo>
                  <a:pt x="919" y="0"/>
                </a:lnTo>
                <a:lnTo>
                  <a:pt x="924" y="12"/>
                </a:lnTo>
                <a:lnTo>
                  <a:pt x="934" y="44"/>
                </a:lnTo>
                <a:lnTo>
                  <a:pt x="947" y="94"/>
                </a:lnTo>
                <a:lnTo>
                  <a:pt x="958" y="159"/>
                </a:lnTo>
                <a:lnTo>
                  <a:pt x="961" y="238"/>
                </a:lnTo>
                <a:lnTo>
                  <a:pt x="953" y="324"/>
                </a:lnTo>
                <a:lnTo>
                  <a:pt x="928" y="418"/>
                </a:lnTo>
                <a:lnTo>
                  <a:pt x="884" y="516"/>
                </a:lnTo>
                <a:lnTo>
                  <a:pt x="883" y="518"/>
                </a:lnTo>
                <a:lnTo>
                  <a:pt x="879" y="521"/>
                </a:lnTo>
                <a:lnTo>
                  <a:pt x="872" y="526"/>
                </a:lnTo>
                <a:lnTo>
                  <a:pt x="862" y="534"/>
                </a:lnTo>
                <a:lnTo>
                  <a:pt x="851" y="541"/>
                </a:lnTo>
                <a:lnTo>
                  <a:pt x="837" y="550"/>
                </a:lnTo>
                <a:lnTo>
                  <a:pt x="819" y="559"/>
                </a:lnTo>
                <a:lnTo>
                  <a:pt x="800" y="567"/>
                </a:lnTo>
                <a:lnTo>
                  <a:pt x="778" y="575"/>
                </a:lnTo>
                <a:lnTo>
                  <a:pt x="754" y="582"/>
                </a:lnTo>
                <a:lnTo>
                  <a:pt x="727" y="588"/>
                </a:lnTo>
                <a:lnTo>
                  <a:pt x="697" y="592"/>
                </a:lnTo>
                <a:lnTo>
                  <a:pt x="666" y="593"/>
                </a:lnTo>
                <a:lnTo>
                  <a:pt x="631" y="592"/>
                </a:lnTo>
                <a:lnTo>
                  <a:pt x="593" y="589"/>
                </a:lnTo>
                <a:lnTo>
                  <a:pt x="555" y="581"/>
                </a:lnTo>
                <a:lnTo>
                  <a:pt x="555" y="677"/>
                </a:lnTo>
                <a:lnTo>
                  <a:pt x="24" y="623"/>
                </a:lnTo>
                <a:lnTo>
                  <a:pt x="6" y="5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6" name="Freeform 125"/>
          <p:cNvSpPr>
            <a:spLocks/>
          </p:cNvSpPr>
          <p:nvPr/>
        </p:nvSpPr>
        <p:spPr bwMode="auto">
          <a:xfrm>
            <a:off x="8242300" y="4110039"/>
            <a:ext cx="382588" cy="123825"/>
          </a:xfrm>
          <a:custGeom>
            <a:avLst/>
            <a:gdLst>
              <a:gd name="T0" fmla="*/ 2147483647 w 787"/>
              <a:gd name="T1" fmla="*/ 2147483647 h 253"/>
              <a:gd name="T2" fmla="*/ 2147483647 w 787"/>
              <a:gd name="T3" fmla="*/ 0 h 253"/>
              <a:gd name="T4" fmla="*/ 0 w 787"/>
              <a:gd name="T5" fmla="*/ 2147483647 h 253"/>
              <a:gd name="T6" fmla="*/ 2147483647 w 787"/>
              <a:gd name="T7" fmla="*/ 2147483647 h 253"/>
              <a:gd name="T8" fmla="*/ 2147483647 w 787"/>
              <a:gd name="T9" fmla="*/ 2147483647 h 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87" h="253">
                <a:moveTo>
                  <a:pt x="787" y="91"/>
                </a:moveTo>
                <a:lnTo>
                  <a:pt x="12" y="0"/>
                </a:lnTo>
                <a:lnTo>
                  <a:pt x="0" y="91"/>
                </a:lnTo>
                <a:lnTo>
                  <a:pt x="764" y="253"/>
                </a:lnTo>
                <a:lnTo>
                  <a:pt x="787" y="9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7" name="Freeform 126"/>
          <p:cNvSpPr>
            <a:spLocks/>
          </p:cNvSpPr>
          <p:nvPr/>
        </p:nvSpPr>
        <p:spPr bwMode="auto">
          <a:xfrm>
            <a:off x="8432801" y="4149726"/>
            <a:ext cx="163513" cy="55563"/>
          </a:xfrm>
          <a:custGeom>
            <a:avLst/>
            <a:gdLst>
              <a:gd name="T0" fmla="*/ 2147483647 w 336"/>
              <a:gd name="T1" fmla="*/ 2147483647 h 115"/>
              <a:gd name="T2" fmla="*/ 2147483647 w 336"/>
              <a:gd name="T3" fmla="*/ 0 h 115"/>
              <a:gd name="T4" fmla="*/ 0 w 336"/>
              <a:gd name="T5" fmla="*/ 2147483647 h 115"/>
              <a:gd name="T6" fmla="*/ 2147483647 w 336"/>
              <a:gd name="T7" fmla="*/ 2147483647 h 115"/>
              <a:gd name="T8" fmla="*/ 2147483647 w 336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6" h="115">
                <a:moveTo>
                  <a:pt x="336" y="50"/>
                </a:moveTo>
                <a:lnTo>
                  <a:pt x="4" y="0"/>
                </a:lnTo>
                <a:lnTo>
                  <a:pt x="0" y="48"/>
                </a:lnTo>
                <a:lnTo>
                  <a:pt x="327" y="115"/>
                </a:lnTo>
                <a:lnTo>
                  <a:pt x="336" y="5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8" name="Freeform 127"/>
          <p:cNvSpPr>
            <a:spLocks/>
          </p:cNvSpPr>
          <p:nvPr/>
        </p:nvSpPr>
        <p:spPr bwMode="auto">
          <a:xfrm>
            <a:off x="8267700" y="4121151"/>
            <a:ext cx="107950" cy="41275"/>
          </a:xfrm>
          <a:custGeom>
            <a:avLst/>
            <a:gdLst>
              <a:gd name="T0" fmla="*/ 2147483647 w 225"/>
              <a:gd name="T1" fmla="*/ 2147483647 h 85"/>
              <a:gd name="T2" fmla="*/ 0 w 225"/>
              <a:gd name="T3" fmla="*/ 0 h 85"/>
              <a:gd name="T4" fmla="*/ 2147483647 w 225"/>
              <a:gd name="T5" fmla="*/ 2147483647 h 85"/>
              <a:gd name="T6" fmla="*/ 2147483647 w 225"/>
              <a:gd name="T7" fmla="*/ 2147483647 h 85"/>
              <a:gd name="T8" fmla="*/ 2147483647 w 225"/>
              <a:gd name="T9" fmla="*/ 2147483647 h 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5" h="85">
                <a:moveTo>
                  <a:pt x="225" y="39"/>
                </a:moveTo>
                <a:lnTo>
                  <a:pt x="0" y="0"/>
                </a:lnTo>
                <a:lnTo>
                  <a:pt x="3" y="41"/>
                </a:lnTo>
                <a:lnTo>
                  <a:pt x="218" y="85"/>
                </a:lnTo>
                <a:lnTo>
                  <a:pt x="225" y="3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89" name="Freeform 128"/>
          <p:cNvSpPr>
            <a:spLocks/>
          </p:cNvSpPr>
          <p:nvPr/>
        </p:nvSpPr>
        <p:spPr bwMode="auto">
          <a:xfrm>
            <a:off x="7993064" y="4162425"/>
            <a:ext cx="642937" cy="215900"/>
          </a:xfrm>
          <a:custGeom>
            <a:avLst/>
            <a:gdLst>
              <a:gd name="T0" fmla="*/ 0 w 1325"/>
              <a:gd name="T1" fmla="*/ 2147483647 h 439"/>
              <a:gd name="T2" fmla="*/ 2147483647 w 1325"/>
              <a:gd name="T3" fmla="*/ 2147483647 h 439"/>
              <a:gd name="T4" fmla="*/ 2147483647 w 1325"/>
              <a:gd name="T5" fmla="*/ 2147483647 h 439"/>
              <a:gd name="T6" fmla="*/ 2147483647 w 1325"/>
              <a:gd name="T7" fmla="*/ 2147483647 h 439"/>
              <a:gd name="T8" fmla="*/ 2147483647 w 1325"/>
              <a:gd name="T9" fmla="*/ 2147483647 h 439"/>
              <a:gd name="T10" fmla="*/ 2147483647 w 1325"/>
              <a:gd name="T11" fmla="*/ 2147483647 h 439"/>
              <a:gd name="T12" fmla="*/ 2147483647 w 1325"/>
              <a:gd name="T13" fmla="*/ 2147483647 h 439"/>
              <a:gd name="T14" fmla="*/ 2147483647 w 1325"/>
              <a:gd name="T15" fmla="*/ 2147483647 h 439"/>
              <a:gd name="T16" fmla="*/ 2147483647 w 1325"/>
              <a:gd name="T17" fmla="*/ 2147483647 h 439"/>
              <a:gd name="T18" fmla="*/ 2147483647 w 1325"/>
              <a:gd name="T19" fmla="*/ 2147483647 h 439"/>
              <a:gd name="T20" fmla="*/ 2147483647 w 1325"/>
              <a:gd name="T21" fmla="*/ 2147483647 h 439"/>
              <a:gd name="T22" fmla="*/ 2147483647 w 1325"/>
              <a:gd name="T23" fmla="*/ 2147483647 h 439"/>
              <a:gd name="T24" fmla="*/ 2147483647 w 1325"/>
              <a:gd name="T25" fmla="*/ 2147483647 h 439"/>
              <a:gd name="T26" fmla="*/ 2147483647 w 1325"/>
              <a:gd name="T27" fmla="*/ 2147483647 h 439"/>
              <a:gd name="T28" fmla="*/ 2147483647 w 1325"/>
              <a:gd name="T29" fmla="*/ 2147483647 h 439"/>
              <a:gd name="T30" fmla="*/ 2147483647 w 1325"/>
              <a:gd name="T31" fmla="*/ 2147483647 h 439"/>
              <a:gd name="T32" fmla="*/ 2147483647 w 1325"/>
              <a:gd name="T33" fmla="*/ 0 h 439"/>
              <a:gd name="T34" fmla="*/ 2147483647 w 1325"/>
              <a:gd name="T35" fmla="*/ 2147483647 h 439"/>
              <a:gd name="T36" fmla="*/ 2147483647 w 1325"/>
              <a:gd name="T37" fmla="*/ 2147483647 h 439"/>
              <a:gd name="T38" fmla="*/ 2147483647 w 1325"/>
              <a:gd name="T39" fmla="*/ 2147483647 h 439"/>
              <a:gd name="T40" fmla="*/ 2147483647 w 1325"/>
              <a:gd name="T41" fmla="*/ 2147483647 h 439"/>
              <a:gd name="T42" fmla="*/ 2147483647 w 1325"/>
              <a:gd name="T43" fmla="*/ 2147483647 h 439"/>
              <a:gd name="T44" fmla="*/ 2147483647 w 1325"/>
              <a:gd name="T45" fmla="*/ 2147483647 h 439"/>
              <a:gd name="T46" fmla="*/ 2147483647 w 1325"/>
              <a:gd name="T47" fmla="*/ 2147483647 h 439"/>
              <a:gd name="T48" fmla="*/ 2147483647 w 1325"/>
              <a:gd name="T49" fmla="*/ 2147483647 h 439"/>
              <a:gd name="T50" fmla="*/ 2147483647 w 1325"/>
              <a:gd name="T51" fmla="*/ 2147483647 h 439"/>
              <a:gd name="T52" fmla="*/ 2147483647 w 1325"/>
              <a:gd name="T53" fmla="*/ 2147483647 h 439"/>
              <a:gd name="T54" fmla="*/ 2147483647 w 1325"/>
              <a:gd name="T55" fmla="*/ 2147483647 h 439"/>
              <a:gd name="T56" fmla="*/ 2147483647 w 1325"/>
              <a:gd name="T57" fmla="*/ 2147483647 h 439"/>
              <a:gd name="T58" fmla="*/ 2147483647 w 1325"/>
              <a:gd name="T59" fmla="*/ 2147483647 h 439"/>
              <a:gd name="T60" fmla="*/ 2147483647 w 1325"/>
              <a:gd name="T61" fmla="*/ 2147483647 h 439"/>
              <a:gd name="T62" fmla="*/ 2147483647 w 1325"/>
              <a:gd name="T63" fmla="*/ 2147483647 h 439"/>
              <a:gd name="T64" fmla="*/ 2147483647 w 1325"/>
              <a:gd name="T65" fmla="*/ 2147483647 h 439"/>
              <a:gd name="T66" fmla="*/ 2147483647 w 1325"/>
              <a:gd name="T67" fmla="*/ 2147483647 h 439"/>
              <a:gd name="T68" fmla="*/ 0 w 1325"/>
              <a:gd name="T69" fmla="*/ 2147483647 h 43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325" h="439">
                <a:moveTo>
                  <a:pt x="0" y="132"/>
                </a:moveTo>
                <a:lnTo>
                  <a:pt x="3" y="132"/>
                </a:lnTo>
                <a:lnTo>
                  <a:pt x="10" y="130"/>
                </a:lnTo>
                <a:lnTo>
                  <a:pt x="24" y="128"/>
                </a:lnTo>
                <a:lnTo>
                  <a:pt x="42" y="125"/>
                </a:lnTo>
                <a:lnTo>
                  <a:pt x="62" y="121"/>
                </a:lnTo>
                <a:lnTo>
                  <a:pt x="86" y="116"/>
                </a:lnTo>
                <a:lnTo>
                  <a:pt x="113" y="109"/>
                </a:lnTo>
                <a:lnTo>
                  <a:pt x="141" y="102"/>
                </a:lnTo>
                <a:lnTo>
                  <a:pt x="170" y="94"/>
                </a:lnTo>
                <a:lnTo>
                  <a:pt x="199" y="85"/>
                </a:lnTo>
                <a:lnTo>
                  <a:pt x="228" y="74"/>
                </a:lnTo>
                <a:lnTo>
                  <a:pt x="257" y="62"/>
                </a:lnTo>
                <a:lnTo>
                  <a:pt x="285" y="48"/>
                </a:lnTo>
                <a:lnTo>
                  <a:pt x="309" y="34"/>
                </a:lnTo>
                <a:lnTo>
                  <a:pt x="333" y="18"/>
                </a:lnTo>
                <a:lnTo>
                  <a:pt x="352" y="0"/>
                </a:lnTo>
                <a:lnTo>
                  <a:pt x="1325" y="223"/>
                </a:lnTo>
                <a:lnTo>
                  <a:pt x="1323" y="225"/>
                </a:lnTo>
                <a:lnTo>
                  <a:pt x="1318" y="230"/>
                </a:lnTo>
                <a:lnTo>
                  <a:pt x="1309" y="239"/>
                </a:lnTo>
                <a:lnTo>
                  <a:pt x="1297" y="250"/>
                </a:lnTo>
                <a:lnTo>
                  <a:pt x="1282" y="263"/>
                </a:lnTo>
                <a:lnTo>
                  <a:pt x="1265" y="278"/>
                </a:lnTo>
                <a:lnTo>
                  <a:pt x="1247" y="295"/>
                </a:lnTo>
                <a:lnTo>
                  <a:pt x="1225" y="312"/>
                </a:lnTo>
                <a:lnTo>
                  <a:pt x="1202" y="331"/>
                </a:lnTo>
                <a:lnTo>
                  <a:pt x="1179" y="349"/>
                </a:lnTo>
                <a:lnTo>
                  <a:pt x="1154" y="367"/>
                </a:lnTo>
                <a:lnTo>
                  <a:pt x="1128" y="385"/>
                </a:lnTo>
                <a:lnTo>
                  <a:pt x="1102" y="401"/>
                </a:lnTo>
                <a:lnTo>
                  <a:pt x="1077" y="415"/>
                </a:lnTo>
                <a:lnTo>
                  <a:pt x="1051" y="428"/>
                </a:lnTo>
                <a:lnTo>
                  <a:pt x="1026" y="439"/>
                </a:lnTo>
                <a:lnTo>
                  <a:pt x="0" y="13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0" name="Freeform 129"/>
          <p:cNvSpPr>
            <a:spLocks/>
          </p:cNvSpPr>
          <p:nvPr/>
        </p:nvSpPr>
        <p:spPr bwMode="auto">
          <a:xfrm>
            <a:off x="8634413" y="4138614"/>
            <a:ext cx="228600" cy="103187"/>
          </a:xfrm>
          <a:custGeom>
            <a:avLst/>
            <a:gdLst>
              <a:gd name="T0" fmla="*/ 2147483647 w 472"/>
              <a:gd name="T1" fmla="*/ 2147483647 h 209"/>
              <a:gd name="T2" fmla="*/ 2147483647 w 472"/>
              <a:gd name="T3" fmla="*/ 2147483647 h 209"/>
              <a:gd name="T4" fmla="*/ 2147483647 w 472"/>
              <a:gd name="T5" fmla="*/ 0 h 209"/>
              <a:gd name="T6" fmla="*/ 2147483647 w 472"/>
              <a:gd name="T7" fmla="*/ 2147483647 h 209"/>
              <a:gd name="T8" fmla="*/ 0 w 472"/>
              <a:gd name="T9" fmla="*/ 2147483647 h 209"/>
              <a:gd name="T10" fmla="*/ 2147483647 w 472"/>
              <a:gd name="T11" fmla="*/ 2147483647 h 20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72" h="209">
                <a:moveTo>
                  <a:pt x="47" y="209"/>
                </a:moveTo>
                <a:lnTo>
                  <a:pt x="472" y="84"/>
                </a:lnTo>
                <a:lnTo>
                  <a:pt x="215" y="0"/>
                </a:lnTo>
                <a:lnTo>
                  <a:pt x="5" y="24"/>
                </a:lnTo>
                <a:lnTo>
                  <a:pt x="0" y="197"/>
                </a:lnTo>
                <a:lnTo>
                  <a:pt x="47" y="20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1" name="Freeform 130"/>
          <p:cNvSpPr>
            <a:spLocks/>
          </p:cNvSpPr>
          <p:nvPr/>
        </p:nvSpPr>
        <p:spPr bwMode="auto">
          <a:xfrm>
            <a:off x="8042275" y="3698875"/>
            <a:ext cx="122238" cy="490538"/>
          </a:xfrm>
          <a:custGeom>
            <a:avLst/>
            <a:gdLst>
              <a:gd name="T0" fmla="*/ 2147483647 w 251"/>
              <a:gd name="T1" fmla="*/ 2147483647 h 999"/>
              <a:gd name="T2" fmla="*/ 2147483647 w 251"/>
              <a:gd name="T3" fmla="*/ 2147483647 h 999"/>
              <a:gd name="T4" fmla="*/ 2147483647 w 251"/>
              <a:gd name="T5" fmla="*/ 2147483647 h 999"/>
              <a:gd name="T6" fmla="*/ 2147483647 w 251"/>
              <a:gd name="T7" fmla="*/ 2147483647 h 999"/>
              <a:gd name="T8" fmla="*/ 2147483647 w 251"/>
              <a:gd name="T9" fmla="*/ 2147483647 h 999"/>
              <a:gd name="T10" fmla="*/ 2147483647 w 251"/>
              <a:gd name="T11" fmla="*/ 2147483647 h 999"/>
              <a:gd name="T12" fmla="*/ 2147483647 w 251"/>
              <a:gd name="T13" fmla="*/ 2147483647 h 999"/>
              <a:gd name="T14" fmla="*/ 2147483647 w 251"/>
              <a:gd name="T15" fmla="*/ 2147483647 h 999"/>
              <a:gd name="T16" fmla="*/ 2147483647 w 251"/>
              <a:gd name="T17" fmla="*/ 2147483647 h 999"/>
              <a:gd name="T18" fmla="*/ 2147483647 w 251"/>
              <a:gd name="T19" fmla="*/ 0 h 999"/>
              <a:gd name="T20" fmla="*/ 2147483647 w 251"/>
              <a:gd name="T21" fmla="*/ 0 h 999"/>
              <a:gd name="T22" fmla="*/ 2147483647 w 251"/>
              <a:gd name="T23" fmla="*/ 2147483647 h 999"/>
              <a:gd name="T24" fmla="*/ 2147483647 w 251"/>
              <a:gd name="T25" fmla="*/ 2147483647 h 999"/>
              <a:gd name="T26" fmla="*/ 2147483647 w 251"/>
              <a:gd name="T27" fmla="*/ 2147483647 h 999"/>
              <a:gd name="T28" fmla="*/ 2147483647 w 251"/>
              <a:gd name="T29" fmla="*/ 2147483647 h 999"/>
              <a:gd name="T30" fmla="*/ 2147483647 w 251"/>
              <a:gd name="T31" fmla="*/ 2147483647 h 999"/>
              <a:gd name="T32" fmla="*/ 0 w 251"/>
              <a:gd name="T33" fmla="*/ 2147483647 h 999"/>
              <a:gd name="T34" fmla="*/ 0 w 251"/>
              <a:gd name="T35" fmla="*/ 2147483647 h 999"/>
              <a:gd name="T36" fmla="*/ 2147483647 w 251"/>
              <a:gd name="T37" fmla="*/ 2147483647 h 999"/>
              <a:gd name="T38" fmla="*/ 2147483647 w 251"/>
              <a:gd name="T39" fmla="*/ 2147483647 h 999"/>
              <a:gd name="T40" fmla="*/ 2147483647 w 251"/>
              <a:gd name="T41" fmla="*/ 2147483647 h 999"/>
              <a:gd name="T42" fmla="*/ 2147483647 w 251"/>
              <a:gd name="T43" fmla="*/ 2147483647 h 999"/>
              <a:gd name="T44" fmla="*/ 2147483647 w 251"/>
              <a:gd name="T45" fmla="*/ 2147483647 h 999"/>
              <a:gd name="T46" fmla="*/ 2147483647 w 251"/>
              <a:gd name="T47" fmla="*/ 2147483647 h 999"/>
              <a:gd name="T48" fmla="*/ 2147483647 w 251"/>
              <a:gd name="T49" fmla="*/ 2147483647 h 999"/>
              <a:gd name="T50" fmla="*/ 2147483647 w 251"/>
              <a:gd name="T51" fmla="*/ 2147483647 h 999"/>
              <a:gd name="T52" fmla="*/ 2147483647 w 251"/>
              <a:gd name="T53" fmla="*/ 2147483647 h 999"/>
              <a:gd name="T54" fmla="*/ 2147483647 w 251"/>
              <a:gd name="T55" fmla="*/ 2147483647 h 999"/>
              <a:gd name="T56" fmla="*/ 2147483647 w 251"/>
              <a:gd name="T57" fmla="*/ 2147483647 h 999"/>
              <a:gd name="T58" fmla="*/ 2147483647 w 251"/>
              <a:gd name="T59" fmla="*/ 2147483647 h 999"/>
              <a:gd name="T60" fmla="*/ 2147483647 w 251"/>
              <a:gd name="T61" fmla="*/ 2147483647 h 999"/>
              <a:gd name="T62" fmla="*/ 2147483647 w 251"/>
              <a:gd name="T63" fmla="*/ 2147483647 h 999"/>
              <a:gd name="T64" fmla="*/ 2147483647 w 251"/>
              <a:gd name="T65" fmla="*/ 2147483647 h 999"/>
              <a:gd name="T66" fmla="*/ 2147483647 w 251"/>
              <a:gd name="T67" fmla="*/ 2147483647 h 999"/>
              <a:gd name="T68" fmla="*/ 2147483647 w 251"/>
              <a:gd name="T69" fmla="*/ 2147483647 h 99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51" h="999">
                <a:moveTo>
                  <a:pt x="251" y="23"/>
                </a:moveTo>
                <a:lnTo>
                  <a:pt x="250" y="22"/>
                </a:lnTo>
                <a:lnTo>
                  <a:pt x="246" y="20"/>
                </a:lnTo>
                <a:lnTo>
                  <a:pt x="239" y="18"/>
                </a:lnTo>
                <a:lnTo>
                  <a:pt x="230" y="15"/>
                </a:lnTo>
                <a:lnTo>
                  <a:pt x="218" y="11"/>
                </a:lnTo>
                <a:lnTo>
                  <a:pt x="205" y="7"/>
                </a:lnTo>
                <a:lnTo>
                  <a:pt x="190" y="4"/>
                </a:lnTo>
                <a:lnTo>
                  <a:pt x="173" y="1"/>
                </a:lnTo>
                <a:lnTo>
                  <a:pt x="155" y="0"/>
                </a:lnTo>
                <a:lnTo>
                  <a:pt x="134" y="0"/>
                </a:lnTo>
                <a:lnTo>
                  <a:pt x="114" y="2"/>
                </a:lnTo>
                <a:lnTo>
                  <a:pt x="92" y="5"/>
                </a:lnTo>
                <a:lnTo>
                  <a:pt x="70" y="12"/>
                </a:lnTo>
                <a:lnTo>
                  <a:pt x="47" y="20"/>
                </a:lnTo>
                <a:lnTo>
                  <a:pt x="23" y="32"/>
                </a:lnTo>
                <a:lnTo>
                  <a:pt x="0" y="47"/>
                </a:lnTo>
                <a:lnTo>
                  <a:pt x="0" y="999"/>
                </a:lnTo>
                <a:lnTo>
                  <a:pt x="1" y="999"/>
                </a:lnTo>
                <a:lnTo>
                  <a:pt x="6" y="999"/>
                </a:lnTo>
                <a:lnTo>
                  <a:pt x="14" y="998"/>
                </a:lnTo>
                <a:lnTo>
                  <a:pt x="23" y="997"/>
                </a:lnTo>
                <a:lnTo>
                  <a:pt x="35" y="995"/>
                </a:lnTo>
                <a:lnTo>
                  <a:pt x="49" y="993"/>
                </a:lnTo>
                <a:lnTo>
                  <a:pt x="65" y="990"/>
                </a:lnTo>
                <a:lnTo>
                  <a:pt x="83" y="985"/>
                </a:lnTo>
                <a:lnTo>
                  <a:pt x="102" y="980"/>
                </a:lnTo>
                <a:lnTo>
                  <a:pt x="121" y="973"/>
                </a:lnTo>
                <a:lnTo>
                  <a:pt x="143" y="966"/>
                </a:lnTo>
                <a:lnTo>
                  <a:pt x="164" y="956"/>
                </a:lnTo>
                <a:lnTo>
                  <a:pt x="186" y="945"/>
                </a:lnTo>
                <a:lnTo>
                  <a:pt x="208" y="934"/>
                </a:lnTo>
                <a:lnTo>
                  <a:pt x="230" y="919"/>
                </a:lnTo>
                <a:lnTo>
                  <a:pt x="251" y="903"/>
                </a:lnTo>
                <a:lnTo>
                  <a:pt x="251" y="2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2" name="Freeform 131"/>
          <p:cNvSpPr>
            <a:spLocks/>
          </p:cNvSpPr>
          <p:nvPr/>
        </p:nvSpPr>
        <p:spPr bwMode="auto">
          <a:xfrm>
            <a:off x="8045451" y="3703638"/>
            <a:ext cx="104775" cy="412750"/>
          </a:xfrm>
          <a:custGeom>
            <a:avLst/>
            <a:gdLst>
              <a:gd name="T0" fmla="*/ 2147483647 w 215"/>
              <a:gd name="T1" fmla="*/ 2147483647 h 843"/>
              <a:gd name="T2" fmla="*/ 2147483647 w 215"/>
              <a:gd name="T3" fmla="*/ 2147483647 h 843"/>
              <a:gd name="T4" fmla="*/ 2147483647 w 215"/>
              <a:gd name="T5" fmla="*/ 2147483647 h 843"/>
              <a:gd name="T6" fmla="*/ 2147483647 w 215"/>
              <a:gd name="T7" fmla="*/ 2147483647 h 843"/>
              <a:gd name="T8" fmla="*/ 2147483647 w 215"/>
              <a:gd name="T9" fmla="*/ 2147483647 h 843"/>
              <a:gd name="T10" fmla="*/ 2147483647 w 215"/>
              <a:gd name="T11" fmla="*/ 2147483647 h 843"/>
              <a:gd name="T12" fmla="*/ 2147483647 w 215"/>
              <a:gd name="T13" fmla="*/ 2147483647 h 843"/>
              <a:gd name="T14" fmla="*/ 2147483647 w 215"/>
              <a:gd name="T15" fmla="*/ 2147483647 h 843"/>
              <a:gd name="T16" fmla="*/ 2147483647 w 215"/>
              <a:gd name="T17" fmla="*/ 2147483647 h 843"/>
              <a:gd name="T18" fmla="*/ 2147483647 w 215"/>
              <a:gd name="T19" fmla="*/ 0 h 843"/>
              <a:gd name="T20" fmla="*/ 2147483647 w 215"/>
              <a:gd name="T21" fmla="*/ 0 h 843"/>
              <a:gd name="T22" fmla="*/ 2147483647 w 215"/>
              <a:gd name="T23" fmla="*/ 2147483647 h 843"/>
              <a:gd name="T24" fmla="*/ 2147483647 w 215"/>
              <a:gd name="T25" fmla="*/ 2147483647 h 843"/>
              <a:gd name="T26" fmla="*/ 2147483647 w 215"/>
              <a:gd name="T27" fmla="*/ 2147483647 h 843"/>
              <a:gd name="T28" fmla="*/ 2147483647 w 215"/>
              <a:gd name="T29" fmla="*/ 2147483647 h 843"/>
              <a:gd name="T30" fmla="*/ 2147483647 w 215"/>
              <a:gd name="T31" fmla="*/ 2147483647 h 843"/>
              <a:gd name="T32" fmla="*/ 0 w 215"/>
              <a:gd name="T33" fmla="*/ 2147483647 h 843"/>
              <a:gd name="T34" fmla="*/ 0 w 215"/>
              <a:gd name="T35" fmla="*/ 2147483647 h 843"/>
              <a:gd name="T36" fmla="*/ 2147483647 w 215"/>
              <a:gd name="T37" fmla="*/ 2147483647 h 843"/>
              <a:gd name="T38" fmla="*/ 2147483647 w 215"/>
              <a:gd name="T39" fmla="*/ 2147483647 h 843"/>
              <a:gd name="T40" fmla="*/ 2147483647 w 215"/>
              <a:gd name="T41" fmla="*/ 2147483647 h 843"/>
              <a:gd name="T42" fmla="*/ 2147483647 w 215"/>
              <a:gd name="T43" fmla="*/ 2147483647 h 843"/>
              <a:gd name="T44" fmla="*/ 2147483647 w 215"/>
              <a:gd name="T45" fmla="*/ 2147483647 h 843"/>
              <a:gd name="T46" fmla="*/ 2147483647 w 215"/>
              <a:gd name="T47" fmla="*/ 2147483647 h 843"/>
              <a:gd name="T48" fmla="*/ 2147483647 w 215"/>
              <a:gd name="T49" fmla="*/ 2147483647 h 843"/>
              <a:gd name="T50" fmla="*/ 2147483647 w 215"/>
              <a:gd name="T51" fmla="*/ 2147483647 h 843"/>
              <a:gd name="T52" fmla="*/ 2147483647 w 215"/>
              <a:gd name="T53" fmla="*/ 2147483647 h 843"/>
              <a:gd name="T54" fmla="*/ 2147483647 w 215"/>
              <a:gd name="T55" fmla="*/ 2147483647 h 843"/>
              <a:gd name="T56" fmla="*/ 2147483647 w 215"/>
              <a:gd name="T57" fmla="*/ 2147483647 h 843"/>
              <a:gd name="T58" fmla="*/ 2147483647 w 215"/>
              <a:gd name="T59" fmla="*/ 2147483647 h 843"/>
              <a:gd name="T60" fmla="*/ 2147483647 w 215"/>
              <a:gd name="T61" fmla="*/ 2147483647 h 843"/>
              <a:gd name="T62" fmla="*/ 2147483647 w 215"/>
              <a:gd name="T63" fmla="*/ 2147483647 h 843"/>
              <a:gd name="T64" fmla="*/ 2147483647 w 215"/>
              <a:gd name="T65" fmla="*/ 2147483647 h 843"/>
              <a:gd name="T66" fmla="*/ 2147483647 w 215"/>
              <a:gd name="T67" fmla="*/ 2147483647 h 843"/>
              <a:gd name="T68" fmla="*/ 2147483647 w 215"/>
              <a:gd name="T69" fmla="*/ 2147483647 h 8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215" h="843">
                <a:moveTo>
                  <a:pt x="215" y="20"/>
                </a:moveTo>
                <a:lnTo>
                  <a:pt x="214" y="19"/>
                </a:lnTo>
                <a:lnTo>
                  <a:pt x="211" y="18"/>
                </a:lnTo>
                <a:lnTo>
                  <a:pt x="205" y="15"/>
                </a:lnTo>
                <a:lnTo>
                  <a:pt x="197" y="12"/>
                </a:lnTo>
                <a:lnTo>
                  <a:pt x="187" y="9"/>
                </a:lnTo>
                <a:lnTo>
                  <a:pt x="176" y="6"/>
                </a:lnTo>
                <a:lnTo>
                  <a:pt x="163" y="4"/>
                </a:lnTo>
                <a:lnTo>
                  <a:pt x="149" y="1"/>
                </a:lnTo>
                <a:lnTo>
                  <a:pt x="133" y="0"/>
                </a:lnTo>
                <a:lnTo>
                  <a:pt x="115" y="0"/>
                </a:lnTo>
                <a:lnTo>
                  <a:pt x="98" y="1"/>
                </a:lnTo>
                <a:lnTo>
                  <a:pt x="79" y="5"/>
                </a:lnTo>
                <a:lnTo>
                  <a:pt x="60" y="10"/>
                </a:lnTo>
                <a:lnTo>
                  <a:pt x="40" y="18"/>
                </a:lnTo>
                <a:lnTo>
                  <a:pt x="21" y="27"/>
                </a:lnTo>
                <a:lnTo>
                  <a:pt x="0" y="40"/>
                </a:lnTo>
                <a:lnTo>
                  <a:pt x="0" y="843"/>
                </a:lnTo>
                <a:lnTo>
                  <a:pt x="1" y="843"/>
                </a:lnTo>
                <a:lnTo>
                  <a:pt x="6" y="843"/>
                </a:lnTo>
                <a:lnTo>
                  <a:pt x="12" y="842"/>
                </a:lnTo>
                <a:lnTo>
                  <a:pt x="21" y="841"/>
                </a:lnTo>
                <a:lnTo>
                  <a:pt x="30" y="840"/>
                </a:lnTo>
                <a:lnTo>
                  <a:pt x="43" y="838"/>
                </a:lnTo>
                <a:lnTo>
                  <a:pt x="56" y="835"/>
                </a:lnTo>
                <a:lnTo>
                  <a:pt x="71" y="831"/>
                </a:lnTo>
                <a:lnTo>
                  <a:pt x="87" y="826"/>
                </a:lnTo>
                <a:lnTo>
                  <a:pt x="105" y="821"/>
                </a:lnTo>
                <a:lnTo>
                  <a:pt x="123" y="814"/>
                </a:lnTo>
                <a:lnTo>
                  <a:pt x="141" y="806"/>
                </a:lnTo>
                <a:lnTo>
                  <a:pt x="159" y="797"/>
                </a:lnTo>
                <a:lnTo>
                  <a:pt x="179" y="786"/>
                </a:lnTo>
                <a:lnTo>
                  <a:pt x="197" y="774"/>
                </a:lnTo>
                <a:lnTo>
                  <a:pt x="215" y="760"/>
                </a:lnTo>
                <a:lnTo>
                  <a:pt x="215" y="2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3" name="Freeform 132"/>
          <p:cNvSpPr>
            <a:spLocks/>
          </p:cNvSpPr>
          <p:nvPr/>
        </p:nvSpPr>
        <p:spPr bwMode="auto">
          <a:xfrm>
            <a:off x="8048626" y="3708401"/>
            <a:ext cx="87313" cy="334963"/>
          </a:xfrm>
          <a:custGeom>
            <a:avLst/>
            <a:gdLst>
              <a:gd name="T0" fmla="*/ 2147483647 w 180"/>
              <a:gd name="T1" fmla="*/ 2147483647 h 685"/>
              <a:gd name="T2" fmla="*/ 2147483647 w 180"/>
              <a:gd name="T3" fmla="*/ 2147483647 h 685"/>
              <a:gd name="T4" fmla="*/ 2147483647 w 180"/>
              <a:gd name="T5" fmla="*/ 2147483647 h 685"/>
              <a:gd name="T6" fmla="*/ 2147483647 w 180"/>
              <a:gd name="T7" fmla="*/ 2147483647 h 685"/>
              <a:gd name="T8" fmla="*/ 2147483647 w 180"/>
              <a:gd name="T9" fmla="*/ 2147483647 h 685"/>
              <a:gd name="T10" fmla="*/ 2147483647 w 180"/>
              <a:gd name="T11" fmla="*/ 2147483647 h 685"/>
              <a:gd name="T12" fmla="*/ 2147483647 w 180"/>
              <a:gd name="T13" fmla="*/ 2147483647 h 685"/>
              <a:gd name="T14" fmla="*/ 2147483647 w 180"/>
              <a:gd name="T15" fmla="*/ 2147483647 h 685"/>
              <a:gd name="T16" fmla="*/ 2147483647 w 180"/>
              <a:gd name="T17" fmla="*/ 0 h 685"/>
              <a:gd name="T18" fmla="*/ 2147483647 w 180"/>
              <a:gd name="T19" fmla="*/ 0 h 685"/>
              <a:gd name="T20" fmla="*/ 2147483647 w 180"/>
              <a:gd name="T21" fmla="*/ 0 h 685"/>
              <a:gd name="T22" fmla="*/ 2147483647 w 180"/>
              <a:gd name="T23" fmla="*/ 2147483647 h 685"/>
              <a:gd name="T24" fmla="*/ 2147483647 w 180"/>
              <a:gd name="T25" fmla="*/ 2147483647 h 685"/>
              <a:gd name="T26" fmla="*/ 2147483647 w 180"/>
              <a:gd name="T27" fmla="*/ 2147483647 h 685"/>
              <a:gd name="T28" fmla="*/ 2147483647 w 180"/>
              <a:gd name="T29" fmla="*/ 2147483647 h 685"/>
              <a:gd name="T30" fmla="*/ 2147483647 w 180"/>
              <a:gd name="T31" fmla="*/ 2147483647 h 685"/>
              <a:gd name="T32" fmla="*/ 0 w 180"/>
              <a:gd name="T33" fmla="*/ 2147483647 h 685"/>
              <a:gd name="T34" fmla="*/ 0 w 180"/>
              <a:gd name="T35" fmla="*/ 2147483647 h 685"/>
              <a:gd name="T36" fmla="*/ 2147483647 w 180"/>
              <a:gd name="T37" fmla="*/ 2147483647 h 685"/>
              <a:gd name="T38" fmla="*/ 2147483647 w 180"/>
              <a:gd name="T39" fmla="*/ 2147483647 h 685"/>
              <a:gd name="T40" fmla="*/ 2147483647 w 180"/>
              <a:gd name="T41" fmla="*/ 2147483647 h 685"/>
              <a:gd name="T42" fmla="*/ 2147483647 w 180"/>
              <a:gd name="T43" fmla="*/ 2147483647 h 685"/>
              <a:gd name="T44" fmla="*/ 2147483647 w 180"/>
              <a:gd name="T45" fmla="*/ 2147483647 h 685"/>
              <a:gd name="T46" fmla="*/ 2147483647 w 180"/>
              <a:gd name="T47" fmla="*/ 2147483647 h 685"/>
              <a:gd name="T48" fmla="*/ 2147483647 w 180"/>
              <a:gd name="T49" fmla="*/ 2147483647 h 685"/>
              <a:gd name="T50" fmla="*/ 2147483647 w 180"/>
              <a:gd name="T51" fmla="*/ 2147483647 h 685"/>
              <a:gd name="T52" fmla="*/ 2147483647 w 180"/>
              <a:gd name="T53" fmla="*/ 2147483647 h 685"/>
              <a:gd name="T54" fmla="*/ 2147483647 w 180"/>
              <a:gd name="T55" fmla="*/ 2147483647 h 685"/>
              <a:gd name="T56" fmla="*/ 2147483647 w 180"/>
              <a:gd name="T57" fmla="*/ 2147483647 h 685"/>
              <a:gd name="T58" fmla="*/ 2147483647 w 180"/>
              <a:gd name="T59" fmla="*/ 2147483647 h 685"/>
              <a:gd name="T60" fmla="*/ 2147483647 w 180"/>
              <a:gd name="T61" fmla="*/ 2147483647 h 685"/>
              <a:gd name="T62" fmla="*/ 2147483647 w 180"/>
              <a:gd name="T63" fmla="*/ 2147483647 h 685"/>
              <a:gd name="T64" fmla="*/ 2147483647 w 180"/>
              <a:gd name="T65" fmla="*/ 2147483647 h 685"/>
              <a:gd name="T66" fmla="*/ 2147483647 w 180"/>
              <a:gd name="T67" fmla="*/ 2147483647 h 685"/>
              <a:gd name="T68" fmla="*/ 2147483647 w 180"/>
              <a:gd name="T69" fmla="*/ 2147483647 h 68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80" h="685">
                <a:moveTo>
                  <a:pt x="180" y="16"/>
                </a:moveTo>
                <a:lnTo>
                  <a:pt x="179" y="16"/>
                </a:lnTo>
                <a:lnTo>
                  <a:pt x="176" y="14"/>
                </a:lnTo>
                <a:lnTo>
                  <a:pt x="172" y="12"/>
                </a:lnTo>
                <a:lnTo>
                  <a:pt x="165" y="10"/>
                </a:lnTo>
                <a:lnTo>
                  <a:pt x="157" y="8"/>
                </a:lnTo>
                <a:lnTo>
                  <a:pt x="147" y="4"/>
                </a:lnTo>
                <a:lnTo>
                  <a:pt x="136" y="2"/>
                </a:lnTo>
                <a:lnTo>
                  <a:pt x="125" y="0"/>
                </a:lnTo>
                <a:lnTo>
                  <a:pt x="111" y="0"/>
                </a:lnTo>
                <a:lnTo>
                  <a:pt x="97" y="0"/>
                </a:lnTo>
                <a:lnTo>
                  <a:pt x="81" y="1"/>
                </a:lnTo>
                <a:lnTo>
                  <a:pt x="66" y="3"/>
                </a:lnTo>
                <a:lnTo>
                  <a:pt x="50" y="8"/>
                </a:lnTo>
                <a:lnTo>
                  <a:pt x="33" y="14"/>
                </a:lnTo>
                <a:lnTo>
                  <a:pt x="17" y="23"/>
                </a:lnTo>
                <a:lnTo>
                  <a:pt x="0" y="33"/>
                </a:lnTo>
                <a:lnTo>
                  <a:pt x="0" y="685"/>
                </a:lnTo>
                <a:lnTo>
                  <a:pt x="1" y="685"/>
                </a:lnTo>
                <a:lnTo>
                  <a:pt x="4" y="685"/>
                </a:lnTo>
                <a:lnTo>
                  <a:pt x="9" y="684"/>
                </a:lnTo>
                <a:lnTo>
                  <a:pt x="17" y="683"/>
                </a:lnTo>
                <a:lnTo>
                  <a:pt x="26" y="682"/>
                </a:lnTo>
                <a:lnTo>
                  <a:pt x="35" y="681"/>
                </a:lnTo>
                <a:lnTo>
                  <a:pt x="47" y="678"/>
                </a:lnTo>
                <a:lnTo>
                  <a:pt x="60" y="676"/>
                </a:lnTo>
                <a:lnTo>
                  <a:pt x="73" y="671"/>
                </a:lnTo>
                <a:lnTo>
                  <a:pt x="87" y="667"/>
                </a:lnTo>
                <a:lnTo>
                  <a:pt x="102" y="662"/>
                </a:lnTo>
                <a:lnTo>
                  <a:pt x="118" y="655"/>
                </a:lnTo>
                <a:lnTo>
                  <a:pt x="133" y="648"/>
                </a:lnTo>
                <a:lnTo>
                  <a:pt x="149" y="639"/>
                </a:lnTo>
                <a:lnTo>
                  <a:pt x="165" y="628"/>
                </a:lnTo>
                <a:lnTo>
                  <a:pt x="180" y="617"/>
                </a:lnTo>
                <a:lnTo>
                  <a:pt x="180" y="1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4" name="Freeform 133"/>
          <p:cNvSpPr>
            <a:spLocks/>
          </p:cNvSpPr>
          <p:nvPr/>
        </p:nvSpPr>
        <p:spPr bwMode="auto">
          <a:xfrm>
            <a:off x="8051800" y="3711575"/>
            <a:ext cx="71438" cy="260350"/>
          </a:xfrm>
          <a:custGeom>
            <a:avLst/>
            <a:gdLst>
              <a:gd name="T0" fmla="*/ 2147483647 w 146"/>
              <a:gd name="T1" fmla="*/ 2147483647 h 530"/>
              <a:gd name="T2" fmla="*/ 2147483647 w 146"/>
              <a:gd name="T3" fmla="*/ 2147483647 h 530"/>
              <a:gd name="T4" fmla="*/ 2147483647 w 146"/>
              <a:gd name="T5" fmla="*/ 2147483647 h 530"/>
              <a:gd name="T6" fmla="*/ 2147483647 w 146"/>
              <a:gd name="T7" fmla="*/ 2147483647 h 530"/>
              <a:gd name="T8" fmla="*/ 2147483647 w 146"/>
              <a:gd name="T9" fmla="*/ 2147483647 h 530"/>
              <a:gd name="T10" fmla="*/ 2147483647 w 146"/>
              <a:gd name="T11" fmla="*/ 0 h 530"/>
              <a:gd name="T12" fmla="*/ 2147483647 w 146"/>
              <a:gd name="T13" fmla="*/ 2147483647 h 530"/>
              <a:gd name="T14" fmla="*/ 2147483647 w 146"/>
              <a:gd name="T15" fmla="*/ 2147483647 h 530"/>
              <a:gd name="T16" fmla="*/ 0 w 146"/>
              <a:gd name="T17" fmla="*/ 2147483647 h 530"/>
              <a:gd name="T18" fmla="*/ 0 w 146"/>
              <a:gd name="T19" fmla="*/ 2147483647 h 530"/>
              <a:gd name="T20" fmla="*/ 2147483647 w 146"/>
              <a:gd name="T21" fmla="*/ 2147483647 h 530"/>
              <a:gd name="T22" fmla="*/ 2147483647 w 146"/>
              <a:gd name="T23" fmla="*/ 2147483647 h 530"/>
              <a:gd name="T24" fmla="*/ 2147483647 w 146"/>
              <a:gd name="T25" fmla="*/ 2147483647 h 530"/>
              <a:gd name="T26" fmla="*/ 2147483647 w 146"/>
              <a:gd name="T27" fmla="*/ 2147483647 h 530"/>
              <a:gd name="T28" fmla="*/ 2147483647 w 146"/>
              <a:gd name="T29" fmla="*/ 2147483647 h 530"/>
              <a:gd name="T30" fmla="*/ 2147483647 w 146"/>
              <a:gd name="T31" fmla="*/ 2147483647 h 530"/>
              <a:gd name="T32" fmla="*/ 2147483647 w 146"/>
              <a:gd name="T33" fmla="*/ 2147483647 h 530"/>
              <a:gd name="T34" fmla="*/ 2147483647 w 146"/>
              <a:gd name="T35" fmla="*/ 2147483647 h 530"/>
              <a:gd name="T36" fmla="*/ 2147483647 w 146"/>
              <a:gd name="T37" fmla="*/ 2147483647 h 53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46" h="530">
                <a:moveTo>
                  <a:pt x="146" y="14"/>
                </a:moveTo>
                <a:lnTo>
                  <a:pt x="143" y="12"/>
                </a:lnTo>
                <a:lnTo>
                  <a:pt x="134" y="8"/>
                </a:lnTo>
                <a:lnTo>
                  <a:pt x="120" y="4"/>
                </a:lnTo>
                <a:lnTo>
                  <a:pt x="101" y="1"/>
                </a:lnTo>
                <a:lnTo>
                  <a:pt x="79" y="0"/>
                </a:lnTo>
                <a:lnTo>
                  <a:pt x="54" y="3"/>
                </a:lnTo>
                <a:lnTo>
                  <a:pt x="27" y="11"/>
                </a:lnTo>
                <a:lnTo>
                  <a:pt x="0" y="27"/>
                </a:lnTo>
                <a:lnTo>
                  <a:pt x="0" y="530"/>
                </a:lnTo>
                <a:lnTo>
                  <a:pt x="3" y="530"/>
                </a:lnTo>
                <a:lnTo>
                  <a:pt x="14" y="529"/>
                </a:lnTo>
                <a:lnTo>
                  <a:pt x="29" y="526"/>
                </a:lnTo>
                <a:lnTo>
                  <a:pt x="49" y="521"/>
                </a:lnTo>
                <a:lnTo>
                  <a:pt x="71" y="514"/>
                </a:lnTo>
                <a:lnTo>
                  <a:pt x="96" y="505"/>
                </a:lnTo>
                <a:lnTo>
                  <a:pt x="121" y="492"/>
                </a:lnTo>
                <a:lnTo>
                  <a:pt x="146" y="475"/>
                </a:lnTo>
                <a:lnTo>
                  <a:pt x="146" y="1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5" name="Freeform 134"/>
          <p:cNvSpPr>
            <a:spLocks/>
          </p:cNvSpPr>
          <p:nvPr/>
        </p:nvSpPr>
        <p:spPr bwMode="auto">
          <a:xfrm>
            <a:off x="8056564" y="3714750"/>
            <a:ext cx="52387" cy="184150"/>
          </a:xfrm>
          <a:custGeom>
            <a:avLst/>
            <a:gdLst>
              <a:gd name="T0" fmla="*/ 2147483647 w 109"/>
              <a:gd name="T1" fmla="*/ 2147483647 h 373"/>
              <a:gd name="T2" fmla="*/ 2147483647 w 109"/>
              <a:gd name="T3" fmla="*/ 2147483647 h 373"/>
              <a:gd name="T4" fmla="*/ 2147483647 w 109"/>
              <a:gd name="T5" fmla="*/ 2147483647 h 373"/>
              <a:gd name="T6" fmla="*/ 2147483647 w 109"/>
              <a:gd name="T7" fmla="*/ 2147483647 h 373"/>
              <a:gd name="T8" fmla="*/ 2147483647 w 109"/>
              <a:gd name="T9" fmla="*/ 0 h 373"/>
              <a:gd name="T10" fmla="*/ 2147483647 w 109"/>
              <a:gd name="T11" fmla="*/ 0 h 373"/>
              <a:gd name="T12" fmla="*/ 2147483647 w 109"/>
              <a:gd name="T13" fmla="*/ 2147483647 h 373"/>
              <a:gd name="T14" fmla="*/ 2147483647 w 109"/>
              <a:gd name="T15" fmla="*/ 2147483647 h 373"/>
              <a:gd name="T16" fmla="*/ 0 w 109"/>
              <a:gd name="T17" fmla="*/ 2147483647 h 373"/>
              <a:gd name="T18" fmla="*/ 0 w 109"/>
              <a:gd name="T19" fmla="*/ 2147483647 h 373"/>
              <a:gd name="T20" fmla="*/ 2147483647 w 109"/>
              <a:gd name="T21" fmla="*/ 2147483647 h 373"/>
              <a:gd name="T22" fmla="*/ 2147483647 w 109"/>
              <a:gd name="T23" fmla="*/ 2147483647 h 373"/>
              <a:gd name="T24" fmla="*/ 2147483647 w 109"/>
              <a:gd name="T25" fmla="*/ 2147483647 h 373"/>
              <a:gd name="T26" fmla="*/ 2147483647 w 109"/>
              <a:gd name="T27" fmla="*/ 2147483647 h 373"/>
              <a:gd name="T28" fmla="*/ 2147483647 w 109"/>
              <a:gd name="T29" fmla="*/ 2147483647 h 373"/>
              <a:gd name="T30" fmla="*/ 2147483647 w 109"/>
              <a:gd name="T31" fmla="*/ 2147483647 h 373"/>
              <a:gd name="T32" fmla="*/ 2147483647 w 109"/>
              <a:gd name="T33" fmla="*/ 2147483647 h 373"/>
              <a:gd name="T34" fmla="*/ 2147483647 w 109"/>
              <a:gd name="T35" fmla="*/ 2147483647 h 373"/>
              <a:gd name="T36" fmla="*/ 2147483647 w 109"/>
              <a:gd name="T37" fmla="*/ 2147483647 h 37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09" h="373">
                <a:moveTo>
                  <a:pt x="109" y="10"/>
                </a:moveTo>
                <a:lnTo>
                  <a:pt x="107" y="9"/>
                </a:lnTo>
                <a:lnTo>
                  <a:pt x="100" y="6"/>
                </a:lnTo>
                <a:lnTo>
                  <a:pt x="89" y="2"/>
                </a:lnTo>
                <a:lnTo>
                  <a:pt x="75" y="0"/>
                </a:lnTo>
                <a:lnTo>
                  <a:pt x="59" y="0"/>
                </a:lnTo>
                <a:lnTo>
                  <a:pt x="39" y="2"/>
                </a:lnTo>
                <a:lnTo>
                  <a:pt x="20" y="9"/>
                </a:lnTo>
                <a:lnTo>
                  <a:pt x="0" y="21"/>
                </a:lnTo>
                <a:lnTo>
                  <a:pt x="0" y="373"/>
                </a:lnTo>
                <a:lnTo>
                  <a:pt x="2" y="373"/>
                </a:lnTo>
                <a:lnTo>
                  <a:pt x="9" y="372"/>
                </a:lnTo>
                <a:lnTo>
                  <a:pt x="21" y="369"/>
                </a:lnTo>
                <a:lnTo>
                  <a:pt x="36" y="366"/>
                </a:lnTo>
                <a:lnTo>
                  <a:pt x="53" y="362"/>
                </a:lnTo>
                <a:lnTo>
                  <a:pt x="72" y="354"/>
                </a:lnTo>
                <a:lnTo>
                  <a:pt x="90" y="343"/>
                </a:lnTo>
                <a:lnTo>
                  <a:pt x="109" y="331"/>
                </a:lnTo>
                <a:lnTo>
                  <a:pt x="109" y="1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6" name="Freeform 135"/>
          <p:cNvSpPr>
            <a:spLocks/>
          </p:cNvSpPr>
          <p:nvPr/>
        </p:nvSpPr>
        <p:spPr bwMode="auto">
          <a:xfrm>
            <a:off x="8059739" y="3719513"/>
            <a:ext cx="34925" cy="106362"/>
          </a:xfrm>
          <a:custGeom>
            <a:avLst/>
            <a:gdLst>
              <a:gd name="T0" fmla="*/ 2147483647 w 75"/>
              <a:gd name="T1" fmla="*/ 2147483647 h 216"/>
              <a:gd name="T2" fmla="*/ 2147483647 w 75"/>
              <a:gd name="T3" fmla="*/ 2147483647 h 216"/>
              <a:gd name="T4" fmla="*/ 2147483647 w 75"/>
              <a:gd name="T5" fmla="*/ 2147483647 h 216"/>
              <a:gd name="T6" fmla="*/ 2147483647 w 75"/>
              <a:gd name="T7" fmla="*/ 2147483647 h 216"/>
              <a:gd name="T8" fmla="*/ 2147483647 w 75"/>
              <a:gd name="T9" fmla="*/ 0 h 216"/>
              <a:gd name="T10" fmla="*/ 2147483647 w 75"/>
              <a:gd name="T11" fmla="*/ 0 h 216"/>
              <a:gd name="T12" fmla="*/ 2147483647 w 75"/>
              <a:gd name="T13" fmla="*/ 2147483647 h 216"/>
              <a:gd name="T14" fmla="*/ 2147483647 w 75"/>
              <a:gd name="T15" fmla="*/ 2147483647 h 216"/>
              <a:gd name="T16" fmla="*/ 0 w 75"/>
              <a:gd name="T17" fmla="*/ 2147483647 h 216"/>
              <a:gd name="T18" fmla="*/ 0 w 75"/>
              <a:gd name="T19" fmla="*/ 2147483647 h 216"/>
              <a:gd name="T20" fmla="*/ 2147483647 w 75"/>
              <a:gd name="T21" fmla="*/ 2147483647 h 216"/>
              <a:gd name="T22" fmla="*/ 2147483647 w 75"/>
              <a:gd name="T23" fmla="*/ 2147483647 h 216"/>
              <a:gd name="T24" fmla="*/ 2147483647 w 75"/>
              <a:gd name="T25" fmla="*/ 2147483647 h 216"/>
              <a:gd name="T26" fmla="*/ 2147483647 w 75"/>
              <a:gd name="T27" fmla="*/ 2147483647 h 216"/>
              <a:gd name="T28" fmla="*/ 2147483647 w 75"/>
              <a:gd name="T29" fmla="*/ 2147483647 h 216"/>
              <a:gd name="T30" fmla="*/ 2147483647 w 75"/>
              <a:gd name="T31" fmla="*/ 2147483647 h 216"/>
              <a:gd name="T32" fmla="*/ 2147483647 w 75"/>
              <a:gd name="T33" fmla="*/ 2147483647 h 216"/>
              <a:gd name="T34" fmla="*/ 2147483647 w 75"/>
              <a:gd name="T35" fmla="*/ 2147483647 h 216"/>
              <a:gd name="T36" fmla="*/ 2147483647 w 75"/>
              <a:gd name="T37" fmla="*/ 2147483647 h 21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5" h="216">
                <a:moveTo>
                  <a:pt x="75" y="6"/>
                </a:moveTo>
                <a:lnTo>
                  <a:pt x="73" y="5"/>
                </a:lnTo>
                <a:lnTo>
                  <a:pt x="69" y="4"/>
                </a:lnTo>
                <a:lnTo>
                  <a:pt x="61" y="2"/>
                </a:lnTo>
                <a:lnTo>
                  <a:pt x="52" y="0"/>
                </a:lnTo>
                <a:lnTo>
                  <a:pt x="41" y="0"/>
                </a:lnTo>
                <a:lnTo>
                  <a:pt x="28" y="1"/>
                </a:lnTo>
                <a:lnTo>
                  <a:pt x="14" y="6"/>
                </a:lnTo>
                <a:lnTo>
                  <a:pt x="0" y="14"/>
                </a:lnTo>
                <a:lnTo>
                  <a:pt x="0" y="216"/>
                </a:lnTo>
                <a:lnTo>
                  <a:pt x="2" y="216"/>
                </a:lnTo>
                <a:lnTo>
                  <a:pt x="7" y="215"/>
                </a:lnTo>
                <a:lnTo>
                  <a:pt x="15" y="214"/>
                </a:lnTo>
                <a:lnTo>
                  <a:pt x="25" y="211"/>
                </a:lnTo>
                <a:lnTo>
                  <a:pt x="37" y="208"/>
                </a:lnTo>
                <a:lnTo>
                  <a:pt x="50" y="203"/>
                </a:lnTo>
                <a:lnTo>
                  <a:pt x="63" y="195"/>
                </a:lnTo>
                <a:lnTo>
                  <a:pt x="75" y="187"/>
                </a:lnTo>
                <a:lnTo>
                  <a:pt x="75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7" name="Freeform 136"/>
          <p:cNvSpPr>
            <a:spLocks/>
          </p:cNvSpPr>
          <p:nvPr/>
        </p:nvSpPr>
        <p:spPr bwMode="auto">
          <a:xfrm>
            <a:off x="8497889" y="4022726"/>
            <a:ext cx="53975" cy="55563"/>
          </a:xfrm>
          <a:custGeom>
            <a:avLst/>
            <a:gdLst>
              <a:gd name="T0" fmla="*/ 2147483647 w 110"/>
              <a:gd name="T1" fmla="*/ 2147483647 h 111"/>
              <a:gd name="T2" fmla="*/ 2147483647 w 110"/>
              <a:gd name="T3" fmla="*/ 2147483647 h 111"/>
              <a:gd name="T4" fmla="*/ 2147483647 w 110"/>
              <a:gd name="T5" fmla="*/ 2147483647 h 111"/>
              <a:gd name="T6" fmla="*/ 2147483647 w 110"/>
              <a:gd name="T7" fmla="*/ 2147483647 h 111"/>
              <a:gd name="T8" fmla="*/ 2147483647 w 110"/>
              <a:gd name="T9" fmla="*/ 2147483647 h 111"/>
              <a:gd name="T10" fmla="*/ 2147483647 w 110"/>
              <a:gd name="T11" fmla="*/ 2147483647 h 111"/>
              <a:gd name="T12" fmla="*/ 2147483647 w 110"/>
              <a:gd name="T13" fmla="*/ 2147483647 h 111"/>
              <a:gd name="T14" fmla="*/ 2147483647 w 110"/>
              <a:gd name="T15" fmla="*/ 2147483647 h 111"/>
              <a:gd name="T16" fmla="*/ 2147483647 w 110"/>
              <a:gd name="T17" fmla="*/ 2147483647 h 111"/>
              <a:gd name="T18" fmla="*/ 2147483647 w 110"/>
              <a:gd name="T19" fmla="*/ 2147483647 h 111"/>
              <a:gd name="T20" fmla="*/ 2147483647 w 110"/>
              <a:gd name="T21" fmla="*/ 2147483647 h 111"/>
              <a:gd name="T22" fmla="*/ 2147483647 w 110"/>
              <a:gd name="T23" fmla="*/ 2147483647 h 111"/>
              <a:gd name="T24" fmla="*/ 2147483647 w 110"/>
              <a:gd name="T25" fmla="*/ 2147483647 h 111"/>
              <a:gd name="T26" fmla="*/ 2147483647 w 110"/>
              <a:gd name="T27" fmla="*/ 2147483647 h 111"/>
              <a:gd name="T28" fmla="*/ 2147483647 w 110"/>
              <a:gd name="T29" fmla="*/ 2147483647 h 111"/>
              <a:gd name="T30" fmla="*/ 2147483647 w 110"/>
              <a:gd name="T31" fmla="*/ 2147483647 h 111"/>
              <a:gd name="T32" fmla="*/ 2147483647 w 110"/>
              <a:gd name="T33" fmla="*/ 0 h 111"/>
              <a:gd name="T34" fmla="*/ 2147483647 w 110"/>
              <a:gd name="T35" fmla="*/ 2147483647 h 111"/>
              <a:gd name="T36" fmla="*/ 2147483647 w 110"/>
              <a:gd name="T37" fmla="*/ 2147483647 h 111"/>
              <a:gd name="T38" fmla="*/ 2147483647 w 110"/>
              <a:gd name="T39" fmla="*/ 2147483647 h 111"/>
              <a:gd name="T40" fmla="*/ 2147483647 w 110"/>
              <a:gd name="T41" fmla="*/ 2147483647 h 111"/>
              <a:gd name="T42" fmla="*/ 2147483647 w 110"/>
              <a:gd name="T43" fmla="*/ 2147483647 h 111"/>
              <a:gd name="T44" fmla="*/ 2147483647 w 110"/>
              <a:gd name="T45" fmla="*/ 2147483647 h 111"/>
              <a:gd name="T46" fmla="*/ 2147483647 w 110"/>
              <a:gd name="T47" fmla="*/ 2147483647 h 111"/>
              <a:gd name="T48" fmla="*/ 0 w 110"/>
              <a:gd name="T49" fmla="*/ 2147483647 h 111"/>
              <a:gd name="T50" fmla="*/ 2147483647 w 110"/>
              <a:gd name="T51" fmla="*/ 2147483647 h 111"/>
              <a:gd name="T52" fmla="*/ 2147483647 w 110"/>
              <a:gd name="T53" fmla="*/ 2147483647 h 111"/>
              <a:gd name="T54" fmla="*/ 2147483647 w 110"/>
              <a:gd name="T55" fmla="*/ 2147483647 h 111"/>
              <a:gd name="T56" fmla="*/ 2147483647 w 110"/>
              <a:gd name="T57" fmla="*/ 2147483647 h 111"/>
              <a:gd name="T58" fmla="*/ 2147483647 w 110"/>
              <a:gd name="T59" fmla="*/ 2147483647 h 111"/>
              <a:gd name="T60" fmla="*/ 2147483647 w 110"/>
              <a:gd name="T61" fmla="*/ 2147483647 h 111"/>
              <a:gd name="T62" fmla="*/ 2147483647 w 110"/>
              <a:gd name="T63" fmla="*/ 2147483647 h 111"/>
              <a:gd name="T64" fmla="*/ 2147483647 w 110"/>
              <a:gd name="T65" fmla="*/ 2147483647 h 111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10" h="111">
                <a:moveTo>
                  <a:pt x="55" y="111"/>
                </a:moveTo>
                <a:lnTo>
                  <a:pt x="66" y="110"/>
                </a:lnTo>
                <a:lnTo>
                  <a:pt x="76" y="106"/>
                </a:lnTo>
                <a:lnTo>
                  <a:pt x="85" y="101"/>
                </a:lnTo>
                <a:lnTo>
                  <a:pt x="94" y="94"/>
                </a:lnTo>
                <a:lnTo>
                  <a:pt x="100" y="86"/>
                </a:lnTo>
                <a:lnTo>
                  <a:pt x="106" y="77"/>
                </a:lnTo>
                <a:lnTo>
                  <a:pt x="109" y="66"/>
                </a:lnTo>
                <a:lnTo>
                  <a:pt x="110" y="56"/>
                </a:lnTo>
                <a:lnTo>
                  <a:pt x="109" y="44"/>
                </a:lnTo>
                <a:lnTo>
                  <a:pt x="106" y="34"/>
                </a:lnTo>
                <a:lnTo>
                  <a:pt x="100" y="24"/>
                </a:lnTo>
                <a:lnTo>
                  <a:pt x="94" y="17"/>
                </a:lnTo>
                <a:lnTo>
                  <a:pt x="85" y="9"/>
                </a:lnTo>
                <a:lnTo>
                  <a:pt x="76" y="5"/>
                </a:lnTo>
                <a:lnTo>
                  <a:pt x="66" y="2"/>
                </a:lnTo>
                <a:lnTo>
                  <a:pt x="55" y="0"/>
                </a:lnTo>
                <a:lnTo>
                  <a:pt x="44" y="2"/>
                </a:lnTo>
                <a:lnTo>
                  <a:pt x="33" y="5"/>
                </a:lnTo>
                <a:lnTo>
                  <a:pt x="25" y="9"/>
                </a:lnTo>
                <a:lnTo>
                  <a:pt x="16" y="17"/>
                </a:lnTo>
                <a:lnTo>
                  <a:pt x="10" y="24"/>
                </a:lnTo>
                <a:lnTo>
                  <a:pt x="4" y="34"/>
                </a:lnTo>
                <a:lnTo>
                  <a:pt x="1" y="44"/>
                </a:lnTo>
                <a:lnTo>
                  <a:pt x="0" y="56"/>
                </a:lnTo>
                <a:lnTo>
                  <a:pt x="1" y="66"/>
                </a:lnTo>
                <a:lnTo>
                  <a:pt x="4" y="77"/>
                </a:lnTo>
                <a:lnTo>
                  <a:pt x="10" y="86"/>
                </a:lnTo>
                <a:lnTo>
                  <a:pt x="16" y="94"/>
                </a:lnTo>
                <a:lnTo>
                  <a:pt x="25" y="101"/>
                </a:lnTo>
                <a:lnTo>
                  <a:pt x="33" y="106"/>
                </a:lnTo>
                <a:lnTo>
                  <a:pt x="44" y="110"/>
                </a:lnTo>
                <a:lnTo>
                  <a:pt x="55" y="11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8" name="Freeform 137"/>
          <p:cNvSpPr>
            <a:spLocks/>
          </p:cNvSpPr>
          <p:nvPr/>
        </p:nvSpPr>
        <p:spPr bwMode="auto">
          <a:xfrm>
            <a:off x="8334375" y="4024314"/>
            <a:ext cx="26988" cy="26987"/>
          </a:xfrm>
          <a:custGeom>
            <a:avLst/>
            <a:gdLst>
              <a:gd name="T0" fmla="*/ 2147483647 w 55"/>
              <a:gd name="T1" fmla="*/ 2147483647 h 55"/>
              <a:gd name="T2" fmla="*/ 2147483647 w 55"/>
              <a:gd name="T3" fmla="*/ 2147483647 h 55"/>
              <a:gd name="T4" fmla="*/ 2147483647 w 55"/>
              <a:gd name="T5" fmla="*/ 2147483647 h 55"/>
              <a:gd name="T6" fmla="*/ 2147483647 w 55"/>
              <a:gd name="T7" fmla="*/ 2147483647 h 55"/>
              <a:gd name="T8" fmla="*/ 2147483647 w 55"/>
              <a:gd name="T9" fmla="*/ 2147483647 h 55"/>
              <a:gd name="T10" fmla="*/ 2147483647 w 55"/>
              <a:gd name="T11" fmla="*/ 2147483647 h 55"/>
              <a:gd name="T12" fmla="*/ 2147483647 w 55"/>
              <a:gd name="T13" fmla="*/ 2147483647 h 55"/>
              <a:gd name="T14" fmla="*/ 2147483647 w 55"/>
              <a:gd name="T15" fmla="*/ 2147483647 h 55"/>
              <a:gd name="T16" fmla="*/ 2147483647 w 55"/>
              <a:gd name="T17" fmla="*/ 0 h 55"/>
              <a:gd name="T18" fmla="*/ 2147483647 w 55"/>
              <a:gd name="T19" fmla="*/ 2147483647 h 55"/>
              <a:gd name="T20" fmla="*/ 2147483647 w 55"/>
              <a:gd name="T21" fmla="*/ 2147483647 h 55"/>
              <a:gd name="T22" fmla="*/ 2147483647 w 55"/>
              <a:gd name="T23" fmla="*/ 2147483647 h 55"/>
              <a:gd name="T24" fmla="*/ 0 w 55"/>
              <a:gd name="T25" fmla="*/ 2147483647 h 55"/>
              <a:gd name="T26" fmla="*/ 2147483647 w 55"/>
              <a:gd name="T27" fmla="*/ 2147483647 h 55"/>
              <a:gd name="T28" fmla="*/ 2147483647 w 55"/>
              <a:gd name="T29" fmla="*/ 2147483647 h 55"/>
              <a:gd name="T30" fmla="*/ 2147483647 w 55"/>
              <a:gd name="T31" fmla="*/ 2147483647 h 55"/>
              <a:gd name="T32" fmla="*/ 2147483647 w 55"/>
              <a:gd name="T33" fmla="*/ 2147483647 h 5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5" h="55">
                <a:moveTo>
                  <a:pt x="27" y="55"/>
                </a:moveTo>
                <a:lnTo>
                  <a:pt x="38" y="53"/>
                </a:lnTo>
                <a:lnTo>
                  <a:pt x="48" y="46"/>
                </a:lnTo>
                <a:lnTo>
                  <a:pt x="53" y="37"/>
                </a:lnTo>
                <a:lnTo>
                  <a:pt x="55" y="27"/>
                </a:lnTo>
                <a:lnTo>
                  <a:pt x="53" y="16"/>
                </a:lnTo>
                <a:lnTo>
                  <a:pt x="48" y="7"/>
                </a:lnTo>
                <a:lnTo>
                  <a:pt x="38" y="2"/>
                </a:lnTo>
                <a:lnTo>
                  <a:pt x="27" y="0"/>
                </a:lnTo>
                <a:lnTo>
                  <a:pt x="16" y="2"/>
                </a:lnTo>
                <a:lnTo>
                  <a:pt x="8" y="7"/>
                </a:lnTo>
                <a:lnTo>
                  <a:pt x="2" y="16"/>
                </a:lnTo>
                <a:lnTo>
                  <a:pt x="0" y="27"/>
                </a:lnTo>
                <a:lnTo>
                  <a:pt x="2" y="37"/>
                </a:lnTo>
                <a:lnTo>
                  <a:pt x="8" y="46"/>
                </a:lnTo>
                <a:lnTo>
                  <a:pt x="16" y="53"/>
                </a:lnTo>
                <a:lnTo>
                  <a:pt x="27" y="5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9" name="Freeform 138"/>
          <p:cNvSpPr>
            <a:spLocks/>
          </p:cNvSpPr>
          <p:nvPr/>
        </p:nvSpPr>
        <p:spPr bwMode="auto">
          <a:xfrm>
            <a:off x="8380414" y="4025900"/>
            <a:ext cx="26987" cy="26988"/>
          </a:xfrm>
          <a:custGeom>
            <a:avLst/>
            <a:gdLst>
              <a:gd name="T0" fmla="*/ 2147483647 w 55"/>
              <a:gd name="T1" fmla="*/ 2147483647 h 55"/>
              <a:gd name="T2" fmla="*/ 2147483647 w 55"/>
              <a:gd name="T3" fmla="*/ 2147483647 h 55"/>
              <a:gd name="T4" fmla="*/ 2147483647 w 55"/>
              <a:gd name="T5" fmla="*/ 2147483647 h 55"/>
              <a:gd name="T6" fmla="*/ 2147483647 w 55"/>
              <a:gd name="T7" fmla="*/ 2147483647 h 55"/>
              <a:gd name="T8" fmla="*/ 2147483647 w 55"/>
              <a:gd name="T9" fmla="*/ 2147483647 h 55"/>
              <a:gd name="T10" fmla="*/ 2147483647 w 55"/>
              <a:gd name="T11" fmla="*/ 2147483647 h 55"/>
              <a:gd name="T12" fmla="*/ 2147483647 w 55"/>
              <a:gd name="T13" fmla="*/ 2147483647 h 55"/>
              <a:gd name="T14" fmla="*/ 2147483647 w 55"/>
              <a:gd name="T15" fmla="*/ 2147483647 h 55"/>
              <a:gd name="T16" fmla="*/ 2147483647 w 55"/>
              <a:gd name="T17" fmla="*/ 0 h 55"/>
              <a:gd name="T18" fmla="*/ 2147483647 w 55"/>
              <a:gd name="T19" fmla="*/ 2147483647 h 55"/>
              <a:gd name="T20" fmla="*/ 2147483647 w 55"/>
              <a:gd name="T21" fmla="*/ 2147483647 h 55"/>
              <a:gd name="T22" fmla="*/ 2147483647 w 55"/>
              <a:gd name="T23" fmla="*/ 2147483647 h 55"/>
              <a:gd name="T24" fmla="*/ 0 w 55"/>
              <a:gd name="T25" fmla="*/ 2147483647 h 55"/>
              <a:gd name="T26" fmla="*/ 2147483647 w 55"/>
              <a:gd name="T27" fmla="*/ 2147483647 h 55"/>
              <a:gd name="T28" fmla="*/ 2147483647 w 55"/>
              <a:gd name="T29" fmla="*/ 2147483647 h 55"/>
              <a:gd name="T30" fmla="*/ 2147483647 w 55"/>
              <a:gd name="T31" fmla="*/ 2147483647 h 55"/>
              <a:gd name="T32" fmla="*/ 2147483647 w 55"/>
              <a:gd name="T33" fmla="*/ 2147483647 h 5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5" h="55">
                <a:moveTo>
                  <a:pt x="28" y="55"/>
                </a:moveTo>
                <a:lnTo>
                  <a:pt x="39" y="53"/>
                </a:lnTo>
                <a:lnTo>
                  <a:pt x="47" y="47"/>
                </a:lnTo>
                <a:lnTo>
                  <a:pt x="53" y="39"/>
                </a:lnTo>
                <a:lnTo>
                  <a:pt x="55" y="28"/>
                </a:lnTo>
                <a:lnTo>
                  <a:pt x="53" y="17"/>
                </a:lnTo>
                <a:lnTo>
                  <a:pt x="47" y="8"/>
                </a:lnTo>
                <a:lnTo>
                  <a:pt x="39" y="2"/>
                </a:lnTo>
                <a:lnTo>
                  <a:pt x="28" y="0"/>
                </a:lnTo>
                <a:lnTo>
                  <a:pt x="17" y="2"/>
                </a:lnTo>
                <a:lnTo>
                  <a:pt x="9" y="8"/>
                </a:lnTo>
                <a:lnTo>
                  <a:pt x="2" y="17"/>
                </a:lnTo>
                <a:lnTo>
                  <a:pt x="0" y="28"/>
                </a:lnTo>
                <a:lnTo>
                  <a:pt x="2" y="39"/>
                </a:lnTo>
                <a:lnTo>
                  <a:pt x="9" y="47"/>
                </a:lnTo>
                <a:lnTo>
                  <a:pt x="17" y="53"/>
                </a:lnTo>
                <a:lnTo>
                  <a:pt x="28" y="5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0" name="Freeform 139"/>
          <p:cNvSpPr>
            <a:spLocks/>
          </p:cNvSpPr>
          <p:nvPr/>
        </p:nvSpPr>
        <p:spPr bwMode="auto">
          <a:xfrm>
            <a:off x="8201025" y="3656013"/>
            <a:ext cx="76200" cy="368300"/>
          </a:xfrm>
          <a:custGeom>
            <a:avLst/>
            <a:gdLst>
              <a:gd name="T0" fmla="*/ 2147483647 w 156"/>
              <a:gd name="T1" fmla="*/ 2147483647 h 752"/>
              <a:gd name="T2" fmla="*/ 2147483647 w 156"/>
              <a:gd name="T3" fmla="*/ 2147483647 h 752"/>
              <a:gd name="T4" fmla="*/ 2147483647 w 156"/>
              <a:gd name="T5" fmla="*/ 2147483647 h 752"/>
              <a:gd name="T6" fmla="*/ 2147483647 w 156"/>
              <a:gd name="T7" fmla="*/ 2147483647 h 752"/>
              <a:gd name="T8" fmla="*/ 2147483647 w 156"/>
              <a:gd name="T9" fmla="*/ 2147483647 h 752"/>
              <a:gd name="T10" fmla="*/ 0 w 156"/>
              <a:gd name="T11" fmla="*/ 2147483647 h 752"/>
              <a:gd name="T12" fmla="*/ 2147483647 w 156"/>
              <a:gd name="T13" fmla="*/ 2147483647 h 752"/>
              <a:gd name="T14" fmla="*/ 2147483647 w 156"/>
              <a:gd name="T15" fmla="*/ 2147483647 h 752"/>
              <a:gd name="T16" fmla="*/ 2147483647 w 156"/>
              <a:gd name="T17" fmla="*/ 2147483647 h 752"/>
              <a:gd name="T18" fmla="*/ 2147483647 w 156"/>
              <a:gd name="T19" fmla="*/ 2147483647 h 752"/>
              <a:gd name="T20" fmla="*/ 2147483647 w 156"/>
              <a:gd name="T21" fmla="*/ 2147483647 h 752"/>
              <a:gd name="T22" fmla="*/ 2147483647 w 156"/>
              <a:gd name="T23" fmla="*/ 2147483647 h 752"/>
              <a:gd name="T24" fmla="*/ 2147483647 w 156"/>
              <a:gd name="T25" fmla="*/ 2147483647 h 752"/>
              <a:gd name="T26" fmla="*/ 2147483647 w 156"/>
              <a:gd name="T27" fmla="*/ 2147483647 h 752"/>
              <a:gd name="T28" fmla="*/ 2147483647 w 156"/>
              <a:gd name="T29" fmla="*/ 2147483647 h 752"/>
              <a:gd name="T30" fmla="*/ 2147483647 w 156"/>
              <a:gd name="T31" fmla="*/ 2147483647 h 752"/>
              <a:gd name="T32" fmla="*/ 2147483647 w 156"/>
              <a:gd name="T33" fmla="*/ 2147483647 h 752"/>
              <a:gd name="T34" fmla="*/ 2147483647 w 156"/>
              <a:gd name="T35" fmla="*/ 2147483647 h 752"/>
              <a:gd name="T36" fmla="*/ 2147483647 w 156"/>
              <a:gd name="T37" fmla="*/ 2147483647 h 752"/>
              <a:gd name="T38" fmla="*/ 2147483647 w 156"/>
              <a:gd name="T39" fmla="*/ 2147483647 h 752"/>
              <a:gd name="T40" fmla="*/ 2147483647 w 156"/>
              <a:gd name="T41" fmla="*/ 2147483647 h 752"/>
              <a:gd name="T42" fmla="*/ 2147483647 w 156"/>
              <a:gd name="T43" fmla="*/ 0 h 752"/>
              <a:gd name="T44" fmla="*/ 2147483647 w 156"/>
              <a:gd name="T45" fmla="*/ 0 h 752"/>
              <a:gd name="T46" fmla="*/ 2147483647 w 156"/>
              <a:gd name="T47" fmla="*/ 2147483647 h 752"/>
              <a:gd name="T48" fmla="*/ 2147483647 w 156"/>
              <a:gd name="T49" fmla="*/ 2147483647 h 752"/>
              <a:gd name="T50" fmla="*/ 2147483647 w 156"/>
              <a:gd name="T51" fmla="*/ 2147483647 h 75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56" h="752">
                <a:moveTo>
                  <a:pt x="48" y="15"/>
                </a:moveTo>
                <a:lnTo>
                  <a:pt x="44" y="30"/>
                </a:lnTo>
                <a:lnTo>
                  <a:pt x="33" y="73"/>
                </a:lnTo>
                <a:lnTo>
                  <a:pt x="19" y="140"/>
                </a:lnTo>
                <a:lnTo>
                  <a:pt x="7" y="229"/>
                </a:lnTo>
                <a:lnTo>
                  <a:pt x="0" y="337"/>
                </a:lnTo>
                <a:lnTo>
                  <a:pt x="1" y="462"/>
                </a:lnTo>
                <a:lnTo>
                  <a:pt x="14" y="602"/>
                </a:lnTo>
                <a:lnTo>
                  <a:pt x="43" y="752"/>
                </a:lnTo>
                <a:lnTo>
                  <a:pt x="150" y="746"/>
                </a:lnTo>
                <a:lnTo>
                  <a:pt x="146" y="724"/>
                </a:lnTo>
                <a:lnTo>
                  <a:pt x="135" y="663"/>
                </a:lnTo>
                <a:lnTo>
                  <a:pt x="123" y="574"/>
                </a:lnTo>
                <a:lnTo>
                  <a:pt x="111" y="463"/>
                </a:lnTo>
                <a:lnTo>
                  <a:pt x="104" y="342"/>
                </a:lnTo>
                <a:lnTo>
                  <a:pt x="107" y="220"/>
                </a:lnTo>
                <a:lnTo>
                  <a:pt x="124" y="106"/>
                </a:lnTo>
                <a:lnTo>
                  <a:pt x="156" y="9"/>
                </a:lnTo>
                <a:lnTo>
                  <a:pt x="156" y="8"/>
                </a:lnTo>
                <a:lnTo>
                  <a:pt x="156" y="6"/>
                </a:lnTo>
                <a:lnTo>
                  <a:pt x="154" y="4"/>
                </a:lnTo>
                <a:lnTo>
                  <a:pt x="147" y="0"/>
                </a:lnTo>
                <a:lnTo>
                  <a:pt x="134" y="0"/>
                </a:lnTo>
                <a:lnTo>
                  <a:pt x="115" y="1"/>
                </a:lnTo>
                <a:lnTo>
                  <a:pt x="87" y="7"/>
                </a:lnTo>
                <a:lnTo>
                  <a:pt x="48" y="1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1" name="Freeform 140"/>
          <p:cNvSpPr>
            <a:spLocks/>
          </p:cNvSpPr>
          <p:nvPr/>
        </p:nvSpPr>
        <p:spPr bwMode="auto">
          <a:xfrm>
            <a:off x="8591550" y="3609976"/>
            <a:ext cx="103188" cy="411163"/>
          </a:xfrm>
          <a:custGeom>
            <a:avLst/>
            <a:gdLst>
              <a:gd name="T0" fmla="*/ 2147483647 w 212"/>
              <a:gd name="T1" fmla="*/ 2147483647 h 839"/>
              <a:gd name="T2" fmla="*/ 2147483647 w 212"/>
              <a:gd name="T3" fmla="*/ 2147483647 h 839"/>
              <a:gd name="T4" fmla="*/ 2147483647 w 212"/>
              <a:gd name="T5" fmla="*/ 2147483647 h 839"/>
              <a:gd name="T6" fmla="*/ 2147483647 w 212"/>
              <a:gd name="T7" fmla="*/ 2147483647 h 839"/>
              <a:gd name="T8" fmla="*/ 2147483647 w 212"/>
              <a:gd name="T9" fmla="*/ 2147483647 h 839"/>
              <a:gd name="T10" fmla="*/ 2147483647 w 212"/>
              <a:gd name="T11" fmla="*/ 2147483647 h 839"/>
              <a:gd name="T12" fmla="*/ 2147483647 w 212"/>
              <a:gd name="T13" fmla="*/ 2147483647 h 839"/>
              <a:gd name="T14" fmla="*/ 2147483647 w 212"/>
              <a:gd name="T15" fmla="*/ 2147483647 h 839"/>
              <a:gd name="T16" fmla="*/ 2147483647 w 212"/>
              <a:gd name="T17" fmla="*/ 2147483647 h 839"/>
              <a:gd name="T18" fmla="*/ 2147483647 w 212"/>
              <a:gd name="T19" fmla="*/ 2147483647 h 839"/>
              <a:gd name="T20" fmla="*/ 2147483647 w 212"/>
              <a:gd name="T21" fmla="*/ 2147483647 h 839"/>
              <a:gd name="T22" fmla="*/ 2147483647 w 212"/>
              <a:gd name="T23" fmla="*/ 2147483647 h 839"/>
              <a:gd name="T24" fmla="*/ 2147483647 w 212"/>
              <a:gd name="T25" fmla="*/ 2147483647 h 839"/>
              <a:gd name="T26" fmla="*/ 2147483647 w 212"/>
              <a:gd name="T27" fmla="*/ 2147483647 h 839"/>
              <a:gd name="T28" fmla="*/ 0 w 212"/>
              <a:gd name="T29" fmla="*/ 2147483647 h 839"/>
              <a:gd name="T30" fmla="*/ 2147483647 w 212"/>
              <a:gd name="T31" fmla="*/ 2147483647 h 839"/>
              <a:gd name="T32" fmla="*/ 2147483647 w 212"/>
              <a:gd name="T33" fmla="*/ 2147483647 h 839"/>
              <a:gd name="T34" fmla="*/ 2147483647 w 212"/>
              <a:gd name="T35" fmla="*/ 0 h 839"/>
              <a:gd name="T36" fmla="*/ 2147483647 w 212"/>
              <a:gd name="T37" fmla="*/ 2147483647 h 83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12" h="839">
                <a:moveTo>
                  <a:pt x="212" y="6"/>
                </a:moveTo>
                <a:lnTo>
                  <a:pt x="206" y="11"/>
                </a:lnTo>
                <a:lnTo>
                  <a:pt x="192" y="33"/>
                </a:lnTo>
                <a:lnTo>
                  <a:pt x="174" y="77"/>
                </a:lnTo>
                <a:lnTo>
                  <a:pt x="156" y="148"/>
                </a:lnTo>
                <a:lnTo>
                  <a:pt x="141" y="254"/>
                </a:lnTo>
                <a:lnTo>
                  <a:pt x="133" y="401"/>
                </a:lnTo>
                <a:lnTo>
                  <a:pt x="137" y="593"/>
                </a:lnTo>
                <a:lnTo>
                  <a:pt x="158" y="839"/>
                </a:lnTo>
                <a:lnTo>
                  <a:pt x="38" y="839"/>
                </a:lnTo>
                <a:lnTo>
                  <a:pt x="34" y="814"/>
                </a:lnTo>
                <a:lnTo>
                  <a:pt x="24" y="746"/>
                </a:lnTo>
                <a:lnTo>
                  <a:pt x="12" y="645"/>
                </a:lnTo>
                <a:lnTo>
                  <a:pt x="3" y="521"/>
                </a:lnTo>
                <a:lnTo>
                  <a:pt x="0" y="384"/>
                </a:lnTo>
                <a:lnTo>
                  <a:pt x="6" y="244"/>
                </a:lnTo>
                <a:lnTo>
                  <a:pt x="29" y="114"/>
                </a:lnTo>
                <a:lnTo>
                  <a:pt x="68" y="0"/>
                </a:lnTo>
                <a:lnTo>
                  <a:pt x="212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2" name="Freeform 141"/>
          <p:cNvSpPr>
            <a:spLocks/>
          </p:cNvSpPr>
          <p:nvPr/>
        </p:nvSpPr>
        <p:spPr bwMode="auto">
          <a:xfrm>
            <a:off x="8204201" y="3678238"/>
            <a:ext cx="66675" cy="322262"/>
          </a:xfrm>
          <a:custGeom>
            <a:avLst/>
            <a:gdLst>
              <a:gd name="T0" fmla="*/ 2147483647 w 137"/>
              <a:gd name="T1" fmla="*/ 2147483647 h 656"/>
              <a:gd name="T2" fmla="*/ 2147483647 w 137"/>
              <a:gd name="T3" fmla="*/ 2147483647 h 656"/>
              <a:gd name="T4" fmla="*/ 2147483647 w 137"/>
              <a:gd name="T5" fmla="*/ 2147483647 h 656"/>
              <a:gd name="T6" fmla="*/ 2147483647 w 137"/>
              <a:gd name="T7" fmla="*/ 2147483647 h 656"/>
              <a:gd name="T8" fmla="*/ 2147483647 w 137"/>
              <a:gd name="T9" fmla="*/ 2147483647 h 656"/>
              <a:gd name="T10" fmla="*/ 0 w 137"/>
              <a:gd name="T11" fmla="*/ 2147483647 h 656"/>
              <a:gd name="T12" fmla="*/ 2147483647 w 137"/>
              <a:gd name="T13" fmla="*/ 2147483647 h 656"/>
              <a:gd name="T14" fmla="*/ 2147483647 w 137"/>
              <a:gd name="T15" fmla="*/ 2147483647 h 656"/>
              <a:gd name="T16" fmla="*/ 2147483647 w 137"/>
              <a:gd name="T17" fmla="*/ 2147483647 h 656"/>
              <a:gd name="T18" fmla="*/ 2147483647 w 137"/>
              <a:gd name="T19" fmla="*/ 2147483647 h 656"/>
              <a:gd name="T20" fmla="*/ 2147483647 w 137"/>
              <a:gd name="T21" fmla="*/ 2147483647 h 656"/>
              <a:gd name="T22" fmla="*/ 2147483647 w 137"/>
              <a:gd name="T23" fmla="*/ 2147483647 h 656"/>
              <a:gd name="T24" fmla="*/ 2147483647 w 137"/>
              <a:gd name="T25" fmla="*/ 2147483647 h 656"/>
              <a:gd name="T26" fmla="*/ 2147483647 w 137"/>
              <a:gd name="T27" fmla="*/ 2147483647 h 656"/>
              <a:gd name="T28" fmla="*/ 2147483647 w 137"/>
              <a:gd name="T29" fmla="*/ 2147483647 h 656"/>
              <a:gd name="T30" fmla="*/ 2147483647 w 137"/>
              <a:gd name="T31" fmla="*/ 2147483647 h 656"/>
              <a:gd name="T32" fmla="*/ 2147483647 w 137"/>
              <a:gd name="T33" fmla="*/ 2147483647 h 656"/>
              <a:gd name="T34" fmla="*/ 2147483647 w 137"/>
              <a:gd name="T35" fmla="*/ 2147483647 h 656"/>
              <a:gd name="T36" fmla="*/ 2147483647 w 137"/>
              <a:gd name="T37" fmla="*/ 2147483647 h 656"/>
              <a:gd name="T38" fmla="*/ 2147483647 w 137"/>
              <a:gd name="T39" fmla="*/ 2147483647 h 656"/>
              <a:gd name="T40" fmla="*/ 2147483647 w 137"/>
              <a:gd name="T41" fmla="*/ 2147483647 h 656"/>
              <a:gd name="T42" fmla="*/ 2147483647 w 137"/>
              <a:gd name="T43" fmla="*/ 0 h 656"/>
              <a:gd name="T44" fmla="*/ 2147483647 w 137"/>
              <a:gd name="T45" fmla="*/ 0 h 656"/>
              <a:gd name="T46" fmla="*/ 2147483647 w 137"/>
              <a:gd name="T47" fmla="*/ 2147483647 h 656"/>
              <a:gd name="T48" fmla="*/ 2147483647 w 137"/>
              <a:gd name="T49" fmla="*/ 2147483647 h 656"/>
              <a:gd name="T50" fmla="*/ 2147483647 w 137"/>
              <a:gd name="T51" fmla="*/ 2147483647 h 65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37" h="656">
                <a:moveTo>
                  <a:pt x="43" y="12"/>
                </a:moveTo>
                <a:lnTo>
                  <a:pt x="39" y="25"/>
                </a:lnTo>
                <a:lnTo>
                  <a:pt x="30" y="62"/>
                </a:lnTo>
                <a:lnTo>
                  <a:pt x="19" y="122"/>
                </a:lnTo>
                <a:lnTo>
                  <a:pt x="7" y="199"/>
                </a:lnTo>
                <a:lnTo>
                  <a:pt x="0" y="294"/>
                </a:lnTo>
                <a:lnTo>
                  <a:pt x="1" y="403"/>
                </a:lnTo>
                <a:lnTo>
                  <a:pt x="12" y="524"/>
                </a:lnTo>
                <a:lnTo>
                  <a:pt x="38" y="656"/>
                </a:lnTo>
                <a:lnTo>
                  <a:pt x="132" y="650"/>
                </a:lnTo>
                <a:lnTo>
                  <a:pt x="127" y="631"/>
                </a:lnTo>
                <a:lnTo>
                  <a:pt x="119" y="578"/>
                </a:lnTo>
                <a:lnTo>
                  <a:pt x="107" y="499"/>
                </a:lnTo>
                <a:lnTo>
                  <a:pt x="97" y="403"/>
                </a:lnTo>
                <a:lnTo>
                  <a:pt x="92" y="297"/>
                </a:lnTo>
                <a:lnTo>
                  <a:pt x="94" y="192"/>
                </a:lnTo>
                <a:lnTo>
                  <a:pt x="108" y="91"/>
                </a:lnTo>
                <a:lnTo>
                  <a:pt x="137" y="7"/>
                </a:lnTo>
                <a:lnTo>
                  <a:pt x="137" y="6"/>
                </a:lnTo>
                <a:lnTo>
                  <a:pt x="137" y="4"/>
                </a:lnTo>
                <a:lnTo>
                  <a:pt x="135" y="2"/>
                </a:lnTo>
                <a:lnTo>
                  <a:pt x="129" y="0"/>
                </a:lnTo>
                <a:lnTo>
                  <a:pt x="119" y="0"/>
                </a:lnTo>
                <a:lnTo>
                  <a:pt x="101" y="1"/>
                </a:lnTo>
                <a:lnTo>
                  <a:pt x="77" y="5"/>
                </a:lnTo>
                <a:lnTo>
                  <a:pt x="43" y="1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3" name="Freeform 142"/>
          <p:cNvSpPr>
            <a:spLocks/>
          </p:cNvSpPr>
          <p:nvPr/>
        </p:nvSpPr>
        <p:spPr bwMode="auto">
          <a:xfrm>
            <a:off x="8207376" y="3700463"/>
            <a:ext cx="55563" cy="273050"/>
          </a:xfrm>
          <a:custGeom>
            <a:avLst/>
            <a:gdLst>
              <a:gd name="T0" fmla="*/ 2147483647 w 116"/>
              <a:gd name="T1" fmla="*/ 2147483647 h 560"/>
              <a:gd name="T2" fmla="*/ 2147483647 w 116"/>
              <a:gd name="T3" fmla="*/ 2147483647 h 560"/>
              <a:gd name="T4" fmla="*/ 2147483647 w 116"/>
              <a:gd name="T5" fmla="*/ 2147483647 h 560"/>
              <a:gd name="T6" fmla="*/ 2147483647 w 116"/>
              <a:gd name="T7" fmla="*/ 2147483647 h 560"/>
              <a:gd name="T8" fmla="*/ 2147483647 w 116"/>
              <a:gd name="T9" fmla="*/ 2147483647 h 560"/>
              <a:gd name="T10" fmla="*/ 0 w 116"/>
              <a:gd name="T11" fmla="*/ 2147483647 h 560"/>
              <a:gd name="T12" fmla="*/ 2147483647 w 116"/>
              <a:gd name="T13" fmla="*/ 2147483647 h 560"/>
              <a:gd name="T14" fmla="*/ 2147483647 w 116"/>
              <a:gd name="T15" fmla="*/ 2147483647 h 560"/>
              <a:gd name="T16" fmla="*/ 2147483647 w 116"/>
              <a:gd name="T17" fmla="*/ 2147483647 h 560"/>
              <a:gd name="T18" fmla="*/ 2147483647 w 116"/>
              <a:gd name="T19" fmla="*/ 2147483647 h 560"/>
              <a:gd name="T20" fmla="*/ 2147483647 w 116"/>
              <a:gd name="T21" fmla="*/ 2147483647 h 560"/>
              <a:gd name="T22" fmla="*/ 2147483647 w 116"/>
              <a:gd name="T23" fmla="*/ 2147483647 h 560"/>
              <a:gd name="T24" fmla="*/ 2147483647 w 116"/>
              <a:gd name="T25" fmla="*/ 2147483647 h 560"/>
              <a:gd name="T26" fmla="*/ 2147483647 w 116"/>
              <a:gd name="T27" fmla="*/ 2147483647 h 560"/>
              <a:gd name="T28" fmla="*/ 2147483647 w 116"/>
              <a:gd name="T29" fmla="*/ 2147483647 h 560"/>
              <a:gd name="T30" fmla="*/ 2147483647 w 116"/>
              <a:gd name="T31" fmla="*/ 2147483647 h 560"/>
              <a:gd name="T32" fmla="*/ 2147483647 w 116"/>
              <a:gd name="T33" fmla="*/ 2147483647 h 560"/>
              <a:gd name="T34" fmla="*/ 2147483647 w 116"/>
              <a:gd name="T35" fmla="*/ 2147483647 h 560"/>
              <a:gd name="T36" fmla="*/ 2147483647 w 116"/>
              <a:gd name="T37" fmla="*/ 2147483647 h 560"/>
              <a:gd name="T38" fmla="*/ 2147483647 w 116"/>
              <a:gd name="T39" fmla="*/ 2147483647 h 560"/>
              <a:gd name="T40" fmla="*/ 2147483647 w 116"/>
              <a:gd name="T41" fmla="*/ 2147483647 h 560"/>
              <a:gd name="T42" fmla="*/ 2147483647 w 116"/>
              <a:gd name="T43" fmla="*/ 0 h 560"/>
              <a:gd name="T44" fmla="*/ 2147483647 w 116"/>
              <a:gd name="T45" fmla="*/ 0 h 560"/>
              <a:gd name="T46" fmla="*/ 2147483647 w 116"/>
              <a:gd name="T47" fmla="*/ 2147483647 h 560"/>
              <a:gd name="T48" fmla="*/ 2147483647 w 116"/>
              <a:gd name="T49" fmla="*/ 2147483647 h 560"/>
              <a:gd name="T50" fmla="*/ 2147483647 w 116"/>
              <a:gd name="T51" fmla="*/ 2147483647 h 56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16" h="560">
                <a:moveTo>
                  <a:pt x="36" y="11"/>
                </a:moveTo>
                <a:lnTo>
                  <a:pt x="33" y="21"/>
                </a:lnTo>
                <a:lnTo>
                  <a:pt x="24" y="53"/>
                </a:lnTo>
                <a:lnTo>
                  <a:pt x="15" y="103"/>
                </a:lnTo>
                <a:lnTo>
                  <a:pt x="5" y="169"/>
                </a:lnTo>
                <a:lnTo>
                  <a:pt x="0" y="250"/>
                </a:lnTo>
                <a:lnTo>
                  <a:pt x="1" y="344"/>
                </a:lnTo>
                <a:lnTo>
                  <a:pt x="10" y="448"/>
                </a:lnTo>
                <a:lnTo>
                  <a:pt x="32" y="560"/>
                </a:lnTo>
                <a:lnTo>
                  <a:pt x="112" y="555"/>
                </a:lnTo>
                <a:lnTo>
                  <a:pt x="108" y="538"/>
                </a:lnTo>
                <a:lnTo>
                  <a:pt x="101" y="493"/>
                </a:lnTo>
                <a:lnTo>
                  <a:pt x="91" y="426"/>
                </a:lnTo>
                <a:lnTo>
                  <a:pt x="82" y="344"/>
                </a:lnTo>
                <a:lnTo>
                  <a:pt x="77" y="255"/>
                </a:lnTo>
                <a:lnTo>
                  <a:pt x="79" y="164"/>
                </a:lnTo>
                <a:lnTo>
                  <a:pt x="91" y="79"/>
                </a:lnTo>
                <a:lnTo>
                  <a:pt x="116" y="6"/>
                </a:lnTo>
                <a:lnTo>
                  <a:pt x="116" y="5"/>
                </a:lnTo>
                <a:lnTo>
                  <a:pt x="116" y="4"/>
                </a:lnTo>
                <a:lnTo>
                  <a:pt x="114" y="2"/>
                </a:lnTo>
                <a:lnTo>
                  <a:pt x="109" y="0"/>
                </a:lnTo>
                <a:lnTo>
                  <a:pt x="100" y="0"/>
                </a:lnTo>
                <a:lnTo>
                  <a:pt x="86" y="1"/>
                </a:lnTo>
                <a:lnTo>
                  <a:pt x="65" y="4"/>
                </a:lnTo>
                <a:lnTo>
                  <a:pt x="36" y="1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4" name="Freeform 143"/>
          <p:cNvSpPr>
            <a:spLocks/>
          </p:cNvSpPr>
          <p:nvPr/>
        </p:nvSpPr>
        <p:spPr bwMode="auto">
          <a:xfrm>
            <a:off x="8208964" y="3721101"/>
            <a:ext cx="47625" cy="227013"/>
          </a:xfrm>
          <a:custGeom>
            <a:avLst/>
            <a:gdLst>
              <a:gd name="T0" fmla="*/ 2147483647 w 97"/>
              <a:gd name="T1" fmla="*/ 2147483647 h 463"/>
              <a:gd name="T2" fmla="*/ 2147483647 w 97"/>
              <a:gd name="T3" fmla="*/ 2147483647 h 463"/>
              <a:gd name="T4" fmla="*/ 2147483647 w 97"/>
              <a:gd name="T5" fmla="*/ 2147483647 h 463"/>
              <a:gd name="T6" fmla="*/ 2147483647 w 97"/>
              <a:gd name="T7" fmla="*/ 2147483647 h 463"/>
              <a:gd name="T8" fmla="*/ 2147483647 w 97"/>
              <a:gd name="T9" fmla="*/ 2147483647 h 463"/>
              <a:gd name="T10" fmla="*/ 0 w 97"/>
              <a:gd name="T11" fmla="*/ 2147483647 h 463"/>
              <a:gd name="T12" fmla="*/ 0 w 97"/>
              <a:gd name="T13" fmla="*/ 2147483647 h 463"/>
              <a:gd name="T14" fmla="*/ 2147483647 w 97"/>
              <a:gd name="T15" fmla="*/ 2147483647 h 463"/>
              <a:gd name="T16" fmla="*/ 2147483647 w 97"/>
              <a:gd name="T17" fmla="*/ 2147483647 h 463"/>
              <a:gd name="T18" fmla="*/ 2147483647 w 97"/>
              <a:gd name="T19" fmla="*/ 2147483647 h 463"/>
              <a:gd name="T20" fmla="*/ 2147483647 w 97"/>
              <a:gd name="T21" fmla="*/ 2147483647 h 463"/>
              <a:gd name="T22" fmla="*/ 2147483647 w 97"/>
              <a:gd name="T23" fmla="*/ 2147483647 h 463"/>
              <a:gd name="T24" fmla="*/ 2147483647 w 97"/>
              <a:gd name="T25" fmla="*/ 2147483647 h 463"/>
              <a:gd name="T26" fmla="*/ 2147483647 w 97"/>
              <a:gd name="T27" fmla="*/ 2147483647 h 463"/>
              <a:gd name="T28" fmla="*/ 2147483647 w 97"/>
              <a:gd name="T29" fmla="*/ 2147483647 h 463"/>
              <a:gd name="T30" fmla="*/ 2147483647 w 97"/>
              <a:gd name="T31" fmla="*/ 2147483647 h 463"/>
              <a:gd name="T32" fmla="*/ 2147483647 w 97"/>
              <a:gd name="T33" fmla="*/ 2147483647 h 463"/>
              <a:gd name="T34" fmla="*/ 2147483647 w 97"/>
              <a:gd name="T35" fmla="*/ 2147483647 h 463"/>
              <a:gd name="T36" fmla="*/ 2147483647 w 97"/>
              <a:gd name="T37" fmla="*/ 2147483647 h 463"/>
              <a:gd name="T38" fmla="*/ 2147483647 w 97"/>
              <a:gd name="T39" fmla="*/ 2147483647 h 463"/>
              <a:gd name="T40" fmla="*/ 2147483647 w 97"/>
              <a:gd name="T41" fmla="*/ 2147483647 h 463"/>
              <a:gd name="T42" fmla="*/ 2147483647 w 97"/>
              <a:gd name="T43" fmla="*/ 0 h 463"/>
              <a:gd name="T44" fmla="*/ 2147483647 w 97"/>
              <a:gd name="T45" fmla="*/ 0 h 463"/>
              <a:gd name="T46" fmla="*/ 2147483647 w 97"/>
              <a:gd name="T47" fmla="*/ 0 h 463"/>
              <a:gd name="T48" fmla="*/ 2147483647 w 97"/>
              <a:gd name="T49" fmla="*/ 2147483647 h 463"/>
              <a:gd name="T50" fmla="*/ 2147483647 w 97"/>
              <a:gd name="T51" fmla="*/ 2147483647 h 463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97" h="463">
                <a:moveTo>
                  <a:pt x="30" y="9"/>
                </a:moveTo>
                <a:lnTo>
                  <a:pt x="27" y="17"/>
                </a:lnTo>
                <a:lnTo>
                  <a:pt x="20" y="44"/>
                </a:lnTo>
                <a:lnTo>
                  <a:pt x="12" y="85"/>
                </a:lnTo>
                <a:lnTo>
                  <a:pt x="4" y="140"/>
                </a:lnTo>
                <a:lnTo>
                  <a:pt x="0" y="207"/>
                </a:lnTo>
                <a:lnTo>
                  <a:pt x="0" y="285"/>
                </a:lnTo>
                <a:lnTo>
                  <a:pt x="9" y="370"/>
                </a:lnTo>
                <a:lnTo>
                  <a:pt x="26" y="463"/>
                </a:lnTo>
                <a:lnTo>
                  <a:pt x="93" y="460"/>
                </a:lnTo>
                <a:lnTo>
                  <a:pt x="89" y="446"/>
                </a:lnTo>
                <a:lnTo>
                  <a:pt x="83" y="408"/>
                </a:lnTo>
                <a:lnTo>
                  <a:pt x="75" y="353"/>
                </a:lnTo>
                <a:lnTo>
                  <a:pt x="68" y="285"/>
                </a:lnTo>
                <a:lnTo>
                  <a:pt x="65" y="211"/>
                </a:lnTo>
                <a:lnTo>
                  <a:pt x="67" y="136"/>
                </a:lnTo>
                <a:lnTo>
                  <a:pt x="76" y="65"/>
                </a:lnTo>
                <a:lnTo>
                  <a:pt x="97" y="5"/>
                </a:lnTo>
                <a:lnTo>
                  <a:pt x="97" y="4"/>
                </a:lnTo>
                <a:lnTo>
                  <a:pt x="97" y="3"/>
                </a:lnTo>
                <a:lnTo>
                  <a:pt x="95" y="1"/>
                </a:lnTo>
                <a:lnTo>
                  <a:pt x="91" y="0"/>
                </a:lnTo>
                <a:lnTo>
                  <a:pt x="84" y="0"/>
                </a:lnTo>
                <a:lnTo>
                  <a:pt x="71" y="0"/>
                </a:lnTo>
                <a:lnTo>
                  <a:pt x="54" y="3"/>
                </a:lnTo>
                <a:lnTo>
                  <a:pt x="30" y="9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5" name="Freeform 144"/>
          <p:cNvSpPr>
            <a:spLocks/>
          </p:cNvSpPr>
          <p:nvPr/>
        </p:nvSpPr>
        <p:spPr bwMode="auto">
          <a:xfrm>
            <a:off x="8212138" y="3743325"/>
            <a:ext cx="36512" cy="179388"/>
          </a:xfrm>
          <a:custGeom>
            <a:avLst/>
            <a:gdLst>
              <a:gd name="T0" fmla="*/ 2147483647 w 77"/>
              <a:gd name="T1" fmla="*/ 2147483647 h 367"/>
              <a:gd name="T2" fmla="*/ 2147483647 w 77"/>
              <a:gd name="T3" fmla="*/ 2147483647 h 367"/>
              <a:gd name="T4" fmla="*/ 2147483647 w 77"/>
              <a:gd name="T5" fmla="*/ 2147483647 h 367"/>
              <a:gd name="T6" fmla="*/ 2147483647 w 77"/>
              <a:gd name="T7" fmla="*/ 2147483647 h 367"/>
              <a:gd name="T8" fmla="*/ 2147483647 w 77"/>
              <a:gd name="T9" fmla="*/ 2147483647 h 367"/>
              <a:gd name="T10" fmla="*/ 0 w 77"/>
              <a:gd name="T11" fmla="*/ 2147483647 h 367"/>
              <a:gd name="T12" fmla="*/ 0 w 77"/>
              <a:gd name="T13" fmla="*/ 2147483647 h 367"/>
              <a:gd name="T14" fmla="*/ 2147483647 w 77"/>
              <a:gd name="T15" fmla="*/ 2147483647 h 367"/>
              <a:gd name="T16" fmla="*/ 2147483647 w 77"/>
              <a:gd name="T17" fmla="*/ 2147483647 h 367"/>
              <a:gd name="T18" fmla="*/ 2147483647 w 77"/>
              <a:gd name="T19" fmla="*/ 2147483647 h 367"/>
              <a:gd name="T20" fmla="*/ 2147483647 w 77"/>
              <a:gd name="T21" fmla="*/ 2147483647 h 367"/>
              <a:gd name="T22" fmla="*/ 2147483647 w 77"/>
              <a:gd name="T23" fmla="*/ 2147483647 h 367"/>
              <a:gd name="T24" fmla="*/ 2147483647 w 77"/>
              <a:gd name="T25" fmla="*/ 2147483647 h 367"/>
              <a:gd name="T26" fmla="*/ 2147483647 w 77"/>
              <a:gd name="T27" fmla="*/ 2147483647 h 367"/>
              <a:gd name="T28" fmla="*/ 2147483647 w 77"/>
              <a:gd name="T29" fmla="*/ 2147483647 h 367"/>
              <a:gd name="T30" fmla="*/ 2147483647 w 77"/>
              <a:gd name="T31" fmla="*/ 2147483647 h 367"/>
              <a:gd name="T32" fmla="*/ 2147483647 w 77"/>
              <a:gd name="T33" fmla="*/ 2147483647 h 367"/>
              <a:gd name="T34" fmla="*/ 2147483647 w 77"/>
              <a:gd name="T35" fmla="*/ 2147483647 h 367"/>
              <a:gd name="T36" fmla="*/ 2147483647 w 77"/>
              <a:gd name="T37" fmla="*/ 2147483647 h 367"/>
              <a:gd name="T38" fmla="*/ 2147483647 w 77"/>
              <a:gd name="T39" fmla="*/ 2147483647 h 367"/>
              <a:gd name="T40" fmla="*/ 2147483647 w 77"/>
              <a:gd name="T41" fmla="*/ 2147483647 h 367"/>
              <a:gd name="T42" fmla="*/ 2147483647 w 77"/>
              <a:gd name="T43" fmla="*/ 0 h 367"/>
              <a:gd name="T44" fmla="*/ 2147483647 w 77"/>
              <a:gd name="T45" fmla="*/ 0 h 367"/>
              <a:gd name="T46" fmla="*/ 2147483647 w 77"/>
              <a:gd name="T47" fmla="*/ 2147483647 h 367"/>
              <a:gd name="T48" fmla="*/ 2147483647 w 77"/>
              <a:gd name="T49" fmla="*/ 2147483647 h 367"/>
              <a:gd name="T50" fmla="*/ 2147483647 w 77"/>
              <a:gd name="T51" fmla="*/ 2147483647 h 367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77" h="367">
                <a:moveTo>
                  <a:pt x="24" y="8"/>
                </a:moveTo>
                <a:lnTo>
                  <a:pt x="22" y="15"/>
                </a:lnTo>
                <a:lnTo>
                  <a:pt x="17" y="36"/>
                </a:lnTo>
                <a:lnTo>
                  <a:pt x="10" y="68"/>
                </a:lnTo>
                <a:lnTo>
                  <a:pt x="4" y="112"/>
                </a:lnTo>
                <a:lnTo>
                  <a:pt x="0" y="164"/>
                </a:lnTo>
                <a:lnTo>
                  <a:pt x="0" y="226"/>
                </a:lnTo>
                <a:lnTo>
                  <a:pt x="7" y="294"/>
                </a:lnTo>
                <a:lnTo>
                  <a:pt x="21" y="367"/>
                </a:lnTo>
                <a:lnTo>
                  <a:pt x="74" y="364"/>
                </a:lnTo>
                <a:lnTo>
                  <a:pt x="71" y="353"/>
                </a:lnTo>
                <a:lnTo>
                  <a:pt x="66" y="323"/>
                </a:lnTo>
                <a:lnTo>
                  <a:pt x="60" y="280"/>
                </a:lnTo>
                <a:lnTo>
                  <a:pt x="54" y="226"/>
                </a:lnTo>
                <a:lnTo>
                  <a:pt x="51" y="168"/>
                </a:lnTo>
                <a:lnTo>
                  <a:pt x="53" y="107"/>
                </a:lnTo>
                <a:lnTo>
                  <a:pt x="61" y="52"/>
                </a:lnTo>
                <a:lnTo>
                  <a:pt x="77" y="5"/>
                </a:lnTo>
                <a:lnTo>
                  <a:pt x="77" y="2"/>
                </a:lnTo>
                <a:lnTo>
                  <a:pt x="76" y="1"/>
                </a:lnTo>
                <a:lnTo>
                  <a:pt x="72" y="0"/>
                </a:lnTo>
                <a:lnTo>
                  <a:pt x="66" y="0"/>
                </a:lnTo>
                <a:lnTo>
                  <a:pt x="56" y="1"/>
                </a:lnTo>
                <a:lnTo>
                  <a:pt x="43" y="4"/>
                </a:lnTo>
                <a:lnTo>
                  <a:pt x="24" y="8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6" name="Freeform 145"/>
          <p:cNvSpPr>
            <a:spLocks/>
          </p:cNvSpPr>
          <p:nvPr/>
        </p:nvSpPr>
        <p:spPr bwMode="auto">
          <a:xfrm>
            <a:off x="8215314" y="3765551"/>
            <a:ext cx="26987" cy="131763"/>
          </a:xfrm>
          <a:custGeom>
            <a:avLst/>
            <a:gdLst>
              <a:gd name="T0" fmla="*/ 2147483647 w 56"/>
              <a:gd name="T1" fmla="*/ 2147483647 h 271"/>
              <a:gd name="T2" fmla="*/ 2147483647 w 56"/>
              <a:gd name="T3" fmla="*/ 2147483647 h 271"/>
              <a:gd name="T4" fmla="*/ 2147483647 w 56"/>
              <a:gd name="T5" fmla="*/ 2147483647 h 271"/>
              <a:gd name="T6" fmla="*/ 2147483647 w 56"/>
              <a:gd name="T7" fmla="*/ 2147483647 h 271"/>
              <a:gd name="T8" fmla="*/ 2147483647 w 56"/>
              <a:gd name="T9" fmla="*/ 2147483647 h 271"/>
              <a:gd name="T10" fmla="*/ 0 w 56"/>
              <a:gd name="T11" fmla="*/ 2147483647 h 271"/>
              <a:gd name="T12" fmla="*/ 0 w 56"/>
              <a:gd name="T13" fmla="*/ 2147483647 h 271"/>
              <a:gd name="T14" fmla="*/ 2147483647 w 56"/>
              <a:gd name="T15" fmla="*/ 2147483647 h 271"/>
              <a:gd name="T16" fmla="*/ 2147483647 w 56"/>
              <a:gd name="T17" fmla="*/ 2147483647 h 271"/>
              <a:gd name="T18" fmla="*/ 2147483647 w 56"/>
              <a:gd name="T19" fmla="*/ 2147483647 h 271"/>
              <a:gd name="T20" fmla="*/ 2147483647 w 56"/>
              <a:gd name="T21" fmla="*/ 2147483647 h 271"/>
              <a:gd name="T22" fmla="*/ 2147483647 w 56"/>
              <a:gd name="T23" fmla="*/ 2147483647 h 271"/>
              <a:gd name="T24" fmla="*/ 2147483647 w 56"/>
              <a:gd name="T25" fmla="*/ 2147483647 h 271"/>
              <a:gd name="T26" fmla="*/ 2147483647 w 56"/>
              <a:gd name="T27" fmla="*/ 2147483647 h 271"/>
              <a:gd name="T28" fmla="*/ 2147483647 w 56"/>
              <a:gd name="T29" fmla="*/ 2147483647 h 271"/>
              <a:gd name="T30" fmla="*/ 2147483647 w 56"/>
              <a:gd name="T31" fmla="*/ 2147483647 h 271"/>
              <a:gd name="T32" fmla="*/ 2147483647 w 56"/>
              <a:gd name="T33" fmla="*/ 2147483647 h 271"/>
              <a:gd name="T34" fmla="*/ 2147483647 w 56"/>
              <a:gd name="T35" fmla="*/ 2147483647 h 271"/>
              <a:gd name="T36" fmla="*/ 2147483647 w 56"/>
              <a:gd name="T37" fmla="*/ 2147483647 h 271"/>
              <a:gd name="T38" fmla="*/ 2147483647 w 56"/>
              <a:gd name="T39" fmla="*/ 2147483647 h 271"/>
              <a:gd name="T40" fmla="*/ 2147483647 w 56"/>
              <a:gd name="T41" fmla="*/ 2147483647 h 271"/>
              <a:gd name="T42" fmla="*/ 2147483647 w 56"/>
              <a:gd name="T43" fmla="*/ 0 h 271"/>
              <a:gd name="T44" fmla="*/ 2147483647 w 56"/>
              <a:gd name="T45" fmla="*/ 0 h 271"/>
              <a:gd name="T46" fmla="*/ 2147483647 w 56"/>
              <a:gd name="T47" fmla="*/ 0 h 271"/>
              <a:gd name="T48" fmla="*/ 2147483647 w 56"/>
              <a:gd name="T49" fmla="*/ 2147483647 h 271"/>
              <a:gd name="T50" fmla="*/ 2147483647 w 56"/>
              <a:gd name="T51" fmla="*/ 2147483647 h 27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56" h="271">
                <a:moveTo>
                  <a:pt x="17" y="5"/>
                </a:moveTo>
                <a:lnTo>
                  <a:pt x="16" y="10"/>
                </a:lnTo>
                <a:lnTo>
                  <a:pt x="12" y="25"/>
                </a:lnTo>
                <a:lnTo>
                  <a:pt x="6" y="49"/>
                </a:lnTo>
                <a:lnTo>
                  <a:pt x="2" y="82"/>
                </a:lnTo>
                <a:lnTo>
                  <a:pt x="0" y="122"/>
                </a:lnTo>
                <a:lnTo>
                  <a:pt x="0" y="166"/>
                </a:lnTo>
                <a:lnTo>
                  <a:pt x="4" y="217"/>
                </a:lnTo>
                <a:lnTo>
                  <a:pt x="15" y="271"/>
                </a:lnTo>
                <a:lnTo>
                  <a:pt x="54" y="268"/>
                </a:lnTo>
                <a:lnTo>
                  <a:pt x="52" y="261"/>
                </a:lnTo>
                <a:lnTo>
                  <a:pt x="48" y="238"/>
                </a:lnTo>
                <a:lnTo>
                  <a:pt x="44" y="206"/>
                </a:lnTo>
                <a:lnTo>
                  <a:pt x="40" y="166"/>
                </a:lnTo>
                <a:lnTo>
                  <a:pt x="37" y="123"/>
                </a:lnTo>
                <a:lnTo>
                  <a:pt x="39" y="78"/>
                </a:lnTo>
                <a:lnTo>
                  <a:pt x="44" y="37"/>
                </a:lnTo>
                <a:lnTo>
                  <a:pt x="56" y="3"/>
                </a:lnTo>
                <a:lnTo>
                  <a:pt x="56" y="2"/>
                </a:lnTo>
                <a:lnTo>
                  <a:pt x="55" y="1"/>
                </a:lnTo>
                <a:lnTo>
                  <a:pt x="52" y="0"/>
                </a:lnTo>
                <a:lnTo>
                  <a:pt x="48" y="0"/>
                </a:lnTo>
                <a:lnTo>
                  <a:pt x="42" y="0"/>
                </a:lnTo>
                <a:lnTo>
                  <a:pt x="31" y="2"/>
                </a:lnTo>
                <a:lnTo>
                  <a:pt x="17" y="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7" name="Freeform 146"/>
          <p:cNvSpPr>
            <a:spLocks/>
          </p:cNvSpPr>
          <p:nvPr/>
        </p:nvSpPr>
        <p:spPr bwMode="auto">
          <a:xfrm>
            <a:off x="8594725" y="3635376"/>
            <a:ext cx="90488" cy="358775"/>
          </a:xfrm>
          <a:custGeom>
            <a:avLst/>
            <a:gdLst>
              <a:gd name="T0" fmla="*/ 2147483647 w 186"/>
              <a:gd name="T1" fmla="*/ 2147483647 h 732"/>
              <a:gd name="T2" fmla="*/ 2147483647 w 186"/>
              <a:gd name="T3" fmla="*/ 2147483647 h 732"/>
              <a:gd name="T4" fmla="*/ 2147483647 w 186"/>
              <a:gd name="T5" fmla="*/ 2147483647 h 732"/>
              <a:gd name="T6" fmla="*/ 2147483647 w 186"/>
              <a:gd name="T7" fmla="*/ 2147483647 h 732"/>
              <a:gd name="T8" fmla="*/ 2147483647 w 186"/>
              <a:gd name="T9" fmla="*/ 2147483647 h 732"/>
              <a:gd name="T10" fmla="*/ 2147483647 w 186"/>
              <a:gd name="T11" fmla="*/ 2147483647 h 732"/>
              <a:gd name="T12" fmla="*/ 2147483647 w 186"/>
              <a:gd name="T13" fmla="*/ 2147483647 h 732"/>
              <a:gd name="T14" fmla="*/ 2147483647 w 186"/>
              <a:gd name="T15" fmla="*/ 2147483647 h 732"/>
              <a:gd name="T16" fmla="*/ 2147483647 w 186"/>
              <a:gd name="T17" fmla="*/ 2147483647 h 732"/>
              <a:gd name="T18" fmla="*/ 2147483647 w 186"/>
              <a:gd name="T19" fmla="*/ 2147483647 h 732"/>
              <a:gd name="T20" fmla="*/ 2147483647 w 186"/>
              <a:gd name="T21" fmla="*/ 2147483647 h 732"/>
              <a:gd name="T22" fmla="*/ 2147483647 w 186"/>
              <a:gd name="T23" fmla="*/ 2147483647 h 732"/>
              <a:gd name="T24" fmla="*/ 2147483647 w 186"/>
              <a:gd name="T25" fmla="*/ 2147483647 h 732"/>
              <a:gd name="T26" fmla="*/ 2147483647 w 186"/>
              <a:gd name="T27" fmla="*/ 2147483647 h 732"/>
              <a:gd name="T28" fmla="*/ 0 w 186"/>
              <a:gd name="T29" fmla="*/ 2147483647 h 732"/>
              <a:gd name="T30" fmla="*/ 2147483647 w 186"/>
              <a:gd name="T31" fmla="*/ 2147483647 h 732"/>
              <a:gd name="T32" fmla="*/ 2147483647 w 186"/>
              <a:gd name="T33" fmla="*/ 2147483647 h 732"/>
              <a:gd name="T34" fmla="*/ 2147483647 w 186"/>
              <a:gd name="T35" fmla="*/ 0 h 732"/>
              <a:gd name="T36" fmla="*/ 2147483647 w 186"/>
              <a:gd name="T37" fmla="*/ 2147483647 h 73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86" h="732">
                <a:moveTo>
                  <a:pt x="186" y="6"/>
                </a:moveTo>
                <a:lnTo>
                  <a:pt x="182" y="11"/>
                </a:lnTo>
                <a:lnTo>
                  <a:pt x="169" y="29"/>
                </a:lnTo>
                <a:lnTo>
                  <a:pt x="153" y="67"/>
                </a:lnTo>
                <a:lnTo>
                  <a:pt x="137" y="130"/>
                </a:lnTo>
                <a:lnTo>
                  <a:pt x="124" y="221"/>
                </a:lnTo>
                <a:lnTo>
                  <a:pt x="117" y="350"/>
                </a:lnTo>
                <a:lnTo>
                  <a:pt x="122" y="517"/>
                </a:lnTo>
                <a:lnTo>
                  <a:pt x="139" y="732"/>
                </a:lnTo>
                <a:lnTo>
                  <a:pt x="34" y="732"/>
                </a:lnTo>
                <a:lnTo>
                  <a:pt x="31" y="711"/>
                </a:lnTo>
                <a:lnTo>
                  <a:pt x="22" y="651"/>
                </a:lnTo>
                <a:lnTo>
                  <a:pt x="12" y="563"/>
                </a:lnTo>
                <a:lnTo>
                  <a:pt x="3" y="454"/>
                </a:lnTo>
                <a:lnTo>
                  <a:pt x="0" y="335"/>
                </a:lnTo>
                <a:lnTo>
                  <a:pt x="6" y="213"/>
                </a:lnTo>
                <a:lnTo>
                  <a:pt x="25" y="98"/>
                </a:lnTo>
                <a:lnTo>
                  <a:pt x="60" y="0"/>
                </a:lnTo>
                <a:lnTo>
                  <a:pt x="186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8" name="Freeform 147"/>
          <p:cNvSpPr>
            <a:spLocks/>
          </p:cNvSpPr>
          <p:nvPr/>
        </p:nvSpPr>
        <p:spPr bwMode="auto">
          <a:xfrm>
            <a:off x="8597900" y="3660775"/>
            <a:ext cx="76200" cy="306388"/>
          </a:xfrm>
          <a:custGeom>
            <a:avLst/>
            <a:gdLst>
              <a:gd name="T0" fmla="*/ 2147483647 w 158"/>
              <a:gd name="T1" fmla="*/ 2147483647 h 625"/>
              <a:gd name="T2" fmla="*/ 2147483647 w 158"/>
              <a:gd name="T3" fmla="*/ 2147483647 h 625"/>
              <a:gd name="T4" fmla="*/ 2147483647 w 158"/>
              <a:gd name="T5" fmla="*/ 2147483647 h 625"/>
              <a:gd name="T6" fmla="*/ 2147483647 w 158"/>
              <a:gd name="T7" fmla="*/ 2147483647 h 625"/>
              <a:gd name="T8" fmla="*/ 2147483647 w 158"/>
              <a:gd name="T9" fmla="*/ 2147483647 h 625"/>
              <a:gd name="T10" fmla="*/ 2147483647 w 158"/>
              <a:gd name="T11" fmla="*/ 2147483647 h 625"/>
              <a:gd name="T12" fmla="*/ 2147483647 w 158"/>
              <a:gd name="T13" fmla="*/ 2147483647 h 625"/>
              <a:gd name="T14" fmla="*/ 2147483647 w 158"/>
              <a:gd name="T15" fmla="*/ 2147483647 h 625"/>
              <a:gd name="T16" fmla="*/ 2147483647 w 158"/>
              <a:gd name="T17" fmla="*/ 2147483647 h 625"/>
              <a:gd name="T18" fmla="*/ 2147483647 w 158"/>
              <a:gd name="T19" fmla="*/ 2147483647 h 625"/>
              <a:gd name="T20" fmla="*/ 2147483647 w 158"/>
              <a:gd name="T21" fmla="*/ 2147483647 h 625"/>
              <a:gd name="T22" fmla="*/ 2147483647 w 158"/>
              <a:gd name="T23" fmla="*/ 2147483647 h 625"/>
              <a:gd name="T24" fmla="*/ 2147483647 w 158"/>
              <a:gd name="T25" fmla="*/ 2147483647 h 625"/>
              <a:gd name="T26" fmla="*/ 2147483647 w 158"/>
              <a:gd name="T27" fmla="*/ 2147483647 h 625"/>
              <a:gd name="T28" fmla="*/ 0 w 158"/>
              <a:gd name="T29" fmla="*/ 2147483647 h 625"/>
              <a:gd name="T30" fmla="*/ 2147483647 w 158"/>
              <a:gd name="T31" fmla="*/ 2147483647 h 625"/>
              <a:gd name="T32" fmla="*/ 2147483647 w 158"/>
              <a:gd name="T33" fmla="*/ 2147483647 h 625"/>
              <a:gd name="T34" fmla="*/ 2147483647 w 158"/>
              <a:gd name="T35" fmla="*/ 0 h 625"/>
              <a:gd name="T36" fmla="*/ 2147483647 w 158"/>
              <a:gd name="T37" fmla="*/ 2147483647 h 62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58" h="625">
                <a:moveTo>
                  <a:pt x="158" y="4"/>
                </a:moveTo>
                <a:lnTo>
                  <a:pt x="153" y="9"/>
                </a:lnTo>
                <a:lnTo>
                  <a:pt x="144" y="25"/>
                </a:lnTo>
                <a:lnTo>
                  <a:pt x="130" y="57"/>
                </a:lnTo>
                <a:lnTo>
                  <a:pt x="116" y="110"/>
                </a:lnTo>
                <a:lnTo>
                  <a:pt x="105" y="189"/>
                </a:lnTo>
                <a:lnTo>
                  <a:pt x="100" y="298"/>
                </a:lnTo>
                <a:lnTo>
                  <a:pt x="103" y="441"/>
                </a:lnTo>
                <a:lnTo>
                  <a:pt x="118" y="625"/>
                </a:lnTo>
                <a:lnTo>
                  <a:pt x="29" y="625"/>
                </a:lnTo>
                <a:lnTo>
                  <a:pt x="25" y="607"/>
                </a:lnTo>
                <a:lnTo>
                  <a:pt x="18" y="556"/>
                </a:lnTo>
                <a:lnTo>
                  <a:pt x="9" y="480"/>
                </a:lnTo>
                <a:lnTo>
                  <a:pt x="2" y="387"/>
                </a:lnTo>
                <a:lnTo>
                  <a:pt x="0" y="286"/>
                </a:lnTo>
                <a:lnTo>
                  <a:pt x="5" y="182"/>
                </a:lnTo>
                <a:lnTo>
                  <a:pt x="21" y="84"/>
                </a:lnTo>
                <a:lnTo>
                  <a:pt x="51" y="0"/>
                </a:lnTo>
                <a:lnTo>
                  <a:pt x="158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9" name="Freeform 148"/>
          <p:cNvSpPr>
            <a:spLocks/>
          </p:cNvSpPr>
          <p:nvPr/>
        </p:nvSpPr>
        <p:spPr bwMode="auto">
          <a:xfrm>
            <a:off x="8601075" y="3686176"/>
            <a:ext cx="63500" cy="252413"/>
          </a:xfrm>
          <a:custGeom>
            <a:avLst/>
            <a:gdLst>
              <a:gd name="T0" fmla="*/ 2147483647 w 131"/>
              <a:gd name="T1" fmla="*/ 2147483647 h 517"/>
              <a:gd name="T2" fmla="*/ 2147483647 w 131"/>
              <a:gd name="T3" fmla="*/ 2147483647 h 517"/>
              <a:gd name="T4" fmla="*/ 2147483647 w 131"/>
              <a:gd name="T5" fmla="*/ 2147483647 h 517"/>
              <a:gd name="T6" fmla="*/ 2147483647 w 131"/>
              <a:gd name="T7" fmla="*/ 2147483647 h 517"/>
              <a:gd name="T8" fmla="*/ 2147483647 w 131"/>
              <a:gd name="T9" fmla="*/ 2147483647 h 517"/>
              <a:gd name="T10" fmla="*/ 2147483647 w 131"/>
              <a:gd name="T11" fmla="*/ 2147483647 h 517"/>
              <a:gd name="T12" fmla="*/ 2147483647 w 131"/>
              <a:gd name="T13" fmla="*/ 2147483647 h 517"/>
              <a:gd name="T14" fmla="*/ 2147483647 w 131"/>
              <a:gd name="T15" fmla="*/ 2147483647 h 517"/>
              <a:gd name="T16" fmla="*/ 2147483647 w 131"/>
              <a:gd name="T17" fmla="*/ 2147483647 h 517"/>
              <a:gd name="T18" fmla="*/ 2147483647 w 131"/>
              <a:gd name="T19" fmla="*/ 2147483647 h 517"/>
              <a:gd name="T20" fmla="*/ 2147483647 w 131"/>
              <a:gd name="T21" fmla="*/ 2147483647 h 517"/>
              <a:gd name="T22" fmla="*/ 2147483647 w 131"/>
              <a:gd name="T23" fmla="*/ 2147483647 h 517"/>
              <a:gd name="T24" fmla="*/ 2147483647 w 131"/>
              <a:gd name="T25" fmla="*/ 2147483647 h 517"/>
              <a:gd name="T26" fmla="*/ 2147483647 w 131"/>
              <a:gd name="T27" fmla="*/ 2147483647 h 517"/>
              <a:gd name="T28" fmla="*/ 0 w 131"/>
              <a:gd name="T29" fmla="*/ 2147483647 h 517"/>
              <a:gd name="T30" fmla="*/ 2147483647 w 131"/>
              <a:gd name="T31" fmla="*/ 2147483647 h 517"/>
              <a:gd name="T32" fmla="*/ 2147483647 w 131"/>
              <a:gd name="T33" fmla="*/ 2147483647 h 517"/>
              <a:gd name="T34" fmla="*/ 2147483647 w 131"/>
              <a:gd name="T35" fmla="*/ 0 h 517"/>
              <a:gd name="T36" fmla="*/ 2147483647 w 131"/>
              <a:gd name="T37" fmla="*/ 2147483647 h 51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1" h="517">
                <a:moveTo>
                  <a:pt x="131" y="4"/>
                </a:moveTo>
                <a:lnTo>
                  <a:pt x="128" y="7"/>
                </a:lnTo>
                <a:lnTo>
                  <a:pt x="119" y="21"/>
                </a:lnTo>
                <a:lnTo>
                  <a:pt x="109" y="47"/>
                </a:lnTo>
                <a:lnTo>
                  <a:pt x="97" y="91"/>
                </a:lnTo>
                <a:lnTo>
                  <a:pt x="88" y="156"/>
                </a:lnTo>
                <a:lnTo>
                  <a:pt x="84" y="247"/>
                </a:lnTo>
                <a:lnTo>
                  <a:pt x="86" y="366"/>
                </a:lnTo>
                <a:lnTo>
                  <a:pt x="99" y="517"/>
                </a:lnTo>
                <a:lnTo>
                  <a:pt x="25" y="517"/>
                </a:lnTo>
                <a:lnTo>
                  <a:pt x="23" y="502"/>
                </a:lnTo>
                <a:lnTo>
                  <a:pt x="16" y="460"/>
                </a:lnTo>
                <a:lnTo>
                  <a:pt x="9" y="397"/>
                </a:lnTo>
                <a:lnTo>
                  <a:pt x="2" y="320"/>
                </a:lnTo>
                <a:lnTo>
                  <a:pt x="0" y="236"/>
                </a:lnTo>
                <a:lnTo>
                  <a:pt x="4" y="151"/>
                </a:lnTo>
                <a:lnTo>
                  <a:pt x="18" y="70"/>
                </a:lnTo>
                <a:lnTo>
                  <a:pt x="43" y="0"/>
                </a:lnTo>
                <a:lnTo>
                  <a:pt x="131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0" name="Freeform 149"/>
          <p:cNvSpPr>
            <a:spLocks/>
          </p:cNvSpPr>
          <p:nvPr/>
        </p:nvSpPr>
        <p:spPr bwMode="auto">
          <a:xfrm>
            <a:off x="8604250" y="3709988"/>
            <a:ext cx="50800" cy="201612"/>
          </a:xfrm>
          <a:custGeom>
            <a:avLst/>
            <a:gdLst>
              <a:gd name="T0" fmla="*/ 2147483647 w 104"/>
              <a:gd name="T1" fmla="*/ 2147483647 h 411"/>
              <a:gd name="T2" fmla="*/ 2147483647 w 104"/>
              <a:gd name="T3" fmla="*/ 2147483647 h 411"/>
              <a:gd name="T4" fmla="*/ 2147483647 w 104"/>
              <a:gd name="T5" fmla="*/ 2147483647 h 411"/>
              <a:gd name="T6" fmla="*/ 2147483647 w 104"/>
              <a:gd name="T7" fmla="*/ 2147483647 h 411"/>
              <a:gd name="T8" fmla="*/ 2147483647 w 104"/>
              <a:gd name="T9" fmla="*/ 2147483647 h 411"/>
              <a:gd name="T10" fmla="*/ 2147483647 w 104"/>
              <a:gd name="T11" fmla="*/ 2147483647 h 411"/>
              <a:gd name="T12" fmla="*/ 2147483647 w 104"/>
              <a:gd name="T13" fmla="*/ 2147483647 h 411"/>
              <a:gd name="T14" fmla="*/ 2147483647 w 104"/>
              <a:gd name="T15" fmla="*/ 2147483647 h 411"/>
              <a:gd name="T16" fmla="*/ 2147483647 w 104"/>
              <a:gd name="T17" fmla="*/ 2147483647 h 411"/>
              <a:gd name="T18" fmla="*/ 2147483647 w 104"/>
              <a:gd name="T19" fmla="*/ 2147483647 h 411"/>
              <a:gd name="T20" fmla="*/ 2147483647 w 104"/>
              <a:gd name="T21" fmla="*/ 2147483647 h 411"/>
              <a:gd name="T22" fmla="*/ 2147483647 w 104"/>
              <a:gd name="T23" fmla="*/ 2147483647 h 411"/>
              <a:gd name="T24" fmla="*/ 2147483647 w 104"/>
              <a:gd name="T25" fmla="*/ 2147483647 h 411"/>
              <a:gd name="T26" fmla="*/ 2147483647 w 104"/>
              <a:gd name="T27" fmla="*/ 2147483647 h 411"/>
              <a:gd name="T28" fmla="*/ 0 w 104"/>
              <a:gd name="T29" fmla="*/ 2147483647 h 411"/>
              <a:gd name="T30" fmla="*/ 2147483647 w 104"/>
              <a:gd name="T31" fmla="*/ 2147483647 h 411"/>
              <a:gd name="T32" fmla="*/ 2147483647 w 104"/>
              <a:gd name="T33" fmla="*/ 2147483647 h 411"/>
              <a:gd name="T34" fmla="*/ 2147483647 w 104"/>
              <a:gd name="T35" fmla="*/ 0 h 411"/>
              <a:gd name="T36" fmla="*/ 2147483647 w 104"/>
              <a:gd name="T37" fmla="*/ 2147483647 h 41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04" h="411">
                <a:moveTo>
                  <a:pt x="104" y="4"/>
                </a:moveTo>
                <a:lnTo>
                  <a:pt x="101" y="7"/>
                </a:lnTo>
                <a:lnTo>
                  <a:pt x="94" y="17"/>
                </a:lnTo>
                <a:lnTo>
                  <a:pt x="86" y="38"/>
                </a:lnTo>
                <a:lnTo>
                  <a:pt x="76" y="73"/>
                </a:lnTo>
                <a:lnTo>
                  <a:pt x="69" y="125"/>
                </a:lnTo>
                <a:lnTo>
                  <a:pt x="65" y="196"/>
                </a:lnTo>
                <a:lnTo>
                  <a:pt x="67" y="291"/>
                </a:lnTo>
                <a:lnTo>
                  <a:pt x="77" y="411"/>
                </a:lnTo>
                <a:lnTo>
                  <a:pt x="19" y="411"/>
                </a:lnTo>
                <a:lnTo>
                  <a:pt x="17" y="399"/>
                </a:lnTo>
                <a:lnTo>
                  <a:pt x="11" y="365"/>
                </a:lnTo>
                <a:lnTo>
                  <a:pt x="6" y="316"/>
                </a:lnTo>
                <a:lnTo>
                  <a:pt x="2" y="255"/>
                </a:lnTo>
                <a:lnTo>
                  <a:pt x="0" y="188"/>
                </a:lnTo>
                <a:lnTo>
                  <a:pt x="4" y="120"/>
                </a:lnTo>
                <a:lnTo>
                  <a:pt x="15" y="55"/>
                </a:lnTo>
                <a:lnTo>
                  <a:pt x="34" y="0"/>
                </a:lnTo>
                <a:lnTo>
                  <a:pt x="104" y="4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1" name="Freeform 150"/>
          <p:cNvSpPr>
            <a:spLocks/>
          </p:cNvSpPr>
          <p:nvPr/>
        </p:nvSpPr>
        <p:spPr bwMode="auto">
          <a:xfrm>
            <a:off x="8609013" y="3735389"/>
            <a:ext cx="36512" cy="147637"/>
          </a:xfrm>
          <a:custGeom>
            <a:avLst/>
            <a:gdLst>
              <a:gd name="T0" fmla="*/ 2147483647 w 76"/>
              <a:gd name="T1" fmla="*/ 2147483647 h 302"/>
              <a:gd name="T2" fmla="*/ 2147483647 w 76"/>
              <a:gd name="T3" fmla="*/ 2147483647 h 302"/>
              <a:gd name="T4" fmla="*/ 2147483647 w 76"/>
              <a:gd name="T5" fmla="*/ 2147483647 h 302"/>
              <a:gd name="T6" fmla="*/ 2147483647 w 76"/>
              <a:gd name="T7" fmla="*/ 2147483647 h 302"/>
              <a:gd name="T8" fmla="*/ 2147483647 w 76"/>
              <a:gd name="T9" fmla="*/ 2147483647 h 302"/>
              <a:gd name="T10" fmla="*/ 2147483647 w 76"/>
              <a:gd name="T11" fmla="*/ 2147483647 h 302"/>
              <a:gd name="T12" fmla="*/ 2147483647 w 76"/>
              <a:gd name="T13" fmla="*/ 2147483647 h 302"/>
              <a:gd name="T14" fmla="*/ 2147483647 w 76"/>
              <a:gd name="T15" fmla="*/ 2147483647 h 302"/>
              <a:gd name="T16" fmla="*/ 2147483647 w 76"/>
              <a:gd name="T17" fmla="*/ 2147483647 h 302"/>
              <a:gd name="T18" fmla="*/ 2147483647 w 76"/>
              <a:gd name="T19" fmla="*/ 2147483647 h 302"/>
              <a:gd name="T20" fmla="*/ 2147483647 w 76"/>
              <a:gd name="T21" fmla="*/ 2147483647 h 302"/>
              <a:gd name="T22" fmla="*/ 2147483647 w 76"/>
              <a:gd name="T23" fmla="*/ 2147483647 h 302"/>
              <a:gd name="T24" fmla="*/ 2147483647 w 76"/>
              <a:gd name="T25" fmla="*/ 2147483647 h 302"/>
              <a:gd name="T26" fmla="*/ 2147483647 w 76"/>
              <a:gd name="T27" fmla="*/ 2147483647 h 302"/>
              <a:gd name="T28" fmla="*/ 0 w 76"/>
              <a:gd name="T29" fmla="*/ 2147483647 h 302"/>
              <a:gd name="T30" fmla="*/ 2147483647 w 76"/>
              <a:gd name="T31" fmla="*/ 2147483647 h 302"/>
              <a:gd name="T32" fmla="*/ 2147483647 w 76"/>
              <a:gd name="T33" fmla="*/ 2147483647 h 302"/>
              <a:gd name="T34" fmla="*/ 2147483647 w 76"/>
              <a:gd name="T35" fmla="*/ 0 h 302"/>
              <a:gd name="T36" fmla="*/ 2147483647 w 76"/>
              <a:gd name="T37" fmla="*/ 2147483647 h 30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76" h="302">
                <a:moveTo>
                  <a:pt x="76" y="2"/>
                </a:moveTo>
                <a:lnTo>
                  <a:pt x="74" y="4"/>
                </a:lnTo>
                <a:lnTo>
                  <a:pt x="70" y="12"/>
                </a:lnTo>
                <a:lnTo>
                  <a:pt x="62" y="28"/>
                </a:lnTo>
                <a:lnTo>
                  <a:pt x="56" y="53"/>
                </a:lnTo>
                <a:lnTo>
                  <a:pt x="51" y="92"/>
                </a:lnTo>
                <a:lnTo>
                  <a:pt x="49" y="145"/>
                </a:lnTo>
                <a:lnTo>
                  <a:pt x="50" y="214"/>
                </a:lnTo>
                <a:lnTo>
                  <a:pt x="57" y="302"/>
                </a:lnTo>
                <a:lnTo>
                  <a:pt x="14" y="302"/>
                </a:lnTo>
                <a:lnTo>
                  <a:pt x="13" y="294"/>
                </a:lnTo>
                <a:lnTo>
                  <a:pt x="9" y="269"/>
                </a:lnTo>
                <a:lnTo>
                  <a:pt x="4" y="232"/>
                </a:lnTo>
                <a:lnTo>
                  <a:pt x="1" y="188"/>
                </a:lnTo>
                <a:lnTo>
                  <a:pt x="0" y="138"/>
                </a:lnTo>
                <a:lnTo>
                  <a:pt x="2" y="89"/>
                </a:lnTo>
                <a:lnTo>
                  <a:pt x="10" y="41"/>
                </a:lnTo>
                <a:lnTo>
                  <a:pt x="25" y="0"/>
                </a:lnTo>
                <a:lnTo>
                  <a:pt x="76" y="2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2" name="Rectangle 151"/>
          <p:cNvSpPr>
            <a:spLocks noChangeArrowheads="1"/>
          </p:cNvSpPr>
          <p:nvPr/>
        </p:nvSpPr>
        <p:spPr bwMode="auto">
          <a:xfrm>
            <a:off x="8123238" y="3698875"/>
            <a:ext cx="11112" cy="469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3713" name="Freeform 152"/>
          <p:cNvSpPr>
            <a:spLocks/>
          </p:cNvSpPr>
          <p:nvPr/>
        </p:nvSpPr>
        <p:spPr bwMode="auto">
          <a:xfrm>
            <a:off x="8288339" y="3692526"/>
            <a:ext cx="180975" cy="214313"/>
          </a:xfrm>
          <a:custGeom>
            <a:avLst/>
            <a:gdLst>
              <a:gd name="T0" fmla="*/ 2147483647 w 375"/>
              <a:gd name="T1" fmla="*/ 2147483647 h 440"/>
              <a:gd name="T2" fmla="*/ 2147483647 w 375"/>
              <a:gd name="T3" fmla="*/ 2147483647 h 440"/>
              <a:gd name="T4" fmla="*/ 2147483647 w 375"/>
              <a:gd name="T5" fmla="*/ 2147483647 h 440"/>
              <a:gd name="T6" fmla="*/ 2147483647 w 375"/>
              <a:gd name="T7" fmla="*/ 2147483647 h 440"/>
              <a:gd name="T8" fmla="*/ 2147483647 w 375"/>
              <a:gd name="T9" fmla="*/ 2147483647 h 440"/>
              <a:gd name="T10" fmla="*/ 2147483647 w 375"/>
              <a:gd name="T11" fmla="*/ 2147483647 h 440"/>
              <a:gd name="T12" fmla="*/ 0 w 375"/>
              <a:gd name="T13" fmla="*/ 2147483647 h 440"/>
              <a:gd name="T14" fmla="*/ 2147483647 w 375"/>
              <a:gd name="T15" fmla="*/ 2147483647 h 440"/>
              <a:gd name="T16" fmla="*/ 2147483647 w 375"/>
              <a:gd name="T17" fmla="*/ 2147483647 h 440"/>
              <a:gd name="T18" fmla="*/ 2147483647 w 375"/>
              <a:gd name="T19" fmla="*/ 2147483647 h 440"/>
              <a:gd name="T20" fmla="*/ 2147483647 w 375"/>
              <a:gd name="T21" fmla="*/ 2147483647 h 440"/>
              <a:gd name="T22" fmla="*/ 2147483647 w 375"/>
              <a:gd name="T23" fmla="*/ 2147483647 h 440"/>
              <a:gd name="T24" fmla="*/ 2147483647 w 375"/>
              <a:gd name="T25" fmla="*/ 2147483647 h 440"/>
              <a:gd name="T26" fmla="*/ 2147483647 w 375"/>
              <a:gd name="T27" fmla="*/ 2147483647 h 440"/>
              <a:gd name="T28" fmla="*/ 2147483647 w 375"/>
              <a:gd name="T29" fmla="*/ 2147483647 h 440"/>
              <a:gd name="T30" fmla="*/ 2147483647 w 375"/>
              <a:gd name="T31" fmla="*/ 2147483647 h 440"/>
              <a:gd name="T32" fmla="*/ 2147483647 w 375"/>
              <a:gd name="T33" fmla="*/ 2147483647 h 440"/>
              <a:gd name="T34" fmla="*/ 2147483647 w 375"/>
              <a:gd name="T35" fmla="*/ 2147483647 h 440"/>
              <a:gd name="T36" fmla="*/ 2147483647 w 375"/>
              <a:gd name="T37" fmla="*/ 2147483647 h 440"/>
              <a:gd name="T38" fmla="*/ 2147483647 w 375"/>
              <a:gd name="T39" fmla="*/ 2147483647 h 440"/>
              <a:gd name="T40" fmla="*/ 2147483647 w 375"/>
              <a:gd name="T41" fmla="*/ 2147483647 h 440"/>
              <a:gd name="T42" fmla="*/ 2147483647 w 375"/>
              <a:gd name="T43" fmla="*/ 2147483647 h 440"/>
              <a:gd name="T44" fmla="*/ 2147483647 w 375"/>
              <a:gd name="T45" fmla="*/ 2147483647 h 440"/>
              <a:gd name="T46" fmla="*/ 2147483647 w 375"/>
              <a:gd name="T47" fmla="*/ 2147483647 h 440"/>
              <a:gd name="T48" fmla="*/ 2147483647 w 375"/>
              <a:gd name="T49" fmla="*/ 2147483647 h 440"/>
              <a:gd name="T50" fmla="*/ 2147483647 w 375"/>
              <a:gd name="T51" fmla="*/ 2147483647 h 440"/>
              <a:gd name="T52" fmla="*/ 2147483647 w 375"/>
              <a:gd name="T53" fmla="*/ 2147483647 h 440"/>
              <a:gd name="T54" fmla="*/ 2147483647 w 375"/>
              <a:gd name="T55" fmla="*/ 2147483647 h 440"/>
              <a:gd name="T56" fmla="*/ 2147483647 w 375"/>
              <a:gd name="T57" fmla="*/ 2147483647 h 440"/>
              <a:gd name="T58" fmla="*/ 2147483647 w 375"/>
              <a:gd name="T59" fmla="*/ 2147483647 h 440"/>
              <a:gd name="T60" fmla="*/ 2147483647 w 375"/>
              <a:gd name="T61" fmla="*/ 2147483647 h 440"/>
              <a:gd name="T62" fmla="*/ 2147483647 w 375"/>
              <a:gd name="T63" fmla="*/ 2147483647 h 440"/>
              <a:gd name="T64" fmla="*/ 2147483647 w 375"/>
              <a:gd name="T65" fmla="*/ 2147483647 h 440"/>
              <a:gd name="T66" fmla="*/ 2147483647 w 375"/>
              <a:gd name="T67" fmla="*/ 2147483647 h 440"/>
              <a:gd name="T68" fmla="*/ 2147483647 w 375"/>
              <a:gd name="T69" fmla="*/ 2147483647 h 440"/>
              <a:gd name="T70" fmla="*/ 2147483647 w 375"/>
              <a:gd name="T71" fmla="*/ 2147483647 h 440"/>
              <a:gd name="T72" fmla="*/ 2147483647 w 375"/>
              <a:gd name="T73" fmla="*/ 2147483647 h 440"/>
              <a:gd name="T74" fmla="*/ 2147483647 w 375"/>
              <a:gd name="T75" fmla="*/ 2147483647 h 440"/>
              <a:gd name="T76" fmla="*/ 2147483647 w 375"/>
              <a:gd name="T77" fmla="*/ 2147483647 h 440"/>
              <a:gd name="T78" fmla="*/ 2147483647 w 375"/>
              <a:gd name="T79" fmla="*/ 2147483647 h 440"/>
              <a:gd name="T80" fmla="*/ 2147483647 w 375"/>
              <a:gd name="T81" fmla="*/ 2147483647 h 440"/>
              <a:gd name="T82" fmla="*/ 2147483647 w 375"/>
              <a:gd name="T83" fmla="*/ 0 h 440"/>
              <a:gd name="T84" fmla="*/ 2147483647 w 375"/>
              <a:gd name="T85" fmla="*/ 2147483647 h 440"/>
              <a:gd name="T86" fmla="*/ 2147483647 w 375"/>
              <a:gd name="T87" fmla="*/ 2147483647 h 440"/>
              <a:gd name="T88" fmla="*/ 2147483647 w 375"/>
              <a:gd name="T89" fmla="*/ 2147483647 h 440"/>
              <a:gd name="T90" fmla="*/ 2147483647 w 375"/>
              <a:gd name="T91" fmla="*/ 2147483647 h 440"/>
              <a:gd name="T92" fmla="*/ 2147483647 w 375"/>
              <a:gd name="T93" fmla="*/ 2147483647 h 440"/>
              <a:gd name="T94" fmla="*/ 2147483647 w 375"/>
              <a:gd name="T95" fmla="*/ 2147483647 h 440"/>
              <a:gd name="T96" fmla="*/ 2147483647 w 375"/>
              <a:gd name="T97" fmla="*/ 2147483647 h 4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375" h="440">
                <a:moveTo>
                  <a:pt x="35" y="41"/>
                </a:moveTo>
                <a:lnTo>
                  <a:pt x="32" y="49"/>
                </a:lnTo>
                <a:lnTo>
                  <a:pt x="25" y="74"/>
                </a:lnTo>
                <a:lnTo>
                  <a:pt x="17" y="112"/>
                </a:lnTo>
                <a:lnTo>
                  <a:pt x="8" y="163"/>
                </a:lnTo>
                <a:lnTo>
                  <a:pt x="2" y="223"/>
                </a:lnTo>
                <a:lnTo>
                  <a:pt x="0" y="290"/>
                </a:lnTo>
                <a:lnTo>
                  <a:pt x="7" y="363"/>
                </a:lnTo>
                <a:lnTo>
                  <a:pt x="23" y="440"/>
                </a:lnTo>
                <a:lnTo>
                  <a:pt x="23" y="437"/>
                </a:lnTo>
                <a:lnTo>
                  <a:pt x="23" y="427"/>
                </a:lnTo>
                <a:lnTo>
                  <a:pt x="23" y="411"/>
                </a:lnTo>
                <a:lnTo>
                  <a:pt x="23" y="391"/>
                </a:lnTo>
                <a:lnTo>
                  <a:pt x="25" y="367"/>
                </a:lnTo>
                <a:lnTo>
                  <a:pt x="28" y="341"/>
                </a:lnTo>
                <a:lnTo>
                  <a:pt x="33" y="312"/>
                </a:lnTo>
                <a:lnTo>
                  <a:pt x="39" y="281"/>
                </a:lnTo>
                <a:lnTo>
                  <a:pt x="49" y="251"/>
                </a:lnTo>
                <a:lnTo>
                  <a:pt x="61" y="222"/>
                </a:lnTo>
                <a:lnTo>
                  <a:pt x="75" y="194"/>
                </a:lnTo>
                <a:lnTo>
                  <a:pt x="93" y="168"/>
                </a:lnTo>
                <a:lnTo>
                  <a:pt x="116" y="145"/>
                </a:lnTo>
                <a:lnTo>
                  <a:pt x="141" y="127"/>
                </a:lnTo>
                <a:lnTo>
                  <a:pt x="173" y="114"/>
                </a:lnTo>
                <a:lnTo>
                  <a:pt x="208" y="106"/>
                </a:lnTo>
                <a:lnTo>
                  <a:pt x="210" y="104"/>
                </a:lnTo>
                <a:lnTo>
                  <a:pt x="217" y="100"/>
                </a:lnTo>
                <a:lnTo>
                  <a:pt x="227" y="92"/>
                </a:lnTo>
                <a:lnTo>
                  <a:pt x="245" y="82"/>
                </a:lnTo>
                <a:lnTo>
                  <a:pt x="267" y="69"/>
                </a:lnTo>
                <a:lnTo>
                  <a:pt x="296" y="54"/>
                </a:lnTo>
                <a:lnTo>
                  <a:pt x="332" y="36"/>
                </a:lnTo>
                <a:lnTo>
                  <a:pt x="375" y="17"/>
                </a:lnTo>
                <a:lnTo>
                  <a:pt x="373" y="16"/>
                </a:lnTo>
                <a:lnTo>
                  <a:pt x="366" y="15"/>
                </a:lnTo>
                <a:lnTo>
                  <a:pt x="357" y="13"/>
                </a:lnTo>
                <a:lnTo>
                  <a:pt x="343" y="10"/>
                </a:lnTo>
                <a:lnTo>
                  <a:pt x="326" y="7"/>
                </a:lnTo>
                <a:lnTo>
                  <a:pt x="307" y="5"/>
                </a:lnTo>
                <a:lnTo>
                  <a:pt x="285" y="3"/>
                </a:lnTo>
                <a:lnTo>
                  <a:pt x="261" y="1"/>
                </a:lnTo>
                <a:lnTo>
                  <a:pt x="235" y="0"/>
                </a:lnTo>
                <a:lnTo>
                  <a:pt x="208" y="1"/>
                </a:lnTo>
                <a:lnTo>
                  <a:pt x="180" y="2"/>
                </a:lnTo>
                <a:lnTo>
                  <a:pt x="151" y="5"/>
                </a:lnTo>
                <a:lnTo>
                  <a:pt x="122" y="10"/>
                </a:lnTo>
                <a:lnTo>
                  <a:pt x="92" y="18"/>
                </a:lnTo>
                <a:lnTo>
                  <a:pt x="63" y="28"/>
                </a:lnTo>
                <a:lnTo>
                  <a:pt x="35" y="4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4" name="Freeform 153"/>
          <p:cNvSpPr>
            <a:spLocks/>
          </p:cNvSpPr>
          <p:nvPr/>
        </p:nvSpPr>
        <p:spPr bwMode="auto">
          <a:xfrm>
            <a:off x="8035926" y="3852864"/>
            <a:ext cx="149225" cy="39687"/>
          </a:xfrm>
          <a:custGeom>
            <a:avLst/>
            <a:gdLst>
              <a:gd name="T0" fmla="*/ 0 w 305"/>
              <a:gd name="T1" fmla="*/ 2147483647 h 83"/>
              <a:gd name="T2" fmla="*/ 0 w 305"/>
              <a:gd name="T3" fmla="*/ 2147483647 h 83"/>
              <a:gd name="T4" fmla="*/ 2147483647 w 305"/>
              <a:gd name="T5" fmla="*/ 2147483647 h 83"/>
              <a:gd name="T6" fmla="*/ 2147483647 w 305"/>
              <a:gd name="T7" fmla="*/ 2147483647 h 83"/>
              <a:gd name="T8" fmla="*/ 2147483647 w 305"/>
              <a:gd name="T9" fmla="*/ 2147483647 h 83"/>
              <a:gd name="T10" fmla="*/ 2147483647 w 305"/>
              <a:gd name="T11" fmla="*/ 2147483647 h 83"/>
              <a:gd name="T12" fmla="*/ 2147483647 w 305"/>
              <a:gd name="T13" fmla="*/ 2147483647 h 83"/>
              <a:gd name="T14" fmla="*/ 2147483647 w 305"/>
              <a:gd name="T15" fmla="*/ 2147483647 h 83"/>
              <a:gd name="T16" fmla="*/ 2147483647 w 305"/>
              <a:gd name="T17" fmla="*/ 2147483647 h 83"/>
              <a:gd name="T18" fmla="*/ 2147483647 w 305"/>
              <a:gd name="T19" fmla="*/ 2147483647 h 83"/>
              <a:gd name="T20" fmla="*/ 2147483647 w 305"/>
              <a:gd name="T21" fmla="*/ 2147483647 h 83"/>
              <a:gd name="T22" fmla="*/ 2147483647 w 305"/>
              <a:gd name="T23" fmla="*/ 0 h 83"/>
              <a:gd name="T24" fmla="*/ 2147483647 w 305"/>
              <a:gd name="T25" fmla="*/ 0 h 83"/>
              <a:gd name="T26" fmla="*/ 2147483647 w 305"/>
              <a:gd name="T27" fmla="*/ 2147483647 h 83"/>
              <a:gd name="T28" fmla="*/ 2147483647 w 305"/>
              <a:gd name="T29" fmla="*/ 2147483647 h 83"/>
              <a:gd name="T30" fmla="*/ 2147483647 w 305"/>
              <a:gd name="T31" fmla="*/ 2147483647 h 83"/>
              <a:gd name="T32" fmla="*/ 2147483647 w 305"/>
              <a:gd name="T33" fmla="*/ 2147483647 h 83"/>
              <a:gd name="T34" fmla="*/ 2147483647 w 305"/>
              <a:gd name="T35" fmla="*/ 2147483647 h 83"/>
              <a:gd name="T36" fmla="*/ 2147483647 w 305"/>
              <a:gd name="T37" fmla="*/ 2147483647 h 83"/>
              <a:gd name="T38" fmla="*/ 2147483647 w 305"/>
              <a:gd name="T39" fmla="*/ 2147483647 h 83"/>
              <a:gd name="T40" fmla="*/ 2147483647 w 305"/>
              <a:gd name="T41" fmla="*/ 2147483647 h 83"/>
              <a:gd name="T42" fmla="*/ 2147483647 w 305"/>
              <a:gd name="T43" fmla="*/ 2147483647 h 83"/>
              <a:gd name="T44" fmla="*/ 2147483647 w 305"/>
              <a:gd name="T45" fmla="*/ 2147483647 h 83"/>
              <a:gd name="T46" fmla="*/ 2147483647 w 305"/>
              <a:gd name="T47" fmla="*/ 2147483647 h 83"/>
              <a:gd name="T48" fmla="*/ 2147483647 w 305"/>
              <a:gd name="T49" fmla="*/ 2147483647 h 83"/>
              <a:gd name="T50" fmla="*/ 2147483647 w 305"/>
              <a:gd name="T51" fmla="*/ 2147483647 h 83"/>
              <a:gd name="T52" fmla="*/ 2147483647 w 305"/>
              <a:gd name="T53" fmla="*/ 2147483647 h 83"/>
              <a:gd name="T54" fmla="*/ 2147483647 w 305"/>
              <a:gd name="T55" fmla="*/ 2147483647 h 83"/>
              <a:gd name="T56" fmla="*/ 2147483647 w 305"/>
              <a:gd name="T57" fmla="*/ 2147483647 h 83"/>
              <a:gd name="T58" fmla="*/ 2147483647 w 305"/>
              <a:gd name="T59" fmla="*/ 2147483647 h 83"/>
              <a:gd name="T60" fmla="*/ 2147483647 w 305"/>
              <a:gd name="T61" fmla="*/ 2147483647 h 83"/>
              <a:gd name="T62" fmla="*/ 2147483647 w 305"/>
              <a:gd name="T63" fmla="*/ 2147483647 h 83"/>
              <a:gd name="T64" fmla="*/ 2147483647 w 305"/>
              <a:gd name="T65" fmla="*/ 2147483647 h 83"/>
              <a:gd name="T66" fmla="*/ 0 w 305"/>
              <a:gd name="T67" fmla="*/ 2147483647 h 83"/>
              <a:gd name="T68" fmla="*/ 0 w 305"/>
              <a:gd name="T69" fmla="*/ 2147483647 h 8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05" h="83">
                <a:moveTo>
                  <a:pt x="0" y="53"/>
                </a:moveTo>
                <a:lnTo>
                  <a:pt x="0" y="52"/>
                </a:lnTo>
                <a:lnTo>
                  <a:pt x="2" y="48"/>
                </a:lnTo>
                <a:lnTo>
                  <a:pt x="5" y="44"/>
                </a:lnTo>
                <a:lnTo>
                  <a:pt x="11" y="37"/>
                </a:lnTo>
                <a:lnTo>
                  <a:pt x="18" y="31"/>
                </a:lnTo>
                <a:lnTo>
                  <a:pt x="27" y="25"/>
                </a:lnTo>
                <a:lnTo>
                  <a:pt x="39" y="18"/>
                </a:lnTo>
                <a:lnTo>
                  <a:pt x="54" y="12"/>
                </a:lnTo>
                <a:lnTo>
                  <a:pt x="72" y="6"/>
                </a:lnTo>
                <a:lnTo>
                  <a:pt x="92" y="2"/>
                </a:lnTo>
                <a:lnTo>
                  <a:pt x="118" y="0"/>
                </a:lnTo>
                <a:lnTo>
                  <a:pt x="146" y="0"/>
                </a:lnTo>
                <a:lnTo>
                  <a:pt x="180" y="2"/>
                </a:lnTo>
                <a:lnTo>
                  <a:pt x="216" y="7"/>
                </a:lnTo>
                <a:lnTo>
                  <a:pt x="258" y="16"/>
                </a:lnTo>
                <a:lnTo>
                  <a:pt x="305" y="29"/>
                </a:lnTo>
                <a:lnTo>
                  <a:pt x="299" y="47"/>
                </a:lnTo>
                <a:lnTo>
                  <a:pt x="297" y="46"/>
                </a:lnTo>
                <a:lnTo>
                  <a:pt x="289" y="44"/>
                </a:lnTo>
                <a:lnTo>
                  <a:pt x="277" y="41"/>
                </a:lnTo>
                <a:lnTo>
                  <a:pt x="262" y="36"/>
                </a:lnTo>
                <a:lnTo>
                  <a:pt x="244" y="32"/>
                </a:lnTo>
                <a:lnTo>
                  <a:pt x="224" y="28"/>
                </a:lnTo>
                <a:lnTo>
                  <a:pt x="201" y="25"/>
                </a:lnTo>
                <a:lnTo>
                  <a:pt x="176" y="22"/>
                </a:lnTo>
                <a:lnTo>
                  <a:pt x="152" y="21"/>
                </a:lnTo>
                <a:lnTo>
                  <a:pt x="126" y="21"/>
                </a:lnTo>
                <a:lnTo>
                  <a:pt x="101" y="23"/>
                </a:lnTo>
                <a:lnTo>
                  <a:pt x="77" y="29"/>
                </a:lnTo>
                <a:lnTo>
                  <a:pt x="55" y="37"/>
                </a:lnTo>
                <a:lnTo>
                  <a:pt x="33" y="48"/>
                </a:lnTo>
                <a:lnTo>
                  <a:pt x="15" y="63"/>
                </a:lnTo>
                <a:lnTo>
                  <a:pt x="0" y="83"/>
                </a:lnTo>
                <a:lnTo>
                  <a:pt x="0" y="5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5" name="Freeform 154"/>
          <p:cNvSpPr>
            <a:spLocks/>
          </p:cNvSpPr>
          <p:nvPr/>
        </p:nvSpPr>
        <p:spPr bwMode="auto">
          <a:xfrm>
            <a:off x="8035926" y="3754439"/>
            <a:ext cx="149225" cy="41275"/>
          </a:xfrm>
          <a:custGeom>
            <a:avLst/>
            <a:gdLst>
              <a:gd name="T0" fmla="*/ 0 w 305"/>
              <a:gd name="T1" fmla="*/ 2147483647 h 83"/>
              <a:gd name="T2" fmla="*/ 0 w 305"/>
              <a:gd name="T3" fmla="*/ 2147483647 h 83"/>
              <a:gd name="T4" fmla="*/ 2147483647 w 305"/>
              <a:gd name="T5" fmla="*/ 2147483647 h 83"/>
              <a:gd name="T6" fmla="*/ 2147483647 w 305"/>
              <a:gd name="T7" fmla="*/ 2147483647 h 83"/>
              <a:gd name="T8" fmla="*/ 2147483647 w 305"/>
              <a:gd name="T9" fmla="*/ 2147483647 h 83"/>
              <a:gd name="T10" fmla="*/ 2147483647 w 305"/>
              <a:gd name="T11" fmla="*/ 2147483647 h 83"/>
              <a:gd name="T12" fmla="*/ 2147483647 w 305"/>
              <a:gd name="T13" fmla="*/ 2147483647 h 83"/>
              <a:gd name="T14" fmla="*/ 2147483647 w 305"/>
              <a:gd name="T15" fmla="*/ 2147483647 h 83"/>
              <a:gd name="T16" fmla="*/ 2147483647 w 305"/>
              <a:gd name="T17" fmla="*/ 2147483647 h 83"/>
              <a:gd name="T18" fmla="*/ 2147483647 w 305"/>
              <a:gd name="T19" fmla="*/ 2147483647 h 83"/>
              <a:gd name="T20" fmla="*/ 2147483647 w 305"/>
              <a:gd name="T21" fmla="*/ 2147483647 h 83"/>
              <a:gd name="T22" fmla="*/ 2147483647 w 305"/>
              <a:gd name="T23" fmla="*/ 0 h 83"/>
              <a:gd name="T24" fmla="*/ 2147483647 w 305"/>
              <a:gd name="T25" fmla="*/ 0 h 83"/>
              <a:gd name="T26" fmla="*/ 2147483647 w 305"/>
              <a:gd name="T27" fmla="*/ 2147483647 h 83"/>
              <a:gd name="T28" fmla="*/ 2147483647 w 305"/>
              <a:gd name="T29" fmla="*/ 2147483647 h 83"/>
              <a:gd name="T30" fmla="*/ 2147483647 w 305"/>
              <a:gd name="T31" fmla="*/ 2147483647 h 83"/>
              <a:gd name="T32" fmla="*/ 2147483647 w 305"/>
              <a:gd name="T33" fmla="*/ 2147483647 h 83"/>
              <a:gd name="T34" fmla="*/ 2147483647 w 305"/>
              <a:gd name="T35" fmla="*/ 2147483647 h 83"/>
              <a:gd name="T36" fmla="*/ 2147483647 w 305"/>
              <a:gd name="T37" fmla="*/ 2147483647 h 83"/>
              <a:gd name="T38" fmla="*/ 2147483647 w 305"/>
              <a:gd name="T39" fmla="*/ 2147483647 h 83"/>
              <a:gd name="T40" fmla="*/ 2147483647 w 305"/>
              <a:gd name="T41" fmla="*/ 2147483647 h 83"/>
              <a:gd name="T42" fmla="*/ 2147483647 w 305"/>
              <a:gd name="T43" fmla="*/ 2147483647 h 83"/>
              <a:gd name="T44" fmla="*/ 2147483647 w 305"/>
              <a:gd name="T45" fmla="*/ 2147483647 h 83"/>
              <a:gd name="T46" fmla="*/ 2147483647 w 305"/>
              <a:gd name="T47" fmla="*/ 2147483647 h 83"/>
              <a:gd name="T48" fmla="*/ 2147483647 w 305"/>
              <a:gd name="T49" fmla="*/ 2147483647 h 83"/>
              <a:gd name="T50" fmla="*/ 2147483647 w 305"/>
              <a:gd name="T51" fmla="*/ 2147483647 h 83"/>
              <a:gd name="T52" fmla="*/ 2147483647 w 305"/>
              <a:gd name="T53" fmla="*/ 2147483647 h 83"/>
              <a:gd name="T54" fmla="*/ 2147483647 w 305"/>
              <a:gd name="T55" fmla="*/ 2147483647 h 83"/>
              <a:gd name="T56" fmla="*/ 2147483647 w 305"/>
              <a:gd name="T57" fmla="*/ 2147483647 h 83"/>
              <a:gd name="T58" fmla="*/ 2147483647 w 305"/>
              <a:gd name="T59" fmla="*/ 2147483647 h 83"/>
              <a:gd name="T60" fmla="*/ 2147483647 w 305"/>
              <a:gd name="T61" fmla="*/ 2147483647 h 83"/>
              <a:gd name="T62" fmla="*/ 2147483647 w 305"/>
              <a:gd name="T63" fmla="*/ 2147483647 h 83"/>
              <a:gd name="T64" fmla="*/ 2147483647 w 305"/>
              <a:gd name="T65" fmla="*/ 2147483647 h 83"/>
              <a:gd name="T66" fmla="*/ 0 w 305"/>
              <a:gd name="T67" fmla="*/ 2147483647 h 83"/>
              <a:gd name="T68" fmla="*/ 0 w 305"/>
              <a:gd name="T69" fmla="*/ 2147483647 h 8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05" h="83">
                <a:moveTo>
                  <a:pt x="0" y="53"/>
                </a:moveTo>
                <a:lnTo>
                  <a:pt x="0" y="52"/>
                </a:lnTo>
                <a:lnTo>
                  <a:pt x="2" y="49"/>
                </a:lnTo>
                <a:lnTo>
                  <a:pt x="5" y="44"/>
                </a:lnTo>
                <a:lnTo>
                  <a:pt x="11" y="38"/>
                </a:lnTo>
                <a:lnTo>
                  <a:pt x="18" y="31"/>
                </a:lnTo>
                <a:lnTo>
                  <a:pt x="27" y="25"/>
                </a:lnTo>
                <a:lnTo>
                  <a:pt x="39" y="17"/>
                </a:lnTo>
                <a:lnTo>
                  <a:pt x="54" y="12"/>
                </a:lnTo>
                <a:lnTo>
                  <a:pt x="72" y="7"/>
                </a:lnTo>
                <a:lnTo>
                  <a:pt x="92" y="2"/>
                </a:lnTo>
                <a:lnTo>
                  <a:pt x="118" y="0"/>
                </a:lnTo>
                <a:lnTo>
                  <a:pt x="146" y="0"/>
                </a:lnTo>
                <a:lnTo>
                  <a:pt x="180" y="2"/>
                </a:lnTo>
                <a:lnTo>
                  <a:pt x="216" y="8"/>
                </a:lnTo>
                <a:lnTo>
                  <a:pt x="258" y="16"/>
                </a:lnTo>
                <a:lnTo>
                  <a:pt x="305" y="29"/>
                </a:lnTo>
                <a:lnTo>
                  <a:pt x="299" y="47"/>
                </a:lnTo>
                <a:lnTo>
                  <a:pt x="297" y="45"/>
                </a:lnTo>
                <a:lnTo>
                  <a:pt x="289" y="43"/>
                </a:lnTo>
                <a:lnTo>
                  <a:pt x="277" y="40"/>
                </a:lnTo>
                <a:lnTo>
                  <a:pt x="262" y="36"/>
                </a:lnTo>
                <a:lnTo>
                  <a:pt x="244" y="33"/>
                </a:lnTo>
                <a:lnTo>
                  <a:pt x="224" y="28"/>
                </a:lnTo>
                <a:lnTo>
                  <a:pt x="201" y="25"/>
                </a:lnTo>
                <a:lnTo>
                  <a:pt x="176" y="22"/>
                </a:lnTo>
                <a:lnTo>
                  <a:pt x="152" y="21"/>
                </a:lnTo>
                <a:lnTo>
                  <a:pt x="126" y="22"/>
                </a:lnTo>
                <a:lnTo>
                  <a:pt x="101" y="24"/>
                </a:lnTo>
                <a:lnTo>
                  <a:pt x="77" y="29"/>
                </a:lnTo>
                <a:lnTo>
                  <a:pt x="55" y="38"/>
                </a:lnTo>
                <a:lnTo>
                  <a:pt x="33" y="49"/>
                </a:lnTo>
                <a:lnTo>
                  <a:pt x="15" y="64"/>
                </a:lnTo>
                <a:lnTo>
                  <a:pt x="0" y="83"/>
                </a:lnTo>
                <a:lnTo>
                  <a:pt x="0" y="53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6" name="Freeform 155"/>
          <p:cNvSpPr>
            <a:spLocks/>
          </p:cNvSpPr>
          <p:nvPr/>
        </p:nvSpPr>
        <p:spPr bwMode="auto">
          <a:xfrm>
            <a:off x="8175625" y="3708401"/>
            <a:ext cx="241300" cy="449263"/>
          </a:xfrm>
          <a:custGeom>
            <a:avLst/>
            <a:gdLst>
              <a:gd name="T0" fmla="*/ 0 w 496"/>
              <a:gd name="T1" fmla="*/ 0 h 917"/>
              <a:gd name="T2" fmla="*/ 0 w 496"/>
              <a:gd name="T3" fmla="*/ 2147483647 h 917"/>
              <a:gd name="T4" fmla="*/ 2147483647 w 496"/>
              <a:gd name="T5" fmla="*/ 2147483647 h 917"/>
              <a:gd name="T6" fmla="*/ 2147483647 w 496"/>
              <a:gd name="T7" fmla="*/ 2147483647 h 917"/>
              <a:gd name="T8" fmla="*/ 2147483647 w 496"/>
              <a:gd name="T9" fmla="*/ 2147483647 h 917"/>
              <a:gd name="T10" fmla="*/ 2147483647 w 496"/>
              <a:gd name="T11" fmla="*/ 2147483647 h 917"/>
              <a:gd name="T12" fmla="*/ 2147483647 w 496"/>
              <a:gd name="T13" fmla="*/ 2147483647 h 917"/>
              <a:gd name="T14" fmla="*/ 2147483647 w 496"/>
              <a:gd name="T15" fmla="*/ 2147483647 h 917"/>
              <a:gd name="T16" fmla="*/ 2147483647 w 496"/>
              <a:gd name="T17" fmla="*/ 2147483647 h 917"/>
              <a:gd name="T18" fmla="*/ 2147483647 w 496"/>
              <a:gd name="T19" fmla="*/ 2147483647 h 917"/>
              <a:gd name="T20" fmla="*/ 2147483647 w 496"/>
              <a:gd name="T21" fmla="*/ 2147483647 h 917"/>
              <a:gd name="T22" fmla="*/ 2147483647 w 496"/>
              <a:gd name="T23" fmla="*/ 2147483647 h 917"/>
              <a:gd name="T24" fmla="*/ 2147483647 w 496"/>
              <a:gd name="T25" fmla="*/ 2147483647 h 917"/>
              <a:gd name="T26" fmla="*/ 2147483647 w 496"/>
              <a:gd name="T27" fmla="*/ 2147483647 h 917"/>
              <a:gd name="T28" fmla="*/ 2147483647 w 496"/>
              <a:gd name="T29" fmla="*/ 2147483647 h 917"/>
              <a:gd name="T30" fmla="*/ 2147483647 w 496"/>
              <a:gd name="T31" fmla="*/ 2147483647 h 917"/>
              <a:gd name="T32" fmla="*/ 2147483647 w 496"/>
              <a:gd name="T33" fmla="*/ 2147483647 h 917"/>
              <a:gd name="T34" fmla="*/ 0 w 496"/>
              <a:gd name="T35" fmla="*/ 0 h 91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496" h="917">
                <a:moveTo>
                  <a:pt x="0" y="0"/>
                </a:moveTo>
                <a:lnTo>
                  <a:pt x="0" y="886"/>
                </a:lnTo>
                <a:lnTo>
                  <a:pt x="150" y="917"/>
                </a:lnTo>
                <a:lnTo>
                  <a:pt x="143" y="797"/>
                </a:lnTo>
                <a:lnTo>
                  <a:pt x="496" y="851"/>
                </a:lnTo>
                <a:lnTo>
                  <a:pt x="490" y="803"/>
                </a:lnTo>
                <a:lnTo>
                  <a:pt x="245" y="773"/>
                </a:lnTo>
                <a:lnTo>
                  <a:pt x="239" y="670"/>
                </a:lnTo>
                <a:lnTo>
                  <a:pt x="72" y="670"/>
                </a:lnTo>
                <a:lnTo>
                  <a:pt x="68" y="657"/>
                </a:lnTo>
                <a:lnTo>
                  <a:pt x="56" y="620"/>
                </a:lnTo>
                <a:lnTo>
                  <a:pt x="41" y="559"/>
                </a:lnTo>
                <a:lnTo>
                  <a:pt x="26" y="480"/>
                </a:lnTo>
                <a:lnTo>
                  <a:pt x="15" y="385"/>
                </a:lnTo>
                <a:lnTo>
                  <a:pt x="11" y="276"/>
                </a:lnTo>
                <a:lnTo>
                  <a:pt x="20" y="158"/>
                </a:lnTo>
                <a:lnTo>
                  <a:pt x="42" y="3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7" name="Freeform 156"/>
          <p:cNvSpPr>
            <a:spLocks/>
          </p:cNvSpPr>
          <p:nvPr/>
        </p:nvSpPr>
        <p:spPr bwMode="auto">
          <a:xfrm>
            <a:off x="8294688" y="3605213"/>
            <a:ext cx="309562" cy="61912"/>
          </a:xfrm>
          <a:custGeom>
            <a:avLst/>
            <a:gdLst>
              <a:gd name="T0" fmla="*/ 0 w 638"/>
              <a:gd name="T1" fmla="*/ 2147483647 h 125"/>
              <a:gd name="T2" fmla="*/ 2147483647 w 638"/>
              <a:gd name="T3" fmla="*/ 2147483647 h 125"/>
              <a:gd name="T4" fmla="*/ 2147483647 w 638"/>
              <a:gd name="T5" fmla="*/ 2147483647 h 125"/>
              <a:gd name="T6" fmla="*/ 2147483647 w 638"/>
              <a:gd name="T7" fmla="*/ 2147483647 h 125"/>
              <a:gd name="T8" fmla="*/ 2147483647 w 638"/>
              <a:gd name="T9" fmla="*/ 2147483647 h 125"/>
              <a:gd name="T10" fmla="*/ 2147483647 w 638"/>
              <a:gd name="T11" fmla="*/ 2147483647 h 125"/>
              <a:gd name="T12" fmla="*/ 2147483647 w 638"/>
              <a:gd name="T13" fmla="*/ 2147483647 h 125"/>
              <a:gd name="T14" fmla="*/ 2147483647 w 638"/>
              <a:gd name="T15" fmla="*/ 2147483647 h 125"/>
              <a:gd name="T16" fmla="*/ 2147483647 w 638"/>
              <a:gd name="T17" fmla="*/ 2147483647 h 125"/>
              <a:gd name="T18" fmla="*/ 2147483647 w 638"/>
              <a:gd name="T19" fmla="*/ 2147483647 h 125"/>
              <a:gd name="T20" fmla="*/ 2147483647 w 638"/>
              <a:gd name="T21" fmla="*/ 2147483647 h 125"/>
              <a:gd name="T22" fmla="*/ 2147483647 w 638"/>
              <a:gd name="T23" fmla="*/ 2147483647 h 125"/>
              <a:gd name="T24" fmla="*/ 2147483647 w 638"/>
              <a:gd name="T25" fmla="*/ 2147483647 h 125"/>
              <a:gd name="T26" fmla="*/ 2147483647 w 638"/>
              <a:gd name="T27" fmla="*/ 2147483647 h 125"/>
              <a:gd name="T28" fmla="*/ 2147483647 w 638"/>
              <a:gd name="T29" fmla="*/ 2147483647 h 125"/>
              <a:gd name="T30" fmla="*/ 2147483647 w 638"/>
              <a:gd name="T31" fmla="*/ 2147483647 h 125"/>
              <a:gd name="T32" fmla="*/ 2147483647 w 638"/>
              <a:gd name="T33" fmla="*/ 2147483647 h 125"/>
              <a:gd name="T34" fmla="*/ 2147483647 w 638"/>
              <a:gd name="T35" fmla="*/ 0 h 125"/>
              <a:gd name="T36" fmla="*/ 2147483647 w 638"/>
              <a:gd name="T37" fmla="*/ 0 h 125"/>
              <a:gd name="T38" fmla="*/ 2147483647 w 638"/>
              <a:gd name="T39" fmla="*/ 0 h 125"/>
              <a:gd name="T40" fmla="*/ 2147483647 w 638"/>
              <a:gd name="T41" fmla="*/ 0 h 125"/>
              <a:gd name="T42" fmla="*/ 2147483647 w 638"/>
              <a:gd name="T43" fmla="*/ 2147483647 h 125"/>
              <a:gd name="T44" fmla="*/ 2147483647 w 638"/>
              <a:gd name="T45" fmla="*/ 2147483647 h 125"/>
              <a:gd name="T46" fmla="*/ 2147483647 w 638"/>
              <a:gd name="T47" fmla="*/ 2147483647 h 125"/>
              <a:gd name="T48" fmla="*/ 2147483647 w 638"/>
              <a:gd name="T49" fmla="*/ 2147483647 h 125"/>
              <a:gd name="T50" fmla="*/ 2147483647 w 638"/>
              <a:gd name="T51" fmla="*/ 2147483647 h 125"/>
              <a:gd name="T52" fmla="*/ 2147483647 w 638"/>
              <a:gd name="T53" fmla="*/ 2147483647 h 125"/>
              <a:gd name="T54" fmla="*/ 2147483647 w 638"/>
              <a:gd name="T55" fmla="*/ 2147483647 h 125"/>
              <a:gd name="T56" fmla="*/ 2147483647 w 638"/>
              <a:gd name="T57" fmla="*/ 2147483647 h 125"/>
              <a:gd name="T58" fmla="*/ 2147483647 w 638"/>
              <a:gd name="T59" fmla="*/ 2147483647 h 125"/>
              <a:gd name="T60" fmla="*/ 2147483647 w 638"/>
              <a:gd name="T61" fmla="*/ 2147483647 h 125"/>
              <a:gd name="T62" fmla="*/ 2147483647 w 638"/>
              <a:gd name="T63" fmla="*/ 2147483647 h 125"/>
              <a:gd name="T64" fmla="*/ 2147483647 w 638"/>
              <a:gd name="T65" fmla="*/ 2147483647 h 125"/>
              <a:gd name="T66" fmla="*/ 0 w 638"/>
              <a:gd name="T67" fmla="*/ 2147483647 h 125"/>
              <a:gd name="T68" fmla="*/ 0 w 638"/>
              <a:gd name="T69" fmla="*/ 2147483647 h 12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638" h="125">
                <a:moveTo>
                  <a:pt x="0" y="125"/>
                </a:moveTo>
                <a:lnTo>
                  <a:pt x="4" y="124"/>
                </a:lnTo>
                <a:lnTo>
                  <a:pt x="14" y="119"/>
                </a:lnTo>
                <a:lnTo>
                  <a:pt x="31" y="114"/>
                </a:lnTo>
                <a:lnTo>
                  <a:pt x="53" y="106"/>
                </a:lnTo>
                <a:lnTo>
                  <a:pt x="81" y="98"/>
                </a:lnTo>
                <a:lnTo>
                  <a:pt x="113" y="89"/>
                </a:lnTo>
                <a:lnTo>
                  <a:pt x="151" y="81"/>
                </a:lnTo>
                <a:lnTo>
                  <a:pt x="192" y="73"/>
                </a:lnTo>
                <a:lnTo>
                  <a:pt x="237" y="65"/>
                </a:lnTo>
                <a:lnTo>
                  <a:pt x="286" y="60"/>
                </a:lnTo>
                <a:lnTo>
                  <a:pt x="337" y="56"/>
                </a:lnTo>
                <a:lnTo>
                  <a:pt x="390" y="55"/>
                </a:lnTo>
                <a:lnTo>
                  <a:pt x="446" y="56"/>
                </a:lnTo>
                <a:lnTo>
                  <a:pt x="503" y="61"/>
                </a:lnTo>
                <a:lnTo>
                  <a:pt x="561" y="70"/>
                </a:lnTo>
                <a:lnTo>
                  <a:pt x="620" y="83"/>
                </a:lnTo>
                <a:lnTo>
                  <a:pt x="638" y="0"/>
                </a:lnTo>
                <a:lnTo>
                  <a:pt x="634" y="0"/>
                </a:lnTo>
                <a:lnTo>
                  <a:pt x="620" y="0"/>
                </a:lnTo>
                <a:lnTo>
                  <a:pt x="599" y="0"/>
                </a:lnTo>
                <a:lnTo>
                  <a:pt x="571" y="1"/>
                </a:lnTo>
                <a:lnTo>
                  <a:pt x="536" y="2"/>
                </a:lnTo>
                <a:lnTo>
                  <a:pt x="496" y="3"/>
                </a:lnTo>
                <a:lnTo>
                  <a:pt x="452" y="6"/>
                </a:lnTo>
                <a:lnTo>
                  <a:pt x="405" y="8"/>
                </a:lnTo>
                <a:lnTo>
                  <a:pt x="354" y="13"/>
                </a:lnTo>
                <a:lnTo>
                  <a:pt x="302" y="17"/>
                </a:lnTo>
                <a:lnTo>
                  <a:pt x="249" y="22"/>
                </a:lnTo>
                <a:lnTo>
                  <a:pt x="196" y="30"/>
                </a:lnTo>
                <a:lnTo>
                  <a:pt x="144" y="37"/>
                </a:lnTo>
                <a:lnTo>
                  <a:pt x="93" y="47"/>
                </a:lnTo>
                <a:lnTo>
                  <a:pt x="45" y="58"/>
                </a:lnTo>
                <a:lnTo>
                  <a:pt x="0" y="71"/>
                </a:lnTo>
                <a:lnTo>
                  <a:pt x="0" y="125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8" name="Freeform 157"/>
          <p:cNvSpPr>
            <a:spLocks/>
          </p:cNvSpPr>
          <p:nvPr/>
        </p:nvSpPr>
        <p:spPr bwMode="auto">
          <a:xfrm>
            <a:off x="8112125" y="4167189"/>
            <a:ext cx="522288" cy="174625"/>
          </a:xfrm>
          <a:custGeom>
            <a:avLst/>
            <a:gdLst>
              <a:gd name="T0" fmla="*/ 2147483647 w 1075"/>
              <a:gd name="T1" fmla="*/ 2147483647 h 356"/>
              <a:gd name="T2" fmla="*/ 2147483647 w 1075"/>
              <a:gd name="T3" fmla="*/ 2147483647 h 356"/>
              <a:gd name="T4" fmla="*/ 2147483647 w 1075"/>
              <a:gd name="T5" fmla="*/ 2147483647 h 356"/>
              <a:gd name="T6" fmla="*/ 2147483647 w 1075"/>
              <a:gd name="T7" fmla="*/ 2147483647 h 356"/>
              <a:gd name="T8" fmla="*/ 2147483647 w 1075"/>
              <a:gd name="T9" fmla="*/ 2147483647 h 356"/>
              <a:gd name="T10" fmla="*/ 2147483647 w 1075"/>
              <a:gd name="T11" fmla="*/ 2147483647 h 356"/>
              <a:gd name="T12" fmla="*/ 2147483647 w 1075"/>
              <a:gd name="T13" fmla="*/ 2147483647 h 356"/>
              <a:gd name="T14" fmla="*/ 2147483647 w 1075"/>
              <a:gd name="T15" fmla="*/ 2147483647 h 356"/>
              <a:gd name="T16" fmla="*/ 2147483647 w 1075"/>
              <a:gd name="T17" fmla="*/ 2147483647 h 356"/>
              <a:gd name="T18" fmla="*/ 2147483647 w 1075"/>
              <a:gd name="T19" fmla="*/ 2147483647 h 356"/>
              <a:gd name="T20" fmla="*/ 2147483647 w 1075"/>
              <a:gd name="T21" fmla="*/ 2147483647 h 356"/>
              <a:gd name="T22" fmla="*/ 2147483647 w 1075"/>
              <a:gd name="T23" fmla="*/ 2147483647 h 356"/>
              <a:gd name="T24" fmla="*/ 2147483647 w 1075"/>
              <a:gd name="T25" fmla="*/ 2147483647 h 356"/>
              <a:gd name="T26" fmla="*/ 2147483647 w 1075"/>
              <a:gd name="T27" fmla="*/ 2147483647 h 356"/>
              <a:gd name="T28" fmla="*/ 2147483647 w 1075"/>
              <a:gd name="T29" fmla="*/ 2147483647 h 356"/>
              <a:gd name="T30" fmla="*/ 2147483647 w 1075"/>
              <a:gd name="T31" fmla="*/ 2147483647 h 356"/>
              <a:gd name="T32" fmla="*/ 2147483647 w 1075"/>
              <a:gd name="T33" fmla="*/ 2147483647 h 356"/>
              <a:gd name="T34" fmla="*/ 0 w 1075"/>
              <a:gd name="T35" fmla="*/ 2147483647 h 356"/>
              <a:gd name="T36" fmla="*/ 2147483647 w 1075"/>
              <a:gd name="T37" fmla="*/ 0 h 356"/>
              <a:gd name="T38" fmla="*/ 2147483647 w 1075"/>
              <a:gd name="T39" fmla="*/ 2147483647 h 356"/>
              <a:gd name="T40" fmla="*/ 2147483647 w 1075"/>
              <a:gd name="T41" fmla="*/ 2147483647 h 356"/>
              <a:gd name="T42" fmla="*/ 2147483647 w 1075"/>
              <a:gd name="T43" fmla="*/ 2147483647 h 356"/>
              <a:gd name="T44" fmla="*/ 2147483647 w 1075"/>
              <a:gd name="T45" fmla="*/ 2147483647 h 356"/>
              <a:gd name="T46" fmla="*/ 2147483647 w 1075"/>
              <a:gd name="T47" fmla="*/ 2147483647 h 356"/>
              <a:gd name="T48" fmla="*/ 2147483647 w 1075"/>
              <a:gd name="T49" fmla="*/ 2147483647 h 356"/>
              <a:gd name="T50" fmla="*/ 2147483647 w 1075"/>
              <a:gd name="T51" fmla="*/ 2147483647 h 356"/>
              <a:gd name="T52" fmla="*/ 2147483647 w 1075"/>
              <a:gd name="T53" fmla="*/ 2147483647 h 356"/>
              <a:gd name="T54" fmla="*/ 2147483647 w 1075"/>
              <a:gd name="T55" fmla="*/ 2147483647 h 356"/>
              <a:gd name="T56" fmla="*/ 2147483647 w 1075"/>
              <a:gd name="T57" fmla="*/ 2147483647 h 356"/>
              <a:gd name="T58" fmla="*/ 2147483647 w 1075"/>
              <a:gd name="T59" fmla="*/ 2147483647 h 356"/>
              <a:gd name="T60" fmla="*/ 2147483647 w 1075"/>
              <a:gd name="T61" fmla="*/ 2147483647 h 356"/>
              <a:gd name="T62" fmla="*/ 2147483647 w 1075"/>
              <a:gd name="T63" fmla="*/ 2147483647 h 356"/>
              <a:gd name="T64" fmla="*/ 2147483647 w 1075"/>
              <a:gd name="T65" fmla="*/ 2147483647 h 356"/>
              <a:gd name="T66" fmla="*/ 2147483647 w 1075"/>
              <a:gd name="T67" fmla="*/ 2147483647 h 356"/>
              <a:gd name="T68" fmla="*/ 2147483647 w 1075"/>
              <a:gd name="T69" fmla="*/ 2147483647 h 356"/>
              <a:gd name="T70" fmla="*/ 2147483647 w 1075"/>
              <a:gd name="T71" fmla="*/ 2147483647 h 356"/>
              <a:gd name="T72" fmla="*/ 2147483647 w 1075"/>
              <a:gd name="T73" fmla="*/ 2147483647 h 356"/>
              <a:gd name="T74" fmla="*/ 2147483647 w 1075"/>
              <a:gd name="T75" fmla="*/ 2147483647 h 356"/>
              <a:gd name="T76" fmla="*/ 2147483647 w 1075"/>
              <a:gd name="T77" fmla="*/ 2147483647 h 35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1075" h="356">
                <a:moveTo>
                  <a:pt x="454" y="344"/>
                </a:moveTo>
                <a:lnTo>
                  <a:pt x="456" y="343"/>
                </a:lnTo>
                <a:lnTo>
                  <a:pt x="463" y="341"/>
                </a:lnTo>
                <a:lnTo>
                  <a:pt x="472" y="337"/>
                </a:lnTo>
                <a:lnTo>
                  <a:pt x="485" y="332"/>
                </a:lnTo>
                <a:lnTo>
                  <a:pt x="501" y="325"/>
                </a:lnTo>
                <a:lnTo>
                  <a:pt x="518" y="317"/>
                </a:lnTo>
                <a:lnTo>
                  <a:pt x="538" y="308"/>
                </a:lnTo>
                <a:lnTo>
                  <a:pt x="558" y="298"/>
                </a:lnTo>
                <a:lnTo>
                  <a:pt x="580" y="287"/>
                </a:lnTo>
                <a:lnTo>
                  <a:pt x="600" y="274"/>
                </a:lnTo>
                <a:lnTo>
                  <a:pt x="621" y="262"/>
                </a:lnTo>
                <a:lnTo>
                  <a:pt x="640" y="248"/>
                </a:lnTo>
                <a:lnTo>
                  <a:pt x="658" y="234"/>
                </a:lnTo>
                <a:lnTo>
                  <a:pt x="674" y="219"/>
                </a:lnTo>
                <a:lnTo>
                  <a:pt x="688" y="204"/>
                </a:lnTo>
                <a:lnTo>
                  <a:pt x="699" y="189"/>
                </a:lnTo>
                <a:lnTo>
                  <a:pt x="0" y="18"/>
                </a:lnTo>
                <a:lnTo>
                  <a:pt x="54" y="0"/>
                </a:lnTo>
                <a:lnTo>
                  <a:pt x="1075" y="251"/>
                </a:lnTo>
                <a:lnTo>
                  <a:pt x="1033" y="274"/>
                </a:lnTo>
                <a:lnTo>
                  <a:pt x="738" y="199"/>
                </a:lnTo>
                <a:lnTo>
                  <a:pt x="737" y="200"/>
                </a:lnTo>
                <a:lnTo>
                  <a:pt x="735" y="203"/>
                </a:lnTo>
                <a:lnTo>
                  <a:pt x="730" y="207"/>
                </a:lnTo>
                <a:lnTo>
                  <a:pt x="724" y="214"/>
                </a:lnTo>
                <a:lnTo>
                  <a:pt x="716" y="222"/>
                </a:lnTo>
                <a:lnTo>
                  <a:pt x="706" y="231"/>
                </a:lnTo>
                <a:lnTo>
                  <a:pt x="694" y="242"/>
                </a:lnTo>
                <a:lnTo>
                  <a:pt x="679" y="253"/>
                </a:lnTo>
                <a:lnTo>
                  <a:pt x="662" y="265"/>
                </a:lnTo>
                <a:lnTo>
                  <a:pt x="643" y="278"/>
                </a:lnTo>
                <a:lnTo>
                  <a:pt x="621" y="291"/>
                </a:lnTo>
                <a:lnTo>
                  <a:pt x="597" y="303"/>
                </a:lnTo>
                <a:lnTo>
                  <a:pt x="570" y="317"/>
                </a:lnTo>
                <a:lnTo>
                  <a:pt x="540" y="330"/>
                </a:lnTo>
                <a:lnTo>
                  <a:pt x="508" y="343"/>
                </a:lnTo>
                <a:lnTo>
                  <a:pt x="472" y="356"/>
                </a:lnTo>
                <a:lnTo>
                  <a:pt x="454" y="3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9" name="Freeform 158"/>
          <p:cNvSpPr>
            <a:spLocks/>
          </p:cNvSpPr>
          <p:nvPr/>
        </p:nvSpPr>
        <p:spPr bwMode="auto">
          <a:xfrm>
            <a:off x="8005764" y="4213226"/>
            <a:ext cx="530225" cy="155575"/>
          </a:xfrm>
          <a:custGeom>
            <a:avLst/>
            <a:gdLst>
              <a:gd name="T0" fmla="*/ 0 w 1095"/>
              <a:gd name="T1" fmla="*/ 0 h 319"/>
              <a:gd name="T2" fmla="*/ 2147483647 w 1095"/>
              <a:gd name="T3" fmla="*/ 2147483647 h 319"/>
              <a:gd name="T4" fmla="*/ 2147483647 w 1095"/>
              <a:gd name="T5" fmla="*/ 2147483647 h 319"/>
              <a:gd name="T6" fmla="*/ 2147483647 w 1095"/>
              <a:gd name="T7" fmla="*/ 0 h 319"/>
              <a:gd name="T8" fmla="*/ 0 w 1095"/>
              <a:gd name="T9" fmla="*/ 0 h 3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5" h="319">
                <a:moveTo>
                  <a:pt x="0" y="0"/>
                </a:moveTo>
                <a:lnTo>
                  <a:pt x="1071" y="319"/>
                </a:lnTo>
                <a:lnTo>
                  <a:pt x="1095" y="319"/>
                </a:lnTo>
                <a:lnTo>
                  <a:pt x="3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20" name="Freeform 159"/>
          <p:cNvSpPr>
            <a:spLocks/>
          </p:cNvSpPr>
          <p:nvPr/>
        </p:nvSpPr>
        <p:spPr bwMode="auto">
          <a:xfrm>
            <a:off x="8094663" y="4192588"/>
            <a:ext cx="525462" cy="138112"/>
          </a:xfrm>
          <a:custGeom>
            <a:avLst/>
            <a:gdLst>
              <a:gd name="T0" fmla="*/ 0 w 1082"/>
              <a:gd name="T1" fmla="*/ 2147483647 h 285"/>
              <a:gd name="T2" fmla="*/ 2147483647 w 1082"/>
              <a:gd name="T3" fmla="*/ 2147483647 h 285"/>
              <a:gd name="T4" fmla="*/ 2147483647 w 1082"/>
              <a:gd name="T5" fmla="*/ 2147483647 h 285"/>
              <a:gd name="T6" fmla="*/ 2147483647 w 1082"/>
              <a:gd name="T7" fmla="*/ 0 h 285"/>
              <a:gd name="T8" fmla="*/ 0 w 1082"/>
              <a:gd name="T9" fmla="*/ 2147483647 h 2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2" h="285">
                <a:moveTo>
                  <a:pt x="0" y="1"/>
                </a:moveTo>
                <a:lnTo>
                  <a:pt x="1058" y="285"/>
                </a:lnTo>
                <a:lnTo>
                  <a:pt x="1082" y="284"/>
                </a:lnTo>
                <a:lnTo>
                  <a:pt x="33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21" name="Freeform 160"/>
          <p:cNvSpPr>
            <a:spLocks/>
          </p:cNvSpPr>
          <p:nvPr/>
        </p:nvSpPr>
        <p:spPr bwMode="auto">
          <a:xfrm>
            <a:off x="8051800" y="4198939"/>
            <a:ext cx="527050" cy="153987"/>
          </a:xfrm>
          <a:custGeom>
            <a:avLst/>
            <a:gdLst>
              <a:gd name="T0" fmla="*/ 0 w 1087"/>
              <a:gd name="T1" fmla="*/ 0 h 315"/>
              <a:gd name="T2" fmla="*/ 2147483647 w 1087"/>
              <a:gd name="T3" fmla="*/ 2147483647 h 315"/>
              <a:gd name="T4" fmla="*/ 2147483647 w 1087"/>
              <a:gd name="T5" fmla="*/ 2147483647 h 315"/>
              <a:gd name="T6" fmla="*/ 2147483647 w 1087"/>
              <a:gd name="T7" fmla="*/ 0 h 315"/>
              <a:gd name="T8" fmla="*/ 0 w 1087"/>
              <a:gd name="T9" fmla="*/ 0 h 3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7" h="315">
                <a:moveTo>
                  <a:pt x="0" y="0"/>
                </a:moveTo>
                <a:lnTo>
                  <a:pt x="1066" y="315"/>
                </a:lnTo>
                <a:lnTo>
                  <a:pt x="1087" y="308"/>
                </a:lnTo>
                <a:lnTo>
                  <a:pt x="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722" name="Group 161"/>
          <p:cNvGrpSpPr>
            <a:grpSpLocks/>
          </p:cNvGrpSpPr>
          <p:nvPr/>
        </p:nvGrpSpPr>
        <p:grpSpPr bwMode="auto">
          <a:xfrm>
            <a:off x="8162925" y="3317876"/>
            <a:ext cx="649288" cy="904875"/>
            <a:chOff x="12762" y="10336"/>
            <a:chExt cx="1027" cy="1700"/>
          </a:xfrm>
        </p:grpSpPr>
        <p:sp>
          <p:nvSpPr>
            <p:cNvPr id="113985" name="Rectangle 16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86" name="Rectangle 16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87" name="Line 16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8" name="Line 16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9" name="Line 16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0" name="Line 16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723" name="Group 208"/>
          <p:cNvGrpSpPr>
            <a:grpSpLocks/>
          </p:cNvGrpSpPr>
          <p:nvPr/>
        </p:nvGrpSpPr>
        <p:grpSpPr bwMode="auto">
          <a:xfrm>
            <a:off x="7677150" y="5392738"/>
            <a:ext cx="647700" cy="906462"/>
            <a:chOff x="12762" y="10336"/>
            <a:chExt cx="1027" cy="1700"/>
          </a:xfrm>
        </p:grpSpPr>
        <p:sp>
          <p:nvSpPr>
            <p:cNvPr id="113979" name="Rectangle 209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80" name="Rectangle 210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81" name="Line 211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2" name="Line 212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3" name="Line 213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4" name="Line 214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724" name="Line 215"/>
          <p:cNvSpPr>
            <a:spLocks noChangeShapeType="1"/>
          </p:cNvSpPr>
          <p:nvPr/>
        </p:nvSpPr>
        <p:spPr bwMode="auto">
          <a:xfrm flipH="1">
            <a:off x="4773614" y="3146426"/>
            <a:ext cx="295275" cy="104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25" name="Text Box 216"/>
          <p:cNvSpPr txBox="1">
            <a:spLocks noChangeArrowheads="1"/>
          </p:cNvSpPr>
          <p:nvPr/>
        </p:nvSpPr>
        <p:spPr bwMode="auto">
          <a:xfrm>
            <a:off x="7669214" y="2846388"/>
            <a:ext cx="617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26" name="Line 217"/>
          <p:cNvSpPr>
            <a:spLocks noChangeShapeType="1"/>
          </p:cNvSpPr>
          <p:nvPr/>
        </p:nvSpPr>
        <p:spPr bwMode="auto">
          <a:xfrm>
            <a:off x="8174039" y="3194051"/>
            <a:ext cx="200025" cy="21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27" name="Line 218"/>
          <p:cNvSpPr>
            <a:spLocks noChangeShapeType="1"/>
          </p:cNvSpPr>
          <p:nvPr/>
        </p:nvSpPr>
        <p:spPr bwMode="auto">
          <a:xfrm flipH="1">
            <a:off x="6481763" y="4257676"/>
            <a:ext cx="247650" cy="238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728" name="Group 219"/>
          <p:cNvGrpSpPr>
            <a:grpSpLocks/>
          </p:cNvGrpSpPr>
          <p:nvPr/>
        </p:nvGrpSpPr>
        <p:grpSpPr bwMode="auto">
          <a:xfrm>
            <a:off x="5565775" y="4400551"/>
            <a:ext cx="1073150" cy="422275"/>
            <a:chOff x="9542" y="11900"/>
            <a:chExt cx="1624" cy="640"/>
          </a:xfrm>
        </p:grpSpPr>
        <p:sp>
          <p:nvSpPr>
            <p:cNvPr id="113957" name="Oval 220"/>
            <p:cNvSpPr>
              <a:spLocks noChangeArrowheads="1"/>
            </p:cNvSpPr>
            <p:nvPr/>
          </p:nvSpPr>
          <p:spPr bwMode="auto">
            <a:xfrm>
              <a:off x="9557" y="12185"/>
              <a:ext cx="1608" cy="355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58" name="Line 221"/>
            <p:cNvSpPr>
              <a:spLocks noChangeShapeType="1"/>
            </p:cNvSpPr>
            <p:nvPr/>
          </p:nvSpPr>
          <p:spPr bwMode="auto">
            <a:xfrm>
              <a:off x="9557" y="12156"/>
              <a:ext cx="1" cy="2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59" name="Line 222"/>
            <p:cNvSpPr>
              <a:spLocks noChangeShapeType="1"/>
            </p:cNvSpPr>
            <p:nvPr/>
          </p:nvSpPr>
          <p:spPr bwMode="auto">
            <a:xfrm>
              <a:off x="11165" y="12156"/>
              <a:ext cx="1" cy="219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60" name="Rectangle 223"/>
            <p:cNvSpPr>
              <a:spLocks noChangeArrowheads="1"/>
            </p:cNvSpPr>
            <p:nvPr/>
          </p:nvSpPr>
          <p:spPr bwMode="auto">
            <a:xfrm>
              <a:off x="9557" y="12156"/>
              <a:ext cx="381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3961" name="Rectangle 224"/>
            <p:cNvSpPr>
              <a:spLocks noChangeArrowheads="1"/>
            </p:cNvSpPr>
            <p:nvPr/>
          </p:nvSpPr>
          <p:spPr bwMode="auto">
            <a:xfrm>
              <a:off x="10679" y="12141"/>
              <a:ext cx="48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3962" name="Oval 225"/>
            <p:cNvSpPr>
              <a:spLocks noChangeArrowheads="1"/>
            </p:cNvSpPr>
            <p:nvPr/>
          </p:nvSpPr>
          <p:spPr bwMode="auto">
            <a:xfrm>
              <a:off x="9542" y="11900"/>
              <a:ext cx="1608" cy="414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13963" name="Group 226"/>
            <p:cNvGrpSpPr>
              <a:grpSpLocks/>
            </p:cNvGrpSpPr>
            <p:nvPr/>
          </p:nvGrpSpPr>
          <p:grpSpPr bwMode="auto">
            <a:xfrm>
              <a:off x="9930" y="11991"/>
              <a:ext cx="796" cy="242"/>
              <a:chOff x="2848" y="848"/>
              <a:chExt cx="140" cy="98"/>
            </a:xfrm>
          </p:grpSpPr>
          <p:sp>
            <p:nvSpPr>
              <p:cNvPr id="113976" name="Line 2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977" name="Line 2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978" name="Line 2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3964" name="Group 230"/>
            <p:cNvGrpSpPr>
              <a:grpSpLocks/>
            </p:cNvGrpSpPr>
            <p:nvPr/>
          </p:nvGrpSpPr>
          <p:grpSpPr bwMode="auto">
            <a:xfrm flipV="1">
              <a:off x="9930" y="11987"/>
              <a:ext cx="796" cy="242"/>
              <a:chOff x="2848" y="848"/>
              <a:chExt cx="140" cy="98"/>
            </a:xfrm>
          </p:grpSpPr>
          <p:sp>
            <p:nvSpPr>
              <p:cNvPr id="113973" name="Line 2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974" name="Line 2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975" name="Line 2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3965" name="Group 234"/>
            <p:cNvGrpSpPr>
              <a:grpSpLocks/>
            </p:cNvGrpSpPr>
            <p:nvPr/>
          </p:nvGrpSpPr>
          <p:grpSpPr bwMode="auto">
            <a:xfrm>
              <a:off x="10534" y="12050"/>
              <a:ext cx="476" cy="374"/>
              <a:chOff x="11283" y="10423"/>
              <a:chExt cx="475" cy="374"/>
            </a:xfrm>
          </p:grpSpPr>
          <p:sp>
            <p:nvSpPr>
              <p:cNvPr id="113966" name="Rectangle 235"/>
              <p:cNvSpPr>
                <a:spLocks noChangeArrowheads="1"/>
              </p:cNvSpPr>
              <p:nvPr/>
            </p:nvSpPr>
            <p:spPr bwMode="auto">
              <a:xfrm>
                <a:off x="11283" y="10423"/>
                <a:ext cx="475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3967" name="Line 236"/>
              <p:cNvSpPr>
                <a:spLocks noChangeShapeType="1"/>
              </p:cNvSpPr>
              <p:nvPr/>
            </p:nvSpPr>
            <p:spPr bwMode="auto">
              <a:xfrm>
                <a:off x="1168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8" name="Line 237"/>
              <p:cNvSpPr>
                <a:spLocks noChangeShapeType="1"/>
              </p:cNvSpPr>
              <p:nvPr/>
            </p:nvSpPr>
            <p:spPr bwMode="auto">
              <a:xfrm>
                <a:off x="11621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9" name="Line 238"/>
              <p:cNvSpPr>
                <a:spLocks noChangeShapeType="1"/>
              </p:cNvSpPr>
              <p:nvPr/>
            </p:nvSpPr>
            <p:spPr bwMode="auto">
              <a:xfrm>
                <a:off x="1155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0" name="Line 239"/>
              <p:cNvSpPr>
                <a:spLocks noChangeShapeType="1"/>
              </p:cNvSpPr>
              <p:nvPr/>
            </p:nvSpPr>
            <p:spPr bwMode="auto">
              <a:xfrm>
                <a:off x="11491" y="10495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1" name="Line 240"/>
              <p:cNvSpPr>
                <a:spLocks noChangeShapeType="1"/>
              </p:cNvSpPr>
              <p:nvPr/>
            </p:nvSpPr>
            <p:spPr bwMode="auto">
              <a:xfrm>
                <a:off x="11426" y="10495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2" name="Line 241"/>
              <p:cNvSpPr>
                <a:spLocks noChangeShapeType="1"/>
              </p:cNvSpPr>
              <p:nvPr/>
            </p:nvSpPr>
            <p:spPr bwMode="auto">
              <a:xfrm>
                <a:off x="11360" y="10495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3729" name="Line 242"/>
          <p:cNvSpPr>
            <a:spLocks noChangeShapeType="1"/>
          </p:cNvSpPr>
          <p:nvPr/>
        </p:nvSpPr>
        <p:spPr bwMode="auto">
          <a:xfrm>
            <a:off x="6697664" y="3565525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730" name="Group 243"/>
          <p:cNvGrpSpPr>
            <a:grpSpLocks/>
          </p:cNvGrpSpPr>
          <p:nvPr/>
        </p:nvGrpSpPr>
        <p:grpSpPr bwMode="auto">
          <a:xfrm>
            <a:off x="4649789" y="3241676"/>
            <a:ext cx="90487" cy="271463"/>
            <a:chOff x="10104" y="10005"/>
            <a:chExt cx="137" cy="411"/>
          </a:xfrm>
        </p:grpSpPr>
        <p:sp>
          <p:nvSpPr>
            <p:cNvPr id="113955" name="Oval 244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56" name="Oval 245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3731" name="Line 247"/>
          <p:cNvSpPr>
            <a:spLocks noChangeShapeType="1"/>
          </p:cNvSpPr>
          <p:nvPr/>
        </p:nvSpPr>
        <p:spPr bwMode="auto">
          <a:xfrm flipH="1">
            <a:off x="4783138" y="3413125"/>
            <a:ext cx="304800" cy="38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32" name="Oval 248"/>
          <p:cNvSpPr>
            <a:spLocks noChangeArrowheads="1"/>
          </p:cNvSpPr>
          <p:nvPr/>
        </p:nvSpPr>
        <p:spPr bwMode="auto">
          <a:xfrm>
            <a:off x="6259513" y="5311775"/>
            <a:ext cx="1065212" cy="2349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3733" name="Line 249"/>
          <p:cNvSpPr>
            <a:spLocks noChangeShapeType="1"/>
          </p:cNvSpPr>
          <p:nvPr/>
        </p:nvSpPr>
        <p:spPr bwMode="auto">
          <a:xfrm>
            <a:off x="6259514" y="5292725"/>
            <a:ext cx="1587" cy="146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34" name="Line 250"/>
          <p:cNvSpPr>
            <a:spLocks noChangeShapeType="1"/>
          </p:cNvSpPr>
          <p:nvPr/>
        </p:nvSpPr>
        <p:spPr bwMode="auto">
          <a:xfrm>
            <a:off x="7324725" y="5292725"/>
            <a:ext cx="0" cy="14605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35" name="Rectangle 251"/>
          <p:cNvSpPr>
            <a:spLocks noChangeArrowheads="1"/>
          </p:cNvSpPr>
          <p:nvPr/>
        </p:nvSpPr>
        <p:spPr bwMode="auto">
          <a:xfrm>
            <a:off x="6259513" y="5292726"/>
            <a:ext cx="252412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36" name="Rectangle 252"/>
          <p:cNvSpPr>
            <a:spLocks noChangeArrowheads="1"/>
          </p:cNvSpPr>
          <p:nvPr/>
        </p:nvSpPr>
        <p:spPr bwMode="auto">
          <a:xfrm>
            <a:off x="7002463" y="5283201"/>
            <a:ext cx="322262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37" name="Oval 253"/>
          <p:cNvSpPr>
            <a:spLocks noChangeArrowheads="1"/>
          </p:cNvSpPr>
          <p:nvPr/>
        </p:nvSpPr>
        <p:spPr bwMode="auto">
          <a:xfrm>
            <a:off x="6240464" y="5124450"/>
            <a:ext cx="1063625" cy="2730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3738" name="Group 254"/>
          <p:cNvGrpSpPr>
            <a:grpSpLocks/>
          </p:cNvGrpSpPr>
          <p:nvPr/>
        </p:nvGrpSpPr>
        <p:grpSpPr bwMode="auto">
          <a:xfrm>
            <a:off x="6507163" y="5184775"/>
            <a:ext cx="527050" cy="158750"/>
            <a:chOff x="2848" y="848"/>
            <a:chExt cx="140" cy="98"/>
          </a:xfrm>
        </p:grpSpPr>
        <p:sp>
          <p:nvSpPr>
            <p:cNvPr id="113952" name="Line 25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53" name="Line 25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54" name="Line 25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739" name="Group 258"/>
          <p:cNvGrpSpPr>
            <a:grpSpLocks/>
          </p:cNvGrpSpPr>
          <p:nvPr/>
        </p:nvGrpSpPr>
        <p:grpSpPr bwMode="auto">
          <a:xfrm flipV="1">
            <a:off x="6507163" y="5181600"/>
            <a:ext cx="527050" cy="160338"/>
            <a:chOff x="2848" y="848"/>
            <a:chExt cx="140" cy="98"/>
          </a:xfrm>
        </p:grpSpPr>
        <p:sp>
          <p:nvSpPr>
            <p:cNvPr id="113949" name="Line 25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50" name="Line 26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51" name="Line 26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740" name="Group 262"/>
          <p:cNvGrpSpPr>
            <a:grpSpLocks/>
          </p:cNvGrpSpPr>
          <p:nvPr/>
        </p:nvGrpSpPr>
        <p:grpSpPr bwMode="auto">
          <a:xfrm rot="7844936">
            <a:off x="6507163" y="5313363"/>
            <a:ext cx="322262" cy="239712"/>
            <a:chOff x="11283" y="10423"/>
            <a:chExt cx="475" cy="374"/>
          </a:xfrm>
        </p:grpSpPr>
        <p:sp>
          <p:nvSpPr>
            <p:cNvPr id="113942" name="Rectangle 263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43" name="Line 264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4" name="Line 265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5" name="Line 266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6" name="Line 267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7" name="Line 268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8" name="Line 269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741" name="Line 270"/>
          <p:cNvSpPr>
            <a:spLocks noChangeShapeType="1"/>
          </p:cNvSpPr>
          <p:nvPr/>
        </p:nvSpPr>
        <p:spPr bwMode="auto">
          <a:xfrm flipH="1" flipV="1">
            <a:off x="5324475" y="6175375"/>
            <a:ext cx="1981200" cy="190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42" name="Line 271"/>
          <p:cNvSpPr>
            <a:spLocks noChangeShapeType="1"/>
          </p:cNvSpPr>
          <p:nvPr/>
        </p:nvSpPr>
        <p:spPr bwMode="auto">
          <a:xfrm flipH="1">
            <a:off x="5943601" y="5527676"/>
            <a:ext cx="620713" cy="657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43" name="Freeform 272"/>
          <p:cNvSpPr>
            <a:spLocks/>
          </p:cNvSpPr>
          <p:nvPr/>
        </p:nvSpPr>
        <p:spPr bwMode="auto">
          <a:xfrm>
            <a:off x="4695826" y="327977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44" name="Oval 273"/>
          <p:cNvSpPr>
            <a:spLocks noChangeArrowheads="1"/>
          </p:cNvSpPr>
          <p:nvPr/>
        </p:nvSpPr>
        <p:spPr bwMode="auto">
          <a:xfrm>
            <a:off x="4498975" y="6111875"/>
            <a:ext cx="1062038" cy="2349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3745" name="Line 274"/>
          <p:cNvSpPr>
            <a:spLocks noChangeShapeType="1"/>
          </p:cNvSpPr>
          <p:nvPr/>
        </p:nvSpPr>
        <p:spPr bwMode="auto">
          <a:xfrm>
            <a:off x="4498975" y="6092826"/>
            <a:ext cx="0" cy="1444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46" name="Line 275"/>
          <p:cNvSpPr>
            <a:spLocks noChangeShapeType="1"/>
          </p:cNvSpPr>
          <p:nvPr/>
        </p:nvSpPr>
        <p:spPr bwMode="auto">
          <a:xfrm>
            <a:off x="5561014" y="6092826"/>
            <a:ext cx="1587" cy="144463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47" name="Rectangle 276"/>
          <p:cNvSpPr>
            <a:spLocks noChangeArrowheads="1"/>
          </p:cNvSpPr>
          <p:nvPr/>
        </p:nvSpPr>
        <p:spPr bwMode="auto">
          <a:xfrm>
            <a:off x="4498976" y="6092826"/>
            <a:ext cx="250825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48" name="Rectangle 277"/>
          <p:cNvSpPr>
            <a:spLocks noChangeArrowheads="1"/>
          </p:cNvSpPr>
          <p:nvPr/>
        </p:nvSpPr>
        <p:spPr bwMode="auto">
          <a:xfrm>
            <a:off x="5238751" y="6083301"/>
            <a:ext cx="322263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49" name="Oval 278"/>
          <p:cNvSpPr>
            <a:spLocks noChangeArrowheads="1"/>
          </p:cNvSpPr>
          <p:nvPr/>
        </p:nvSpPr>
        <p:spPr bwMode="auto">
          <a:xfrm>
            <a:off x="4487864" y="5924550"/>
            <a:ext cx="1063625" cy="2730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3750" name="Group 279"/>
          <p:cNvGrpSpPr>
            <a:grpSpLocks/>
          </p:cNvGrpSpPr>
          <p:nvPr/>
        </p:nvGrpSpPr>
        <p:grpSpPr bwMode="auto">
          <a:xfrm>
            <a:off x="4745038" y="5984875"/>
            <a:ext cx="525462" cy="158750"/>
            <a:chOff x="2848" y="848"/>
            <a:chExt cx="140" cy="98"/>
          </a:xfrm>
        </p:grpSpPr>
        <p:sp>
          <p:nvSpPr>
            <p:cNvPr id="113939" name="Line 28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40" name="Line 28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41" name="Line 28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751" name="Group 283"/>
          <p:cNvGrpSpPr>
            <a:grpSpLocks/>
          </p:cNvGrpSpPr>
          <p:nvPr/>
        </p:nvGrpSpPr>
        <p:grpSpPr bwMode="auto">
          <a:xfrm flipV="1">
            <a:off x="4745038" y="5981700"/>
            <a:ext cx="525462" cy="158750"/>
            <a:chOff x="2848" y="848"/>
            <a:chExt cx="140" cy="98"/>
          </a:xfrm>
        </p:grpSpPr>
        <p:sp>
          <p:nvSpPr>
            <p:cNvPr id="113936" name="Line 28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37" name="Line 28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38" name="Line 28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752" name="Group 287"/>
          <p:cNvGrpSpPr>
            <a:grpSpLocks/>
          </p:cNvGrpSpPr>
          <p:nvPr/>
        </p:nvGrpSpPr>
        <p:grpSpPr bwMode="auto">
          <a:xfrm>
            <a:off x="4562476" y="6051550"/>
            <a:ext cx="315913" cy="247650"/>
            <a:chOff x="11283" y="10423"/>
            <a:chExt cx="475" cy="374"/>
          </a:xfrm>
        </p:grpSpPr>
        <p:sp>
          <p:nvSpPr>
            <p:cNvPr id="113929" name="Rectangle 288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30" name="Line 289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1" name="Line 290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2" name="Line 291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3" name="Line 292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4" name="Line 293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5" name="Line 294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753" name="Oval 295"/>
          <p:cNvSpPr>
            <a:spLocks noChangeArrowheads="1"/>
          </p:cNvSpPr>
          <p:nvPr/>
        </p:nvSpPr>
        <p:spPr bwMode="auto">
          <a:xfrm>
            <a:off x="3859214" y="5178426"/>
            <a:ext cx="1063625" cy="233363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3754" name="Line 296"/>
          <p:cNvSpPr>
            <a:spLocks noChangeShapeType="1"/>
          </p:cNvSpPr>
          <p:nvPr/>
        </p:nvSpPr>
        <p:spPr bwMode="auto">
          <a:xfrm>
            <a:off x="3859214" y="5159376"/>
            <a:ext cx="1587" cy="1444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55" name="Line 297"/>
          <p:cNvSpPr>
            <a:spLocks noChangeShapeType="1"/>
          </p:cNvSpPr>
          <p:nvPr/>
        </p:nvSpPr>
        <p:spPr bwMode="auto">
          <a:xfrm>
            <a:off x="4922838" y="5159376"/>
            <a:ext cx="0" cy="144463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756" name="Rectangle 298"/>
          <p:cNvSpPr>
            <a:spLocks noChangeArrowheads="1"/>
          </p:cNvSpPr>
          <p:nvPr/>
        </p:nvSpPr>
        <p:spPr bwMode="auto">
          <a:xfrm>
            <a:off x="3859213" y="5159375"/>
            <a:ext cx="252412" cy="14128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57" name="Rectangle 299"/>
          <p:cNvSpPr>
            <a:spLocks noChangeArrowheads="1"/>
          </p:cNvSpPr>
          <p:nvPr/>
        </p:nvSpPr>
        <p:spPr bwMode="auto">
          <a:xfrm>
            <a:off x="4600576" y="5149850"/>
            <a:ext cx="322263" cy="14128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58" name="Oval 300"/>
          <p:cNvSpPr>
            <a:spLocks noChangeArrowheads="1"/>
          </p:cNvSpPr>
          <p:nvPr/>
        </p:nvSpPr>
        <p:spPr bwMode="auto">
          <a:xfrm>
            <a:off x="3849689" y="4991100"/>
            <a:ext cx="1063625" cy="27305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3759" name="Group 301"/>
          <p:cNvGrpSpPr>
            <a:grpSpLocks/>
          </p:cNvGrpSpPr>
          <p:nvPr/>
        </p:nvGrpSpPr>
        <p:grpSpPr bwMode="auto">
          <a:xfrm>
            <a:off x="4106863" y="5051425"/>
            <a:ext cx="525462" cy="158750"/>
            <a:chOff x="2848" y="848"/>
            <a:chExt cx="140" cy="98"/>
          </a:xfrm>
        </p:grpSpPr>
        <p:sp>
          <p:nvSpPr>
            <p:cNvPr id="113926" name="Line 30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27" name="Line 30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28" name="Line 30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3760" name="Group 305"/>
          <p:cNvGrpSpPr>
            <a:grpSpLocks/>
          </p:cNvGrpSpPr>
          <p:nvPr/>
        </p:nvGrpSpPr>
        <p:grpSpPr bwMode="auto">
          <a:xfrm flipV="1">
            <a:off x="4106863" y="5048250"/>
            <a:ext cx="525462" cy="158750"/>
            <a:chOff x="2848" y="848"/>
            <a:chExt cx="140" cy="98"/>
          </a:xfrm>
        </p:grpSpPr>
        <p:sp>
          <p:nvSpPr>
            <p:cNvPr id="113923" name="Line 30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24" name="Line 30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925" name="Line 30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761" name="Line 309"/>
          <p:cNvSpPr>
            <a:spLocks noChangeShapeType="1"/>
          </p:cNvSpPr>
          <p:nvPr/>
        </p:nvSpPr>
        <p:spPr bwMode="auto">
          <a:xfrm flipH="1">
            <a:off x="3219451" y="5375276"/>
            <a:ext cx="868363" cy="8112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762" name="Group 310"/>
          <p:cNvGrpSpPr>
            <a:grpSpLocks/>
          </p:cNvGrpSpPr>
          <p:nvPr/>
        </p:nvGrpSpPr>
        <p:grpSpPr bwMode="auto">
          <a:xfrm rot="8027572">
            <a:off x="4202113" y="4979988"/>
            <a:ext cx="322262" cy="239712"/>
            <a:chOff x="11283" y="10423"/>
            <a:chExt cx="475" cy="374"/>
          </a:xfrm>
        </p:grpSpPr>
        <p:sp>
          <p:nvSpPr>
            <p:cNvPr id="113916" name="Rectangle 311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17" name="Line 312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8" name="Line 313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9" name="Line 314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0" name="Line 315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1" name="Line 316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2" name="Line 317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763" name="Freeform 318"/>
          <p:cNvSpPr>
            <a:spLocks/>
          </p:cNvSpPr>
          <p:nvPr/>
        </p:nvSpPr>
        <p:spPr bwMode="auto">
          <a:xfrm>
            <a:off x="3057525" y="3317875"/>
            <a:ext cx="5067300" cy="2933700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64" name="Freeform 319"/>
          <p:cNvSpPr>
            <a:spLocks/>
          </p:cNvSpPr>
          <p:nvPr/>
        </p:nvSpPr>
        <p:spPr bwMode="auto">
          <a:xfrm>
            <a:off x="2657476" y="3413126"/>
            <a:ext cx="5743575" cy="2886075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65" name="Freeform 320"/>
          <p:cNvSpPr>
            <a:spLocks/>
          </p:cNvSpPr>
          <p:nvPr/>
        </p:nvSpPr>
        <p:spPr bwMode="auto">
          <a:xfrm>
            <a:off x="2781300" y="3460750"/>
            <a:ext cx="5791200" cy="2667000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FF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3766" name="Group 321"/>
          <p:cNvGrpSpPr>
            <a:grpSpLocks/>
          </p:cNvGrpSpPr>
          <p:nvPr/>
        </p:nvGrpSpPr>
        <p:grpSpPr bwMode="auto">
          <a:xfrm>
            <a:off x="2611439" y="5213351"/>
            <a:ext cx="90487" cy="271463"/>
            <a:chOff x="10104" y="10005"/>
            <a:chExt cx="137" cy="411"/>
          </a:xfrm>
        </p:grpSpPr>
        <p:sp>
          <p:nvSpPr>
            <p:cNvPr id="113914" name="Oval 322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15" name="Oval 323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3767" name="Group 324"/>
          <p:cNvGrpSpPr>
            <a:grpSpLocks/>
          </p:cNvGrpSpPr>
          <p:nvPr/>
        </p:nvGrpSpPr>
        <p:grpSpPr bwMode="auto">
          <a:xfrm>
            <a:off x="8067676" y="5449888"/>
            <a:ext cx="92075" cy="271462"/>
            <a:chOff x="10104" y="10005"/>
            <a:chExt cx="137" cy="411"/>
          </a:xfrm>
        </p:grpSpPr>
        <p:sp>
          <p:nvSpPr>
            <p:cNvPr id="113912" name="Oval 325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13" name="Oval 326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3768" name="Group 327"/>
          <p:cNvGrpSpPr>
            <a:grpSpLocks/>
          </p:cNvGrpSpPr>
          <p:nvPr/>
        </p:nvGrpSpPr>
        <p:grpSpPr bwMode="auto">
          <a:xfrm>
            <a:off x="8515350" y="3392488"/>
            <a:ext cx="90488" cy="271462"/>
            <a:chOff x="10104" y="10005"/>
            <a:chExt cx="137" cy="411"/>
          </a:xfrm>
        </p:grpSpPr>
        <p:sp>
          <p:nvSpPr>
            <p:cNvPr id="113910" name="Oval 328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3911" name="Oval 329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pic>
        <p:nvPicPr>
          <p:cNvPr id="113769" name="Picture 33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339" name="Rectangle 334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3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113771" name="Text Box 335"/>
          <p:cNvSpPr txBox="1">
            <a:spLocks noChangeArrowheads="1"/>
          </p:cNvSpPr>
          <p:nvPr/>
        </p:nvSpPr>
        <p:spPr bwMode="auto">
          <a:xfrm>
            <a:off x="8259763" y="305593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400">
                <a:solidFill>
                  <a:schemeClr val="tx2"/>
                </a:solidFill>
                <a:latin typeface="Arial" panose="020B0604020202020204" pitchFamily="34" charset="0"/>
              </a:rPr>
              <a:t>Host B</a:t>
            </a:r>
          </a:p>
        </p:txBody>
      </p:sp>
      <p:sp>
        <p:nvSpPr>
          <p:cNvPr id="113772" name="Text Box 336"/>
          <p:cNvSpPr txBox="1">
            <a:spLocks noChangeArrowheads="1"/>
          </p:cNvSpPr>
          <p:nvPr/>
        </p:nvSpPr>
        <p:spPr bwMode="auto">
          <a:xfrm>
            <a:off x="7712076" y="5116514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400">
                <a:solidFill>
                  <a:schemeClr val="tx2"/>
                </a:solidFill>
                <a:latin typeface="Arial" panose="020B0604020202020204" pitchFamily="34" charset="0"/>
              </a:rPr>
              <a:t>Host C</a:t>
            </a:r>
          </a:p>
        </p:txBody>
      </p:sp>
      <p:sp>
        <p:nvSpPr>
          <p:cNvPr id="113773" name="Text Box 337"/>
          <p:cNvSpPr txBox="1">
            <a:spLocks noChangeArrowheads="1"/>
          </p:cNvSpPr>
          <p:nvPr/>
        </p:nvSpPr>
        <p:spPr bwMode="auto">
          <a:xfrm>
            <a:off x="2274888" y="4873626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1400">
                <a:solidFill>
                  <a:schemeClr val="tx2"/>
                </a:solidFill>
                <a:latin typeface="Arial" panose="020B0604020202020204" pitchFamily="34" charset="0"/>
              </a:rPr>
              <a:t>Host D</a:t>
            </a:r>
          </a:p>
        </p:txBody>
      </p:sp>
      <p:sp>
        <p:nvSpPr>
          <p:cNvPr id="113774" name="Text Box 338"/>
          <p:cNvSpPr txBox="1">
            <a:spLocks noChangeArrowheads="1"/>
          </p:cNvSpPr>
          <p:nvPr/>
        </p:nvSpPr>
        <p:spPr bwMode="auto">
          <a:xfrm>
            <a:off x="5060950" y="2911476"/>
            <a:ext cx="1881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: original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3775" name="Line 340"/>
          <p:cNvSpPr>
            <a:spLocks noChangeShapeType="1"/>
          </p:cNvSpPr>
          <p:nvPr/>
        </p:nvSpPr>
        <p:spPr bwMode="auto">
          <a:xfrm>
            <a:off x="6537326" y="3479800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76" name="Text Box 341"/>
          <p:cNvSpPr txBox="1">
            <a:spLocks noChangeArrowheads="1"/>
          </p:cNvSpPr>
          <p:nvPr/>
        </p:nvSpPr>
        <p:spPr bwMode="auto">
          <a:xfrm>
            <a:off x="4943475" y="3240089"/>
            <a:ext cx="23495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'</a:t>
            </a:r>
            <a:r>
              <a:rPr lang="en-US" altLang="en-US" sz="2000" baseline="-2500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original data, </a:t>
            </a:r>
            <a:r>
              <a:rPr lang="en-US" altLang="en-US" i="1">
                <a:solidFill>
                  <a:srgbClr val="FF0000"/>
                </a:solidFill>
                <a:latin typeface="Arial" panose="020B0604020202020204" pitchFamily="34" charset="0"/>
              </a:rPr>
              <a:t>plus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retransmitted data</a:t>
            </a:r>
            <a:endParaRPr lang="en-US" altLang="en-US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205156" name="Rectangle 356"/>
          <p:cNvSpPr>
            <a:spLocks noChangeArrowheads="1"/>
          </p:cNvSpPr>
          <p:nvPr/>
        </p:nvSpPr>
        <p:spPr bwMode="auto">
          <a:xfrm>
            <a:off x="5794375" y="1778000"/>
            <a:ext cx="46561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800" u="sng">
                <a:solidFill>
                  <a:srgbClr val="CC0000"/>
                </a:solidFill>
                <a:latin typeface="Gill Sans MT" panose="020B0502020104020203" pitchFamily="34" charset="0"/>
              </a:rPr>
              <a:t>A:</a:t>
            </a:r>
            <a:r>
              <a:rPr lang="en-US" alt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>
                <a:latin typeface="Gill Sans MT" panose="020B0502020104020203" pitchFamily="34" charset="0"/>
              </a:rPr>
              <a:t>as red  </a:t>
            </a:r>
            <a:r>
              <a:rPr lang="en-US" altLang="en-US" sz="2400">
                <a:solidFill>
                  <a:srgbClr val="CC0000"/>
                </a:solidFill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solidFill>
                  <a:srgbClr val="CC0000"/>
                </a:solidFill>
                <a:latin typeface="Gill Sans MT" panose="020B0502020104020203" pitchFamily="34" charset="0"/>
              </a:rPr>
              <a:t>in</a:t>
            </a:r>
            <a:r>
              <a:rPr lang="ja-JP" altLang="en-US" sz="2400" baseline="30000">
                <a:solidFill>
                  <a:srgbClr val="CC0000"/>
                </a:solidFill>
                <a:latin typeface="Gill Sans MT" panose="020B0502020104020203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 increases, all arriving blue pkts at upper queue are dropped, blue throughput </a:t>
            </a:r>
            <a:r>
              <a:rPr lang="en-US" altLang="ja-JP" sz="2400">
                <a:latin typeface="Wingdings 3" panose="05040102010807070707" pitchFamily="18" charset="2"/>
              </a:rPr>
              <a:t>g</a:t>
            </a:r>
            <a:r>
              <a:rPr lang="en-US" altLang="ja-JP" sz="2400">
                <a:latin typeface="Gill Sans MT" panose="020B0502020104020203" pitchFamily="34" charset="0"/>
              </a:rPr>
              <a:t> 0</a:t>
            </a:r>
            <a:endParaRPr lang="en-US" altLang="en-US" sz="2400">
              <a:latin typeface="Gill Sans MT" panose="020B0502020104020203" pitchFamily="34" charset="0"/>
            </a:endParaRPr>
          </a:p>
        </p:txBody>
      </p:sp>
      <p:grpSp>
        <p:nvGrpSpPr>
          <p:cNvPr id="113778" name="Group 358"/>
          <p:cNvGrpSpPr>
            <a:grpSpLocks/>
          </p:cNvGrpSpPr>
          <p:nvPr/>
        </p:nvGrpSpPr>
        <p:grpSpPr bwMode="auto">
          <a:xfrm>
            <a:off x="8953501" y="4146551"/>
            <a:ext cx="231775" cy="441325"/>
            <a:chOff x="4140" y="429"/>
            <a:chExt cx="1425" cy="2396"/>
          </a:xfrm>
        </p:grpSpPr>
        <p:sp>
          <p:nvSpPr>
            <p:cNvPr id="113878" name="Freeform 3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48" name="Rectangle 360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80" name="Freeform 3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1" name="Freeform 3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51" name="Rectangle 363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83" name="Group 3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477" name="AutoShape 365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78" name="AutoShape 366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53" name="Rectangle 367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85" name="Group 3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5475" name="AutoShape 369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76" name="AutoShape 370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55" name="Rectangle 371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56" name="Rectangle 372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88" name="Group 3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5473" name="AutoShape 374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74" name="AutoShape 375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3889" name="Freeform 3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890" name="Group 3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5471" name="AutoShape 378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72" name="AutoShape 379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60" name="Rectangle 380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92" name="Freeform 3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3" name="Freeform 3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63" name="Oval 383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95" name="Freeform 3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65" name="AutoShape 385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66" name="AutoShape 386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67" name="Oval 387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68" name="Oval 388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5469" name="Oval 389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70" name="Rectangle 390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3779" name="Group 391"/>
          <p:cNvGrpSpPr>
            <a:grpSpLocks/>
          </p:cNvGrpSpPr>
          <p:nvPr/>
        </p:nvGrpSpPr>
        <p:grpSpPr bwMode="auto">
          <a:xfrm>
            <a:off x="8474076" y="6003926"/>
            <a:ext cx="231775" cy="441325"/>
            <a:chOff x="4140" y="429"/>
            <a:chExt cx="1425" cy="2396"/>
          </a:xfrm>
        </p:grpSpPr>
        <p:sp>
          <p:nvSpPr>
            <p:cNvPr id="113846" name="Freeform 39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16" name="Rectangle 393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48" name="Freeform 39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9" name="Freeform 39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19" name="Rectangle 396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51" name="Group 39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445" name="AutoShape 398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46" name="AutoShape 399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21" name="Rectangle 400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53" name="Group 40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5443" name="AutoShape 402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44" name="AutoShape 403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23" name="Rectangle 404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24" name="Rectangle 405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56" name="Group 40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5441" name="AutoShape 40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42" name="AutoShape 408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3857" name="Freeform 40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858" name="Group 41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5439" name="AutoShape 411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40" name="AutoShape 412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428" name="Rectangle 413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60" name="Freeform 41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1" name="Freeform 41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31" name="Oval 416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63" name="Freeform 41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33" name="AutoShape 41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34" name="AutoShape 419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35" name="Oval 420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36" name="Oval 421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5437" name="Oval 422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38" name="Rectangle 423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3780" name="Group 424"/>
          <p:cNvGrpSpPr>
            <a:grpSpLocks/>
          </p:cNvGrpSpPr>
          <p:nvPr/>
        </p:nvGrpSpPr>
        <p:grpSpPr bwMode="auto">
          <a:xfrm>
            <a:off x="1920876" y="5840414"/>
            <a:ext cx="231775" cy="441325"/>
            <a:chOff x="4140" y="429"/>
            <a:chExt cx="1425" cy="2396"/>
          </a:xfrm>
        </p:grpSpPr>
        <p:sp>
          <p:nvSpPr>
            <p:cNvPr id="113814" name="Freeform 4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84" name="Rectangle 426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16" name="Freeform 4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7" name="Freeform 4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87" name="Rectangle 429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19" name="Group 4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413" name="AutoShape 431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14" name="AutoShape 432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89" name="Rectangle 433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21" name="Group 4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5411" name="AutoShape 435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12" name="AutoShape 436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91" name="Rectangle 437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92" name="Rectangle 438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824" name="Group 4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5409" name="AutoShape 440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10" name="AutoShape 44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3825" name="Freeform 4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826" name="Group 4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5407" name="AutoShape 444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408" name="AutoShape 445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96" name="Rectangle 446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28" name="Freeform 4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9" name="Freeform 4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99" name="Oval 449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831" name="Freeform 4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01" name="AutoShape 451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02" name="AutoShape 452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03" name="Oval 453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04" name="Oval 454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5405" name="Oval 455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406" name="Rectangle 456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3781" name="Group 457"/>
          <p:cNvGrpSpPr>
            <a:grpSpLocks/>
          </p:cNvGrpSpPr>
          <p:nvPr/>
        </p:nvGrpSpPr>
        <p:grpSpPr bwMode="auto">
          <a:xfrm>
            <a:off x="3935414" y="3835401"/>
            <a:ext cx="231775" cy="441325"/>
            <a:chOff x="4140" y="429"/>
            <a:chExt cx="1425" cy="2396"/>
          </a:xfrm>
        </p:grpSpPr>
        <p:sp>
          <p:nvSpPr>
            <p:cNvPr id="113782" name="Freeform 4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52" name="Rectangle 459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784" name="Freeform 4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5" name="Freeform 4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55" name="Rectangle 462"/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787" name="Group 4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381" name="AutoShape 464"/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382" name="AutoShape 465"/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57" name="Rectangle 466"/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789" name="Group 4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5379" name="AutoShape 468"/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380" name="AutoShape 469"/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59" name="Rectangle 470"/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60" name="Rectangle 471"/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3792" name="Group 4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5377" name="AutoShape 47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7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378" name="AutoShape 474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13793" name="Freeform 4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794" name="Group 4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5375" name="AutoShape 477"/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5376" name="AutoShape 478"/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364" name="Rectangle 479"/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796" name="Freeform 4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7" name="Freeform 4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67" name="Oval 482"/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799" name="Freeform 4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69" name="AutoShape 484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70" name="AutoShape 485"/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71" name="Oval 486"/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72" name="Oval 487"/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5373" name="Oval 488"/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74" name="Rectangle 489"/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075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5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625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A2DDDB6-3306-4957-972A-0C19850CFB59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auto">
          <a:xfrm>
            <a:off x="1857375" y="5153026"/>
            <a:ext cx="8267700" cy="409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auto">
          <a:xfrm>
            <a:off x="2290764" y="4367213"/>
            <a:ext cx="778192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latin typeface="Gill Sans MT" panose="020B0502020104020203" pitchFamily="34" charset="0"/>
              </a:rPr>
              <a:t>another </a:t>
            </a:r>
            <a:r>
              <a:rPr lang="ja-JP" altLang="en-US" sz="2800">
                <a:solidFill>
                  <a:srgbClr val="FF0000"/>
                </a:solidFill>
                <a:latin typeface="Gill Sans MT" panose="020B0502020104020203" pitchFamily="34" charset="0"/>
              </a:rPr>
              <a:t>“</a:t>
            </a:r>
            <a:r>
              <a:rPr lang="en-US" altLang="ja-JP" sz="2800">
                <a:solidFill>
                  <a:srgbClr val="FF0000"/>
                </a:solidFill>
                <a:latin typeface="Gill Sans MT" panose="020B0502020104020203" pitchFamily="34" charset="0"/>
              </a:rPr>
              <a:t>cost</a:t>
            </a:r>
            <a:r>
              <a:rPr lang="ja-JP" altLang="en-US" sz="2800">
                <a:solidFill>
                  <a:srgbClr val="FF0000"/>
                </a:solidFill>
                <a:latin typeface="Gill Sans MT" panose="020B0502020104020203" pitchFamily="34" charset="0"/>
              </a:rPr>
              <a:t>”</a:t>
            </a:r>
            <a:r>
              <a:rPr lang="en-US" altLang="ja-JP" sz="2800">
                <a:solidFill>
                  <a:srgbClr val="FF0000"/>
                </a:solidFill>
                <a:latin typeface="Gill Sans MT" panose="020B0502020104020203" pitchFamily="34" charset="0"/>
              </a:rPr>
              <a:t> of congestion:</a:t>
            </a:r>
            <a:r>
              <a:rPr lang="en-US" altLang="ja-JP" sz="2800">
                <a:latin typeface="Gill Sans MT" panose="020B0502020104020203" pitchFamily="34" charset="0"/>
              </a:rPr>
              <a:t> </a:t>
            </a: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>
                <a:latin typeface="Gill Sans MT" panose="020B0502020104020203" pitchFamily="34" charset="0"/>
              </a:rPr>
              <a:t>when packet dropped, any </a:t>
            </a:r>
            <a:r>
              <a:rPr lang="ja-JP" altLang="en-US" sz="2800">
                <a:latin typeface="Gill Sans MT" panose="020B0502020104020203" pitchFamily="34" charset="0"/>
              </a:rPr>
              <a:t>“</a:t>
            </a:r>
            <a:r>
              <a:rPr lang="en-US" altLang="ja-JP" sz="2800">
                <a:solidFill>
                  <a:srgbClr val="0000FF"/>
                </a:solidFill>
                <a:latin typeface="Gill Sans MT" panose="020B0502020104020203" pitchFamily="34" charset="0"/>
              </a:rPr>
              <a:t>upstream transmission capacity </a:t>
            </a:r>
            <a:r>
              <a:rPr lang="en-US" altLang="ja-JP" sz="2800">
                <a:latin typeface="Gill Sans MT" panose="020B0502020104020203" pitchFamily="34" charset="0"/>
              </a:rPr>
              <a:t>used for that packet was wasted!</a:t>
            </a:r>
            <a:endParaRPr lang="en-US" altLang="en-US" sz="2800">
              <a:latin typeface="Gill Sans MT" panose="020B0502020104020203" pitchFamily="34" charset="0"/>
            </a:endParaRPr>
          </a:p>
        </p:txBody>
      </p:sp>
      <p:sp>
        <p:nvSpPr>
          <p:cNvPr id="114693" name="Line 8"/>
          <p:cNvSpPr>
            <a:spLocks noChangeShapeType="1"/>
          </p:cNvSpPr>
          <p:nvPr/>
        </p:nvSpPr>
        <p:spPr bwMode="auto">
          <a:xfrm flipH="1">
            <a:off x="7535864" y="2141539"/>
            <a:ext cx="403225" cy="4524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4" name="Line 9"/>
          <p:cNvSpPr>
            <a:spLocks noChangeShapeType="1"/>
          </p:cNvSpPr>
          <p:nvPr/>
        </p:nvSpPr>
        <p:spPr bwMode="auto">
          <a:xfrm flipH="1">
            <a:off x="7747000" y="2141538"/>
            <a:ext cx="1920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695" name="Group 51"/>
          <p:cNvGrpSpPr>
            <a:grpSpLocks/>
          </p:cNvGrpSpPr>
          <p:nvPr/>
        </p:nvGrpSpPr>
        <p:grpSpPr bwMode="auto">
          <a:xfrm>
            <a:off x="7508875" y="1609726"/>
            <a:ext cx="285750" cy="473075"/>
            <a:chOff x="12762" y="10336"/>
            <a:chExt cx="1027" cy="1700"/>
          </a:xfrm>
        </p:grpSpPr>
        <p:sp>
          <p:nvSpPr>
            <p:cNvPr id="114842" name="Rectangle 5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43" name="Rectangle 5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44" name="Line 5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5" name="Line 5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6" name="Line 5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7" name="Line 5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696" name="Line 60"/>
          <p:cNvSpPr>
            <a:spLocks noChangeShapeType="1"/>
          </p:cNvSpPr>
          <p:nvPr/>
        </p:nvSpPr>
        <p:spPr bwMode="auto">
          <a:xfrm flipH="1">
            <a:off x="6943726" y="3175000"/>
            <a:ext cx="63817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697" name="Group 102"/>
          <p:cNvGrpSpPr>
            <a:grpSpLocks/>
          </p:cNvGrpSpPr>
          <p:nvPr/>
        </p:nvGrpSpPr>
        <p:grpSpPr bwMode="auto">
          <a:xfrm>
            <a:off x="6630988" y="2638426"/>
            <a:ext cx="285750" cy="473075"/>
            <a:chOff x="12762" y="10336"/>
            <a:chExt cx="1027" cy="1700"/>
          </a:xfrm>
        </p:grpSpPr>
        <p:sp>
          <p:nvSpPr>
            <p:cNvPr id="114836" name="Rectangle 103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37" name="Rectangle 104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38" name="Line 105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9" name="Line 106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0" name="Line 107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1" name="Line 108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698" name="Line 110"/>
          <p:cNvSpPr>
            <a:spLocks noChangeShapeType="1"/>
          </p:cNvSpPr>
          <p:nvPr/>
        </p:nvSpPr>
        <p:spPr bwMode="auto">
          <a:xfrm flipH="1">
            <a:off x="7747000" y="2365375"/>
            <a:ext cx="3175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9" name="Line 111"/>
          <p:cNvSpPr>
            <a:spLocks noChangeShapeType="1"/>
          </p:cNvSpPr>
          <p:nvPr/>
        </p:nvSpPr>
        <p:spPr bwMode="auto">
          <a:xfrm flipH="1" flipV="1">
            <a:off x="8526464" y="2374901"/>
            <a:ext cx="339725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0" name="Line 112"/>
          <p:cNvSpPr>
            <a:spLocks noChangeShapeType="1"/>
          </p:cNvSpPr>
          <p:nvPr/>
        </p:nvSpPr>
        <p:spPr bwMode="auto">
          <a:xfrm flipH="1">
            <a:off x="8501064" y="2151064"/>
            <a:ext cx="566737" cy="676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01" name="Line 113"/>
          <p:cNvSpPr>
            <a:spLocks noChangeShapeType="1"/>
          </p:cNvSpPr>
          <p:nvPr/>
        </p:nvSpPr>
        <p:spPr bwMode="auto">
          <a:xfrm flipH="1">
            <a:off x="9048750" y="2160588"/>
            <a:ext cx="1920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702" name="Group 154"/>
          <p:cNvGrpSpPr>
            <a:grpSpLocks/>
          </p:cNvGrpSpPr>
          <p:nvPr/>
        </p:nvGrpSpPr>
        <p:grpSpPr bwMode="auto">
          <a:xfrm>
            <a:off x="9186863" y="1679575"/>
            <a:ext cx="284162" cy="471488"/>
            <a:chOff x="12762" y="10336"/>
            <a:chExt cx="1027" cy="1700"/>
          </a:xfrm>
        </p:grpSpPr>
        <p:sp>
          <p:nvSpPr>
            <p:cNvPr id="114830" name="Rectangle 155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31" name="Rectangle 156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32" name="Line 157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3" name="Line 158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4" name="Line 159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5" name="Line 160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703" name="Group 201"/>
          <p:cNvGrpSpPr>
            <a:grpSpLocks/>
          </p:cNvGrpSpPr>
          <p:nvPr/>
        </p:nvGrpSpPr>
        <p:grpSpPr bwMode="auto">
          <a:xfrm>
            <a:off x="8974139" y="2762250"/>
            <a:ext cx="282575" cy="471488"/>
            <a:chOff x="12762" y="10336"/>
            <a:chExt cx="1027" cy="1700"/>
          </a:xfrm>
        </p:grpSpPr>
        <p:sp>
          <p:nvSpPr>
            <p:cNvPr id="114824" name="Rectangle 202"/>
            <p:cNvSpPr>
              <a:spLocks noChangeArrowheads="1"/>
            </p:cNvSpPr>
            <p:nvPr/>
          </p:nvSpPr>
          <p:spPr bwMode="auto">
            <a:xfrm>
              <a:off x="12824" y="10394"/>
              <a:ext cx="965" cy="164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25" name="Rectangle 203"/>
            <p:cNvSpPr>
              <a:spLocks noChangeArrowheads="1"/>
            </p:cNvSpPr>
            <p:nvPr/>
          </p:nvSpPr>
          <p:spPr bwMode="auto">
            <a:xfrm>
              <a:off x="12766" y="10336"/>
              <a:ext cx="965" cy="16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26" name="Line 204"/>
            <p:cNvSpPr>
              <a:spLocks noChangeShapeType="1"/>
            </p:cNvSpPr>
            <p:nvPr/>
          </p:nvSpPr>
          <p:spPr bwMode="auto">
            <a:xfrm>
              <a:off x="12766" y="10682"/>
              <a:ext cx="96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7" name="Line 205"/>
            <p:cNvSpPr>
              <a:spLocks noChangeShapeType="1"/>
            </p:cNvSpPr>
            <p:nvPr/>
          </p:nvSpPr>
          <p:spPr bwMode="auto">
            <a:xfrm>
              <a:off x="12780" y="11042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8" name="Line 206"/>
            <p:cNvSpPr>
              <a:spLocks noChangeShapeType="1"/>
            </p:cNvSpPr>
            <p:nvPr/>
          </p:nvSpPr>
          <p:spPr bwMode="auto">
            <a:xfrm>
              <a:off x="12764" y="11374"/>
              <a:ext cx="9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9" name="Line 207"/>
            <p:cNvSpPr>
              <a:spLocks noChangeShapeType="1"/>
            </p:cNvSpPr>
            <p:nvPr/>
          </p:nvSpPr>
          <p:spPr bwMode="auto">
            <a:xfrm>
              <a:off x="12762" y="11675"/>
              <a:ext cx="96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704" name="Group 212"/>
          <p:cNvGrpSpPr>
            <a:grpSpLocks/>
          </p:cNvGrpSpPr>
          <p:nvPr/>
        </p:nvGrpSpPr>
        <p:grpSpPr bwMode="auto">
          <a:xfrm>
            <a:off x="8051800" y="2244726"/>
            <a:ext cx="469900" cy="219075"/>
            <a:chOff x="9542" y="11900"/>
            <a:chExt cx="1624" cy="640"/>
          </a:xfrm>
        </p:grpSpPr>
        <p:sp>
          <p:nvSpPr>
            <p:cNvPr id="114802" name="Oval 213"/>
            <p:cNvSpPr>
              <a:spLocks noChangeArrowheads="1"/>
            </p:cNvSpPr>
            <p:nvPr/>
          </p:nvSpPr>
          <p:spPr bwMode="auto">
            <a:xfrm>
              <a:off x="9557" y="12185"/>
              <a:ext cx="1608" cy="355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03" name="Line 214"/>
            <p:cNvSpPr>
              <a:spLocks noChangeShapeType="1"/>
            </p:cNvSpPr>
            <p:nvPr/>
          </p:nvSpPr>
          <p:spPr bwMode="auto">
            <a:xfrm>
              <a:off x="9557" y="12156"/>
              <a:ext cx="1" cy="2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804" name="Line 215"/>
            <p:cNvSpPr>
              <a:spLocks noChangeShapeType="1"/>
            </p:cNvSpPr>
            <p:nvPr/>
          </p:nvSpPr>
          <p:spPr bwMode="auto">
            <a:xfrm>
              <a:off x="11165" y="12156"/>
              <a:ext cx="1" cy="219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805" name="Rectangle 216"/>
            <p:cNvSpPr>
              <a:spLocks noChangeArrowheads="1"/>
            </p:cNvSpPr>
            <p:nvPr/>
          </p:nvSpPr>
          <p:spPr bwMode="auto">
            <a:xfrm>
              <a:off x="9557" y="12156"/>
              <a:ext cx="381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4806" name="Rectangle 217"/>
            <p:cNvSpPr>
              <a:spLocks noChangeArrowheads="1"/>
            </p:cNvSpPr>
            <p:nvPr/>
          </p:nvSpPr>
          <p:spPr bwMode="auto">
            <a:xfrm>
              <a:off x="10679" y="12141"/>
              <a:ext cx="486" cy="21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2000">
                <a:solidFill>
                  <a:schemeClr val="tx2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4807" name="Oval 218"/>
            <p:cNvSpPr>
              <a:spLocks noChangeArrowheads="1"/>
            </p:cNvSpPr>
            <p:nvPr/>
          </p:nvSpPr>
          <p:spPr bwMode="auto">
            <a:xfrm>
              <a:off x="9542" y="11900"/>
              <a:ext cx="1608" cy="414"/>
            </a:xfrm>
            <a:prstGeom prst="ellipse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14808" name="Group 219"/>
            <p:cNvGrpSpPr>
              <a:grpSpLocks/>
            </p:cNvGrpSpPr>
            <p:nvPr/>
          </p:nvGrpSpPr>
          <p:grpSpPr bwMode="auto">
            <a:xfrm>
              <a:off x="9930" y="11991"/>
              <a:ext cx="796" cy="242"/>
              <a:chOff x="2848" y="848"/>
              <a:chExt cx="140" cy="98"/>
            </a:xfrm>
          </p:grpSpPr>
          <p:sp>
            <p:nvSpPr>
              <p:cNvPr id="114821" name="Line 2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22" name="Line 2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23" name="Line 2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809" name="Group 223"/>
            <p:cNvGrpSpPr>
              <a:grpSpLocks/>
            </p:cNvGrpSpPr>
            <p:nvPr/>
          </p:nvGrpSpPr>
          <p:grpSpPr bwMode="auto">
            <a:xfrm flipV="1">
              <a:off x="9930" y="11987"/>
              <a:ext cx="796" cy="242"/>
              <a:chOff x="2848" y="848"/>
              <a:chExt cx="140" cy="98"/>
            </a:xfrm>
          </p:grpSpPr>
          <p:sp>
            <p:nvSpPr>
              <p:cNvPr id="114818" name="Line 22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19" name="Line 22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820" name="Line 22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810" name="Group 227"/>
            <p:cNvGrpSpPr>
              <a:grpSpLocks/>
            </p:cNvGrpSpPr>
            <p:nvPr/>
          </p:nvGrpSpPr>
          <p:grpSpPr bwMode="auto">
            <a:xfrm>
              <a:off x="10534" y="12050"/>
              <a:ext cx="476" cy="374"/>
              <a:chOff x="11283" y="10423"/>
              <a:chExt cx="475" cy="374"/>
            </a:xfrm>
          </p:grpSpPr>
          <p:sp>
            <p:nvSpPr>
              <p:cNvPr id="114811" name="Rectangle 228"/>
              <p:cNvSpPr>
                <a:spLocks noChangeArrowheads="1"/>
              </p:cNvSpPr>
              <p:nvPr/>
            </p:nvSpPr>
            <p:spPr bwMode="auto">
              <a:xfrm>
                <a:off x="11283" y="10423"/>
                <a:ext cx="475" cy="3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4812" name="Line 229"/>
              <p:cNvSpPr>
                <a:spLocks noChangeShapeType="1"/>
              </p:cNvSpPr>
              <p:nvPr/>
            </p:nvSpPr>
            <p:spPr bwMode="auto">
              <a:xfrm>
                <a:off x="1168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3" name="Line 230"/>
              <p:cNvSpPr>
                <a:spLocks noChangeShapeType="1"/>
              </p:cNvSpPr>
              <p:nvPr/>
            </p:nvSpPr>
            <p:spPr bwMode="auto">
              <a:xfrm>
                <a:off x="11621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4" name="Line 231"/>
              <p:cNvSpPr>
                <a:spLocks noChangeShapeType="1"/>
              </p:cNvSpPr>
              <p:nvPr/>
            </p:nvSpPr>
            <p:spPr bwMode="auto">
              <a:xfrm>
                <a:off x="11556" y="10502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5" name="Line 232"/>
              <p:cNvSpPr>
                <a:spLocks noChangeShapeType="1"/>
              </p:cNvSpPr>
              <p:nvPr/>
            </p:nvSpPr>
            <p:spPr bwMode="auto">
              <a:xfrm>
                <a:off x="11491" y="10495"/>
                <a:ext cx="1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6" name="Line 233"/>
              <p:cNvSpPr>
                <a:spLocks noChangeShapeType="1"/>
              </p:cNvSpPr>
              <p:nvPr/>
            </p:nvSpPr>
            <p:spPr bwMode="auto">
              <a:xfrm>
                <a:off x="11426" y="10495"/>
                <a:ext cx="2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17" name="Line 234"/>
              <p:cNvSpPr>
                <a:spLocks noChangeShapeType="1"/>
              </p:cNvSpPr>
              <p:nvPr/>
            </p:nvSpPr>
            <p:spPr bwMode="auto">
              <a:xfrm>
                <a:off x="11360" y="10495"/>
                <a:ext cx="3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4705" name="Line 235"/>
          <p:cNvSpPr>
            <a:spLocks noChangeShapeType="1"/>
          </p:cNvSpPr>
          <p:nvPr/>
        </p:nvSpPr>
        <p:spPr bwMode="auto">
          <a:xfrm>
            <a:off x="8547100" y="1808164"/>
            <a:ext cx="120650" cy="1587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706" name="Group 236"/>
          <p:cNvGrpSpPr>
            <a:grpSpLocks/>
          </p:cNvGrpSpPr>
          <p:nvPr/>
        </p:nvGrpSpPr>
        <p:grpSpPr bwMode="auto">
          <a:xfrm>
            <a:off x="7651750" y="1639889"/>
            <a:ext cx="39688" cy="141287"/>
            <a:chOff x="10104" y="10005"/>
            <a:chExt cx="137" cy="411"/>
          </a:xfrm>
        </p:grpSpPr>
        <p:sp>
          <p:nvSpPr>
            <p:cNvPr id="114800" name="Oval 237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801" name="Oval 238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4707" name="Oval 241"/>
          <p:cNvSpPr>
            <a:spLocks noChangeArrowheads="1"/>
          </p:cNvSpPr>
          <p:nvPr/>
        </p:nvSpPr>
        <p:spPr bwMode="auto">
          <a:xfrm>
            <a:off x="8355014" y="2719389"/>
            <a:ext cx="465137" cy="122237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4708" name="Line 242"/>
          <p:cNvSpPr>
            <a:spLocks noChangeShapeType="1"/>
          </p:cNvSpPr>
          <p:nvPr/>
        </p:nvSpPr>
        <p:spPr bwMode="auto">
          <a:xfrm>
            <a:off x="8355014" y="2709863"/>
            <a:ext cx="1587" cy="76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9" name="Line 243"/>
          <p:cNvSpPr>
            <a:spLocks noChangeShapeType="1"/>
          </p:cNvSpPr>
          <p:nvPr/>
        </p:nvSpPr>
        <p:spPr bwMode="auto">
          <a:xfrm>
            <a:off x="8820150" y="2709863"/>
            <a:ext cx="0" cy="7620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10" name="Rectangle 244"/>
          <p:cNvSpPr>
            <a:spLocks noChangeArrowheads="1"/>
          </p:cNvSpPr>
          <p:nvPr/>
        </p:nvSpPr>
        <p:spPr bwMode="auto">
          <a:xfrm>
            <a:off x="8355014" y="2709863"/>
            <a:ext cx="111125" cy="74612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11" name="Rectangle 245"/>
          <p:cNvSpPr>
            <a:spLocks noChangeArrowheads="1"/>
          </p:cNvSpPr>
          <p:nvPr/>
        </p:nvSpPr>
        <p:spPr bwMode="auto">
          <a:xfrm>
            <a:off x="8680450" y="2705101"/>
            <a:ext cx="139700" cy="74613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12" name="Oval 246"/>
          <p:cNvSpPr>
            <a:spLocks noChangeArrowheads="1"/>
          </p:cNvSpPr>
          <p:nvPr/>
        </p:nvSpPr>
        <p:spPr bwMode="auto">
          <a:xfrm>
            <a:off x="8347075" y="2620964"/>
            <a:ext cx="465138" cy="142875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4713" name="Group 247"/>
          <p:cNvGrpSpPr>
            <a:grpSpLocks/>
          </p:cNvGrpSpPr>
          <p:nvPr/>
        </p:nvGrpSpPr>
        <p:grpSpPr bwMode="auto">
          <a:xfrm>
            <a:off x="8462964" y="2652713"/>
            <a:ext cx="230187" cy="82550"/>
            <a:chOff x="2848" y="848"/>
            <a:chExt cx="140" cy="98"/>
          </a:xfrm>
        </p:grpSpPr>
        <p:sp>
          <p:nvSpPr>
            <p:cNvPr id="114797" name="Line 24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98" name="Line 24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99" name="Line 25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14" name="Group 251"/>
          <p:cNvGrpSpPr>
            <a:grpSpLocks/>
          </p:cNvGrpSpPr>
          <p:nvPr/>
        </p:nvGrpSpPr>
        <p:grpSpPr bwMode="auto">
          <a:xfrm flipV="1">
            <a:off x="8462964" y="2651125"/>
            <a:ext cx="230187" cy="84138"/>
            <a:chOff x="2848" y="848"/>
            <a:chExt cx="140" cy="98"/>
          </a:xfrm>
        </p:grpSpPr>
        <p:sp>
          <p:nvSpPr>
            <p:cNvPr id="114794" name="Line 25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95" name="Line 25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96" name="Line 25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15" name="Group 255"/>
          <p:cNvGrpSpPr>
            <a:grpSpLocks/>
          </p:cNvGrpSpPr>
          <p:nvPr/>
        </p:nvGrpSpPr>
        <p:grpSpPr bwMode="auto">
          <a:xfrm rot="7844936">
            <a:off x="8450264" y="2730501"/>
            <a:ext cx="168275" cy="104775"/>
            <a:chOff x="11283" y="10423"/>
            <a:chExt cx="475" cy="374"/>
          </a:xfrm>
        </p:grpSpPr>
        <p:sp>
          <p:nvSpPr>
            <p:cNvPr id="114787" name="Rectangle 256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88" name="Line 257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9" name="Line 258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0" name="Line 259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1" name="Line 260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2" name="Line 261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3" name="Line 262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716" name="Line 263"/>
          <p:cNvSpPr>
            <a:spLocks noChangeShapeType="1"/>
          </p:cNvSpPr>
          <p:nvPr/>
        </p:nvSpPr>
        <p:spPr bwMode="auto">
          <a:xfrm flipH="1" flipV="1">
            <a:off x="7947025" y="3170239"/>
            <a:ext cx="865188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17" name="Line 264"/>
          <p:cNvSpPr>
            <a:spLocks noChangeShapeType="1"/>
          </p:cNvSpPr>
          <p:nvPr/>
        </p:nvSpPr>
        <p:spPr bwMode="auto">
          <a:xfrm flipH="1">
            <a:off x="8216901" y="2832100"/>
            <a:ext cx="271463" cy="3429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18" name="Freeform 265"/>
          <p:cNvSpPr>
            <a:spLocks/>
          </p:cNvSpPr>
          <p:nvPr/>
        </p:nvSpPr>
        <p:spPr bwMode="auto">
          <a:xfrm>
            <a:off x="7672389" y="1658938"/>
            <a:ext cx="1443037" cy="1490662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19" name="Oval 266"/>
          <p:cNvSpPr>
            <a:spLocks noChangeArrowheads="1"/>
          </p:cNvSpPr>
          <p:nvPr/>
        </p:nvSpPr>
        <p:spPr bwMode="auto">
          <a:xfrm>
            <a:off x="7586663" y="3136900"/>
            <a:ext cx="463550" cy="12223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4720" name="Line 267"/>
          <p:cNvSpPr>
            <a:spLocks noChangeShapeType="1"/>
          </p:cNvSpPr>
          <p:nvPr/>
        </p:nvSpPr>
        <p:spPr bwMode="auto">
          <a:xfrm>
            <a:off x="7586663" y="3127376"/>
            <a:ext cx="0" cy="746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1" name="Line 268"/>
          <p:cNvSpPr>
            <a:spLocks noChangeShapeType="1"/>
          </p:cNvSpPr>
          <p:nvPr/>
        </p:nvSpPr>
        <p:spPr bwMode="auto">
          <a:xfrm>
            <a:off x="8050213" y="3127376"/>
            <a:ext cx="0" cy="74613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22" name="Rectangle 269"/>
          <p:cNvSpPr>
            <a:spLocks noChangeArrowheads="1"/>
          </p:cNvSpPr>
          <p:nvPr/>
        </p:nvSpPr>
        <p:spPr bwMode="auto">
          <a:xfrm>
            <a:off x="7586664" y="3127376"/>
            <a:ext cx="109537" cy="74613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23" name="Rectangle 270"/>
          <p:cNvSpPr>
            <a:spLocks noChangeArrowheads="1"/>
          </p:cNvSpPr>
          <p:nvPr/>
        </p:nvSpPr>
        <p:spPr bwMode="auto">
          <a:xfrm>
            <a:off x="7908925" y="3122614"/>
            <a:ext cx="141288" cy="7302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24" name="Oval 271"/>
          <p:cNvSpPr>
            <a:spLocks noChangeArrowheads="1"/>
          </p:cNvSpPr>
          <p:nvPr/>
        </p:nvSpPr>
        <p:spPr bwMode="auto">
          <a:xfrm>
            <a:off x="7581900" y="3038476"/>
            <a:ext cx="463550" cy="142875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4725" name="Group 272"/>
          <p:cNvGrpSpPr>
            <a:grpSpLocks/>
          </p:cNvGrpSpPr>
          <p:nvPr/>
        </p:nvGrpSpPr>
        <p:grpSpPr bwMode="auto">
          <a:xfrm>
            <a:off x="7693025" y="3070225"/>
            <a:ext cx="230188" cy="82550"/>
            <a:chOff x="2848" y="848"/>
            <a:chExt cx="140" cy="98"/>
          </a:xfrm>
        </p:grpSpPr>
        <p:sp>
          <p:nvSpPr>
            <p:cNvPr id="114784" name="Line 27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85" name="Line 27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86" name="Line 27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26" name="Group 276"/>
          <p:cNvGrpSpPr>
            <a:grpSpLocks/>
          </p:cNvGrpSpPr>
          <p:nvPr/>
        </p:nvGrpSpPr>
        <p:grpSpPr bwMode="auto">
          <a:xfrm flipV="1">
            <a:off x="7693025" y="3068638"/>
            <a:ext cx="230188" cy="82550"/>
            <a:chOff x="2848" y="848"/>
            <a:chExt cx="140" cy="98"/>
          </a:xfrm>
        </p:grpSpPr>
        <p:sp>
          <p:nvSpPr>
            <p:cNvPr id="114781" name="Line 27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82" name="Line 27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83" name="Line 27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27" name="Group 280"/>
          <p:cNvGrpSpPr>
            <a:grpSpLocks/>
          </p:cNvGrpSpPr>
          <p:nvPr/>
        </p:nvGrpSpPr>
        <p:grpSpPr bwMode="auto">
          <a:xfrm>
            <a:off x="7613651" y="3105150"/>
            <a:ext cx="138113" cy="128588"/>
            <a:chOff x="11283" y="10423"/>
            <a:chExt cx="475" cy="374"/>
          </a:xfrm>
        </p:grpSpPr>
        <p:sp>
          <p:nvSpPr>
            <p:cNvPr id="114774" name="Rectangle 281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75" name="Line 282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6" name="Line 283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7" name="Line 284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8" name="Line 285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9" name="Line 286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0" name="Line 287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728" name="Oval 288"/>
          <p:cNvSpPr>
            <a:spLocks noChangeArrowheads="1"/>
          </p:cNvSpPr>
          <p:nvPr/>
        </p:nvSpPr>
        <p:spPr bwMode="auto">
          <a:xfrm>
            <a:off x="7307263" y="2649539"/>
            <a:ext cx="463550" cy="122237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4729" name="Line 289"/>
          <p:cNvSpPr>
            <a:spLocks noChangeShapeType="1"/>
          </p:cNvSpPr>
          <p:nvPr/>
        </p:nvSpPr>
        <p:spPr bwMode="auto">
          <a:xfrm>
            <a:off x="7307263" y="2640013"/>
            <a:ext cx="0" cy="746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0" name="Line 290"/>
          <p:cNvSpPr>
            <a:spLocks noChangeShapeType="1"/>
          </p:cNvSpPr>
          <p:nvPr/>
        </p:nvSpPr>
        <p:spPr bwMode="auto">
          <a:xfrm>
            <a:off x="7770813" y="2640013"/>
            <a:ext cx="0" cy="74612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31" name="Rectangle 291"/>
          <p:cNvSpPr>
            <a:spLocks noChangeArrowheads="1"/>
          </p:cNvSpPr>
          <p:nvPr/>
        </p:nvSpPr>
        <p:spPr bwMode="auto">
          <a:xfrm>
            <a:off x="7307264" y="2640014"/>
            <a:ext cx="109537" cy="7302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32" name="Rectangle 292"/>
          <p:cNvSpPr>
            <a:spLocks noChangeArrowheads="1"/>
          </p:cNvSpPr>
          <p:nvPr/>
        </p:nvSpPr>
        <p:spPr bwMode="auto">
          <a:xfrm>
            <a:off x="7631113" y="2635251"/>
            <a:ext cx="139700" cy="7302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114733" name="Oval 293"/>
          <p:cNvSpPr>
            <a:spLocks noChangeArrowheads="1"/>
          </p:cNvSpPr>
          <p:nvPr/>
        </p:nvSpPr>
        <p:spPr bwMode="auto">
          <a:xfrm>
            <a:off x="7302500" y="2552700"/>
            <a:ext cx="465138" cy="14128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14734" name="Group 294"/>
          <p:cNvGrpSpPr>
            <a:grpSpLocks/>
          </p:cNvGrpSpPr>
          <p:nvPr/>
        </p:nvGrpSpPr>
        <p:grpSpPr bwMode="auto">
          <a:xfrm>
            <a:off x="7415213" y="2582864"/>
            <a:ext cx="228600" cy="84137"/>
            <a:chOff x="2848" y="848"/>
            <a:chExt cx="140" cy="98"/>
          </a:xfrm>
        </p:grpSpPr>
        <p:sp>
          <p:nvSpPr>
            <p:cNvPr id="114771" name="Line 29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72" name="Line 29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73" name="Line 29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35" name="Group 298"/>
          <p:cNvGrpSpPr>
            <a:grpSpLocks/>
          </p:cNvGrpSpPr>
          <p:nvPr/>
        </p:nvGrpSpPr>
        <p:grpSpPr bwMode="auto">
          <a:xfrm flipV="1">
            <a:off x="7415213" y="2581275"/>
            <a:ext cx="228600" cy="84138"/>
            <a:chOff x="2848" y="848"/>
            <a:chExt cx="140" cy="98"/>
          </a:xfrm>
        </p:grpSpPr>
        <p:sp>
          <p:nvSpPr>
            <p:cNvPr id="114768" name="Line 29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69" name="Line 30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770" name="Line 30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4736" name="Line 302"/>
          <p:cNvSpPr>
            <a:spLocks noChangeShapeType="1"/>
          </p:cNvSpPr>
          <p:nvPr/>
        </p:nvSpPr>
        <p:spPr bwMode="auto">
          <a:xfrm flipH="1">
            <a:off x="7026276" y="2752726"/>
            <a:ext cx="379413" cy="422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737" name="Group 303"/>
          <p:cNvGrpSpPr>
            <a:grpSpLocks/>
          </p:cNvGrpSpPr>
          <p:nvPr/>
        </p:nvGrpSpPr>
        <p:grpSpPr bwMode="auto">
          <a:xfrm rot="8027572">
            <a:off x="7442201" y="2555876"/>
            <a:ext cx="168275" cy="104775"/>
            <a:chOff x="11283" y="10423"/>
            <a:chExt cx="475" cy="374"/>
          </a:xfrm>
        </p:grpSpPr>
        <p:sp>
          <p:nvSpPr>
            <p:cNvPr id="114761" name="Rectangle 304"/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62" name="Line 305"/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3" name="Line 306"/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4" name="Line 307"/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5" name="Line 308"/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6" name="Line 309"/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7" name="Line 310"/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738" name="Freeform 311"/>
          <p:cNvSpPr>
            <a:spLocks/>
          </p:cNvSpPr>
          <p:nvPr/>
        </p:nvSpPr>
        <p:spPr bwMode="auto">
          <a:xfrm>
            <a:off x="6956426" y="1679575"/>
            <a:ext cx="2212975" cy="1530350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39" name="Freeform 312"/>
          <p:cNvSpPr>
            <a:spLocks/>
          </p:cNvSpPr>
          <p:nvPr/>
        </p:nvSpPr>
        <p:spPr bwMode="auto">
          <a:xfrm>
            <a:off x="6781800" y="1728788"/>
            <a:ext cx="2508250" cy="1504950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740" name="Freeform 313"/>
          <p:cNvSpPr>
            <a:spLocks/>
          </p:cNvSpPr>
          <p:nvPr/>
        </p:nvSpPr>
        <p:spPr bwMode="auto">
          <a:xfrm>
            <a:off x="6835776" y="1754188"/>
            <a:ext cx="2530475" cy="1390650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FF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741" name="Group 314"/>
          <p:cNvGrpSpPr>
            <a:grpSpLocks/>
          </p:cNvGrpSpPr>
          <p:nvPr/>
        </p:nvGrpSpPr>
        <p:grpSpPr bwMode="auto">
          <a:xfrm>
            <a:off x="6761164" y="2668589"/>
            <a:ext cx="39687" cy="141287"/>
            <a:chOff x="10104" y="10005"/>
            <a:chExt cx="137" cy="411"/>
          </a:xfrm>
        </p:grpSpPr>
        <p:sp>
          <p:nvSpPr>
            <p:cNvPr id="114759" name="Oval 315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60" name="Oval 316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4742" name="Group 317"/>
          <p:cNvGrpSpPr>
            <a:grpSpLocks/>
          </p:cNvGrpSpPr>
          <p:nvPr/>
        </p:nvGrpSpPr>
        <p:grpSpPr bwMode="auto">
          <a:xfrm>
            <a:off x="9145589" y="2790826"/>
            <a:ext cx="39687" cy="142875"/>
            <a:chOff x="10104" y="10005"/>
            <a:chExt cx="137" cy="411"/>
          </a:xfrm>
        </p:grpSpPr>
        <p:sp>
          <p:nvSpPr>
            <p:cNvPr id="114757" name="Oval 318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58" name="Oval 319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4743" name="Group 320"/>
          <p:cNvGrpSpPr>
            <a:grpSpLocks/>
          </p:cNvGrpSpPr>
          <p:nvPr/>
        </p:nvGrpSpPr>
        <p:grpSpPr bwMode="auto">
          <a:xfrm>
            <a:off x="9340850" y="1717676"/>
            <a:ext cx="39688" cy="142875"/>
            <a:chOff x="10104" y="10005"/>
            <a:chExt cx="137" cy="411"/>
          </a:xfrm>
        </p:grpSpPr>
        <p:sp>
          <p:nvSpPr>
            <p:cNvPr id="114755" name="Oval 321"/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4756" name="Oval 322"/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pic>
        <p:nvPicPr>
          <p:cNvPr id="114744" name="Picture 32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6" y="7842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314" name="Rectangle 328"/>
          <p:cNvSpPr>
            <a:spLocks noGrp="1" noChangeArrowheads="1"/>
          </p:cNvSpPr>
          <p:nvPr>
            <p:ph type="title"/>
          </p:nvPr>
        </p:nvSpPr>
        <p:spPr>
          <a:xfrm>
            <a:off x="1854200" y="115889"/>
            <a:ext cx="7772400" cy="87312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Causes/costs of congestion: scenario 3</a:t>
            </a:r>
            <a:r>
              <a:rPr lang="en-US">
                <a:ea typeface="ＭＳ Ｐゴシック" charset="0"/>
                <a:cs typeface="+mj-cs"/>
              </a:rPr>
              <a:t> </a:t>
            </a:r>
          </a:p>
        </p:txBody>
      </p:sp>
      <p:sp>
        <p:nvSpPr>
          <p:cNvPr id="96315" name="Line 330"/>
          <p:cNvSpPr>
            <a:spLocks noChangeShapeType="1"/>
          </p:cNvSpPr>
          <p:nvPr/>
        </p:nvSpPr>
        <p:spPr bwMode="auto">
          <a:xfrm>
            <a:off x="2794000" y="1558925"/>
            <a:ext cx="0" cy="1860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6316" name="Line 331"/>
          <p:cNvSpPr>
            <a:spLocks noChangeShapeType="1"/>
          </p:cNvSpPr>
          <p:nvPr/>
        </p:nvSpPr>
        <p:spPr bwMode="auto">
          <a:xfrm flipV="1">
            <a:off x="2778126" y="3411538"/>
            <a:ext cx="2333625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14748" name="Freeform 333"/>
          <p:cNvSpPr>
            <a:spLocks/>
          </p:cNvSpPr>
          <p:nvPr/>
        </p:nvSpPr>
        <p:spPr bwMode="auto">
          <a:xfrm>
            <a:off x="2782888" y="2608263"/>
            <a:ext cx="2489200" cy="806450"/>
          </a:xfrm>
          <a:custGeom>
            <a:avLst/>
            <a:gdLst>
              <a:gd name="T0" fmla="*/ 0 w 1568"/>
              <a:gd name="T1" fmla="*/ 2147483647 h 380"/>
              <a:gd name="T2" fmla="*/ 2147483647 w 1568"/>
              <a:gd name="T3" fmla="*/ 2147483647 h 380"/>
              <a:gd name="T4" fmla="*/ 2147483647 w 1568"/>
              <a:gd name="T5" fmla="*/ 2147483647 h 380"/>
              <a:gd name="T6" fmla="*/ 2147483647 w 1568"/>
              <a:gd name="T7" fmla="*/ 2147483647 h 3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68" h="380">
                <a:moveTo>
                  <a:pt x="0" y="375"/>
                </a:moveTo>
                <a:cubicBezTo>
                  <a:pt x="109" y="315"/>
                  <a:pt x="474" y="0"/>
                  <a:pt x="651" y="14"/>
                </a:cubicBezTo>
                <a:cubicBezTo>
                  <a:pt x="828" y="28"/>
                  <a:pt x="730" y="260"/>
                  <a:pt x="914" y="320"/>
                </a:cubicBezTo>
                <a:cubicBezTo>
                  <a:pt x="1098" y="380"/>
                  <a:pt x="1432" y="342"/>
                  <a:pt x="1568" y="348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6318" name="Line 334"/>
          <p:cNvSpPr>
            <a:spLocks noChangeShapeType="1"/>
          </p:cNvSpPr>
          <p:nvPr/>
        </p:nvSpPr>
        <p:spPr bwMode="auto">
          <a:xfrm>
            <a:off x="2662238" y="1711325"/>
            <a:ext cx="125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6319" name="Line 335"/>
          <p:cNvSpPr>
            <a:spLocks noChangeShapeType="1"/>
          </p:cNvSpPr>
          <p:nvPr/>
        </p:nvSpPr>
        <p:spPr bwMode="auto">
          <a:xfrm>
            <a:off x="4595813" y="3419475"/>
            <a:ext cx="0" cy="134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6320" name="Text Box 336"/>
          <p:cNvSpPr txBox="1">
            <a:spLocks noChangeArrowheads="1"/>
          </p:cNvSpPr>
          <p:nvPr/>
        </p:nvSpPr>
        <p:spPr bwMode="auto">
          <a:xfrm>
            <a:off x="2160588" y="1462088"/>
            <a:ext cx="455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C/2</a:t>
            </a:r>
          </a:p>
        </p:txBody>
      </p:sp>
      <p:sp>
        <p:nvSpPr>
          <p:cNvPr id="96321" name="Text Box 337"/>
          <p:cNvSpPr txBox="1">
            <a:spLocks noChangeArrowheads="1"/>
          </p:cNvSpPr>
          <p:nvPr/>
        </p:nvSpPr>
        <p:spPr bwMode="auto">
          <a:xfrm>
            <a:off x="4397376" y="3471863"/>
            <a:ext cx="455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/>
              <a:t>C/2</a:t>
            </a:r>
          </a:p>
        </p:txBody>
      </p:sp>
      <p:sp>
        <p:nvSpPr>
          <p:cNvPr id="96322" name="Text Box 338"/>
          <p:cNvSpPr txBox="1">
            <a:spLocks noChangeArrowheads="1"/>
          </p:cNvSpPr>
          <p:nvPr/>
        </p:nvSpPr>
        <p:spPr bwMode="auto">
          <a:xfrm rot="16200000">
            <a:off x="2067720" y="2389982"/>
            <a:ext cx="808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>
                <a:latin typeface="Symbol" charset="0"/>
              </a:rPr>
              <a:t>l</a:t>
            </a:r>
            <a:r>
              <a:rPr lang="en-US" sz="2400" baseline="-25000">
                <a:latin typeface="Arial" charset="0"/>
              </a:rPr>
              <a:t>out</a:t>
            </a:r>
          </a:p>
        </p:txBody>
      </p:sp>
      <p:sp>
        <p:nvSpPr>
          <p:cNvPr id="96323" name="Text Box 339"/>
          <p:cNvSpPr txBox="1">
            <a:spLocks noChangeArrowheads="1"/>
          </p:cNvSpPr>
          <p:nvPr/>
        </p:nvSpPr>
        <p:spPr bwMode="auto">
          <a:xfrm>
            <a:off x="3513139" y="3381376"/>
            <a:ext cx="614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>
                <a:latin typeface="Symbol" panose="05050102010706020507" pitchFamily="18" charset="2"/>
              </a:rPr>
              <a:t>l</a:t>
            </a:r>
            <a:r>
              <a:rPr lang="en-US" altLang="en-US" sz="2400" baseline="-25000">
                <a:latin typeface="Arial" panose="020B0604020202020204" pitchFamily="34" charset="0"/>
              </a:rPr>
              <a:t>in</a:t>
            </a:r>
            <a:r>
              <a:rPr lang="ja-JP" altLang="en-US" sz="2400" baseline="30000">
                <a:latin typeface="Arial" panose="020B0604020202020204" pitchFamily="34" charset="0"/>
              </a:rPr>
              <a:t>’</a:t>
            </a:r>
            <a:endParaRPr lang="en-US" altLang="en-US" sz="2400" baseline="30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51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728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8D36DBE-8956-4126-8087-753E078041C0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73051"/>
            <a:ext cx="7772400" cy="917575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Approaches towards congestion control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2066925" y="1504950"/>
            <a:ext cx="8154988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>
                <a:latin typeface="Gill Sans MT" charset="0"/>
                <a:ea typeface="ＭＳ Ｐゴシック" charset="0"/>
              </a:rPr>
              <a:t>two broad approaches towards congestion control:</a:t>
            </a:r>
          </a:p>
        </p:txBody>
      </p:sp>
      <p:pic>
        <p:nvPicPr>
          <p:cNvPr id="115717" name="Picture 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9" y="919164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7" name="Rectangle 8"/>
          <p:cNvSpPr>
            <a:spLocks noChangeArrowheads="1"/>
          </p:cNvSpPr>
          <p:nvPr/>
        </p:nvSpPr>
        <p:spPr bwMode="auto">
          <a:xfrm>
            <a:off x="2032000" y="2786063"/>
            <a:ext cx="3487738" cy="325120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288" name="Rectangle 9"/>
          <p:cNvSpPr>
            <a:spLocks noChangeArrowheads="1"/>
          </p:cNvSpPr>
          <p:nvPr/>
        </p:nvSpPr>
        <p:spPr bwMode="auto">
          <a:xfrm>
            <a:off x="2292350" y="2528888"/>
            <a:ext cx="2979738" cy="563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2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47900" y="2390775"/>
            <a:ext cx="3295650" cy="38100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end-end congestion control: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no explicit feedback from network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congestion inferred from end-system observed loss, delay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approach taken by TCP</a:t>
            </a:r>
            <a:endParaRPr lang="en-US" dirty="0">
              <a:ea typeface="ＭＳ Ｐゴシック" charset="0"/>
              <a:cs typeface="+mn-cs"/>
            </a:endParaRPr>
          </a:p>
        </p:txBody>
      </p:sp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6202364" y="2814638"/>
            <a:ext cx="3690937" cy="325120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291" name="Rectangle 11"/>
          <p:cNvSpPr>
            <a:spLocks noChangeArrowheads="1"/>
          </p:cNvSpPr>
          <p:nvPr/>
        </p:nvSpPr>
        <p:spPr bwMode="auto">
          <a:xfrm>
            <a:off x="6389688" y="2551113"/>
            <a:ext cx="3092450" cy="565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72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310313" y="2392363"/>
            <a:ext cx="3638550" cy="3905250"/>
          </a:xfrm>
        </p:spPr>
        <p:txBody>
          <a:bodyPr/>
          <a:lstStyle/>
          <a:p>
            <a:pPr marL="282575" indent="-282575"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network-assisted congestion control:</a:t>
            </a:r>
          </a:p>
          <a:p>
            <a:pPr marL="282575" indent="-282575"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routers/switches provide feedback to end systems</a:t>
            </a:r>
          </a:p>
          <a:p>
            <a:pPr marL="576263" lvl="1" indent="-179388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single bit indicating congestion (SNA, </a:t>
            </a:r>
            <a:r>
              <a:rPr lang="en-US" dirty="0" err="1">
                <a:ea typeface="ＭＳ Ｐゴシック" charset="0"/>
              </a:rPr>
              <a:t>DECbit</a:t>
            </a:r>
            <a:r>
              <a:rPr lang="en-US" dirty="0">
                <a:ea typeface="ＭＳ Ｐゴシック" charset="0"/>
              </a:rPr>
              <a:t>, TCP/IP ECN, ATM)</a:t>
            </a:r>
          </a:p>
          <a:p>
            <a:pPr marL="576263" lvl="1" indent="-179388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explicit rate for sender to send at</a:t>
            </a:r>
            <a:endParaRPr lang="en-US" sz="20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1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830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D1676B18-9123-4C40-89CF-21C91DB232DC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4038" y="173038"/>
            <a:ext cx="8191500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Case study: ATM ABR congestion control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983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00200"/>
            <a:ext cx="36195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ABR: available bit rate:</a:t>
            </a:r>
          </a:p>
          <a:p>
            <a:r>
              <a:rPr lang="ja-JP" altLang="en-US" sz="2400"/>
              <a:t>“</a:t>
            </a:r>
            <a:r>
              <a:rPr lang="en-US" altLang="ja-JP" sz="2400"/>
              <a:t>elastic service</a:t>
            </a:r>
            <a:r>
              <a:rPr lang="ja-JP" altLang="en-US" sz="2400"/>
              <a:t>”</a:t>
            </a:r>
            <a:r>
              <a:rPr lang="en-US" altLang="ja-JP" sz="2400"/>
              <a:t> </a:t>
            </a:r>
          </a:p>
          <a:p>
            <a:r>
              <a:rPr lang="en-US" altLang="en-US" sz="2400"/>
              <a:t>if sender’s path </a:t>
            </a:r>
            <a:r>
              <a:rPr lang="ja-JP" altLang="en-US" sz="2400"/>
              <a:t>“</a:t>
            </a:r>
            <a:r>
              <a:rPr lang="en-US" altLang="ja-JP" sz="2400"/>
              <a:t>underloaded</a:t>
            </a:r>
            <a:r>
              <a:rPr lang="ja-JP" altLang="en-US" sz="2400"/>
              <a:t>”</a:t>
            </a:r>
            <a:r>
              <a:rPr lang="en-US" altLang="ja-JP" sz="2400"/>
              <a:t>: </a:t>
            </a:r>
          </a:p>
          <a:p>
            <a:pPr lvl="1"/>
            <a:r>
              <a:rPr lang="en-US" altLang="en-US" smtClean="0">
                <a:solidFill>
                  <a:srgbClr val="008000"/>
                </a:solidFill>
              </a:rPr>
              <a:t>sender should use available bandwidth</a:t>
            </a:r>
          </a:p>
          <a:p>
            <a:r>
              <a:rPr lang="en-US" altLang="en-US" sz="2400"/>
              <a:t>if sender’s path congested: </a:t>
            </a:r>
          </a:p>
          <a:p>
            <a:pPr lvl="1"/>
            <a:r>
              <a:rPr lang="en-US" altLang="en-US" smtClean="0"/>
              <a:t>sender throttled to </a:t>
            </a:r>
            <a:r>
              <a:rPr lang="en-US" altLang="en-US" smtClean="0">
                <a:solidFill>
                  <a:srgbClr val="008000"/>
                </a:solidFill>
              </a:rPr>
              <a:t>minimum</a:t>
            </a:r>
            <a:r>
              <a:rPr lang="en-US" altLang="en-US" smtClean="0"/>
              <a:t> guaranteed rate</a:t>
            </a:r>
          </a:p>
        </p:txBody>
      </p:sp>
      <p:sp>
        <p:nvSpPr>
          <p:cNvPr id="9831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38625" cy="4648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RM (resource management) cells:</a:t>
            </a:r>
          </a:p>
          <a:p>
            <a:r>
              <a:rPr lang="en-US" altLang="en-US" sz="2400"/>
              <a:t>sent by sender, interspersed with data cells </a:t>
            </a:r>
            <a:r>
              <a:rPr lang="en-US" altLang="en-US" sz="2400">
                <a:solidFill>
                  <a:srgbClr val="008000"/>
                </a:solidFill>
              </a:rPr>
              <a:t>(1 RM-32 data)</a:t>
            </a:r>
          </a:p>
          <a:p>
            <a:r>
              <a:rPr lang="en-US" altLang="en-US" sz="2400">
                <a:solidFill>
                  <a:srgbClr val="008000"/>
                </a:solidFill>
              </a:rPr>
              <a:t>bits in RM cell </a:t>
            </a:r>
            <a:r>
              <a:rPr lang="en-US" altLang="en-US" sz="2400"/>
              <a:t>set by switches (</a:t>
            </a:r>
            <a:r>
              <a:rPr lang="ja-JP" altLang="en-US" sz="2400"/>
              <a:t>“</a:t>
            </a:r>
            <a:r>
              <a:rPr lang="en-US" altLang="ja-JP" sz="2400" i="1"/>
              <a:t>network-assisted</a:t>
            </a:r>
            <a:r>
              <a:rPr lang="ja-JP" altLang="en-US" sz="2400" i="1"/>
              <a:t>”</a:t>
            </a:r>
            <a:r>
              <a:rPr lang="en-US" altLang="ja-JP" sz="2400"/>
              <a:t>) </a:t>
            </a:r>
          </a:p>
          <a:p>
            <a:pPr lvl="1"/>
            <a:r>
              <a:rPr lang="en-US" altLang="en-US" i="1" smtClean="0">
                <a:solidFill>
                  <a:srgbClr val="000099"/>
                </a:solidFill>
              </a:rPr>
              <a:t>NI bit:</a:t>
            </a:r>
            <a:r>
              <a:rPr lang="en-US" altLang="en-US" smtClean="0"/>
              <a:t> no increase in rate (mild congestion)</a:t>
            </a:r>
          </a:p>
          <a:p>
            <a:pPr lvl="1"/>
            <a:r>
              <a:rPr lang="en-US" altLang="en-US" i="1" smtClean="0">
                <a:solidFill>
                  <a:srgbClr val="000099"/>
                </a:solidFill>
              </a:rPr>
              <a:t>CI bit:</a:t>
            </a:r>
            <a:r>
              <a:rPr lang="en-US" altLang="en-US" smtClean="0"/>
              <a:t> congestion indication</a:t>
            </a:r>
          </a:p>
          <a:p>
            <a:r>
              <a:rPr lang="en-US" altLang="en-US" sz="2400">
                <a:solidFill>
                  <a:srgbClr val="0000FF"/>
                </a:solidFill>
              </a:rPr>
              <a:t>RM cells returned to sender by receiver</a:t>
            </a:r>
            <a:r>
              <a:rPr lang="en-US" altLang="en-US" sz="2400"/>
              <a:t>, with bits intact</a:t>
            </a:r>
            <a:endParaRPr lang="en-US" altLang="en-US" smtClean="0"/>
          </a:p>
          <a:p>
            <a:pPr lvl="1"/>
            <a:endParaRPr lang="en-US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pic>
        <p:nvPicPr>
          <p:cNvPr id="116742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9" y="919164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34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9933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FF65B61-481B-4CFF-9F13-598DEDF9BB31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pic>
        <p:nvPicPr>
          <p:cNvPr id="117763" name="Picture 112" descr="underline_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8" y="8001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339" y="144463"/>
            <a:ext cx="7991475" cy="950912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Case study: ATM ABR congestion control</a:t>
            </a:r>
          </a:p>
        </p:txBody>
      </p:sp>
      <p:sp>
        <p:nvSpPr>
          <p:cNvPr id="993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1" y="3760788"/>
            <a:ext cx="8048625" cy="24955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mtClean="0">
                <a:solidFill>
                  <a:srgbClr val="0000FF"/>
                </a:solidFill>
              </a:rPr>
              <a:t>two-byte ER </a:t>
            </a:r>
            <a:r>
              <a:rPr lang="en-US" altLang="en-US" smtClean="0"/>
              <a:t>(explicit rate) field in </a:t>
            </a:r>
            <a:r>
              <a:rPr lang="en-US" altLang="en-US" smtClean="0">
                <a:solidFill>
                  <a:srgbClr val="008000"/>
                </a:solidFill>
              </a:rPr>
              <a:t>RM cell</a:t>
            </a:r>
          </a:p>
          <a:p>
            <a:pPr lvl="1"/>
            <a:r>
              <a:rPr lang="en-US" altLang="en-US" smtClean="0"/>
              <a:t>congested switch may lower ER value in cell</a:t>
            </a:r>
          </a:p>
          <a:p>
            <a:pPr lvl="1"/>
            <a:r>
              <a:rPr lang="en-US" altLang="en-US" smtClean="0"/>
              <a:t>senders</a:t>
            </a:r>
            <a:r>
              <a:rPr lang="ja-JP" altLang="en-US" smtClean="0"/>
              <a:t>’</a:t>
            </a:r>
            <a:r>
              <a:rPr lang="en-US" altLang="ja-JP" smtClean="0"/>
              <a:t> send rate thus max supportable rate on path</a:t>
            </a:r>
          </a:p>
          <a:p>
            <a:r>
              <a:rPr lang="en-US" altLang="en-US" smtClean="0">
                <a:solidFill>
                  <a:srgbClr val="0000FF"/>
                </a:solidFill>
              </a:rPr>
              <a:t>EFCI (Explicit Forward CI) bit in data cells</a:t>
            </a:r>
            <a:r>
              <a:rPr lang="en-US" altLang="en-US" smtClean="0"/>
              <a:t>: set to </a:t>
            </a:r>
            <a:r>
              <a:rPr lang="en-US" altLang="en-US" smtClean="0">
                <a:solidFill>
                  <a:srgbClr val="008000"/>
                </a:solidFill>
              </a:rPr>
              <a:t>1</a:t>
            </a:r>
            <a:r>
              <a:rPr lang="en-US" altLang="en-US" smtClean="0"/>
              <a:t> in congested switch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if data cell preceding RM cell has EFCI set, </a:t>
            </a:r>
            <a:r>
              <a:rPr lang="en-US" altLang="en-US" smtClean="0">
                <a:solidFill>
                  <a:srgbClr val="008000"/>
                </a:solidFill>
              </a:rPr>
              <a:t>receiver sets CI bit in returned RM cell</a:t>
            </a:r>
          </a:p>
        </p:txBody>
      </p:sp>
      <p:grpSp>
        <p:nvGrpSpPr>
          <p:cNvPr id="117766" name="Group 11"/>
          <p:cNvGrpSpPr>
            <a:grpSpLocks/>
          </p:cNvGrpSpPr>
          <p:nvPr/>
        </p:nvGrpSpPr>
        <p:grpSpPr bwMode="auto">
          <a:xfrm>
            <a:off x="6635751" y="2728914"/>
            <a:ext cx="950913" cy="365125"/>
            <a:chOff x="4410" y="1365"/>
            <a:chExt cx="663" cy="224"/>
          </a:xfrm>
        </p:grpSpPr>
        <p:sp>
          <p:nvSpPr>
            <p:cNvPr id="99400" name="Rectangle 1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9401" name="AutoShape 1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833" name="Freeform 1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4" name="Freeform 1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339 h 63"/>
                <a:gd name="T2" fmla="*/ 2338 w 280"/>
                <a:gd name="T3" fmla="*/ 329 h 63"/>
                <a:gd name="T4" fmla="*/ 13798 w 280"/>
                <a:gd name="T5" fmla="*/ 0 h 63"/>
                <a:gd name="T6" fmla="*/ 1761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7835" name="Freeform 1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7767" name="Group 17"/>
          <p:cNvGrpSpPr>
            <a:grpSpLocks/>
          </p:cNvGrpSpPr>
          <p:nvPr/>
        </p:nvGrpSpPr>
        <p:grpSpPr bwMode="auto">
          <a:xfrm>
            <a:off x="4778376" y="2755901"/>
            <a:ext cx="950913" cy="365125"/>
            <a:chOff x="4410" y="1365"/>
            <a:chExt cx="663" cy="224"/>
          </a:xfrm>
        </p:grpSpPr>
        <p:sp>
          <p:nvSpPr>
            <p:cNvPr id="99395" name="Rectangle 1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96" name="AutoShape 1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828" name="Freeform 2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9" name="Freeform 2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339 h 63"/>
                <a:gd name="T2" fmla="*/ 2338 w 280"/>
                <a:gd name="T3" fmla="*/ 329 h 63"/>
                <a:gd name="T4" fmla="*/ 13798 w 280"/>
                <a:gd name="T5" fmla="*/ 0 h 63"/>
                <a:gd name="T6" fmla="*/ 1761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7830" name="Freeform 2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17768" name="Freeform 24"/>
          <p:cNvSpPr>
            <a:spLocks/>
          </p:cNvSpPr>
          <p:nvPr/>
        </p:nvSpPr>
        <p:spPr bwMode="auto">
          <a:xfrm>
            <a:off x="2652713" y="1658938"/>
            <a:ext cx="360362" cy="1403350"/>
          </a:xfrm>
          <a:custGeom>
            <a:avLst/>
            <a:gdLst>
              <a:gd name="T0" fmla="*/ 0 w 354"/>
              <a:gd name="T1" fmla="*/ 2147483647 h 1200"/>
              <a:gd name="T2" fmla="*/ 2147483647 w 354"/>
              <a:gd name="T3" fmla="*/ 0 h 1200"/>
              <a:gd name="T4" fmla="*/ 2147483647 w 354"/>
              <a:gd name="T5" fmla="*/ 2147483647 h 1200"/>
              <a:gd name="T6" fmla="*/ 2147483647 w 354"/>
              <a:gd name="T7" fmla="*/ 2147483647 h 1200"/>
              <a:gd name="T8" fmla="*/ 0 w 354"/>
              <a:gd name="T9" fmla="*/ 2147483647 h 1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54" h="1200">
                <a:moveTo>
                  <a:pt x="0" y="1194"/>
                </a:moveTo>
                <a:lnTo>
                  <a:pt x="354" y="0"/>
                </a:lnTo>
                <a:lnTo>
                  <a:pt x="342" y="1146"/>
                </a:lnTo>
                <a:lnTo>
                  <a:pt x="180" y="1200"/>
                </a:lnTo>
                <a:lnTo>
                  <a:pt x="0" y="11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69" name="Rectangle 23"/>
          <p:cNvSpPr>
            <a:spLocks noChangeArrowheads="1"/>
          </p:cNvSpPr>
          <p:nvPr/>
        </p:nvSpPr>
        <p:spPr bwMode="auto">
          <a:xfrm>
            <a:off x="3033714" y="1639889"/>
            <a:ext cx="771525" cy="129857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17770" name="Group 26"/>
          <p:cNvGrpSpPr>
            <a:grpSpLocks/>
          </p:cNvGrpSpPr>
          <p:nvPr/>
        </p:nvGrpSpPr>
        <p:grpSpPr bwMode="auto">
          <a:xfrm>
            <a:off x="3001963" y="1700214"/>
            <a:ext cx="755650" cy="1285875"/>
            <a:chOff x="3681" y="2704"/>
            <a:chExt cx="807" cy="941"/>
          </a:xfrm>
        </p:grpSpPr>
        <p:sp>
          <p:nvSpPr>
            <p:cNvPr id="117821" name="Rectangle 24"/>
            <p:cNvSpPr>
              <a:spLocks noChangeArrowheads="1"/>
            </p:cNvSpPr>
            <p:nvPr/>
          </p:nvSpPr>
          <p:spPr bwMode="auto">
            <a:xfrm>
              <a:off x="3681" y="2704"/>
              <a:ext cx="802" cy="9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822" name="Line 25"/>
            <p:cNvSpPr>
              <a:spLocks noChangeShapeType="1"/>
            </p:cNvSpPr>
            <p:nvPr/>
          </p:nvSpPr>
          <p:spPr bwMode="auto">
            <a:xfrm>
              <a:off x="3687" y="2877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23" name="Line 27"/>
            <p:cNvSpPr>
              <a:spLocks noChangeShapeType="1"/>
            </p:cNvSpPr>
            <p:nvPr/>
          </p:nvSpPr>
          <p:spPr bwMode="auto">
            <a:xfrm>
              <a:off x="3692" y="3079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24" name="Line 28"/>
            <p:cNvSpPr>
              <a:spLocks noChangeShapeType="1"/>
            </p:cNvSpPr>
            <p:nvPr/>
          </p:nvSpPr>
          <p:spPr bwMode="auto">
            <a:xfrm>
              <a:off x="3683" y="3274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25" name="Line 29"/>
            <p:cNvSpPr>
              <a:spLocks noChangeShapeType="1"/>
            </p:cNvSpPr>
            <p:nvPr/>
          </p:nvSpPr>
          <p:spPr bwMode="auto">
            <a:xfrm>
              <a:off x="3683" y="3454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7771" name="Freeform 34"/>
          <p:cNvSpPr>
            <a:spLocks/>
          </p:cNvSpPr>
          <p:nvPr/>
        </p:nvSpPr>
        <p:spPr bwMode="auto">
          <a:xfrm>
            <a:off x="9123363" y="1590676"/>
            <a:ext cx="347662" cy="1514475"/>
          </a:xfrm>
          <a:custGeom>
            <a:avLst/>
            <a:gdLst>
              <a:gd name="T0" fmla="*/ 2147483647 w 219"/>
              <a:gd name="T1" fmla="*/ 2147483647 h 954"/>
              <a:gd name="T2" fmla="*/ 0 w 219"/>
              <a:gd name="T3" fmla="*/ 0 h 954"/>
              <a:gd name="T4" fmla="*/ 2147483647 w 219"/>
              <a:gd name="T5" fmla="*/ 2147483647 h 954"/>
              <a:gd name="T6" fmla="*/ 2147483647 w 219"/>
              <a:gd name="T7" fmla="*/ 2147483647 h 954"/>
              <a:gd name="T8" fmla="*/ 2147483647 w 219"/>
              <a:gd name="T9" fmla="*/ 2147483647 h 9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9" h="954">
                <a:moveTo>
                  <a:pt x="198" y="762"/>
                </a:moveTo>
                <a:lnTo>
                  <a:pt x="0" y="0"/>
                </a:lnTo>
                <a:lnTo>
                  <a:pt x="8" y="844"/>
                </a:lnTo>
                <a:lnTo>
                  <a:pt x="219" y="954"/>
                </a:lnTo>
                <a:lnTo>
                  <a:pt x="198" y="76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72" name="Rectangle 23"/>
          <p:cNvSpPr>
            <a:spLocks noChangeArrowheads="1"/>
          </p:cNvSpPr>
          <p:nvPr/>
        </p:nvSpPr>
        <p:spPr bwMode="auto">
          <a:xfrm>
            <a:off x="8367714" y="1627189"/>
            <a:ext cx="771525" cy="129857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17773" name="Group 36"/>
          <p:cNvGrpSpPr>
            <a:grpSpLocks/>
          </p:cNvGrpSpPr>
          <p:nvPr/>
        </p:nvGrpSpPr>
        <p:grpSpPr bwMode="auto">
          <a:xfrm>
            <a:off x="8335963" y="1687514"/>
            <a:ext cx="755650" cy="1285875"/>
            <a:chOff x="3681" y="2704"/>
            <a:chExt cx="807" cy="941"/>
          </a:xfrm>
        </p:grpSpPr>
        <p:sp>
          <p:nvSpPr>
            <p:cNvPr id="117816" name="Rectangle 24"/>
            <p:cNvSpPr>
              <a:spLocks noChangeArrowheads="1"/>
            </p:cNvSpPr>
            <p:nvPr/>
          </p:nvSpPr>
          <p:spPr bwMode="auto">
            <a:xfrm>
              <a:off x="3681" y="2704"/>
              <a:ext cx="802" cy="9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817" name="Line 25"/>
            <p:cNvSpPr>
              <a:spLocks noChangeShapeType="1"/>
            </p:cNvSpPr>
            <p:nvPr/>
          </p:nvSpPr>
          <p:spPr bwMode="auto">
            <a:xfrm>
              <a:off x="3687" y="2877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8" name="Line 27"/>
            <p:cNvSpPr>
              <a:spLocks noChangeShapeType="1"/>
            </p:cNvSpPr>
            <p:nvPr/>
          </p:nvSpPr>
          <p:spPr bwMode="auto">
            <a:xfrm>
              <a:off x="3692" y="3079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9" name="Line 28"/>
            <p:cNvSpPr>
              <a:spLocks noChangeShapeType="1"/>
            </p:cNvSpPr>
            <p:nvPr/>
          </p:nvSpPr>
          <p:spPr bwMode="auto">
            <a:xfrm>
              <a:off x="3683" y="3274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20" name="Line 29"/>
            <p:cNvSpPr>
              <a:spLocks noChangeShapeType="1"/>
            </p:cNvSpPr>
            <p:nvPr/>
          </p:nvSpPr>
          <p:spPr bwMode="auto">
            <a:xfrm>
              <a:off x="3683" y="3454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7774" name="Freeform 45"/>
          <p:cNvSpPr>
            <a:spLocks/>
          </p:cNvSpPr>
          <p:nvPr/>
        </p:nvSpPr>
        <p:spPr bwMode="auto">
          <a:xfrm>
            <a:off x="3498850" y="2022476"/>
            <a:ext cx="5080000" cy="777875"/>
          </a:xfrm>
          <a:custGeom>
            <a:avLst/>
            <a:gdLst>
              <a:gd name="T0" fmla="*/ 0 w 3200"/>
              <a:gd name="T1" fmla="*/ 2147483647 h 490"/>
              <a:gd name="T2" fmla="*/ 0 w 3200"/>
              <a:gd name="T3" fmla="*/ 2147483647 h 490"/>
              <a:gd name="T4" fmla="*/ 2147483647 w 3200"/>
              <a:gd name="T5" fmla="*/ 2147483647 h 490"/>
              <a:gd name="T6" fmla="*/ 2147483647 w 3200"/>
              <a:gd name="T7" fmla="*/ 0 h 4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00" h="490">
                <a:moveTo>
                  <a:pt x="0" y="64"/>
                </a:moveTo>
                <a:lnTo>
                  <a:pt x="0" y="490"/>
                </a:lnTo>
                <a:lnTo>
                  <a:pt x="3200" y="490"/>
                </a:lnTo>
                <a:lnTo>
                  <a:pt x="3200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7775" name="Freeform 46"/>
          <p:cNvSpPr>
            <a:spLocks/>
          </p:cNvSpPr>
          <p:nvPr/>
        </p:nvSpPr>
        <p:spPr bwMode="auto">
          <a:xfrm>
            <a:off x="3217863" y="2074863"/>
            <a:ext cx="5581650" cy="969962"/>
          </a:xfrm>
          <a:custGeom>
            <a:avLst/>
            <a:gdLst>
              <a:gd name="T0" fmla="*/ 0 w 3516"/>
              <a:gd name="T1" fmla="*/ 2147483647 h 611"/>
              <a:gd name="T2" fmla="*/ 2147483647 w 3516"/>
              <a:gd name="T3" fmla="*/ 2147483647 h 611"/>
              <a:gd name="T4" fmla="*/ 2147483647 w 3516"/>
              <a:gd name="T5" fmla="*/ 2147483647 h 611"/>
              <a:gd name="T6" fmla="*/ 2147483647 w 3516"/>
              <a:gd name="T7" fmla="*/ 0 h 61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16" h="611">
                <a:moveTo>
                  <a:pt x="0" y="2"/>
                </a:moveTo>
                <a:lnTo>
                  <a:pt x="3" y="611"/>
                </a:lnTo>
                <a:lnTo>
                  <a:pt x="3516" y="611"/>
                </a:lnTo>
                <a:lnTo>
                  <a:pt x="3516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17776" name="Group 61"/>
          <p:cNvGrpSpPr>
            <a:grpSpLocks/>
          </p:cNvGrpSpPr>
          <p:nvPr/>
        </p:nvGrpSpPr>
        <p:grpSpPr bwMode="auto">
          <a:xfrm>
            <a:off x="4054475" y="2314575"/>
            <a:ext cx="712788" cy="534988"/>
            <a:chOff x="1594" y="1479"/>
            <a:chExt cx="449" cy="337"/>
          </a:xfrm>
        </p:grpSpPr>
        <p:sp>
          <p:nvSpPr>
            <p:cNvPr id="99379" name="Rectangle 47"/>
            <p:cNvSpPr>
              <a:spLocks noChangeArrowheads="1"/>
            </p:cNvSpPr>
            <p:nvPr/>
          </p:nvSpPr>
          <p:spPr bwMode="auto">
            <a:xfrm>
              <a:off x="1748" y="1479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80" name="Rectangle 48"/>
            <p:cNvSpPr>
              <a:spLocks noChangeArrowheads="1"/>
            </p:cNvSpPr>
            <p:nvPr/>
          </p:nvSpPr>
          <p:spPr bwMode="auto">
            <a:xfrm>
              <a:off x="1670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81" name="Rectangle 49"/>
            <p:cNvSpPr>
              <a:spLocks noChangeArrowheads="1"/>
            </p:cNvSpPr>
            <p:nvPr/>
          </p:nvSpPr>
          <p:spPr bwMode="auto">
            <a:xfrm>
              <a:off x="1594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82" name="Rectangle 50"/>
            <p:cNvSpPr>
              <a:spLocks noChangeArrowheads="1"/>
            </p:cNvSpPr>
            <p:nvPr/>
          </p:nvSpPr>
          <p:spPr bwMode="auto">
            <a:xfrm>
              <a:off x="1987" y="1479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83" name="Rectangle 51"/>
            <p:cNvSpPr>
              <a:spLocks noChangeArrowheads="1"/>
            </p:cNvSpPr>
            <p:nvPr/>
          </p:nvSpPr>
          <p:spPr bwMode="auto">
            <a:xfrm>
              <a:off x="1909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84" name="Rectangle 52"/>
            <p:cNvSpPr>
              <a:spLocks noChangeArrowheads="1"/>
            </p:cNvSpPr>
            <p:nvPr/>
          </p:nvSpPr>
          <p:spPr bwMode="auto">
            <a:xfrm>
              <a:off x="1833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7777" name="Group 62"/>
          <p:cNvGrpSpPr>
            <a:grpSpLocks/>
          </p:cNvGrpSpPr>
          <p:nvPr/>
        </p:nvGrpSpPr>
        <p:grpSpPr bwMode="auto">
          <a:xfrm>
            <a:off x="5821364" y="2332039"/>
            <a:ext cx="712787" cy="534987"/>
            <a:chOff x="1594" y="1479"/>
            <a:chExt cx="449" cy="337"/>
          </a:xfrm>
        </p:grpSpPr>
        <p:sp>
          <p:nvSpPr>
            <p:cNvPr id="99373" name="Rectangle 63"/>
            <p:cNvSpPr>
              <a:spLocks noChangeArrowheads="1"/>
            </p:cNvSpPr>
            <p:nvPr/>
          </p:nvSpPr>
          <p:spPr bwMode="auto">
            <a:xfrm>
              <a:off x="1748" y="1479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4" name="Rectangle 64"/>
            <p:cNvSpPr>
              <a:spLocks noChangeArrowheads="1"/>
            </p:cNvSpPr>
            <p:nvPr/>
          </p:nvSpPr>
          <p:spPr bwMode="auto">
            <a:xfrm>
              <a:off x="1670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5" name="Rectangle 65"/>
            <p:cNvSpPr>
              <a:spLocks noChangeArrowheads="1"/>
            </p:cNvSpPr>
            <p:nvPr/>
          </p:nvSpPr>
          <p:spPr bwMode="auto">
            <a:xfrm>
              <a:off x="1594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6" name="Rectangle 66"/>
            <p:cNvSpPr>
              <a:spLocks noChangeArrowheads="1"/>
            </p:cNvSpPr>
            <p:nvPr/>
          </p:nvSpPr>
          <p:spPr bwMode="auto">
            <a:xfrm>
              <a:off x="1987" y="1479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7" name="Rectangle 67"/>
            <p:cNvSpPr>
              <a:spLocks noChangeArrowheads="1"/>
            </p:cNvSpPr>
            <p:nvPr/>
          </p:nvSpPr>
          <p:spPr bwMode="auto">
            <a:xfrm>
              <a:off x="1909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8" name="Rectangle 68"/>
            <p:cNvSpPr>
              <a:spLocks noChangeArrowheads="1"/>
            </p:cNvSpPr>
            <p:nvPr/>
          </p:nvSpPr>
          <p:spPr bwMode="auto">
            <a:xfrm>
              <a:off x="1833" y="1481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7778" name="Group 76"/>
          <p:cNvGrpSpPr>
            <a:grpSpLocks/>
          </p:cNvGrpSpPr>
          <p:nvPr/>
        </p:nvGrpSpPr>
        <p:grpSpPr bwMode="auto">
          <a:xfrm>
            <a:off x="7727951" y="2320925"/>
            <a:ext cx="333375" cy="534988"/>
            <a:chOff x="2522" y="956"/>
            <a:chExt cx="210" cy="337"/>
          </a:xfrm>
        </p:grpSpPr>
        <p:sp>
          <p:nvSpPr>
            <p:cNvPr id="99370" name="Rectangle 70"/>
            <p:cNvSpPr>
              <a:spLocks noChangeArrowheads="1"/>
            </p:cNvSpPr>
            <p:nvPr/>
          </p:nvSpPr>
          <p:spPr bwMode="auto">
            <a:xfrm>
              <a:off x="2676" y="956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1" name="Rectangle 71"/>
            <p:cNvSpPr>
              <a:spLocks noChangeArrowheads="1"/>
            </p:cNvSpPr>
            <p:nvPr/>
          </p:nvSpPr>
          <p:spPr bwMode="auto">
            <a:xfrm>
              <a:off x="2598" y="958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72" name="Rectangle 72"/>
            <p:cNvSpPr>
              <a:spLocks noChangeArrowheads="1"/>
            </p:cNvSpPr>
            <p:nvPr/>
          </p:nvSpPr>
          <p:spPr bwMode="auto">
            <a:xfrm>
              <a:off x="2522" y="958"/>
              <a:ext cx="56" cy="3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99348" name="AutoShape 77"/>
          <p:cNvSpPr>
            <a:spLocks noChangeArrowheads="1"/>
          </p:cNvSpPr>
          <p:nvPr/>
        </p:nvSpPr>
        <p:spPr bwMode="auto">
          <a:xfrm>
            <a:off x="4819651" y="2395538"/>
            <a:ext cx="434975" cy="260350"/>
          </a:xfrm>
          <a:prstGeom prst="rightArrow">
            <a:avLst>
              <a:gd name="adj1" fmla="val 50000"/>
              <a:gd name="adj2" fmla="val 41768"/>
            </a:avLst>
          </a:pr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9349" name="AutoShape 78"/>
          <p:cNvSpPr>
            <a:spLocks noChangeArrowheads="1"/>
          </p:cNvSpPr>
          <p:nvPr/>
        </p:nvSpPr>
        <p:spPr bwMode="auto">
          <a:xfrm>
            <a:off x="6586539" y="2398713"/>
            <a:ext cx="434975" cy="260350"/>
          </a:xfrm>
          <a:prstGeom prst="rightArrow">
            <a:avLst>
              <a:gd name="adj1" fmla="val 50000"/>
              <a:gd name="adj2" fmla="val 41768"/>
            </a:avLst>
          </a:pr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9350" name="Rectangle 80"/>
          <p:cNvSpPr>
            <a:spLocks noChangeArrowheads="1"/>
          </p:cNvSpPr>
          <p:nvPr/>
        </p:nvSpPr>
        <p:spPr bwMode="auto">
          <a:xfrm>
            <a:off x="8129588" y="2963863"/>
            <a:ext cx="88900" cy="531812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117782" name="Group 91"/>
          <p:cNvGrpSpPr>
            <a:grpSpLocks/>
          </p:cNvGrpSpPr>
          <p:nvPr/>
        </p:nvGrpSpPr>
        <p:grpSpPr bwMode="auto">
          <a:xfrm>
            <a:off x="5829301" y="2941638"/>
            <a:ext cx="468313" cy="531812"/>
            <a:chOff x="3106" y="853"/>
            <a:chExt cx="295" cy="335"/>
          </a:xfrm>
        </p:grpSpPr>
        <p:sp>
          <p:nvSpPr>
            <p:cNvPr id="99368" name="Rectangle 92"/>
            <p:cNvSpPr>
              <a:spLocks noChangeArrowheads="1"/>
            </p:cNvSpPr>
            <p:nvPr/>
          </p:nvSpPr>
          <p:spPr bwMode="auto">
            <a:xfrm>
              <a:off x="3106" y="853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69" name="Rectangle 93"/>
            <p:cNvSpPr>
              <a:spLocks noChangeArrowheads="1"/>
            </p:cNvSpPr>
            <p:nvPr/>
          </p:nvSpPr>
          <p:spPr bwMode="auto">
            <a:xfrm>
              <a:off x="3345" y="853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17783" name="Group 94"/>
          <p:cNvGrpSpPr>
            <a:grpSpLocks/>
          </p:cNvGrpSpPr>
          <p:nvPr/>
        </p:nvGrpSpPr>
        <p:grpSpPr bwMode="auto">
          <a:xfrm>
            <a:off x="3959226" y="2946401"/>
            <a:ext cx="468313" cy="531813"/>
            <a:chOff x="3106" y="853"/>
            <a:chExt cx="295" cy="335"/>
          </a:xfrm>
        </p:grpSpPr>
        <p:sp>
          <p:nvSpPr>
            <p:cNvPr id="99366" name="Rectangle 95"/>
            <p:cNvSpPr>
              <a:spLocks noChangeArrowheads="1"/>
            </p:cNvSpPr>
            <p:nvPr/>
          </p:nvSpPr>
          <p:spPr bwMode="auto">
            <a:xfrm>
              <a:off x="3106" y="853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67" name="Rectangle 96"/>
            <p:cNvSpPr>
              <a:spLocks noChangeArrowheads="1"/>
            </p:cNvSpPr>
            <p:nvPr/>
          </p:nvSpPr>
          <p:spPr bwMode="auto">
            <a:xfrm>
              <a:off x="3345" y="853"/>
              <a:ext cx="56" cy="33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CC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99353" name="AutoShape 97"/>
          <p:cNvSpPr>
            <a:spLocks noChangeArrowheads="1"/>
          </p:cNvSpPr>
          <p:nvPr/>
        </p:nvSpPr>
        <p:spPr bwMode="auto">
          <a:xfrm rot="10800000">
            <a:off x="3482976" y="3132138"/>
            <a:ext cx="434975" cy="260350"/>
          </a:xfrm>
          <a:prstGeom prst="rightArrow">
            <a:avLst>
              <a:gd name="adj1" fmla="val 50000"/>
              <a:gd name="adj2" fmla="val 41768"/>
            </a:avLst>
          </a:pr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9354" name="AutoShape 98"/>
          <p:cNvSpPr>
            <a:spLocks noChangeArrowheads="1"/>
          </p:cNvSpPr>
          <p:nvPr/>
        </p:nvSpPr>
        <p:spPr bwMode="auto">
          <a:xfrm rot="10800000">
            <a:off x="5413376" y="3135313"/>
            <a:ext cx="434975" cy="260350"/>
          </a:xfrm>
          <a:prstGeom prst="rightArrow">
            <a:avLst>
              <a:gd name="adj1" fmla="val 50000"/>
              <a:gd name="adj2" fmla="val 41768"/>
            </a:avLst>
          </a:pr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9355" name="AutoShape 99"/>
          <p:cNvSpPr>
            <a:spLocks noChangeArrowheads="1"/>
          </p:cNvSpPr>
          <p:nvPr/>
        </p:nvSpPr>
        <p:spPr bwMode="auto">
          <a:xfrm rot="10800000">
            <a:off x="7610476" y="3138488"/>
            <a:ext cx="434975" cy="260350"/>
          </a:xfrm>
          <a:prstGeom prst="rightArrow">
            <a:avLst>
              <a:gd name="adj1" fmla="val 50000"/>
              <a:gd name="adj2" fmla="val 41768"/>
            </a:avLst>
          </a:pr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99356" name="Rectangle 101"/>
          <p:cNvSpPr>
            <a:spLocks noChangeArrowheads="1"/>
          </p:cNvSpPr>
          <p:nvPr/>
        </p:nvSpPr>
        <p:spPr bwMode="auto">
          <a:xfrm>
            <a:off x="4471989" y="1363664"/>
            <a:ext cx="98425" cy="407987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99357" name="Text Box 102"/>
          <p:cNvSpPr txBox="1">
            <a:spLocks noChangeArrowheads="1"/>
          </p:cNvSpPr>
          <p:nvPr/>
        </p:nvSpPr>
        <p:spPr bwMode="auto">
          <a:xfrm>
            <a:off x="4575176" y="1519238"/>
            <a:ext cx="822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/>
              <a:t>RM cell</a:t>
            </a:r>
          </a:p>
        </p:txBody>
      </p:sp>
      <p:sp>
        <p:nvSpPr>
          <p:cNvPr id="99358" name="Rectangle 108"/>
          <p:cNvSpPr>
            <a:spLocks noChangeArrowheads="1"/>
          </p:cNvSpPr>
          <p:nvPr/>
        </p:nvSpPr>
        <p:spPr bwMode="auto">
          <a:xfrm>
            <a:off x="5662614" y="1363664"/>
            <a:ext cx="98425" cy="407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CC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99359" name="Text Box 109"/>
          <p:cNvSpPr txBox="1">
            <a:spLocks noChangeArrowheads="1"/>
          </p:cNvSpPr>
          <p:nvPr/>
        </p:nvSpPr>
        <p:spPr bwMode="auto">
          <a:xfrm>
            <a:off x="5765800" y="1519238"/>
            <a:ext cx="9334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/>
              <a:t>data cell</a:t>
            </a:r>
          </a:p>
        </p:txBody>
      </p:sp>
      <p:grpSp>
        <p:nvGrpSpPr>
          <p:cNvPr id="117791" name="Group 113"/>
          <p:cNvGrpSpPr>
            <a:grpSpLocks/>
          </p:cNvGrpSpPr>
          <p:nvPr/>
        </p:nvGrpSpPr>
        <p:grpSpPr bwMode="auto">
          <a:xfrm>
            <a:off x="2190750" y="2622550"/>
            <a:ext cx="687388" cy="636588"/>
            <a:chOff x="-44" y="1473"/>
            <a:chExt cx="981" cy="1105"/>
          </a:xfrm>
        </p:grpSpPr>
        <p:pic>
          <p:nvPicPr>
            <p:cNvPr id="117795" name="Picture 11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96" name="Freeform 11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7792" name="Group 116"/>
          <p:cNvGrpSpPr>
            <a:grpSpLocks/>
          </p:cNvGrpSpPr>
          <p:nvPr/>
        </p:nvGrpSpPr>
        <p:grpSpPr bwMode="auto">
          <a:xfrm flipH="1">
            <a:off x="9318625" y="2671764"/>
            <a:ext cx="642938" cy="636587"/>
            <a:chOff x="-44" y="1473"/>
            <a:chExt cx="981" cy="1105"/>
          </a:xfrm>
        </p:grpSpPr>
        <p:pic>
          <p:nvPicPr>
            <p:cNvPr id="117793" name="Picture 11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94" name="Freeform 11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81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035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F978864-32DB-4F0F-BCAC-C89A6605C407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10035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10035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251325" cy="4648200"/>
          </a:xfrm>
        </p:spPr>
        <p:txBody>
          <a:bodyPr/>
          <a:lstStyle/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connection management</a:t>
            </a:r>
          </a:p>
          <a:p>
            <a:pPr marL="566738" indent="-566738"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None/>
              <a:defRPr/>
            </a:pPr>
            <a:r>
              <a:rPr lang="en-US">
                <a:solidFill>
                  <a:srgbClr val="CC0000"/>
                </a:solidFill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118790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039814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065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13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B966DD1-424F-4909-A221-4267431EEE45}" type="slidenum">
              <a:rPr lang="en-US" altLang="en-US" sz="1200"/>
              <a:pPr/>
              <a:t>58</a:t>
            </a:fld>
            <a:endParaRPr lang="en-US" altLang="en-US" sz="1200"/>
          </a:p>
        </p:txBody>
      </p:sp>
      <p:pic>
        <p:nvPicPr>
          <p:cNvPr id="119811" name="Picture 1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6" y="741364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8458200" cy="1143000"/>
          </a:xfrm>
        </p:spPr>
        <p:txBody>
          <a:bodyPr/>
          <a:lstStyle/>
          <a:p>
            <a:pPr algn="r">
              <a:lnSpc>
                <a:spcPct val="80000"/>
              </a:lnSpc>
              <a:defRPr/>
            </a:pPr>
            <a:r>
              <a:rPr lang="en-US" sz="4000">
                <a:ea typeface="ＭＳ Ｐゴシック" charset="0"/>
              </a:rPr>
              <a:t>TCP congestion control: </a:t>
            </a:r>
            <a:r>
              <a:rPr lang="en-US" sz="3200">
                <a:ea typeface="ＭＳ Ｐゴシック" charset="0"/>
              </a:rPr>
              <a:t>additive increase multiplicative decrease</a:t>
            </a:r>
          </a:p>
        </p:txBody>
      </p:sp>
      <p:sp>
        <p:nvSpPr>
          <p:cNvPr id="101382" name="Rectangle 8"/>
          <p:cNvSpPr>
            <a:spLocks noChangeArrowheads="1"/>
          </p:cNvSpPr>
          <p:nvPr/>
        </p:nvSpPr>
        <p:spPr bwMode="auto">
          <a:xfrm>
            <a:off x="1981200" y="1371600"/>
            <a:ext cx="83756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approach:</a:t>
            </a:r>
            <a:r>
              <a:rPr lang="en-US" sz="2800" i="1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800">
                <a:latin typeface="Gill Sans MT" charset="0"/>
                <a:ea typeface="ＭＳ Ｐゴシック" charset="0"/>
              </a:rPr>
              <a:t>sender</a:t>
            </a:r>
            <a:r>
              <a:rPr lang="en-US" sz="2800" i="1">
                <a:solidFill>
                  <a:srgbClr val="FF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800">
                <a:latin typeface="Gill Sans MT" charset="0"/>
                <a:ea typeface="ＭＳ Ｐゴシック" charset="0"/>
              </a:rPr>
              <a:t>increases transmission rate (window size), probing for usable bandwidth, until loss occurs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additive increase:</a:t>
            </a:r>
            <a:r>
              <a:rPr lang="en-US" sz="2800">
                <a:latin typeface="Gill Sans MT" charset="0"/>
                <a:ea typeface="ＭＳ Ｐゴシック" charset="0"/>
              </a:rPr>
              <a:t> increase  </a:t>
            </a:r>
            <a:r>
              <a:rPr lang="en-US" sz="2800" b="1">
                <a:latin typeface="Courier New" charset="0"/>
                <a:ea typeface="ＭＳ Ｐゴシック" charset="0"/>
              </a:rPr>
              <a:t>cwnd</a:t>
            </a:r>
            <a:r>
              <a:rPr lang="en-US" sz="2800">
                <a:latin typeface="Courier New" charset="0"/>
                <a:ea typeface="ＭＳ Ｐゴシック" charset="0"/>
              </a:rPr>
              <a:t> </a:t>
            </a:r>
            <a:r>
              <a:rPr lang="en-US" sz="2800">
                <a:latin typeface="Gill Sans MT" charset="0"/>
                <a:ea typeface="ＭＳ Ｐゴシック" charset="0"/>
              </a:rPr>
              <a:t>by 1 MSS every RTT until loss detected</a:t>
            </a:r>
            <a:endParaRPr lang="en-US" sz="2800" i="1">
              <a:latin typeface="Gill Sans MT" charset="0"/>
              <a:ea typeface="ＭＳ Ｐゴシック" charset="0"/>
            </a:endParaRP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800" i="1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multiplicative decrease</a:t>
            </a:r>
            <a:r>
              <a:rPr lang="en-US" sz="2800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:</a:t>
            </a:r>
            <a:r>
              <a:rPr lang="en-US" sz="2800">
                <a:latin typeface="Gill Sans MT" charset="0"/>
                <a:ea typeface="ＭＳ Ｐゴシック" charset="0"/>
              </a:rPr>
              <a:t> cut </a:t>
            </a:r>
            <a:r>
              <a:rPr lang="en-US" sz="2800" b="1">
                <a:latin typeface="Courier New" charset="0"/>
                <a:ea typeface="ＭＳ Ｐゴシック" charset="0"/>
              </a:rPr>
              <a:t>cwnd </a:t>
            </a:r>
            <a:r>
              <a:rPr lang="en-US" sz="2800">
                <a:latin typeface="Gill Sans MT" charset="0"/>
                <a:ea typeface="ＭＳ Ｐゴシック" charset="0"/>
              </a:rPr>
              <a:t>in half after loss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800">
              <a:latin typeface="Gill Sans MT" charset="0"/>
              <a:ea typeface="ＭＳ Ｐゴシック" charset="0"/>
            </a:endParaRPr>
          </a:p>
        </p:txBody>
      </p:sp>
      <p:sp>
        <p:nvSpPr>
          <p:cNvPr id="101383" name="Rectangle 11"/>
          <p:cNvSpPr>
            <a:spLocks noChangeArrowheads="1"/>
          </p:cNvSpPr>
          <p:nvPr/>
        </p:nvSpPr>
        <p:spPr bwMode="auto">
          <a:xfrm>
            <a:off x="5187950" y="3659188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1384" name="Text Box 12"/>
          <p:cNvSpPr txBox="1">
            <a:spLocks noChangeArrowheads="1"/>
          </p:cNvSpPr>
          <p:nvPr/>
        </p:nvSpPr>
        <p:spPr bwMode="auto">
          <a:xfrm rot="16200000">
            <a:off x="3589506" y="4781878"/>
            <a:ext cx="2066591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b="1">
                <a:latin typeface="Courier New" charset="0"/>
              </a:rPr>
              <a:t>cwnd:</a:t>
            </a:r>
            <a:r>
              <a:rPr lang="en-US" sz="1400">
                <a:latin typeface="Arial" charset="0"/>
              </a:rPr>
              <a:t> TCP sender </a:t>
            </a:r>
          </a:p>
          <a:p>
            <a:pPr>
              <a:defRPr/>
            </a:pPr>
            <a:r>
              <a:rPr lang="en-US" sz="1400">
                <a:latin typeface="Arial" charset="0"/>
              </a:rPr>
              <a:t>congestion window size</a:t>
            </a:r>
          </a:p>
        </p:txBody>
      </p:sp>
      <p:sp>
        <p:nvSpPr>
          <p:cNvPr id="101385" name="Text Box 13"/>
          <p:cNvSpPr txBox="1">
            <a:spLocks noChangeArrowheads="1"/>
          </p:cNvSpPr>
          <p:nvPr/>
        </p:nvSpPr>
        <p:spPr bwMode="auto">
          <a:xfrm>
            <a:off x="1949450" y="4448176"/>
            <a:ext cx="21463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2000">
                <a:latin typeface="Arial" charset="0"/>
              </a:rPr>
              <a:t>AIMD saw tooth</a:t>
            </a:r>
          </a:p>
          <a:p>
            <a:pPr algn="r">
              <a:defRPr/>
            </a:pPr>
            <a:r>
              <a:rPr lang="en-US" sz="2000">
                <a:latin typeface="Arial" charset="0"/>
              </a:rPr>
              <a:t>behavior: probing</a:t>
            </a:r>
          </a:p>
          <a:p>
            <a:pPr algn="r">
              <a:defRPr/>
            </a:pPr>
            <a:r>
              <a:rPr lang="en-US" sz="2000">
                <a:latin typeface="Arial" charset="0"/>
              </a:rPr>
              <a:t>for bandwidth</a:t>
            </a:r>
          </a:p>
        </p:txBody>
      </p:sp>
      <p:sp>
        <p:nvSpPr>
          <p:cNvPr id="101386" name="Line 17"/>
          <p:cNvSpPr>
            <a:spLocks noChangeShapeType="1"/>
          </p:cNvSpPr>
          <p:nvPr/>
        </p:nvSpPr>
        <p:spPr bwMode="auto">
          <a:xfrm>
            <a:off x="5029201" y="6149975"/>
            <a:ext cx="4143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1387" name="Line 18"/>
          <p:cNvSpPr>
            <a:spLocks noChangeShapeType="1"/>
          </p:cNvSpPr>
          <p:nvPr/>
        </p:nvSpPr>
        <p:spPr bwMode="auto">
          <a:xfrm>
            <a:off x="5018088" y="3735389"/>
            <a:ext cx="0" cy="2416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68307" name="Line 19"/>
          <p:cNvSpPr>
            <a:spLocks noChangeShapeType="1"/>
          </p:cNvSpPr>
          <p:nvPr/>
        </p:nvSpPr>
        <p:spPr bwMode="auto">
          <a:xfrm flipV="1">
            <a:off x="5029201" y="4852988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68308" name="Line 20"/>
          <p:cNvSpPr>
            <a:spLocks noChangeShapeType="1"/>
          </p:cNvSpPr>
          <p:nvPr/>
        </p:nvSpPr>
        <p:spPr bwMode="auto">
          <a:xfrm>
            <a:off x="5210175" y="4841875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68309" name="Line 21"/>
          <p:cNvSpPr>
            <a:spLocks noChangeShapeType="1"/>
          </p:cNvSpPr>
          <p:nvPr/>
        </p:nvSpPr>
        <p:spPr bwMode="auto">
          <a:xfrm flipV="1">
            <a:off x="5199063" y="4525964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68310" name="Line 22"/>
          <p:cNvSpPr>
            <a:spLocks noChangeShapeType="1"/>
          </p:cNvSpPr>
          <p:nvPr/>
        </p:nvSpPr>
        <p:spPr bwMode="auto">
          <a:xfrm>
            <a:off x="6170613" y="4527550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268326" name="Group 38"/>
          <p:cNvGrpSpPr>
            <a:grpSpLocks/>
          </p:cNvGrpSpPr>
          <p:nvPr/>
        </p:nvGrpSpPr>
        <p:grpSpPr bwMode="auto">
          <a:xfrm>
            <a:off x="6162676" y="4402139"/>
            <a:ext cx="3040063" cy="1106487"/>
            <a:chOff x="2720" y="2730"/>
            <a:chExt cx="1915" cy="697"/>
          </a:xfrm>
        </p:grpSpPr>
        <p:sp>
          <p:nvSpPr>
            <p:cNvPr id="101399" name="Line 23"/>
            <p:cNvSpPr>
              <a:spLocks noChangeShapeType="1"/>
            </p:cNvSpPr>
            <p:nvPr/>
          </p:nvSpPr>
          <p:spPr bwMode="auto">
            <a:xfrm flipV="1">
              <a:off x="2720" y="2996"/>
              <a:ext cx="331" cy="3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19831" name="Group 37"/>
            <p:cNvGrpSpPr>
              <a:grpSpLocks/>
            </p:cNvGrpSpPr>
            <p:nvPr/>
          </p:nvGrpSpPr>
          <p:grpSpPr bwMode="auto">
            <a:xfrm>
              <a:off x="3051" y="2730"/>
              <a:ext cx="1584" cy="697"/>
              <a:chOff x="3051" y="2730"/>
              <a:chExt cx="1584" cy="697"/>
            </a:xfrm>
          </p:grpSpPr>
          <p:sp>
            <p:nvSpPr>
              <p:cNvPr id="101401" name="Line 24"/>
              <p:cNvSpPr>
                <a:spLocks noChangeShapeType="1"/>
              </p:cNvSpPr>
              <p:nvPr/>
            </p:nvSpPr>
            <p:spPr bwMode="auto">
              <a:xfrm>
                <a:off x="3051" y="2993"/>
                <a:ext cx="0" cy="43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1402" name="Line 25"/>
              <p:cNvSpPr>
                <a:spLocks noChangeShapeType="1"/>
              </p:cNvSpPr>
              <p:nvPr/>
            </p:nvSpPr>
            <p:spPr bwMode="auto">
              <a:xfrm flipV="1">
                <a:off x="3058" y="2795"/>
                <a:ext cx="611" cy="6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1403" name="Line 26"/>
              <p:cNvSpPr>
                <a:spLocks noChangeShapeType="1"/>
              </p:cNvSpPr>
              <p:nvPr/>
            </p:nvSpPr>
            <p:spPr bwMode="auto">
              <a:xfrm>
                <a:off x="3666" y="2795"/>
                <a:ext cx="7" cy="5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1404" name="Line 29"/>
              <p:cNvSpPr>
                <a:spLocks noChangeShapeType="1"/>
              </p:cNvSpPr>
              <p:nvPr/>
            </p:nvSpPr>
            <p:spPr bwMode="auto">
              <a:xfrm flipV="1">
                <a:off x="3669" y="2898"/>
                <a:ext cx="420" cy="4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1405" name="Line 30"/>
              <p:cNvSpPr>
                <a:spLocks noChangeShapeType="1"/>
              </p:cNvSpPr>
              <p:nvPr/>
            </p:nvSpPr>
            <p:spPr bwMode="auto">
              <a:xfrm>
                <a:off x="4089" y="2889"/>
                <a:ext cx="0" cy="4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1406" name="Line 31"/>
              <p:cNvSpPr>
                <a:spLocks noChangeShapeType="1"/>
              </p:cNvSpPr>
              <p:nvPr/>
            </p:nvSpPr>
            <p:spPr bwMode="auto">
              <a:xfrm flipV="1">
                <a:off x="4083" y="2730"/>
                <a:ext cx="552" cy="6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sp>
        <p:nvSpPr>
          <p:cNvPr id="101393" name="Text Box 32"/>
          <p:cNvSpPr txBox="1">
            <a:spLocks noChangeArrowheads="1"/>
          </p:cNvSpPr>
          <p:nvPr/>
        </p:nvSpPr>
        <p:spPr bwMode="auto">
          <a:xfrm>
            <a:off x="5927726" y="3622675"/>
            <a:ext cx="42767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/>
              <a:t>additively increase window size …</a:t>
            </a:r>
          </a:p>
          <a:p>
            <a:pPr algn="l"/>
            <a:r>
              <a:rPr lang="en-US" altLang="en-US"/>
              <a:t>…. </a:t>
            </a:r>
            <a:r>
              <a:rPr lang="en-US" altLang="en-US">
                <a:solidFill>
                  <a:srgbClr val="0000FF"/>
                </a:solidFill>
              </a:rPr>
              <a:t>until loss occurs (then cut window in half)</a:t>
            </a:r>
          </a:p>
        </p:txBody>
      </p:sp>
      <p:sp>
        <p:nvSpPr>
          <p:cNvPr id="268321" name="Freeform 33"/>
          <p:cNvSpPr>
            <a:spLocks/>
          </p:cNvSpPr>
          <p:nvPr/>
        </p:nvSpPr>
        <p:spPr bwMode="auto">
          <a:xfrm>
            <a:off x="5122864" y="3816350"/>
            <a:ext cx="858837" cy="1016000"/>
          </a:xfrm>
          <a:custGeom>
            <a:avLst/>
            <a:gdLst>
              <a:gd name="T0" fmla="*/ 2147483647 w 541"/>
              <a:gd name="T1" fmla="*/ 0 h 640"/>
              <a:gd name="T2" fmla="*/ 0 w 541"/>
              <a:gd name="T3" fmla="*/ 0 h 640"/>
              <a:gd name="T4" fmla="*/ 0 w 541"/>
              <a:gd name="T5" fmla="*/ 2147483647 h 6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1" h="640">
                <a:moveTo>
                  <a:pt x="541" y="0"/>
                </a:moveTo>
                <a:lnTo>
                  <a:pt x="0" y="0"/>
                </a:lnTo>
                <a:lnTo>
                  <a:pt x="0" y="6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8322" name="Freeform 34"/>
          <p:cNvSpPr>
            <a:spLocks/>
          </p:cNvSpPr>
          <p:nvPr/>
        </p:nvSpPr>
        <p:spPr bwMode="auto">
          <a:xfrm>
            <a:off x="5267326" y="4019551"/>
            <a:ext cx="796925" cy="1000125"/>
          </a:xfrm>
          <a:custGeom>
            <a:avLst/>
            <a:gdLst>
              <a:gd name="T0" fmla="*/ 2147483647 w 502"/>
              <a:gd name="T1" fmla="*/ 0 h 630"/>
              <a:gd name="T2" fmla="*/ 2147483647 w 502"/>
              <a:gd name="T3" fmla="*/ 2147483647 h 630"/>
              <a:gd name="T4" fmla="*/ 2147483647 w 502"/>
              <a:gd name="T5" fmla="*/ 2147483647 h 630"/>
              <a:gd name="T6" fmla="*/ 0 w 502"/>
              <a:gd name="T7" fmla="*/ 2147483647 h 6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02" h="630">
                <a:moveTo>
                  <a:pt x="502" y="0"/>
                </a:moveTo>
                <a:lnTo>
                  <a:pt x="56" y="2"/>
                </a:lnTo>
                <a:lnTo>
                  <a:pt x="54" y="630"/>
                </a:lnTo>
                <a:lnTo>
                  <a:pt x="0" y="63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8323" name="Freeform 35"/>
          <p:cNvSpPr>
            <a:spLocks/>
          </p:cNvSpPr>
          <p:nvPr/>
        </p:nvSpPr>
        <p:spPr bwMode="auto">
          <a:xfrm>
            <a:off x="5575300" y="3814763"/>
            <a:ext cx="406400" cy="1168400"/>
          </a:xfrm>
          <a:custGeom>
            <a:avLst/>
            <a:gdLst>
              <a:gd name="T0" fmla="*/ 2147483647 w 256"/>
              <a:gd name="T1" fmla="*/ 0 h 736"/>
              <a:gd name="T2" fmla="*/ 0 w 256"/>
              <a:gd name="T3" fmla="*/ 0 h 736"/>
              <a:gd name="T4" fmla="*/ 0 w 256"/>
              <a:gd name="T5" fmla="*/ 2147483647 h 7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6" h="736">
                <a:moveTo>
                  <a:pt x="256" y="0"/>
                </a:moveTo>
                <a:lnTo>
                  <a:pt x="0" y="0"/>
                </a:lnTo>
                <a:lnTo>
                  <a:pt x="0" y="73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8324" name="Freeform 36"/>
          <p:cNvSpPr>
            <a:spLocks/>
          </p:cNvSpPr>
          <p:nvPr/>
        </p:nvSpPr>
        <p:spPr bwMode="auto">
          <a:xfrm>
            <a:off x="6213476" y="4179888"/>
            <a:ext cx="168275" cy="635000"/>
          </a:xfrm>
          <a:custGeom>
            <a:avLst/>
            <a:gdLst>
              <a:gd name="T0" fmla="*/ 2147483647 w 106"/>
              <a:gd name="T1" fmla="*/ 0 h 400"/>
              <a:gd name="T2" fmla="*/ 2147483647 w 106"/>
              <a:gd name="T3" fmla="*/ 2147483647 h 400"/>
              <a:gd name="T4" fmla="*/ 0 w 106"/>
              <a:gd name="T5" fmla="*/ 2147483647 h 4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6" h="400">
                <a:moveTo>
                  <a:pt x="106" y="0"/>
                </a:moveTo>
                <a:lnTo>
                  <a:pt x="106" y="400"/>
                </a:lnTo>
                <a:lnTo>
                  <a:pt x="0" y="40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1398" name="Text Box 40"/>
          <p:cNvSpPr txBox="1">
            <a:spLocks noChangeArrowheads="1"/>
          </p:cNvSpPr>
          <p:nvPr/>
        </p:nvSpPr>
        <p:spPr bwMode="auto">
          <a:xfrm>
            <a:off x="6596063" y="6140450"/>
            <a:ext cx="5762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25723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6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240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CC463214-2F3F-4853-BD12-C147EEEDEFE4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pic>
        <p:nvPicPr>
          <p:cNvPr id="120835" name="Picture 8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38" y="817564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3575" y="231775"/>
            <a:ext cx="7772400" cy="769938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Congestion Control: details</a:t>
            </a:r>
          </a:p>
        </p:txBody>
      </p:sp>
      <p:sp>
        <p:nvSpPr>
          <p:cNvPr id="1024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36751" y="3784600"/>
            <a:ext cx="4532313" cy="169545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>
                <a:ea typeface="ＭＳ Ｐゴシック" charset="0"/>
                <a:cs typeface="+mn-cs"/>
              </a:rPr>
              <a:t>sender limits transmission:</a:t>
            </a: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r>
              <a:rPr lang="en-US" b="1">
                <a:latin typeface="Courier New" charset="0"/>
                <a:ea typeface="ＭＳ Ｐゴシック" charset="0"/>
                <a:cs typeface="+mn-cs"/>
              </a:rPr>
              <a:t>cwnd</a:t>
            </a:r>
            <a:r>
              <a:rPr lang="en-US">
                <a:ea typeface="ＭＳ Ｐゴシック" charset="0"/>
                <a:cs typeface="+mn-cs"/>
              </a:rPr>
              <a:t> is dynamic, function of perceived network congestion</a:t>
            </a:r>
          </a:p>
          <a:p>
            <a:pPr>
              <a:buFont typeface="Wingdings" charset="0"/>
              <a:buChar char="v"/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  <p:sp>
        <p:nvSpPr>
          <p:cNvPr id="1024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683375" y="1485901"/>
            <a:ext cx="3810000" cy="24479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ea typeface="ＭＳ Ｐゴシック" charset="0"/>
                <a:cs typeface="+mn-cs"/>
              </a:rPr>
              <a:t>TCP sending rate:</a:t>
            </a:r>
          </a:p>
          <a:p>
            <a:pPr>
              <a:buFont typeface="Wingdings" charset="0"/>
              <a:buChar char="v"/>
              <a:defRPr/>
            </a:pPr>
            <a:r>
              <a:rPr lang="en-US" i="1" dirty="0">
                <a:solidFill>
                  <a:srgbClr val="0000FF"/>
                </a:solidFill>
                <a:ea typeface="ＭＳ Ｐゴシック" charset="0"/>
                <a:cs typeface="+mn-cs"/>
              </a:rPr>
              <a:t>roughly: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 send </a:t>
            </a:r>
            <a:r>
              <a:rPr lang="en-US" dirty="0" err="1">
                <a:solidFill>
                  <a:srgbClr val="0000FF"/>
                </a:solidFill>
                <a:ea typeface="ＭＳ Ｐゴシック" charset="0"/>
                <a:cs typeface="+mn-cs"/>
              </a:rPr>
              <a:t>cwnd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 bytes, wait RTT for ACKS, then send more bytes</a:t>
            </a:r>
          </a:p>
        </p:txBody>
      </p:sp>
      <p:sp>
        <p:nvSpPr>
          <p:cNvPr id="102408" name="Rectangle 12"/>
          <p:cNvSpPr>
            <a:spLocks noChangeArrowheads="1"/>
          </p:cNvSpPr>
          <p:nvPr/>
        </p:nvSpPr>
        <p:spPr bwMode="auto">
          <a:xfrm>
            <a:off x="2292350" y="1941513"/>
            <a:ext cx="65088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09" name="Rectangle 13"/>
          <p:cNvSpPr>
            <a:spLocks noChangeArrowheads="1"/>
          </p:cNvSpPr>
          <p:nvPr/>
        </p:nvSpPr>
        <p:spPr bwMode="auto">
          <a:xfrm>
            <a:off x="2389189" y="1943100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0" name="Rectangle 14"/>
          <p:cNvSpPr>
            <a:spLocks noChangeArrowheads="1"/>
          </p:cNvSpPr>
          <p:nvPr/>
        </p:nvSpPr>
        <p:spPr bwMode="auto">
          <a:xfrm>
            <a:off x="2487614" y="194151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1" name="Rectangle 15"/>
          <p:cNvSpPr>
            <a:spLocks noChangeArrowheads="1"/>
          </p:cNvSpPr>
          <p:nvPr/>
        </p:nvSpPr>
        <p:spPr bwMode="auto">
          <a:xfrm>
            <a:off x="2584450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2" name="Rectangle 16"/>
          <p:cNvSpPr>
            <a:spLocks noChangeArrowheads="1"/>
          </p:cNvSpPr>
          <p:nvPr/>
        </p:nvSpPr>
        <p:spPr bwMode="auto">
          <a:xfrm>
            <a:off x="2679700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3" name="Rectangle 17"/>
          <p:cNvSpPr>
            <a:spLocks noChangeArrowheads="1"/>
          </p:cNvSpPr>
          <p:nvPr/>
        </p:nvSpPr>
        <p:spPr bwMode="auto">
          <a:xfrm>
            <a:off x="2776539" y="194151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4" name="Rectangle 18"/>
          <p:cNvSpPr>
            <a:spLocks noChangeArrowheads="1"/>
          </p:cNvSpPr>
          <p:nvPr/>
        </p:nvSpPr>
        <p:spPr bwMode="auto">
          <a:xfrm>
            <a:off x="2868614" y="194151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5" name="Rectangle 19"/>
          <p:cNvSpPr>
            <a:spLocks noChangeArrowheads="1"/>
          </p:cNvSpPr>
          <p:nvPr/>
        </p:nvSpPr>
        <p:spPr bwMode="auto">
          <a:xfrm>
            <a:off x="2963864" y="194151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6" name="Rectangle 20"/>
          <p:cNvSpPr>
            <a:spLocks noChangeArrowheads="1"/>
          </p:cNvSpPr>
          <p:nvPr/>
        </p:nvSpPr>
        <p:spPr bwMode="auto">
          <a:xfrm>
            <a:off x="3059114" y="1941513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7" name="Rectangle 21"/>
          <p:cNvSpPr>
            <a:spLocks noChangeArrowheads="1"/>
          </p:cNvSpPr>
          <p:nvPr/>
        </p:nvSpPr>
        <p:spPr bwMode="auto">
          <a:xfrm>
            <a:off x="3165475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8" name="Rectangle 22"/>
          <p:cNvSpPr>
            <a:spLocks noChangeArrowheads="1"/>
          </p:cNvSpPr>
          <p:nvPr/>
        </p:nvSpPr>
        <p:spPr bwMode="auto">
          <a:xfrm>
            <a:off x="3263900" y="1943100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19" name="Rectangle 23"/>
          <p:cNvSpPr>
            <a:spLocks noChangeArrowheads="1"/>
          </p:cNvSpPr>
          <p:nvPr/>
        </p:nvSpPr>
        <p:spPr bwMode="auto">
          <a:xfrm>
            <a:off x="3360739" y="194151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0" name="Rectangle 24"/>
          <p:cNvSpPr>
            <a:spLocks noChangeArrowheads="1"/>
          </p:cNvSpPr>
          <p:nvPr/>
        </p:nvSpPr>
        <p:spPr bwMode="auto">
          <a:xfrm>
            <a:off x="345757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1" name="Rectangle 25"/>
          <p:cNvSpPr>
            <a:spLocks noChangeArrowheads="1"/>
          </p:cNvSpPr>
          <p:nvPr/>
        </p:nvSpPr>
        <p:spPr bwMode="auto">
          <a:xfrm>
            <a:off x="3554414" y="194151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2" name="Rectangle 26"/>
          <p:cNvSpPr>
            <a:spLocks noChangeArrowheads="1"/>
          </p:cNvSpPr>
          <p:nvPr/>
        </p:nvSpPr>
        <p:spPr bwMode="auto">
          <a:xfrm>
            <a:off x="3649664" y="194151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3" name="Rectangle 27"/>
          <p:cNvSpPr>
            <a:spLocks noChangeArrowheads="1"/>
          </p:cNvSpPr>
          <p:nvPr/>
        </p:nvSpPr>
        <p:spPr bwMode="auto">
          <a:xfrm>
            <a:off x="3741739" y="194151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4" name="Rectangle 28"/>
          <p:cNvSpPr>
            <a:spLocks noChangeArrowheads="1"/>
          </p:cNvSpPr>
          <p:nvPr/>
        </p:nvSpPr>
        <p:spPr bwMode="auto">
          <a:xfrm>
            <a:off x="3836989" y="194151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5" name="Rectangle 29"/>
          <p:cNvSpPr>
            <a:spLocks noChangeArrowheads="1"/>
          </p:cNvSpPr>
          <p:nvPr/>
        </p:nvSpPr>
        <p:spPr bwMode="auto">
          <a:xfrm>
            <a:off x="393382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6" name="Rectangle 30"/>
          <p:cNvSpPr>
            <a:spLocks noChangeArrowheads="1"/>
          </p:cNvSpPr>
          <p:nvPr/>
        </p:nvSpPr>
        <p:spPr bwMode="auto">
          <a:xfrm>
            <a:off x="402272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7" name="Rectangle 31"/>
          <p:cNvSpPr>
            <a:spLocks noChangeArrowheads="1"/>
          </p:cNvSpPr>
          <p:nvPr/>
        </p:nvSpPr>
        <p:spPr bwMode="auto">
          <a:xfrm>
            <a:off x="411797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8" name="Rectangle 32"/>
          <p:cNvSpPr>
            <a:spLocks noChangeArrowheads="1"/>
          </p:cNvSpPr>
          <p:nvPr/>
        </p:nvSpPr>
        <p:spPr bwMode="auto">
          <a:xfrm>
            <a:off x="4211639" y="1939925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29" name="Rectangle 33"/>
          <p:cNvSpPr>
            <a:spLocks noChangeArrowheads="1"/>
          </p:cNvSpPr>
          <p:nvPr/>
        </p:nvSpPr>
        <p:spPr bwMode="auto">
          <a:xfrm>
            <a:off x="4303714" y="1939925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0" name="Rectangle 34"/>
          <p:cNvSpPr>
            <a:spLocks noChangeArrowheads="1"/>
          </p:cNvSpPr>
          <p:nvPr/>
        </p:nvSpPr>
        <p:spPr bwMode="auto">
          <a:xfrm>
            <a:off x="440055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1" name="Rectangle 35"/>
          <p:cNvSpPr>
            <a:spLocks noChangeArrowheads="1"/>
          </p:cNvSpPr>
          <p:nvPr/>
        </p:nvSpPr>
        <p:spPr bwMode="auto">
          <a:xfrm>
            <a:off x="449580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2" name="Rectangle 36"/>
          <p:cNvSpPr>
            <a:spLocks noChangeArrowheads="1"/>
          </p:cNvSpPr>
          <p:nvPr/>
        </p:nvSpPr>
        <p:spPr bwMode="auto">
          <a:xfrm>
            <a:off x="458470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3" name="Rectangle 37"/>
          <p:cNvSpPr>
            <a:spLocks noChangeArrowheads="1"/>
          </p:cNvSpPr>
          <p:nvPr/>
        </p:nvSpPr>
        <p:spPr bwMode="auto">
          <a:xfrm>
            <a:off x="467995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4" name="Rectangle 38"/>
          <p:cNvSpPr>
            <a:spLocks noChangeArrowheads="1"/>
          </p:cNvSpPr>
          <p:nvPr/>
        </p:nvSpPr>
        <p:spPr bwMode="auto">
          <a:xfrm>
            <a:off x="4776789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5" name="Rectangle 39"/>
          <p:cNvSpPr>
            <a:spLocks noChangeArrowheads="1"/>
          </p:cNvSpPr>
          <p:nvPr/>
        </p:nvSpPr>
        <p:spPr bwMode="auto">
          <a:xfrm>
            <a:off x="4873625" y="1943100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6" name="Rectangle 40"/>
          <p:cNvSpPr>
            <a:spLocks noChangeArrowheads="1"/>
          </p:cNvSpPr>
          <p:nvPr/>
        </p:nvSpPr>
        <p:spPr bwMode="auto">
          <a:xfrm>
            <a:off x="4970464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7" name="Rectangle 41"/>
          <p:cNvSpPr>
            <a:spLocks noChangeArrowheads="1"/>
          </p:cNvSpPr>
          <p:nvPr/>
        </p:nvSpPr>
        <p:spPr bwMode="auto">
          <a:xfrm>
            <a:off x="5068889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8" name="Rectangle 42"/>
          <p:cNvSpPr>
            <a:spLocks noChangeArrowheads="1"/>
          </p:cNvSpPr>
          <p:nvPr/>
        </p:nvSpPr>
        <p:spPr bwMode="auto">
          <a:xfrm>
            <a:off x="5164139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39" name="Rectangle 43"/>
          <p:cNvSpPr>
            <a:spLocks noChangeArrowheads="1"/>
          </p:cNvSpPr>
          <p:nvPr/>
        </p:nvSpPr>
        <p:spPr bwMode="auto">
          <a:xfrm>
            <a:off x="5259389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0" name="Rectangle 44"/>
          <p:cNvSpPr>
            <a:spLocks noChangeArrowheads="1"/>
          </p:cNvSpPr>
          <p:nvPr/>
        </p:nvSpPr>
        <p:spPr bwMode="auto">
          <a:xfrm>
            <a:off x="5351464" y="194151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1" name="Rectangle 45"/>
          <p:cNvSpPr>
            <a:spLocks noChangeArrowheads="1"/>
          </p:cNvSpPr>
          <p:nvPr/>
        </p:nvSpPr>
        <p:spPr bwMode="auto">
          <a:xfrm>
            <a:off x="5448300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2" name="Rectangle 46"/>
          <p:cNvSpPr>
            <a:spLocks noChangeArrowheads="1"/>
          </p:cNvSpPr>
          <p:nvPr/>
        </p:nvSpPr>
        <p:spPr bwMode="auto">
          <a:xfrm>
            <a:off x="5543550" y="1941513"/>
            <a:ext cx="65088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3" name="Rectangle 47"/>
          <p:cNvSpPr>
            <a:spLocks noChangeArrowheads="1"/>
          </p:cNvSpPr>
          <p:nvPr/>
        </p:nvSpPr>
        <p:spPr bwMode="auto">
          <a:xfrm>
            <a:off x="2249488" y="2679700"/>
            <a:ext cx="3408362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4" name="Rectangle 48"/>
          <p:cNvSpPr>
            <a:spLocks noChangeArrowheads="1"/>
          </p:cNvSpPr>
          <p:nvPr/>
        </p:nvSpPr>
        <p:spPr bwMode="auto">
          <a:xfrm>
            <a:off x="2335213" y="1831975"/>
            <a:ext cx="3408362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5" name="Line 51"/>
          <p:cNvSpPr>
            <a:spLocks noChangeShapeType="1"/>
          </p:cNvSpPr>
          <p:nvPr/>
        </p:nvSpPr>
        <p:spPr bwMode="auto">
          <a:xfrm>
            <a:off x="3255964" y="2635250"/>
            <a:ext cx="9096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20877" name="Freeform 53"/>
          <p:cNvSpPr>
            <a:spLocks/>
          </p:cNvSpPr>
          <p:nvPr/>
        </p:nvSpPr>
        <p:spPr bwMode="auto">
          <a:xfrm>
            <a:off x="3048001" y="2614614"/>
            <a:ext cx="144463" cy="384175"/>
          </a:xfrm>
          <a:custGeom>
            <a:avLst/>
            <a:gdLst>
              <a:gd name="T0" fmla="*/ 2147483647 w 91"/>
              <a:gd name="T1" fmla="*/ 0 h 242"/>
              <a:gd name="T2" fmla="*/ 2147483647 w 91"/>
              <a:gd name="T3" fmla="*/ 2147483647 h 242"/>
              <a:gd name="T4" fmla="*/ 0 w 91"/>
              <a:gd name="T5" fmla="*/ 2147483647 h 2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" h="242">
                <a:moveTo>
                  <a:pt x="91" y="0"/>
                </a:moveTo>
                <a:lnTo>
                  <a:pt x="88" y="242"/>
                </a:lnTo>
                <a:lnTo>
                  <a:pt x="0" y="242"/>
                </a:lnTo>
              </a:path>
            </a:pathLst>
          </a:custGeom>
          <a:noFill/>
          <a:ln w="12700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47" name="Line 56"/>
          <p:cNvSpPr>
            <a:spLocks noChangeShapeType="1"/>
          </p:cNvSpPr>
          <p:nvPr/>
        </p:nvSpPr>
        <p:spPr bwMode="auto">
          <a:xfrm>
            <a:off x="3725863" y="2654301"/>
            <a:ext cx="12700" cy="4302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48" name="Text Box 57"/>
          <p:cNvSpPr txBox="1">
            <a:spLocks noChangeArrowheads="1"/>
          </p:cNvSpPr>
          <p:nvPr/>
        </p:nvSpPr>
        <p:spPr bwMode="auto">
          <a:xfrm>
            <a:off x="2230439" y="2838450"/>
            <a:ext cx="85248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sz="1400"/>
              <a:t>last byte</a:t>
            </a:r>
          </a:p>
          <a:p>
            <a:pPr algn="l">
              <a:lnSpc>
                <a:spcPct val="90000"/>
              </a:lnSpc>
              <a:defRPr/>
            </a:pPr>
            <a:r>
              <a:rPr lang="en-US" sz="1400"/>
              <a:t>ACKed</a:t>
            </a:r>
          </a:p>
        </p:txBody>
      </p:sp>
      <p:sp>
        <p:nvSpPr>
          <p:cNvPr id="102449" name="Text Box 58"/>
          <p:cNvSpPr txBox="1">
            <a:spLocks noChangeArrowheads="1"/>
          </p:cNvSpPr>
          <p:nvPr/>
        </p:nvSpPr>
        <p:spPr bwMode="auto">
          <a:xfrm>
            <a:off x="3255963" y="3016250"/>
            <a:ext cx="10668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400"/>
              <a:t>sent, not-yet ACKed</a:t>
            </a:r>
          </a:p>
          <a:p>
            <a:pPr algn="l">
              <a:lnSpc>
                <a:spcPct val="90000"/>
              </a:lnSpc>
            </a:pPr>
            <a:r>
              <a:rPr lang="en-US" altLang="en-US" sz="1400"/>
              <a:t>(</a:t>
            </a:r>
            <a:r>
              <a:rPr lang="ja-JP" altLang="en-US" sz="1400"/>
              <a:t>“</a:t>
            </a:r>
            <a:r>
              <a:rPr lang="en-US" altLang="ja-JP" sz="1400"/>
              <a:t>in-flight</a:t>
            </a:r>
            <a:r>
              <a:rPr lang="ja-JP" altLang="en-US" sz="1400"/>
              <a:t>”</a:t>
            </a:r>
            <a:r>
              <a:rPr lang="en-US" altLang="ja-JP" sz="1400"/>
              <a:t>)</a:t>
            </a:r>
            <a:endParaRPr lang="en-US" altLang="en-US" sz="1400"/>
          </a:p>
        </p:txBody>
      </p:sp>
      <p:sp>
        <p:nvSpPr>
          <p:cNvPr id="102450" name="Text Box 59"/>
          <p:cNvSpPr txBox="1">
            <a:spLocks noChangeArrowheads="1"/>
          </p:cNvSpPr>
          <p:nvPr/>
        </p:nvSpPr>
        <p:spPr bwMode="auto">
          <a:xfrm>
            <a:off x="4298950" y="2878138"/>
            <a:ext cx="1066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 sz="1400"/>
              <a:t>last byte sent</a:t>
            </a:r>
          </a:p>
        </p:txBody>
      </p:sp>
      <p:sp>
        <p:nvSpPr>
          <p:cNvPr id="102451" name="Text Box 61"/>
          <p:cNvSpPr txBox="1">
            <a:spLocks noChangeArrowheads="1"/>
          </p:cNvSpPr>
          <p:nvPr/>
        </p:nvSpPr>
        <p:spPr bwMode="auto">
          <a:xfrm>
            <a:off x="3692525" y="1622426"/>
            <a:ext cx="60960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1400" b="1">
                <a:latin typeface="Courier New" charset="0"/>
              </a:rPr>
              <a:t>cwnd</a:t>
            </a:r>
            <a:endParaRPr lang="en-US" sz="1400" b="1" i="1">
              <a:latin typeface="Courier New" charset="0"/>
            </a:endParaRPr>
          </a:p>
        </p:txBody>
      </p:sp>
      <p:grpSp>
        <p:nvGrpSpPr>
          <p:cNvPr id="120883" name="Group 62"/>
          <p:cNvGrpSpPr>
            <a:grpSpLocks/>
          </p:cNvGrpSpPr>
          <p:nvPr/>
        </p:nvGrpSpPr>
        <p:grpSpPr bwMode="auto">
          <a:xfrm>
            <a:off x="4298951" y="1706564"/>
            <a:ext cx="447675" cy="117475"/>
            <a:chOff x="4250" y="1692"/>
            <a:chExt cx="374" cy="86"/>
          </a:xfrm>
        </p:grpSpPr>
        <p:sp>
          <p:nvSpPr>
            <p:cNvPr id="102474" name="Line 63"/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2475" name="Line 64"/>
            <p:cNvSpPr>
              <a:spLocks noChangeShapeType="1"/>
            </p:cNvSpPr>
            <p:nvPr/>
          </p:nvSpPr>
          <p:spPr bwMode="auto">
            <a:xfrm>
              <a:off x="4621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0884" name="Group 65"/>
          <p:cNvGrpSpPr>
            <a:grpSpLocks/>
          </p:cNvGrpSpPr>
          <p:nvPr/>
        </p:nvGrpSpPr>
        <p:grpSpPr bwMode="auto">
          <a:xfrm rot="10800000">
            <a:off x="3260726" y="1725614"/>
            <a:ext cx="466725" cy="123825"/>
            <a:chOff x="4250" y="1692"/>
            <a:chExt cx="374" cy="86"/>
          </a:xfrm>
        </p:grpSpPr>
        <p:sp>
          <p:nvSpPr>
            <p:cNvPr id="102472" name="Line 66"/>
            <p:cNvSpPr>
              <a:spLocks noChangeShapeType="1"/>
            </p:cNvSpPr>
            <p:nvPr/>
          </p:nvSpPr>
          <p:spPr bwMode="auto">
            <a:xfrm>
              <a:off x="4256" y="1743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2473" name="Line 67"/>
            <p:cNvSpPr>
              <a:spLocks noChangeShapeType="1"/>
            </p:cNvSpPr>
            <p:nvPr/>
          </p:nvSpPr>
          <p:spPr bwMode="auto">
            <a:xfrm>
              <a:off x="4628" y="1696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20885" name="Freeform 69"/>
          <p:cNvSpPr>
            <a:spLocks/>
          </p:cNvSpPr>
          <p:nvPr/>
        </p:nvSpPr>
        <p:spPr bwMode="auto">
          <a:xfrm flipH="1">
            <a:off x="4152901" y="2703514"/>
            <a:ext cx="144463" cy="301625"/>
          </a:xfrm>
          <a:custGeom>
            <a:avLst/>
            <a:gdLst>
              <a:gd name="T0" fmla="*/ 2147483647 w 91"/>
              <a:gd name="T1" fmla="*/ 0 h 242"/>
              <a:gd name="T2" fmla="*/ 2147483647 w 91"/>
              <a:gd name="T3" fmla="*/ 2147483647 h 242"/>
              <a:gd name="T4" fmla="*/ 0 w 91"/>
              <a:gd name="T5" fmla="*/ 2147483647 h 24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1" h="242">
                <a:moveTo>
                  <a:pt x="91" y="0"/>
                </a:moveTo>
                <a:lnTo>
                  <a:pt x="88" y="242"/>
                </a:lnTo>
                <a:lnTo>
                  <a:pt x="0" y="242"/>
                </a:lnTo>
              </a:path>
            </a:pathLst>
          </a:custGeom>
          <a:noFill/>
          <a:ln w="12700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55" name="Text Box 71"/>
          <p:cNvSpPr txBox="1">
            <a:spLocks noChangeArrowheads="1"/>
          </p:cNvSpPr>
          <p:nvPr/>
        </p:nvSpPr>
        <p:spPr bwMode="auto">
          <a:xfrm>
            <a:off x="2557464" y="4316413"/>
            <a:ext cx="2816225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5425" indent="-22542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1800" b="1">
                <a:latin typeface="Courier New" charset="0"/>
              </a:rPr>
              <a:t>LastByteSent-</a:t>
            </a: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1800" b="1">
                <a:latin typeface="Courier New" charset="0"/>
              </a:rPr>
              <a:t>	LastByteAcked</a:t>
            </a:r>
            <a:endParaRPr lang="en-US" sz="1800">
              <a:latin typeface="Courier New" charset="0"/>
            </a:endParaRPr>
          </a:p>
        </p:txBody>
      </p:sp>
      <p:grpSp>
        <p:nvGrpSpPr>
          <p:cNvPr id="120887" name="Group 74"/>
          <p:cNvGrpSpPr>
            <a:grpSpLocks/>
          </p:cNvGrpSpPr>
          <p:nvPr/>
        </p:nvGrpSpPr>
        <p:grpSpPr bwMode="auto">
          <a:xfrm>
            <a:off x="4684714" y="4386263"/>
            <a:ext cx="350837" cy="336550"/>
            <a:chOff x="2059" y="2097"/>
            <a:chExt cx="221" cy="212"/>
          </a:xfrm>
        </p:grpSpPr>
        <p:sp>
          <p:nvSpPr>
            <p:cNvPr id="102470" name="Text Box 72"/>
            <p:cNvSpPr txBox="1">
              <a:spLocks noChangeArrowheads="1"/>
            </p:cNvSpPr>
            <p:nvPr/>
          </p:nvSpPr>
          <p:spPr bwMode="auto">
            <a:xfrm>
              <a:off x="2059" y="2097"/>
              <a:ext cx="2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/>
                <a:t>&lt;</a:t>
              </a:r>
            </a:p>
          </p:txBody>
        </p:sp>
        <p:sp>
          <p:nvSpPr>
            <p:cNvPr id="102471" name="Line 73"/>
            <p:cNvSpPr>
              <a:spLocks noChangeShapeType="1"/>
            </p:cNvSpPr>
            <p:nvPr/>
          </p:nvSpPr>
          <p:spPr bwMode="auto">
            <a:xfrm>
              <a:off x="2133" y="2269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02457" name="Text Box 75"/>
          <p:cNvSpPr txBox="1">
            <a:spLocks noChangeArrowheads="1"/>
          </p:cNvSpPr>
          <p:nvPr/>
        </p:nvSpPr>
        <p:spPr bwMode="auto">
          <a:xfrm>
            <a:off x="5040313" y="4365626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 b="1">
                <a:latin typeface="Courier New" charset="0"/>
              </a:rPr>
              <a:t>cwnd</a:t>
            </a:r>
          </a:p>
        </p:txBody>
      </p:sp>
      <p:sp>
        <p:nvSpPr>
          <p:cNvPr id="102458" name="Rectangle 76"/>
          <p:cNvSpPr>
            <a:spLocks noChangeArrowheads="1"/>
          </p:cNvSpPr>
          <p:nvPr/>
        </p:nvSpPr>
        <p:spPr bwMode="auto">
          <a:xfrm>
            <a:off x="2420938" y="4306889"/>
            <a:ext cx="3725862" cy="642937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2459" name="Text Box 78"/>
          <p:cNvSpPr txBox="1">
            <a:spLocks noChangeArrowheads="1"/>
          </p:cNvSpPr>
          <p:nvPr/>
        </p:nvSpPr>
        <p:spPr bwMode="auto">
          <a:xfrm>
            <a:off x="2238376" y="1390650"/>
            <a:ext cx="2720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400" i="1"/>
              <a:t>sender sequence number space </a:t>
            </a:r>
          </a:p>
        </p:txBody>
      </p:sp>
      <p:sp>
        <p:nvSpPr>
          <p:cNvPr id="102460" name="Text Box 79"/>
          <p:cNvSpPr txBox="1">
            <a:spLocks noChangeArrowheads="1"/>
          </p:cNvSpPr>
          <p:nvPr/>
        </p:nvSpPr>
        <p:spPr bwMode="auto">
          <a:xfrm>
            <a:off x="7019926" y="3727450"/>
            <a:ext cx="70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>
                <a:latin typeface="Arial" charset="0"/>
              </a:rPr>
              <a:t>rate</a:t>
            </a:r>
          </a:p>
        </p:txBody>
      </p:sp>
      <p:grpSp>
        <p:nvGrpSpPr>
          <p:cNvPr id="120892" name="Group 82"/>
          <p:cNvGrpSpPr>
            <a:grpSpLocks/>
          </p:cNvGrpSpPr>
          <p:nvPr/>
        </p:nvGrpSpPr>
        <p:grpSpPr bwMode="auto">
          <a:xfrm>
            <a:off x="7426326" y="3752851"/>
            <a:ext cx="931863" cy="441325"/>
            <a:chOff x="4214" y="2517"/>
            <a:chExt cx="587" cy="278"/>
          </a:xfrm>
        </p:grpSpPr>
        <p:sp>
          <p:nvSpPr>
            <p:cNvPr id="102468" name="Text Box 80"/>
            <p:cNvSpPr txBox="1">
              <a:spLocks noChangeArrowheads="1"/>
            </p:cNvSpPr>
            <p:nvPr/>
          </p:nvSpPr>
          <p:spPr bwMode="auto">
            <a:xfrm>
              <a:off x="4216" y="2517"/>
              <a:ext cx="5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/>
                <a:t>~</a:t>
              </a:r>
            </a:p>
          </p:txBody>
        </p:sp>
        <p:sp>
          <p:nvSpPr>
            <p:cNvPr id="102469" name="Text Box 81"/>
            <p:cNvSpPr txBox="1">
              <a:spLocks noChangeArrowheads="1"/>
            </p:cNvSpPr>
            <p:nvPr/>
          </p:nvSpPr>
          <p:spPr bwMode="auto">
            <a:xfrm>
              <a:off x="4214" y="2564"/>
              <a:ext cx="5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/>
                <a:t>~</a:t>
              </a:r>
            </a:p>
          </p:txBody>
        </p:sp>
      </p:grpSp>
      <p:grpSp>
        <p:nvGrpSpPr>
          <p:cNvPr id="120893" name="Group 86"/>
          <p:cNvGrpSpPr>
            <a:grpSpLocks/>
          </p:cNvGrpSpPr>
          <p:nvPr/>
        </p:nvGrpSpPr>
        <p:grpSpPr bwMode="auto">
          <a:xfrm>
            <a:off x="8101014" y="3603626"/>
            <a:ext cx="712787" cy="715963"/>
            <a:chOff x="4400" y="2509"/>
            <a:chExt cx="449" cy="451"/>
          </a:xfrm>
        </p:grpSpPr>
        <p:sp>
          <p:nvSpPr>
            <p:cNvPr id="102465" name="Text Box 83"/>
            <p:cNvSpPr txBox="1">
              <a:spLocks noChangeArrowheads="1"/>
            </p:cNvSpPr>
            <p:nvPr/>
          </p:nvSpPr>
          <p:spPr bwMode="auto">
            <a:xfrm>
              <a:off x="4400" y="2509"/>
              <a:ext cx="4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/>
                <a:t>cwnd</a:t>
              </a:r>
            </a:p>
          </p:txBody>
        </p:sp>
        <p:sp>
          <p:nvSpPr>
            <p:cNvPr id="102466" name="Text Box 84"/>
            <p:cNvSpPr txBox="1">
              <a:spLocks noChangeArrowheads="1"/>
            </p:cNvSpPr>
            <p:nvPr/>
          </p:nvSpPr>
          <p:spPr bwMode="auto">
            <a:xfrm>
              <a:off x="4443" y="2729"/>
              <a:ext cx="3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/>
                <a:t>RTT</a:t>
              </a:r>
            </a:p>
          </p:txBody>
        </p:sp>
        <p:sp>
          <p:nvSpPr>
            <p:cNvPr id="102467" name="Line 85"/>
            <p:cNvSpPr>
              <a:spLocks noChangeShapeType="1"/>
            </p:cNvSpPr>
            <p:nvPr/>
          </p:nvSpPr>
          <p:spPr bwMode="auto">
            <a:xfrm>
              <a:off x="4430" y="273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02463" name="Text Box 87"/>
          <p:cNvSpPr txBox="1">
            <a:spLocks noChangeArrowheads="1"/>
          </p:cNvSpPr>
          <p:nvPr/>
        </p:nvSpPr>
        <p:spPr bwMode="auto">
          <a:xfrm>
            <a:off x="8818564" y="3762376"/>
            <a:ext cx="1138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/>
              <a:t>bytes/sec</a:t>
            </a:r>
          </a:p>
        </p:txBody>
      </p:sp>
      <p:sp>
        <p:nvSpPr>
          <p:cNvPr id="102464" name="Rectangle 88"/>
          <p:cNvSpPr>
            <a:spLocks noChangeArrowheads="1"/>
          </p:cNvSpPr>
          <p:nvPr/>
        </p:nvSpPr>
        <p:spPr bwMode="auto">
          <a:xfrm>
            <a:off x="6975475" y="3638551"/>
            <a:ext cx="3035300" cy="644525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9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342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CD039A89-7F29-4AE4-851E-521C43FC0304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>
          <a:xfrm>
            <a:off x="1874838" y="149225"/>
            <a:ext cx="7772400" cy="10414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Slow Start </a:t>
            </a:r>
          </a:p>
        </p:txBody>
      </p:sp>
      <p:sp>
        <p:nvSpPr>
          <p:cNvPr id="1034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25664" y="1397000"/>
            <a:ext cx="4249737" cy="4648200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when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connection begins, increase rate exponentially until first loss event: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initially </a:t>
            </a:r>
            <a:r>
              <a:rPr lang="en-US" b="1" dirty="0" err="1">
                <a:latin typeface="Courier New" charset="0"/>
                <a:ea typeface="ＭＳ Ｐゴシック" charset="0"/>
              </a:rPr>
              <a:t>cwnd</a:t>
            </a:r>
            <a:r>
              <a:rPr lang="en-US" dirty="0">
                <a:ea typeface="ＭＳ Ｐゴシック" charset="0"/>
              </a:rPr>
              <a:t> = </a:t>
            </a: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1 MSS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double </a:t>
            </a:r>
            <a:r>
              <a:rPr lang="en-US" b="1" dirty="0" err="1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cwnd</a:t>
            </a: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 every RTT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done by incrementing </a:t>
            </a:r>
            <a:r>
              <a:rPr lang="en-US" b="1" dirty="0" err="1">
                <a:latin typeface="Courier New" charset="0"/>
                <a:ea typeface="ＭＳ Ｐゴシック" charset="0"/>
              </a:rPr>
              <a:t>cwnd</a:t>
            </a:r>
            <a:r>
              <a:rPr lang="en-US" dirty="0">
                <a:ea typeface="ＭＳ Ｐゴシック" charset="0"/>
              </a:rPr>
              <a:t> for every ACK received</a:t>
            </a:r>
          </a:p>
          <a:p>
            <a:pPr>
              <a:buFont typeface="Wingdings" charset="0"/>
              <a:buChar char="v"/>
              <a:defRPr/>
            </a:pPr>
            <a:r>
              <a:rPr lang="en-US" i="1" u="sng" dirty="0">
                <a:solidFill>
                  <a:srgbClr val="CC0000"/>
                </a:solidFill>
                <a:ea typeface="ＭＳ Ｐゴシック" charset="0"/>
                <a:cs typeface="+mn-cs"/>
              </a:rPr>
              <a:t>summary:</a:t>
            </a: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 </a:t>
            </a:r>
            <a:r>
              <a:rPr lang="en-US" dirty="0">
                <a:solidFill>
                  <a:srgbClr val="008000"/>
                </a:solidFill>
                <a:ea typeface="ＭＳ Ｐゴシック" charset="0"/>
                <a:cs typeface="+mn-cs"/>
              </a:rPr>
              <a:t>initial rate is slow </a:t>
            </a:r>
            <a:r>
              <a:rPr lang="en-US" dirty="0">
                <a:ea typeface="ＭＳ Ｐゴシック" charset="0"/>
                <a:cs typeface="+mn-cs"/>
              </a:rPr>
              <a:t>but ramps up exponentially fast</a:t>
            </a:r>
          </a:p>
        </p:txBody>
      </p:sp>
      <p:sp>
        <p:nvSpPr>
          <p:cNvPr id="103430" name="Line 6"/>
          <p:cNvSpPr>
            <a:spLocks noChangeShapeType="1"/>
          </p:cNvSpPr>
          <p:nvPr/>
        </p:nvSpPr>
        <p:spPr bwMode="auto">
          <a:xfrm>
            <a:off x="7140576" y="2309814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31" name="Text Box 8"/>
          <p:cNvSpPr txBox="1">
            <a:spLocks noChangeArrowheads="1"/>
          </p:cNvSpPr>
          <p:nvPr/>
        </p:nvSpPr>
        <p:spPr bwMode="auto">
          <a:xfrm>
            <a:off x="6737350" y="1171576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Host A</a:t>
            </a:r>
          </a:p>
        </p:txBody>
      </p:sp>
      <p:sp>
        <p:nvSpPr>
          <p:cNvPr id="103432" name="Text Box 9"/>
          <p:cNvSpPr txBox="1">
            <a:spLocks noChangeArrowheads="1"/>
          </p:cNvSpPr>
          <p:nvPr/>
        </p:nvSpPr>
        <p:spPr bwMode="auto">
          <a:xfrm rot="408567">
            <a:off x="8147050" y="2276475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one segment</a:t>
            </a:r>
            <a:endParaRPr lang="en-US" sz="1000">
              <a:latin typeface="Times New Roman" charset="0"/>
            </a:endParaRPr>
          </a:p>
        </p:txBody>
      </p:sp>
      <p:sp>
        <p:nvSpPr>
          <p:cNvPr id="103433" name="Text Box 10"/>
          <p:cNvSpPr txBox="1">
            <a:spLocks noChangeArrowheads="1"/>
          </p:cNvSpPr>
          <p:nvPr/>
        </p:nvSpPr>
        <p:spPr bwMode="auto">
          <a:xfrm rot="16200000">
            <a:off x="6698457" y="2513807"/>
            <a:ext cx="5286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RTT</a:t>
            </a:r>
            <a:endParaRPr lang="en-US" sz="1000">
              <a:latin typeface="Arial" charset="0"/>
            </a:endParaRPr>
          </a:p>
        </p:txBody>
      </p:sp>
      <p:sp>
        <p:nvSpPr>
          <p:cNvPr id="103434" name="Text Box 12"/>
          <p:cNvSpPr txBox="1">
            <a:spLocks noChangeArrowheads="1"/>
          </p:cNvSpPr>
          <p:nvPr/>
        </p:nvSpPr>
        <p:spPr bwMode="auto">
          <a:xfrm>
            <a:off x="9174163" y="1157288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Host B</a:t>
            </a:r>
          </a:p>
        </p:txBody>
      </p:sp>
      <p:sp>
        <p:nvSpPr>
          <p:cNvPr id="103435" name="Line 13"/>
          <p:cNvSpPr>
            <a:spLocks noChangeShapeType="1"/>
          </p:cNvSpPr>
          <p:nvPr/>
        </p:nvSpPr>
        <p:spPr bwMode="auto">
          <a:xfrm>
            <a:off x="7135813" y="21240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36" name="Line 14"/>
          <p:cNvSpPr>
            <a:spLocks noChangeShapeType="1"/>
          </p:cNvSpPr>
          <p:nvPr/>
        </p:nvSpPr>
        <p:spPr bwMode="auto">
          <a:xfrm>
            <a:off x="9650413" y="21621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37" name="Line 15"/>
          <p:cNvSpPr>
            <a:spLocks noChangeShapeType="1"/>
          </p:cNvSpPr>
          <p:nvPr/>
        </p:nvSpPr>
        <p:spPr bwMode="auto">
          <a:xfrm flipH="1" flipV="1">
            <a:off x="6954838" y="2273301"/>
            <a:ext cx="4762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38" name="Line 16"/>
          <p:cNvSpPr>
            <a:spLocks noChangeShapeType="1"/>
          </p:cNvSpPr>
          <p:nvPr/>
        </p:nvSpPr>
        <p:spPr bwMode="auto">
          <a:xfrm>
            <a:off x="6964363" y="2879725"/>
            <a:ext cx="4762" cy="223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39" name="Line 17"/>
          <p:cNvSpPr>
            <a:spLocks noChangeShapeType="1"/>
          </p:cNvSpPr>
          <p:nvPr/>
        </p:nvSpPr>
        <p:spPr bwMode="auto">
          <a:xfrm flipV="1">
            <a:off x="7116764" y="2714626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121871" name="Group 18"/>
          <p:cNvGrpSpPr>
            <a:grpSpLocks/>
          </p:cNvGrpSpPr>
          <p:nvPr/>
        </p:nvGrpSpPr>
        <p:grpSpPr bwMode="auto">
          <a:xfrm>
            <a:off x="9364663" y="5456238"/>
            <a:ext cx="615950" cy="366712"/>
            <a:chOff x="3317" y="3527"/>
            <a:chExt cx="388" cy="231"/>
          </a:xfrm>
        </p:grpSpPr>
        <p:sp>
          <p:nvSpPr>
            <p:cNvPr id="103494" name="Rectangle 19"/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95" name="Text Box 20"/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>
                  <a:latin typeface="Arial" charset="0"/>
                </a:rPr>
                <a:t>time</a:t>
              </a:r>
              <a:endParaRPr lang="en-US" sz="1000">
                <a:latin typeface="Arial" charset="0"/>
              </a:endParaRPr>
            </a:p>
          </p:txBody>
        </p:sp>
      </p:grpSp>
      <p:sp>
        <p:nvSpPr>
          <p:cNvPr id="103441" name="Line 21"/>
          <p:cNvSpPr>
            <a:spLocks noChangeShapeType="1"/>
          </p:cNvSpPr>
          <p:nvPr/>
        </p:nvSpPr>
        <p:spPr bwMode="auto">
          <a:xfrm>
            <a:off x="7145339" y="3090864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42" name="Line 22"/>
          <p:cNvSpPr>
            <a:spLocks noChangeShapeType="1"/>
          </p:cNvSpPr>
          <p:nvPr/>
        </p:nvSpPr>
        <p:spPr bwMode="auto">
          <a:xfrm>
            <a:off x="7140576" y="3176589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43" name="Line 23"/>
          <p:cNvSpPr>
            <a:spLocks noChangeShapeType="1"/>
          </p:cNvSpPr>
          <p:nvPr/>
        </p:nvSpPr>
        <p:spPr bwMode="auto">
          <a:xfrm flipV="1">
            <a:off x="7140575" y="3700463"/>
            <a:ext cx="2528888" cy="3619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44" name="Line 24"/>
          <p:cNvSpPr>
            <a:spLocks noChangeShapeType="1"/>
          </p:cNvSpPr>
          <p:nvPr/>
        </p:nvSpPr>
        <p:spPr bwMode="auto">
          <a:xfrm flipV="1">
            <a:off x="7113589" y="3960814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3445" name="Text Box 25"/>
          <p:cNvSpPr txBox="1">
            <a:spLocks noChangeArrowheads="1"/>
          </p:cNvSpPr>
          <p:nvPr/>
        </p:nvSpPr>
        <p:spPr bwMode="auto">
          <a:xfrm rot="408567">
            <a:off x="8145464" y="3062288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two segments</a:t>
            </a:r>
            <a:endParaRPr lang="en-US" sz="1000">
              <a:latin typeface="Times New Roman" charset="0"/>
            </a:endParaRPr>
          </a:p>
        </p:txBody>
      </p:sp>
      <p:sp>
        <p:nvSpPr>
          <p:cNvPr id="103446" name="Text Box 26"/>
          <p:cNvSpPr txBox="1">
            <a:spLocks noChangeArrowheads="1"/>
          </p:cNvSpPr>
          <p:nvPr/>
        </p:nvSpPr>
        <p:spPr bwMode="auto">
          <a:xfrm rot="408567">
            <a:off x="8237538" y="4076700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>
                <a:latin typeface="Arial" charset="0"/>
              </a:rPr>
              <a:t>four segments</a:t>
            </a:r>
            <a:endParaRPr lang="en-US" sz="1000">
              <a:latin typeface="Times New Roman" charset="0"/>
            </a:endParaRPr>
          </a:p>
        </p:txBody>
      </p:sp>
      <p:grpSp>
        <p:nvGrpSpPr>
          <p:cNvPr id="121878" name="Group 27"/>
          <p:cNvGrpSpPr>
            <a:grpSpLocks/>
          </p:cNvGrpSpPr>
          <p:nvPr/>
        </p:nvGrpSpPr>
        <p:grpSpPr bwMode="auto">
          <a:xfrm>
            <a:off x="7135813" y="4095751"/>
            <a:ext cx="2519362" cy="652463"/>
            <a:chOff x="3954" y="2214"/>
            <a:chExt cx="1587" cy="411"/>
          </a:xfrm>
        </p:grpSpPr>
        <p:sp>
          <p:nvSpPr>
            <p:cNvPr id="103490" name="Line 28"/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91" name="Line 29"/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92" name="Line 30"/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93" name="Line 31"/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1879" name="Group 32"/>
          <p:cNvGrpSpPr>
            <a:grpSpLocks/>
          </p:cNvGrpSpPr>
          <p:nvPr/>
        </p:nvGrpSpPr>
        <p:grpSpPr bwMode="auto">
          <a:xfrm flipV="1">
            <a:off x="7421563" y="4476750"/>
            <a:ext cx="2228850" cy="604838"/>
            <a:chOff x="3954" y="2214"/>
            <a:chExt cx="1587" cy="411"/>
          </a:xfrm>
        </p:grpSpPr>
        <p:sp>
          <p:nvSpPr>
            <p:cNvPr id="103486" name="Line 33"/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87" name="Line 34"/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88" name="Line 35"/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89" name="Line 36"/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pic>
        <p:nvPicPr>
          <p:cNvPr id="121880" name="Picture 3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927100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881" name="Group 43"/>
          <p:cNvGrpSpPr>
            <a:grpSpLocks/>
          </p:cNvGrpSpPr>
          <p:nvPr/>
        </p:nvGrpSpPr>
        <p:grpSpPr bwMode="auto">
          <a:xfrm>
            <a:off x="6697663" y="1495426"/>
            <a:ext cx="654050" cy="601663"/>
            <a:chOff x="-44" y="1473"/>
            <a:chExt cx="981" cy="1105"/>
          </a:xfrm>
        </p:grpSpPr>
        <p:pic>
          <p:nvPicPr>
            <p:cNvPr id="121915" name="Picture 4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916" name="Freeform 4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1882" name="Group 46"/>
          <p:cNvGrpSpPr>
            <a:grpSpLocks/>
          </p:cNvGrpSpPr>
          <p:nvPr/>
        </p:nvGrpSpPr>
        <p:grpSpPr bwMode="auto">
          <a:xfrm>
            <a:off x="9432925" y="1509714"/>
            <a:ext cx="382588" cy="547687"/>
            <a:chOff x="4140" y="429"/>
            <a:chExt cx="1425" cy="2396"/>
          </a:xfrm>
        </p:grpSpPr>
        <p:sp>
          <p:nvSpPr>
            <p:cNvPr id="121883" name="Freeform 4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4 w 354"/>
                <a:gd name="T1" fmla="*/ 0 h 2742"/>
                <a:gd name="T2" fmla="*/ 74 w 354"/>
                <a:gd name="T3" fmla="*/ 95 h 2742"/>
                <a:gd name="T4" fmla="*/ 73 w 354"/>
                <a:gd name="T5" fmla="*/ 734 h 2742"/>
                <a:gd name="T6" fmla="*/ 0 w 354"/>
                <a:gd name="T7" fmla="*/ 768 h 2742"/>
                <a:gd name="T8" fmla="*/ 1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3" name="Rectangle 48"/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21885" name="Freeform 4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5 w 211"/>
                <a:gd name="T3" fmla="*/ 61 h 2537"/>
                <a:gd name="T4" fmla="*/ 2 w 211"/>
                <a:gd name="T5" fmla="*/ 69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886" name="Freeform 5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6 h 226"/>
                <a:gd name="T4" fmla="*/ 70 w 328"/>
                <a:gd name="T5" fmla="*/ 64 h 226"/>
                <a:gd name="T6" fmla="*/ 0 w 328"/>
                <a:gd name="T7" fmla="*/ 2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6" name="Rectangle 51"/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21888" name="Group 5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482" name="AutoShape 53"/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3483" name="AutoShape 54"/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3458" name="Rectangle 55"/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21890" name="Group 5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480" name="AutoShape 57"/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3481" name="AutoShape 58"/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3460" name="Rectangle 59"/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61" name="Rectangle 60"/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21893" name="Group 6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478" name="AutoShape 62"/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3479" name="AutoShape 63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21894" name="Freeform 6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70 w 328"/>
                <a:gd name="T3" fmla="*/ 35 h 226"/>
                <a:gd name="T4" fmla="*/ 70 w 328"/>
                <a:gd name="T5" fmla="*/ 62 h 226"/>
                <a:gd name="T6" fmla="*/ 0 w 328"/>
                <a:gd name="T7" fmla="*/ 2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1895" name="Group 6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3476" name="AutoShape 66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3477" name="AutoShape 67"/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3465" name="Rectangle 68"/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21897" name="Freeform 6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2 w 296"/>
                <a:gd name="T3" fmla="*/ 39 h 256"/>
                <a:gd name="T4" fmla="*/ 62 w 296"/>
                <a:gd name="T5" fmla="*/ 71 h 256"/>
                <a:gd name="T6" fmla="*/ 0 w 296"/>
                <a:gd name="T7" fmla="*/ 2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898" name="Freeform 7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5 w 304"/>
                <a:gd name="T3" fmla="*/ 46 h 288"/>
                <a:gd name="T4" fmla="*/ 61 w 304"/>
                <a:gd name="T5" fmla="*/ 81 h 288"/>
                <a:gd name="T6" fmla="*/ 2 w 304"/>
                <a:gd name="T7" fmla="*/ 3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8" name="Oval 71"/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21900" name="Freeform 7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0 h 240"/>
                <a:gd name="T2" fmla="*/ 2 w 306"/>
                <a:gd name="T3" fmla="*/ 68 h 240"/>
                <a:gd name="T4" fmla="*/ 65 w 306"/>
                <a:gd name="T5" fmla="*/ 31 h 240"/>
                <a:gd name="T6" fmla="*/ 62 w 306"/>
                <a:gd name="T7" fmla="*/ 0 h 240"/>
                <a:gd name="T8" fmla="*/ 0 w 306"/>
                <a:gd name="T9" fmla="*/ 3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70" name="AutoShape 73"/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71" name="AutoShape 74"/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72" name="Oval 75"/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73" name="Oval 76"/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3474" name="Oval 77"/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3475" name="Rectangle 78"/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40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445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123D90BA-BFEB-46FC-BFE5-56B64B7FA225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pic>
        <p:nvPicPr>
          <p:cNvPr id="122883" name="Picture 12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6" y="1031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TCP: detecting, reacting to loss</a:t>
            </a:r>
          </a:p>
        </p:txBody>
      </p:sp>
      <p:sp>
        <p:nvSpPr>
          <p:cNvPr id="1044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1" y="1524000"/>
            <a:ext cx="8577263" cy="243840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3200" dirty="0">
                <a:solidFill>
                  <a:srgbClr val="008000"/>
                </a:solidFill>
                <a:ea typeface="ＭＳ Ｐゴシック" charset="0"/>
              </a:rPr>
              <a:t>loss indicated by timeout</a:t>
            </a:r>
            <a:r>
              <a:rPr lang="en-US" sz="3200" dirty="0">
                <a:ea typeface="ＭＳ Ｐゴシック" charset="0"/>
              </a:rPr>
              <a:t>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cwnd</a:t>
            </a: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 set to 1 MSS</a:t>
            </a:r>
            <a:r>
              <a:rPr lang="en-US" sz="2800" dirty="0">
                <a:ea typeface="ＭＳ Ｐゴシック" charset="0"/>
              </a:rPr>
              <a:t>;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window then grows exponentially </a:t>
            </a:r>
            <a:r>
              <a:rPr lang="en-US" sz="2800" dirty="0">
                <a:ea typeface="ＭＳ Ｐゴシック" charset="0"/>
              </a:rPr>
              <a:t>(as in slow start) to threshold, then grows linearly</a:t>
            </a:r>
          </a:p>
          <a:p>
            <a:pPr>
              <a:buFont typeface="Wingdings" charset="0"/>
              <a:buChar char="v"/>
              <a:defRPr/>
            </a:pPr>
            <a:r>
              <a:rPr lang="en-US" sz="3200" dirty="0">
                <a:solidFill>
                  <a:srgbClr val="008000"/>
                </a:solidFill>
                <a:ea typeface="ＭＳ Ｐゴシック" charset="0"/>
              </a:rPr>
              <a:t>loss indicated by 3 duplicate ACKs</a:t>
            </a:r>
            <a:r>
              <a:rPr lang="en-US" sz="3200" dirty="0">
                <a:ea typeface="ＭＳ Ｐゴシック" charset="0"/>
              </a:rPr>
              <a:t>: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TCP RENO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dup ACKs indicate network capable of  delivering some segments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cwnd</a:t>
            </a:r>
            <a:r>
              <a:rPr lang="en-US" sz="2800" dirty="0">
                <a:solidFill>
                  <a:srgbClr val="0000FF"/>
                </a:solidFill>
                <a:ea typeface="ＭＳ Ｐゴシック" charset="0"/>
              </a:rPr>
              <a:t> is cut in half window then grows linearly</a:t>
            </a:r>
          </a:p>
          <a:p>
            <a:pPr>
              <a:buFont typeface="Wingdings" charset="0"/>
              <a:buChar char="v"/>
              <a:defRPr/>
            </a:pPr>
            <a:r>
              <a:rPr lang="en-US" sz="3200" dirty="0">
                <a:ea typeface="ＭＳ Ｐゴシック" charset="0"/>
              </a:rPr>
              <a:t>TCP</a:t>
            </a:r>
            <a:r>
              <a:rPr lang="en-US" sz="3200" dirty="0">
                <a:solidFill>
                  <a:srgbClr val="0000FF"/>
                </a:solidFill>
                <a:ea typeface="ＭＳ Ｐゴシック" charset="0"/>
              </a:rPr>
              <a:t> Tahoe </a:t>
            </a:r>
            <a:r>
              <a:rPr lang="en-US" sz="3200" dirty="0">
                <a:ea typeface="ＭＳ Ｐゴシック" charset="0"/>
              </a:rPr>
              <a:t>always sets </a:t>
            </a:r>
            <a:r>
              <a:rPr lang="en-US" b="1" dirty="0" err="1">
                <a:latin typeface="Courier New" charset="0"/>
                <a:ea typeface="ＭＳ Ｐゴシック" charset="0"/>
                <a:cs typeface="+mn-cs"/>
              </a:rPr>
              <a:t>cwnd</a:t>
            </a:r>
            <a:r>
              <a:rPr lang="en-US" sz="3200" dirty="0">
                <a:ea typeface="ＭＳ Ｐゴシック" charset="0"/>
              </a:rPr>
              <a:t> to 1 (timeout or 3 duplicate </a:t>
            </a:r>
            <a:r>
              <a:rPr lang="en-US" sz="3200" dirty="0" err="1">
                <a:ea typeface="ＭＳ Ｐゴシック" charset="0"/>
              </a:rPr>
              <a:t>acks</a:t>
            </a:r>
            <a:r>
              <a:rPr lang="en-US" sz="3200" dirty="0">
                <a:ea typeface="ＭＳ Ｐゴシック" charset="0"/>
              </a:rPr>
              <a:t>)</a:t>
            </a:r>
          </a:p>
          <a:p>
            <a:pPr lvl="1">
              <a:buFont typeface="Wingdings" charset="0"/>
              <a:buChar char="§"/>
              <a:defRPr/>
            </a:pPr>
            <a:endParaRPr lang="en-US" sz="28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3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547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419CD4BA-5BB5-442E-8A00-9F1D3ACF4FC0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219200"/>
            <a:ext cx="2819400" cy="2514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FF0000"/>
                </a:solidFill>
                <a:ea typeface="ＭＳ Ｐゴシック" charset="0"/>
              </a:rPr>
              <a:t>Q:</a:t>
            </a:r>
            <a:r>
              <a:rPr lang="en-US" sz="2400" dirty="0">
                <a:ea typeface="ＭＳ Ｐゴシック" charset="0"/>
              </a:rPr>
              <a:t> when should the exponential increase switch to linear? 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FF0000"/>
                </a:solidFill>
                <a:ea typeface="ＭＳ Ｐゴシック" charset="0"/>
              </a:rPr>
              <a:t>A:</a:t>
            </a:r>
            <a:r>
              <a:rPr lang="en-US" sz="2400" dirty="0"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ea typeface="ＭＳ Ｐゴシック" charset="0"/>
              </a:rPr>
              <a:t>when 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cwnd</a:t>
            </a:r>
            <a:r>
              <a:rPr lang="en-US" sz="2400" dirty="0">
                <a:solidFill>
                  <a:srgbClr val="0000FF"/>
                </a:solidFill>
                <a:ea typeface="ＭＳ Ｐゴシック" charset="0"/>
              </a:rPr>
              <a:t> gets to 1/2 of its value before timeout.</a:t>
            </a:r>
          </a:p>
          <a:p>
            <a:pPr>
              <a:buFont typeface="Wingdings" charset="0"/>
              <a:buNone/>
              <a:defRPr/>
            </a:pPr>
            <a:endParaRPr lang="en-US" sz="2400" dirty="0">
              <a:ea typeface="ＭＳ Ｐゴシック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 </a:t>
            </a:r>
          </a:p>
        </p:txBody>
      </p:sp>
      <p:sp>
        <p:nvSpPr>
          <p:cNvPr id="10547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057400" y="3962400"/>
            <a:ext cx="3810000" cy="1905000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u="sng" dirty="0">
                <a:solidFill>
                  <a:srgbClr val="FF0000"/>
                </a:solidFill>
                <a:ea typeface="ＭＳ Ｐゴシック" charset="0"/>
                <a:cs typeface="+mn-cs"/>
              </a:rPr>
              <a:t>Implementation:</a:t>
            </a:r>
            <a:endParaRPr lang="en-US" dirty="0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variable </a:t>
            </a:r>
            <a:r>
              <a:rPr lang="en-US" sz="2400" b="1" dirty="0" err="1">
                <a:latin typeface="Courier New" charset="0"/>
                <a:ea typeface="ＭＳ Ｐゴシック" charset="0"/>
              </a:rPr>
              <a:t>ssthresh</a:t>
            </a:r>
            <a:r>
              <a:rPr lang="en-US" sz="2400" dirty="0">
                <a:latin typeface="Courier New" charset="0"/>
                <a:ea typeface="ＭＳ Ｐゴシック" charset="0"/>
              </a:rPr>
              <a:t>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0000FF"/>
                </a:solidFill>
                <a:ea typeface="ＭＳ Ｐゴシック" charset="0"/>
              </a:rPr>
              <a:t>on loss event, 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ssthresh</a:t>
            </a:r>
            <a:r>
              <a:rPr lang="en-US" sz="2400" dirty="0">
                <a:solidFill>
                  <a:srgbClr val="0000FF"/>
                </a:solidFill>
                <a:ea typeface="ＭＳ Ｐゴシック" charset="0"/>
              </a:rPr>
              <a:t> is set to 1/2 of </a:t>
            </a:r>
            <a:r>
              <a:rPr lang="en-US" sz="24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cwnd</a:t>
            </a:r>
            <a:r>
              <a:rPr lang="en-US" sz="2400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US" sz="2400" dirty="0">
                <a:ea typeface="ＭＳ Ｐゴシック" charset="0"/>
              </a:rPr>
              <a:t>just before loss event</a:t>
            </a:r>
          </a:p>
        </p:txBody>
      </p:sp>
      <p:pic>
        <p:nvPicPr>
          <p:cNvPr id="10547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1770064"/>
            <a:ext cx="51054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23910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6" y="9429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0" name="Rectangle 10"/>
          <p:cNvSpPr>
            <a:spLocks noGrp="1" noChangeArrowheads="1"/>
          </p:cNvSpPr>
          <p:nvPr>
            <p:ph type="title"/>
          </p:nvPr>
        </p:nvSpPr>
        <p:spPr>
          <a:xfrm>
            <a:off x="2057401" y="139700"/>
            <a:ext cx="8043863" cy="1143000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TCP: switching from slow start to CA</a:t>
            </a:r>
          </a:p>
        </p:txBody>
      </p:sp>
    </p:spTree>
    <p:extLst>
      <p:ext uri="{BB962C8B-B14F-4D97-AF65-F5344CB8AC3E}">
        <p14:creationId xmlns:p14="http://schemas.microsoft.com/office/powerpoint/2010/main" val="149193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64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281E8F38-FFE7-4E00-A1A8-74ECC6476A69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>
          <a:xfrm>
            <a:off x="1844675" y="187326"/>
            <a:ext cx="7772400" cy="860425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Summary: TCP Congestion Control</a:t>
            </a:r>
          </a:p>
        </p:txBody>
      </p:sp>
      <p:grpSp>
        <p:nvGrpSpPr>
          <p:cNvPr id="274672" name="Group 240"/>
          <p:cNvGrpSpPr>
            <a:grpSpLocks/>
          </p:cNvGrpSpPr>
          <p:nvPr/>
        </p:nvGrpSpPr>
        <p:grpSpPr bwMode="auto">
          <a:xfrm>
            <a:off x="4965700" y="2908300"/>
            <a:ext cx="2133600" cy="814388"/>
            <a:chOff x="2168" y="1727"/>
            <a:chExt cx="1344" cy="513"/>
          </a:xfrm>
        </p:grpSpPr>
        <p:grpSp>
          <p:nvGrpSpPr>
            <p:cNvPr id="125034" name="Group 171"/>
            <p:cNvGrpSpPr>
              <a:grpSpLocks/>
            </p:cNvGrpSpPr>
            <p:nvPr/>
          </p:nvGrpSpPr>
          <p:grpSpPr bwMode="auto"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106605" name="Text Box 172"/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timeout</a:t>
                </a:r>
              </a:p>
            </p:txBody>
          </p:sp>
          <p:sp>
            <p:nvSpPr>
              <p:cNvPr id="106606" name="Text Box 173"/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1000">
                    <a:latin typeface="Arial" charset="0"/>
                  </a:rPr>
                  <a:t>ssthresh = cwnd/2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1000">
                    <a:latin typeface="Arial" charset="0"/>
                  </a:rPr>
                  <a:t>cwnd = 1 MSS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</a:p>
              <a:p>
                <a:pPr eaLnBrk="1" hangingPunct="1">
                  <a:lnSpc>
                    <a:spcPct val="85000"/>
                  </a:lnSpc>
                  <a:defRPr/>
                </a:pPr>
                <a:r>
                  <a:rPr lang="en-US" sz="1000" i="1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1200">
                    <a:latin typeface="Arial" charset="0"/>
                  </a:rPr>
                  <a:t> </a:t>
                </a:r>
              </a:p>
            </p:txBody>
          </p:sp>
          <p:sp>
            <p:nvSpPr>
              <p:cNvPr id="106607" name="Line 174"/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06604" name="Line 175"/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74671" name="Group 239"/>
          <p:cNvGrpSpPr>
            <a:grpSpLocks/>
          </p:cNvGrpSpPr>
          <p:nvPr/>
        </p:nvGrpSpPr>
        <p:grpSpPr bwMode="auto">
          <a:xfrm>
            <a:off x="4995863" y="2432051"/>
            <a:ext cx="2133600" cy="398463"/>
            <a:chOff x="2187" y="1427"/>
            <a:chExt cx="1344" cy="251"/>
          </a:xfrm>
        </p:grpSpPr>
        <p:sp>
          <p:nvSpPr>
            <p:cNvPr id="106597" name="Line 176"/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598" name="Text Box 181"/>
            <p:cNvSpPr txBox="1">
              <a:spLocks noChangeArrowheads="1"/>
            </p:cNvSpPr>
            <p:nvPr/>
          </p:nvSpPr>
          <p:spPr bwMode="auto"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defRPr/>
              </a:pPr>
              <a:r>
                <a:rPr lang="en-US" sz="1000">
                  <a:latin typeface="Symbol" charset="0"/>
                </a:rPr>
                <a:t>L</a:t>
              </a:r>
              <a:endParaRPr lang="en-US" sz="1200">
                <a:latin typeface="Symbol" charset="0"/>
              </a:endParaRPr>
            </a:p>
          </p:txBody>
        </p:sp>
        <p:sp>
          <p:nvSpPr>
            <p:cNvPr id="106599" name="Line 182"/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25031" name="Group 183"/>
            <p:cNvGrpSpPr>
              <a:grpSpLocks/>
            </p:cNvGrpSpPr>
            <p:nvPr/>
          </p:nvGrpSpPr>
          <p:grpSpPr bwMode="auto"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106601" name="Text Box 184"/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cwnd &gt; ssthresh</a:t>
                </a:r>
              </a:p>
            </p:txBody>
          </p:sp>
          <p:sp>
            <p:nvSpPr>
              <p:cNvPr id="106602" name="Line 185"/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74674" name="Group 242"/>
          <p:cNvGrpSpPr>
            <a:grpSpLocks/>
          </p:cNvGrpSpPr>
          <p:nvPr/>
        </p:nvGrpSpPr>
        <p:grpSpPr bwMode="auto">
          <a:xfrm>
            <a:off x="7110414" y="1370014"/>
            <a:ext cx="2682875" cy="2365375"/>
            <a:chOff x="3519" y="786"/>
            <a:chExt cx="1690" cy="1490"/>
          </a:xfrm>
        </p:grpSpPr>
        <p:grpSp>
          <p:nvGrpSpPr>
            <p:cNvPr id="125014" name="Group 164"/>
            <p:cNvGrpSpPr>
              <a:grpSpLocks/>
            </p:cNvGrpSpPr>
            <p:nvPr/>
          </p:nvGrpSpPr>
          <p:grpSpPr bwMode="auto">
            <a:xfrm>
              <a:off x="3602" y="1330"/>
              <a:ext cx="817" cy="754"/>
              <a:chOff x="2293" y="2021"/>
              <a:chExt cx="817" cy="754"/>
            </a:xfrm>
          </p:grpSpPr>
          <p:sp>
            <p:nvSpPr>
              <p:cNvPr id="106595" name="Oval 165"/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96" name="Text Box 166"/>
              <p:cNvSpPr txBox="1">
                <a:spLocks noChangeArrowheads="1"/>
              </p:cNvSpPr>
              <p:nvPr/>
            </p:nvSpPr>
            <p:spPr bwMode="auto">
              <a:xfrm>
                <a:off x="2298" y="2191"/>
                <a:ext cx="812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congestion</a:t>
                </a:r>
              </a:p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avoidance </a:t>
                </a:r>
              </a:p>
              <a:p>
                <a:pPr eaLnBrk="1" hangingPunct="1">
                  <a:defRPr/>
                </a:pPr>
                <a:endParaRPr lang="en-US" sz="1800">
                  <a:latin typeface="Arial" charset="0"/>
                </a:endParaRPr>
              </a:p>
            </p:txBody>
          </p:sp>
        </p:grpSp>
        <p:grpSp>
          <p:nvGrpSpPr>
            <p:cNvPr id="125015" name="Group 190"/>
            <p:cNvGrpSpPr>
              <a:grpSpLocks/>
            </p:cNvGrpSpPr>
            <p:nvPr/>
          </p:nvGrpSpPr>
          <p:grpSpPr bwMode="auto">
            <a:xfrm>
              <a:off x="3519" y="786"/>
              <a:ext cx="1422" cy="546"/>
              <a:chOff x="3542" y="904"/>
              <a:chExt cx="1422" cy="546"/>
            </a:xfrm>
          </p:grpSpPr>
          <p:sp>
            <p:nvSpPr>
              <p:cNvPr id="106591" name="Text Box 191"/>
              <p:cNvSpPr txBox="1">
                <a:spLocks noChangeArrowheads="1"/>
              </p:cNvSpPr>
              <p:nvPr/>
            </p:nvSpPr>
            <p:spPr bwMode="auto">
              <a:xfrm>
                <a:off x="3542" y="1037"/>
                <a:ext cx="1422" cy="4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defRPr/>
                </a:pPr>
                <a:r>
                  <a:rPr lang="en-US" sz="1000">
                    <a:latin typeface="Arial" charset="0"/>
                  </a:rPr>
                  <a:t>cwnd = cwnd + MSS    (MSS/cwnd)</a:t>
                </a:r>
              </a:p>
              <a:p>
                <a:pPr eaLnBrk="1" hangingPunct="1">
                  <a:lnSpc>
                    <a:spcPct val="9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</a:p>
              <a:p>
                <a:pPr eaLnBrk="1" hangingPunct="1">
                  <a:lnSpc>
                    <a:spcPct val="90000"/>
                  </a:lnSpc>
                  <a:defRPr/>
                </a:pPr>
                <a:r>
                  <a:rPr lang="en-US" sz="1000" i="1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endParaRPr lang="en-US" sz="1200" i="1">
                  <a:latin typeface="Arial" charset="0"/>
                </a:endParaRPr>
              </a:p>
            </p:txBody>
          </p:sp>
          <p:sp>
            <p:nvSpPr>
              <p:cNvPr id="106592" name="Line 192"/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93" name="Text Box 193"/>
              <p:cNvSpPr txBox="1">
                <a:spLocks noChangeArrowheads="1"/>
              </p:cNvSpPr>
              <p:nvPr/>
            </p:nvSpPr>
            <p:spPr bwMode="auto">
              <a:xfrm>
                <a:off x="4014" y="923"/>
                <a:ext cx="44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new ACK</a:t>
                </a:r>
              </a:p>
            </p:txBody>
          </p:sp>
          <p:sp>
            <p:nvSpPr>
              <p:cNvPr id="106594" name="Text Box 194"/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2400" dirty="0">
                    <a:latin typeface="Times New Roman" charset="0"/>
                  </a:rPr>
                  <a:t>.</a:t>
                </a:r>
              </a:p>
            </p:txBody>
          </p:sp>
        </p:grpSp>
        <p:sp>
          <p:nvSpPr>
            <p:cNvPr id="125016" name="Freeform 195"/>
            <p:cNvSpPr>
              <a:spLocks/>
            </p:cNvSpPr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161 w 376"/>
                <a:gd name="T1" fmla="*/ 306 h 452"/>
                <a:gd name="T2" fmla="*/ 35 w 376"/>
                <a:gd name="T3" fmla="*/ 269 h 452"/>
                <a:gd name="T4" fmla="*/ 89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5017" name="Group 196"/>
            <p:cNvGrpSpPr>
              <a:grpSpLocks/>
            </p:cNvGrpSpPr>
            <p:nvPr/>
          </p:nvGrpSpPr>
          <p:grpSpPr bwMode="auto">
            <a:xfrm>
              <a:off x="4509" y="1909"/>
              <a:ext cx="700" cy="367"/>
              <a:chOff x="4274" y="2922"/>
              <a:chExt cx="700" cy="367"/>
            </a:xfrm>
          </p:grpSpPr>
          <p:sp>
            <p:nvSpPr>
              <p:cNvPr id="106588" name="Text Box 197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00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dupACKcount++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endParaRPr lang="en-US" sz="1200">
                  <a:latin typeface="Arial" charset="0"/>
                </a:endParaRPr>
              </a:p>
            </p:txBody>
          </p:sp>
          <p:sp>
            <p:nvSpPr>
              <p:cNvPr id="106589" name="Line 198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90" name="Text Box 199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duplicate ACK</a:t>
                </a:r>
              </a:p>
            </p:txBody>
          </p:sp>
        </p:grpSp>
        <p:sp>
          <p:nvSpPr>
            <p:cNvPr id="125018" name="Freeform 200"/>
            <p:cNvSpPr>
              <a:spLocks/>
            </p:cNvSpPr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161 w 376"/>
                <a:gd name="T1" fmla="*/ 306 h 452"/>
                <a:gd name="T2" fmla="*/ 35 w 376"/>
                <a:gd name="T3" fmla="*/ 269 h 452"/>
                <a:gd name="T4" fmla="*/ 89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4677" name="Group 245"/>
          <p:cNvGrpSpPr>
            <a:grpSpLocks/>
          </p:cNvGrpSpPr>
          <p:nvPr/>
        </p:nvGrpSpPr>
        <p:grpSpPr bwMode="auto">
          <a:xfrm>
            <a:off x="5553076" y="4821239"/>
            <a:ext cx="3279775" cy="1717675"/>
            <a:chOff x="2538" y="2960"/>
            <a:chExt cx="2066" cy="1082"/>
          </a:xfrm>
        </p:grpSpPr>
        <p:grpSp>
          <p:nvGrpSpPr>
            <p:cNvPr id="125005" name="Group 167"/>
            <p:cNvGrpSpPr>
              <a:grpSpLocks/>
            </p:cNvGrpSpPr>
            <p:nvPr/>
          </p:nvGrpSpPr>
          <p:grpSpPr bwMode="auto">
            <a:xfrm>
              <a:off x="2538" y="2960"/>
              <a:ext cx="800" cy="754"/>
              <a:chOff x="2454" y="3045"/>
              <a:chExt cx="800" cy="754"/>
            </a:xfrm>
          </p:grpSpPr>
          <p:sp>
            <p:nvSpPr>
              <p:cNvPr id="106580" name="Oval 168"/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81" name="Text Box 169"/>
              <p:cNvSpPr txBox="1">
                <a:spLocks noChangeArrowheads="1"/>
              </p:cNvSpPr>
              <p:nvPr/>
            </p:nvSpPr>
            <p:spPr bwMode="auto">
              <a:xfrm>
                <a:off x="2796" y="3212"/>
                <a:ext cx="15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 </a:t>
                </a:r>
              </a:p>
              <a:p>
                <a:pPr eaLnBrk="1" hangingPunct="1">
                  <a:defRPr/>
                </a:pPr>
                <a:endParaRPr lang="en-US" sz="1800">
                  <a:latin typeface="Arial" charset="0"/>
                </a:endParaRPr>
              </a:p>
            </p:txBody>
          </p:sp>
          <p:sp>
            <p:nvSpPr>
              <p:cNvPr id="106582" name="Text Box 170"/>
              <p:cNvSpPr txBox="1">
                <a:spLocks noChangeArrowheads="1"/>
              </p:cNvSpPr>
              <p:nvPr/>
            </p:nvSpPr>
            <p:spPr bwMode="auto">
              <a:xfrm>
                <a:off x="2510" y="3204"/>
                <a:ext cx="708" cy="5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fast</a:t>
                </a:r>
              </a:p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recovery </a:t>
                </a:r>
              </a:p>
              <a:p>
                <a:pPr eaLnBrk="1" hangingPunct="1">
                  <a:defRPr/>
                </a:pPr>
                <a:endParaRPr lang="en-US" sz="1800">
                  <a:latin typeface="Arial" charset="0"/>
                </a:endParaRPr>
              </a:p>
            </p:txBody>
          </p:sp>
        </p:grpSp>
        <p:sp>
          <p:nvSpPr>
            <p:cNvPr id="125006" name="Freeform 220"/>
            <p:cNvSpPr>
              <a:spLocks/>
            </p:cNvSpPr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5007" name="Group 221"/>
            <p:cNvGrpSpPr>
              <a:grpSpLocks/>
            </p:cNvGrpSpPr>
            <p:nvPr/>
          </p:nvGrpSpPr>
          <p:grpSpPr bwMode="auto">
            <a:xfrm>
              <a:off x="3191" y="3592"/>
              <a:ext cx="1413" cy="450"/>
              <a:chOff x="3542" y="3496"/>
              <a:chExt cx="1413" cy="450"/>
            </a:xfrm>
          </p:grpSpPr>
          <p:sp>
            <p:nvSpPr>
              <p:cNvPr id="106577" name="Text Box 222"/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09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>
                    <a:latin typeface="Arial" charset="0"/>
                  </a:rPr>
                  <a:t>cwnd = cwnd + MSS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 i="1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algn="l" eaLnBrk="1" hangingPunct="1">
                  <a:lnSpc>
                    <a:spcPct val="80000"/>
                  </a:lnSpc>
                  <a:defRPr/>
                </a:pPr>
                <a:endParaRPr lang="en-US" sz="1200" i="1">
                  <a:solidFill>
                    <a:schemeClr val="bg2"/>
                  </a:solidFill>
                  <a:latin typeface="Arial" charset="0"/>
                </a:endParaRPr>
              </a:p>
            </p:txBody>
          </p:sp>
          <p:sp>
            <p:nvSpPr>
              <p:cNvPr id="106578" name="Line 223"/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79" name="Text Box 224"/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duplicate ACK</a:t>
                </a:r>
              </a:p>
            </p:txBody>
          </p:sp>
        </p:grpSp>
      </p:grpSp>
      <p:grpSp>
        <p:nvGrpSpPr>
          <p:cNvPr id="274678" name="Group 246"/>
          <p:cNvGrpSpPr>
            <a:grpSpLocks/>
          </p:cNvGrpSpPr>
          <p:nvPr/>
        </p:nvGrpSpPr>
        <p:grpSpPr bwMode="auto">
          <a:xfrm>
            <a:off x="2436813" y="3502025"/>
            <a:ext cx="3756026" cy="1931988"/>
            <a:chOff x="575" y="2129"/>
            <a:chExt cx="2366" cy="1217"/>
          </a:xfrm>
        </p:grpSpPr>
        <p:grpSp>
          <p:nvGrpSpPr>
            <p:cNvPr id="124995" name="Group 212"/>
            <p:cNvGrpSpPr>
              <a:grpSpLocks/>
            </p:cNvGrpSpPr>
            <p:nvPr/>
          </p:nvGrpSpPr>
          <p:grpSpPr bwMode="auto">
            <a:xfrm>
              <a:off x="575" y="2818"/>
              <a:ext cx="1105" cy="528"/>
              <a:chOff x="434" y="2768"/>
              <a:chExt cx="1105" cy="528"/>
            </a:xfrm>
          </p:grpSpPr>
          <p:sp>
            <p:nvSpPr>
              <p:cNvPr id="106571" name="Text Box 213"/>
              <p:cNvSpPr txBox="1">
                <a:spLocks noChangeArrowheads="1"/>
              </p:cNvSpPr>
              <p:nvPr/>
            </p:nvSpPr>
            <p:spPr bwMode="auto">
              <a:xfrm>
                <a:off x="434" y="2912"/>
                <a:ext cx="110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ssthresh</a:t>
                </a:r>
                <a:r>
                  <a:rPr lang="en-US" sz="1000" dirty="0">
                    <a:latin typeface="Arial" charset="0"/>
                  </a:rPr>
                  <a:t>= </a:t>
                </a: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/2</a:t>
                </a: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 = </a:t>
                </a:r>
                <a:r>
                  <a:rPr lang="en-US" sz="1000" dirty="0" err="1">
                    <a:latin typeface="Arial" charset="0"/>
                  </a:rPr>
                  <a:t>ssthresh</a:t>
                </a:r>
                <a:r>
                  <a:rPr lang="en-US" sz="1000" dirty="0">
                    <a:latin typeface="Arial" charset="0"/>
                  </a:rPr>
                  <a:t> + 3 MSS</a:t>
                </a: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r>
                  <a:rPr lang="en-US" sz="1000" i="1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endParaRPr lang="en-US" sz="1200" dirty="0">
                  <a:solidFill>
                    <a:schemeClr val="bg2"/>
                  </a:solidFill>
                  <a:latin typeface="Arial" charset="0"/>
                </a:endParaRPr>
              </a:p>
            </p:txBody>
          </p:sp>
          <p:sp>
            <p:nvSpPr>
              <p:cNvPr id="106572" name="Line 214"/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73" name="Text Box 215"/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78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dupACKcount == 3</a:t>
                </a:r>
              </a:p>
            </p:txBody>
          </p:sp>
        </p:grpSp>
        <p:grpSp>
          <p:nvGrpSpPr>
            <p:cNvPr id="124996" name="Group 216"/>
            <p:cNvGrpSpPr>
              <a:grpSpLocks/>
            </p:cNvGrpSpPr>
            <p:nvPr/>
          </p:nvGrpSpPr>
          <p:grpSpPr bwMode="auto">
            <a:xfrm>
              <a:off x="1813" y="2454"/>
              <a:ext cx="1128" cy="521"/>
              <a:chOff x="419" y="2872"/>
              <a:chExt cx="1128" cy="521"/>
            </a:xfrm>
          </p:grpSpPr>
          <p:sp>
            <p:nvSpPr>
              <p:cNvPr id="106568" name="Text Box 217"/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timeout</a:t>
                </a:r>
              </a:p>
            </p:txBody>
          </p:sp>
          <p:sp>
            <p:nvSpPr>
              <p:cNvPr id="106569" name="Text Box 218"/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2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ssthresh</a:t>
                </a:r>
                <a:r>
                  <a:rPr lang="en-US" sz="1000" dirty="0">
                    <a:latin typeface="Arial" charset="0"/>
                  </a:rPr>
                  <a:t> = </a:t>
                </a: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/2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 = 1 MSS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dupACKcount</a:t>
                </a:r>
                <a:r>
                  <a:rPr lang="en-US" sz="1000" dirty="0">
                    <a:latin typeface="Arial" charset="0"/>
                  </a:rPr>
                  <a:t> = 0</a:t>
                </a:r>
              </a:p>
              <a:p>
                <a:pPr algn="l" eaLnBrk="1" hangingPunct="1">
                  <a:lnSpc>
                    <a:spcPct val="85000"/>
                  </a:lnSpc>
                  <a:defRPr/>
                </a:pPr>
                <a:r>
                  <a:rPr lang="en-US" sz="1000" i="1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1200" dirty="0">
                    <a:latin typeface="Arial" charset="0"/>
                  </a:rPr>
                  <a:t> </a:t>
                </a:r>
              </a:p>
            </p:txBody>
          </p:sp>
          <p:sp>
            <p:nvSpPr>
              <p:cNvPr id="106570" name="Line 219"/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24997" name="Freeform 225"/>
            <p:cNvSpPr>
              <a:spLocks/>
            </p:cNvSpPr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98" name="Freeform 226"/>
            <p:cNvSpPr>
              <a:spLocks/>
            </p:cNvSpPr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4676" name="Group 244"/>
          <p:cNvGrpSpPr>
            <a:grpSpLocks/>
          </p:cNvGrpSpPr>
          <p:nvPr/>
        </p:nvGrpSpPr>
        <p:grpSpPr bwMode="auto">
          <a:xfrm>
            <a:off x="6875463" y="3494089"/>
            <a:ext cx="2971800" cy="1927225"/>
            <a:chOff x="3371" y="2124"/>
            <a:chExt cx="1872" cy="1214"/>
          </a:xfrm>
        </p:grpSpPr>
        <p:grpSp>
          <p:nvGrpSpPr>
            <p:cNvPr id="124990" name="Group 201"/>
            <p:cNvGrpSpPr>
              <a:grpSpLocks/>
            </p:cNvGrpSpPr>
            <p:nvPr/>
          </p:nvGrpSpPr>
          <p:grpSpPr bwMode="auto">
            <a:xfrm>
              <a:off x="4120" y="2796"/>
              <a:ext cx="1123" cy="542"/>
              <a:chOff x="4142" y="2802"/>
              <a:chExt cx="1123" cy="542"/>
            </a:xfrm>
          </p:grpSpPr>
          <p:sp>
            <p:nvSpPr>
              <p:cNvPr id="106561" name="Text Box 202"/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123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lnSpc>
                    <a:spcPct val="80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ssthresh</a:t>
                </a:r>
                <a:r>
                  <a:rPr lang="en-US" sz="1000" dirty="0">
                    <a:latin typeface="Arial" charset="0"/>
                  </a:rPr>
                  <a:t>= </a:t>
                </a: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/2</a:t>
                </a:r>
              </a:p>
              <a:p>
                <a:pPr algn="l" eaLnBrk="1" hangingPunct="1">
                  <a:lnSpc>
                    <a:spcPct val="80000"/>
                  </a:lnSpc>
                  <a:defRPr/>
                </a:pPr>
                <a:r>
                  <a:rPr lang="en-US" sz="1000" dirty="0" err="1">
                    <a:latin typeface="Arial" charset="0"/>
                  </a:rPr>
                  <a:t>cwnd</a:t>
                </a:r>
                <a:r>
                  <a:rPr lang="en-US" sz="1000" dirty="0">
                    <a:latin typeface="Arial" charset="0"/>
                  </a:rPr>
                  <a:t> = </a:t>
                </a:r>
                <a:r>
                  <a:rPr lang="en-US" sz="1000" dirty="0" err="1">
                    <a:latin typeface="Arial" charset="0"/>
                  </a:rPr>
                  <a:t>ssthresh</a:t>
                </a:r>
                <a:r>
                  <a:rPr lang="en-US" sz="1000" dirty="0">
                    <a:latin typeface="Arial" charset="0"/>
                  </a:rPr>
                  <a:t> + 3 MSS</a:t>
                </a:r>
              </a:p>
              <a:p>
                <a:pPr algn="l" eaLnBrk="1" hangingPunct="1">
                  <a:lnSpc>
                    <a:spcPct val="80000"/>
                  </a:lnSpc>
                  <a:defRPr/>
                </a:pPr>
                <a:r>
                  <a:rPr lang="en-US" sz="1000" i="1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</a:p>
              <a:p>
                <a:pPr algn="l" eaLnBrk="1" hangingPunct="1">
                  <a:lnSpc>
                    <a:spcPct val="80000"/>
                  </a:lnSpc>
                  <a:defRPr/>
                </a:pPr>
                <a:endParaRPr lang="en-US" sz="1200" i="1" dirty="0">
                  <a:latin typeface="Arial" charset="0"/>
                </a:endParaRPr>
              </a:p>
            </p:txBody>
          </p:sp>
          <p:sp>
            <p:nvSpPr>
              <p:cNvPr id="106562" name="Line 203"/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63" name="Text Box 204"/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78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dupACKcount == 3</a:t>
                </a:r>
              </a:p>
            </p:txBody>
          </p:sp>
        </p:grpSp>
        <p:sp>
          <p:nvSpPr>
            <p:cNvPr id="124991" name="Freeform 227"/>
            <p:cNvSpPr>
              <a:spLocks/>
            </p:cNvSpPr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4675" name="Group 243"/>
          <p:cNvGrpSpPr>
            <a:grpSpLocks/>
          </p:cNvGrpSpPr>
          <p:nvPr/>
        </p:nvGrpSpPr>
        <p:grpSpPr bwMode="auto">
          <a:xfrm>
            <a:off x="6710363" y="3519488"/>
            <a:ext cx="1206500" cy="1668462"/>
            <a:chOff x="3267" y="2140"/>
            <a:chExt cx="760" cy="1051"/>
          </a:xfrm>
        </p:grpSpPr>
        <p:sp>
          <p:nvSpPr>
            <p:cNvPr id="124984" name="Freeform 228"/>
            <p:cNvSpPr>
              <a:spLocks/>
            </p:cNvSpPr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85" name="Group 229"/>
            <p:cNvGrpSpPr>
              <a:grpSpLocks/>
            </p:cNvGrpSpPr>
            <p:nvPr/>
          </p:nvGrpSpPr>
          <p:grpSpPr bwMode="auto">
            <a:xfrm>
              <a:off x="3267" y="2649"/>
              <a:ext cx="741" cy="525"/>
              <a:chOff x="1059" y="3496"/>
              <a:chExt cx="741" cy="525"/>
            </a:xfrm>
          </p:grpSpPr>
          <p:sp>
            <p:nvSpPr>
              <p:cNvPr id="106555" name="Text Box 230"/>
              <p:cNvSpPr txBox="1">
                <a:spLocks noChangeArrowheads="1"/>
              </p:cNvSpPr>
              <p:nvPr/>
            </p:nvSpPr>
            <p:spPr bwMode="auto">
              <a:xfrm>
                <a:off x="1059" y="3640"/>
                <a:ext cx="741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cwnd = ssthresh</a:t>
                </a: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endParaRPr lang="en-US" sz="1000">
                  <a:latin typeface="Arial" charset="0"/>
                </a:endParaRPr>
              </a:p>
              <a:p>
                <a:pPr algn="r" eaLnBrk="1" hangingPunct="1">
                  <a:lnSpc>
                    <a:spcPct val="80000"/>
                  </a:lnSpc>
                  <a:defRPr/>
                </a:pPr>
                <a:endParaRPr lang="en-US" sz="1200">
                  <a:latin typeface="Arial" charset="0"/>
                </a:endParaRPr>
              </a:p>
            </p:txBody>
          </p:sp>
          <p:grpSp>
            <p:nvGrpSpPr>
              <p:cNvPr id="124987" name="Group 231"/>
              <p:cNvGrpSpPr>
                <a:grpSpLocks/>
              </p:cNvGrpSpPr>
              <p:nvPr/>
            </p:nvGrpSpPr>
            <p:grpSpPr bwMode="auto">
              <a:xfrm>
                <a:off x="1190" y="3496"/>
                <a:ext cx="582" cy="154"/>
                <a:chOff x="1190" y="3496"/>
                <a:chExt cx="582" cy="154"/>
              </a:xfrm>
            </p:grpSpPr>
            <p:sp>
              <p:nvSpPr>
                <p:cNvPr id="106557" name="Line 232"/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10655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310" y="3496"/>
                  <a:ext cx="462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r" eaLnBrk="1" hangingPunct="1">
                    <a:defRPr/>
                  </a:pPr>
                  <a:r>
                    <a:rPr lang="en-US" sz="1000">
                      <a:latin typeface="Arial" charset="0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274673" name="Group 241"/>
          <p:cNvGrpSpPr>
            <a:grpSpLocks/>
          </p:cNvGrpSpPr>
          <p:nvPr/>
        </p:nvGrpSpPr>
        <p:grpSpPr bwMode="auto">
          <a:xfrm>
            <a:off x="2344738" y="1485901"/>
            <a:ext cx="4886324" cy="2659063"/>
            <a:chOff x="517" y="859"/>
            <a:chExt cx="3078" cy="1675"/>
          </a:xfrm>
        </p:grpSpPr>
        <p:grpSp>
          <p:nvGrpSpPr>
            <p:cNvPr id="124961" name="Group 161"/>
            <p:cNvGrpSpPr>
              <a:grpSpLocks/>
            </p:cNvGrpSpPr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106551" name="Oval 162"/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52" name="Text Box 163"/>
              <p:cNvSpPr txBox="1">
                <a:spLocks noChangeArrowheads="1"/>
              </p:cNvSpPr>
              <p:nvPr/>
            </p:nvSpPr>
            <p:spPr bwMode="auto">
              <a:xfrm>
                <a:off x="1179" y="1946"/>
                <a:ext cx="44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slow </a:t>
                </a:r>
              </a:p>
              <a:p>
                <a:pPr eaLnBrk="1" hangingPunct="1">
                  <a:defRPr/>
                </a:pPr>
                <a:r>
                  <a:rPr lang="en-US" sz="1800">
                    <a:latin typeface="Arial" charset="0"/>
                  </a:rPr>
                  <a:t>start</a:t>
                </a:r>
              </a:p>
            </p:txBody>
          </p:sp>
        </p:grpSp>
        <p:grpSp>
          <p:nvGrpSpPr>
            <p:cNvPr id="124962" name="Group 177"/>
            <p:cNvGrpSpPr>
              <a:grpSpLocks/>
            </p:cNvGrpSpPr>
            <p:nvPr/>
          </p:nvGrpSpPr>
          <p:grpSpPr bwMode="auto">
            <a:xfrm>
              <a:off x="530" y="2026"/>
              <a:ext cx="1118" cy="508"/>
              <a:chOff x="418" y="2713"/>
              <a:chExt cx="1118" cy="508"/>
            </a:xfrm>
          </p:grpSpPr>
          <p:sp>
            <p:nvSpPr>
              <p:cNvPr id="106548" name="Text Box 178"/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timeout</a:t>
                </a:r>
              </a:p>
            </p:txBody>
          </p:sp>
          <p:sp>
            <p:nvSpPr>
              <p:cNvPr id="106549" name="Text Box 179"/>
              <p:cNvSpPr txBox="1">
                <a:spLocks noChangeArrowheads="1"/>
              </p:cNvSpPr>
              <p:nvPr/>
            </p:nvSpPr>
            <p:spPr bwMode="auto">
              <a:xfrm>
                <a:off x="418" y="2840"/>
                <a:ext cx="1118" cy="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ssthresh = cwnd/2 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cwnd = 1 MSS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 i="1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1200">
                    <a:latin typeface="Arial" charset="0"/>
                  </a:rPr>
                  <a:t> </a:t>
                </a:r>
              </a:p>
            </p:txBody>
          </p:sp>
          <p:sp>
            <p:nvSpPr>
              <p:cNvPr id="106550" name="Line 180"/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24963" name="Group 186"/>
            <p:cNvGrpSpPr>
              <a:grpSpLocks/>
            </p:cNvGrpSpPr>
            <p:nvPr/>
          </p:nvGrpSpPr>
          <p:grpSpPr bwMode="auto">
            <a:xfrm>
              <a:off x="2173" y="960"/>
              <a:ext cx="1422" cy="532"/>
              <a:chOff x="2683" y="798"/>
              <a:chExt cx="1422" cy="532"/>
            </a:xfrm>
          </p:grpSpPr>
          <p:sp>
            <p:nvSpPr>
              <p:cNvPr id="106545" name="Text Box 187"/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22" cy="4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lnSpc>
                    <a:spcPct val="90000"/>
                  </a:lnSpc>
                  <a:defRPr/>
                </a:pPr>
                <a:r>
                  <a:rPr lang="en-US" sz="1000">
                    <a:latin typeface="Arial" charset="0"/>
                  </a:rPr>
                  <a:t>cwnd = cwnd+MSS</a:t>
                </a:r>
              </a:p>
              <a:p>
                <a:pPr algn="l" eaLnBrk="1" hangingPunct="1">
                  <a:lnSpc>
                    <a:spcPct val="9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</a:p>
              <a:p>
                <a:pPr algn="l" eaLnBrk="1" hangingPunct="1">
                  <a:lnSpc>
                    <a:spcPct val="90000"/>
                  </a:lnSpc>
                  <a:defRPr/>
                </a:pPr>
                <a:r>
                  <a:rPr lang="en-US" sz="1000" i="1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algn="l" eaLnBrk="1" hangingPunct="1">
                  <a:lnSpc>
                    <a:spcPct val="80000"/>
                  </a:lnSpc>
                  <a:defRPr/>
                </a:pPr>
                <a:endParaRPr lang="en-US" sz="1200">
                  <a:latin typeface="Arial" charset="0"/>
                </a:endParaRPr>
              </a:p>
            </p:txBody>
          </p:sp>
          <p:sp>
            <p:nvSpPr>
              <p:cNvPr id="106546" name="Line 188"/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47" name="Text Box 189"/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48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new ACK</a:t>
                </a:r>
              </a:p>
            </p:txBody>
          </p:sp>
        </p:grpSp>
        <p:sp>
          <p:nvSpPr>
            <p:cNvPr id="124964" name="Freeform 205"/>
            <p:cNvSpPr>
              <a:spLocks/>
            </p:cNvSpPr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965" name="Freeform 206"/>
            <p:cNvSpPr>
              <a:spLocks/>
            </p:cNvSpPr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66" name="Group 207"/>
            <p:cNvGrpSpPr>
              <a:grpSpLocks/>
            </p:cNvGrpSpPr>
            <p:nvPr/>
          </p:nvGrpSpPr>
          <p:grpSpPr bwMode="auto">
            <a:xfrm>
              <a:off x="1465" y="859"/>
              <a:ext cx="700" cy="367"/>
              <a:chOff x="4274" y="2922"/>
              <a:chExt cx="700" cy="367"/>
            </a:xfrm>
          </p:grpSpPr>
          <p:sp>
            <p:nvSpPr>
              <p:cNvPr id="106542" name="Text Box 208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00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dupACKcount++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endParaRPr lang="en-US" sz="1200">
                  <a:latin typeface="Arial" charset="0"/>
                </a:endParaRPr>
              </a:p>
            </p:txBody>
          </p:sp>
          <p:sp>
            <p:nvSpPr>
              <p:cNvPr id="106543" name="Line 209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6544" name="Text Box 210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Arial" charset="0"/>
                  </a:rPr>
                  <a:t>duplicate ACK</a:t>
                </a:r>
              </a:p>
            </p:txBody>
          </p:sp>
        </p:grpSp>
        <p:sp>
          <p:nvSpPr>
            <p:cNvPr id="124967" name="Freeform 211"/>
            <p:cNvSpPr>
              <a:spLocks/>
            </p:cNvSpPr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7" name="Line 234"/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24969" name="Group 235"/>
            <p:cNvGrpSpPr>
              <a:grpSpLocks/>
            </p:cNvGrpSpPr>
            <p:nvPr/>
          </p:nvGrpSpPr>
          <p:grpSpPr bwMode="auto">
            <a:xfrm>
              <a:off x="517" y="1255"/>
              <a:ext cx="741" cy="416"/>
              <a:chOff x="539" y="936"/>
              <a:chExt cx="741" cy="416"/>
            </a:xfrm>
          </p:grpSpPr>
          <p:sp>
            <p:nvSpPr>
              <p:cNvPr id="106539" name="Text Box 236"/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17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sz="1000">
                    <a:latin typeface="Symbol" charset="0"/>
                  </a:rPr>
                  <a:t>L</a:t>
                </a:r>
              </a:p>
            </p:txBody>
          </p:sp>
          <p:sp>
            <p:nvSpPr>
              <p:cNvPr id="106540" name="Text Box 237"/>
              <p:cNvSpPr txBox="1">
                <a:spLocks noChangeArrowheads="1"/>
              </p:cNvSpPr>
              <p:nvPr/>
            </p:nvSpPr>
            <p:spPr bwMode="auto">
              <a:xfrm>
                <a:off x="539" y="1063"/>
                <a:ext cx="741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cwnd = 1 MSS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ssthresh = 64 KB</a:t>
                </a:r>
              </a:p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1000">
                    <a:latin typeface="Arial" charset="0"/>
                  </a:rPr>
                  <a:t>dupACKcount = 0</a:t>
                </a:r>
                <a:endParaRPr lang="en-US" sz="1200">
                  <a:latin typeface="Arial" charset="0"/>
                </a:endParaRPr>
              </a:p>
            </p:txBody>
          </p:sp>
          <p:sp>
            <p:nvSpPr>
              <p:cNvPr id="106541" name="Line 238"/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74687" name="Group 255"/>
          <p:cNvGrpSpPr>
            <a:grpSpLocks/>
          </p:cNvGrpSpPr>
          <p:nvPr/>
        </p:nvGrpSpPr>
        <p:grpSpPr bwMode="auto">
          <a:xfrm>
            <a:off x="2328863" y="2922588"/>
            <a:ext cx="3167062" cy="1312862"/>
            <a:chOff x="509" y="1766"/>
            <a:chExt cx="1995" cy="827"/>
          </a:xfrm>
        </p:grpSpPr>
        <p:pic>
          <p:nvPicPr>
            <p:cNvPr id="106527" name="Picture 2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06528" name="Picture 25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06529" name="Picture 25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74729" name="Group 297"/>
          <p:cNvGrpSpPr>
            <a:grpSpLocks/>
          </p:cNvGrpSpPr>
          <p:nvPr/>
        </p:nvGrpSpPr>
        <p:grpSpPr bwMode="auto">
          <a:xfrm>
            <a:off x="5026026" y="1149351"/>
            <a:ext cx="4333875" cy="3243263"/>
            <a:chOff x="2205" y="641"/>
            <a:chExt cx="2730" cy="2043"/>
          </a:xfrm>
        </p:grpSpPr>
        <p:grpSp>
          <p:nvGrpSpPr>
            <p:cNvPr id="124943" name="Group 282"/>
            <p:cNvGrpSpPr>
              <a:grpSpLocks/>
            </p:cNvGrpSpPr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124954" name="Group 283"/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25" name="Picture 28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06526" name="Rectangle 28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6524" name="Text Box 28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ACK!</a:t>
                </a:r>
              </a:p>
            </p:txBody>
          </p:sp>
        </p:grpSp>
        <p:grpSp>
          <p:nvGrpSpPr>
            <p:cNvPr id="124944" name="Group 287"/>
            <p:cNvGrpSpPr>
              <a:grpSpLocks/>
            </p:cNvGrpSpPr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124950" name="Group 288"/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21" name="Picture 289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06522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6520" name="Text Box 291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ACK!</a:t>
                </a:r>
              </a:p>
            </p:txBody>
          </p:sp>
        </p:grpSp>
        <p:grpSp>
          <p:nvGrpSpPr>
            <p:cNvPr id="124945" name="Group 292"/>
            <p:cNvGrpSpPr>
              <a:grpSpLocks/>
            </p:cNvGrpSpPr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124946" name="Group 293"/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17" name="Picture 29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06518" name="Rectangle 29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06516" name="Text Box 29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New</a:t>
                </a:r>
              </a:p>
              <a:p>
                <a:pPr>
                  <a:lnSpc>
                    <a:spcPct val="80000"/>
                  </a:lnSpc>
                  <a:defRPr/>
                </a:pPr>
                <a:r>
                  <a:rPr lang="en-US" sz="1200" b="1" i="1">
                    <a:solidFill>
                      <a:schemeClr val="accent2"/>
                    </a:solidFill>
                    <a:latin typeface="Comic Sans MS" charset="0"/>
                  </a:rPr>
                  <a:t>ACK!</a:t>
                </a:r>
              </a:p>
            </p:txBody>
          </p:sp>
        </p:grpSp>
      </p:grpSp>
      <p:pic>
        <p:nvPicPr>
          <p:cNvPr id="124942" name="Picture 298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8286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906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75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0C1AB95-01AC-445F-84D9-86A6D8105BB5}" type="slidenum">
              <a:rPr lang="en-US" altLang="en-US" sz="1200"/>
              <a:pPr/>
              <a:t>64</a:t>
            </a:fld>
            <a:endParaRPr lang="en-US" altLang="en-US" sz="1200"/>
          </a:p>
        </p:txBody>
      </p:sp>
      <p:pic>
        <p:nvPicPr>
          <p:cNvPr id="125955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4" y="925514"/>
            <a:ext cx="382428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8025" y="239714"/>
            <a:ext cx="7772400" cy="928687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throughput</a:t>
            </a:r>
          </a:p>
        </p:txBody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6775" y="1362075"/>
            <a:ext cx="8269288" cy="4648200"/>
          </a:xfrm>
        </p:spPr>
        <p:txBody>
          <a:bodyPr/>
          <a:lstStyle/>
          <a:p>
            <a:r>
              <a:rPr lang="en-US" altLang="en-US"/>
              <a:t>avg. TCP thruput as function of window size, RTT?</a:t>
            </a:r>
          </a:p>
          <a:p>
            <a:pPr lvl="1"/>
            <a:r>
              <a:rPr lang="en-US" altLang="en-US"/>
              <a:t>ignore slow start, assume always data to send</a:t>
            </a:r>
          </a:p>
          <a:p>
            <a:r>
              <a:rPr lang="en-US" altLang="en-US"/>
              <a:t>W: window size </a:t>
            </a:r>
            <a:r>
              <a:rPr lang="en-US" altLang="en-US" sz="1600"/>
              <a:t>(measured in bytes)</a:t>
            </a:r>
            <a:r>
              <a:rPr lang="en-US" altLang="en-US"/>
              <a:t> where loss occurs</a:t>
            </a:r>
          </a:p>
          <a:p>
            <a:pPr lvl="1"/>
            <a:r>
              <a:rPr lang="en-US" altLang="en-US"/>
              <a:t>avg. window size (# in-flight bytes) is ¾ W</a:t>
            </a:r>
          </a:p>
          <a:p>
            <a:pPr lvl="1"/>
            <a:r>
              <a:rPr lang="en-US" altLang="en-US"/>
              <a:t>avg. thruput is 3/4W per RTT</a:t>
            </a:r>
          </a:p>
        </p:txBody>
      </p:sp>
      <p:grpSp>
        <p:nvGrpSpPr>
          <p:cNvPr id="125958" name="Group 35"/>
          <p:cNvGrpSpPr>
            <a:grpSpLocks/>
          </p:cNvGrpSpPr>
          <p:nvPr/>
        </p:nvGrpSpPr>
        <p:grpSpPr bwMode="auto">
          <a:xfrm>
            <a:off x="3354389" y="4300538"/>
            <a:ext cx="4873625" cy="1998662"/>
            <a:chOff x="279" y="2432"/>
            <a:chExt cx="3070" cy="1259"/>
          </a:xfrm>
        </p:grpSpPr>
        <p:sp>
          <p:nvSpPr>
            <p:cNvPr id="125969" name="Freeform 26"/>
            <p:cNvSpPr>
              <a:spLocks/>
            </p:cNvSpPr>
            <p:nvPr/>
          </p:nvSpPr>
          <p:spPr bwMode="auto">
            <a:xfrm>
              <a:off x="678" y="2556"/>
              <a:ext cx="2481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7539" name="Line 28"/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40" name="Line 29"/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41" name="Line 31"/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42" name="Line 32"/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543" name="Text Box 33"/>
            <p:cNvSpPr txBox="1">
              <a:spLocks noChangeArrowheads="1"/>
            </p:cNvSpPr>
            <p:nvPr/>
          </p:nvSpPr>
          <p:spPr bwMode="auto">
            <a:xfrm>
              <a:off x="380" y="2453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W</a:t>
              </a:r>
            </a:p>
          </p:txBody>
        </p:sp>
        <p:sp>
          <p:nvSpPr>
            <p:cNvPr id="107544" name="Text Box 34"/>
            <p:cNvSpPr txBox="1">
              <a:spLocks noChangeArrowheads="1"/>
            </p:cNvSpPr>
            <p:nvPr/>
          </p:nvSpPr>
          <p:spPr bwMode="auto">
            <a:xfrm>
              <a:off x="279" y="3008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/>
                <a:t>W/2</a:t>
              </a:r>
            </a:p>
          </p:txBody>
        </p:sp>
      </p:grpSp>
      <p:grpSp>
        <p:nvGrpSpPr>
          <p:cNvPr id="125959" name="Group 45"/>
          <p:cNvGrpSpPr>
            <a:grpSpLocks/>
          </p:cNvGrpSpPr>
          <p:nvPr/>
        </p:nvGrpSpPr>
        <p:grpSpPr bwMode="auto">
          <a:xfrm>
            <a:off x="4257676" y="3440113"/>
            <a:ext cx="3795713" cy="620712"/>
            <a:chOff x="1722" y="2139"/>
            <a:chExt cx="2391" cy="391"/>
          </a:xfrm>
        </p:grpSpPr>
        <p:sp>
          <p:nvSpPr>
            <p:cNvPr id="107529" name="Text Box 36"/>
            <p:cNvSpPr txBox="1">
              <a:spLocks noChangeArrowheads="1"/>
            </p:cNvSpPr>
            <p:nvPr/>
          </p:nvSpPr>
          <p:spPr bwMode="auto">
            <a:xfrm>
              <a:off x="1722" y="2219"/>
              <a:ext cx="1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/>
                <a:t>avg TCP thruput = </a:t>
              </a:r>
            </a:p>
          </p:txBody>
        </p:sp>
        <p:grpSp>
          <p:nvGrpSpPr>
            <p:cNvPr id="125961" name="Group 44"/>
            <p:cNvGrpSpPr>
              <a:grpSpLocks/>
            </p:cNvGrpSpPr>
            <p:nvPr/>
          </p:nvGrpSpPr>
          <p:grpSpPr bwMode="auto">
            <a:xfrm>
              <a:off x="2986" y="2139"/>
              <a:ext cx="1127" cy="391"/>
              <a:chOff x="3498" y="2153"/>
              <a:chExt cx="1127" cy="391"/>
            </a:xfrm>
          </p:grpSpPr>
          <p:sp>
            <p:nvSpPr>
              <p:cNvPr id="107531" name="Text Box 37"/>
              <p:cNvSpPr txBox="1">
                <a:spLocks noChangeArrowheads="1"/>
              </p:cNvSpPr>
              <p:nvPr/>
            </p:nvSpPr>
            <p:spPr bwMode="auto">
              <a:xfrm>
                <a:off x="3501" y="215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800"/>
                  <a:t>3</a:t>
                </a:r>
              </a:p>
            </p:txBody>
          </p:sp>
          <p:sp>
            <p:nvSpPr>
              <p:cNvPr id="107532" name="Text Box 38"/>
              <p:cNvSpPr txBox="1">
                <a:spLocks noChangeArrowheads="1"/>
              </p:cNvSpPr>
              <p:nvPr/>
            </p:nvSpPr>
            <p:spPr bwMode="auto">
              <a:xfrm>
                <a:off x="3498" y="231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800"/>
                  <a:t>4</a:t>
                </a:r>
              </a:p>
            </p:txBody>
          </p:sp>
          <p:sp>
            <p:nvSpPr>
              <p:cNvPr id="107533" name="Line 39"/>
              <p:cNvSpPr>
                <a:spLocks noChangeShapeType="1"/>
              </p:cNvSpPr>
              <p:nvPr/>
            </p:nvSpPr>
            <p:spPr bwMode="auto">
              <a:xfrm>
                <a:off x="3550" y="2352"/>
                <a:ext cx="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7534" name="Text Box 40"/>
              <p:cNvSpPr txBox="1">
                <a:spLocks noChangeArrowheads="1"/>
              </p:cNvSpPr>
              <p:nvPr/>
            </p:nvSpPr>
            <p:spPr bwMode="auto">
              <a:xfrm>
                <a:off x="3702" y="2157"/>
                <a:ext cx="2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800"/>
                  <a:t>W</a:t>
                </a:r>
              </a:p>
            </p:txBody>
          </p:sp>
          <p:sp>
            <p:nvSpPr>
              <p:cNvPr id="107535" name="Text Box 41"/>
              <p:cNvSpPr txBox="1">
                <a:spLocks noChangeArrowheads="1"/>
              </p:cNvSpPr>
              <p:nvPr/>
            </p:nvSpPr>
            <p:spPr bwMode="auto">
              <a:xfrm>
                <a:off x="3658" y="2309"/>
                <a:ext cx="37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800"/>
                  <a:t>RTT</a:t>
                </a:r>
              </a:p>
            </p:txBody>
          </p:sp>
          <p:sp>
            <p:nvSpPr>
              <p:cNvPr id="107536" name="Line 42"/>
              <p:cNvSpPr>
                <a:spLocks noChangeShapeType="1"/>
              </p:cNvSpPr>
              <p:nvPr/>
            </p:nvSpPr>
            <p:spPr bwMode="auto">
              <a:xfrm>
                <a:off x="3726" y="2352"/>
                <a:ext cx="2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7537" name="Text Box 43"/>
              <p:cNvSpPr txBox="1">
                <a:spLocks noChangeArrowheads="1"/>
              </p:cNvSpPr>
              <p:nvPr/>
            </p:nvSpPr>
            <p:spPr bwMode="auto">
              <a:xfrm>
                <a:off x="3975" y="2243"/>
                <a:ext cx="6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/>
                  <a:t>bytes/sec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134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85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9A39B805-15A4-4726-A3CC-D94DBF367BF6}" type="slidenum">
              <a:rPr lang="en-US" altLang="en-US" sz="1200"/>
              <a:pPr/>
              <a:t>65</a:t>
            </a:fld>
            <a:endParaRPr lang="en-US" altLang="en-US" sz="1200"/>
          </a:p>
        </p:txBody>
      </p:sp>
      <p:pic>
        <p:nvPicPr>
          <p:cNvPr id="126979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6" y="9525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TCP Futures: TCP over </a:t>
            </a:r>
            <a:r>
              <a:rPr lang="ja-JP" altLang="en-US" sz="3600"/>
              <a:t>“</a:t>
            </a:r>
            <a:r>
              <a:rPr lang="en-US" altLang="ja-JP" sz="3600"/>
              <a:t>long, fat pipes</a:t>
            </a:r>
            <a:r>
              <a:rPr lang="ja-JP" altLang="en-US" sz="3600"/>
              <a:t>”</a:t>
            </a:r>
            <a:endParaRPr lang="en-US" altLang="en-US" sz="3600"/>
          </a:p>
        </p:txBody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1688" y="1600200"/>
            <a:ext cx="7772400" cy="4648200"/>
          </a:xfrm>
        </p:spPr>
        <p:txBody>
          <a:bodyPr/>
          <a:lstStyle/>
          <a:p>
            <a:r>
              <a:rPr lang="en-US" altLang="en-US"/>
              <a:t>example: 1500 byte segments, 100ms RTT, want 10 Gbps throughput</a:t>
            </a:r>
          </a:p>
          <a:p>
            <a:r>
              <a:rPr lang="en-US" altLang="en-US"/>
              <a:t>requires W = 83,333 in-flight segments</a:t>
            </a:r>
          </a:p>
          <a:p>
            <a:r>
              <a:rPr lang="en-US" altLang="en-US"/>
              <a:t>throughput in terms of segment </a:t>
            </a:r>
            <a:r>
              <a:rPr lang="en-US" altLang="en-US">
                <a:solidFill>
                  <a:srgbClr val="008000"/>
                </a:solidFill>
              </a:rPr>
              <a:t>loss probability</a:t>
            </a:r>
            <a:r>
              <a:rPr lang="en-US" altLang="en-US"/>
              <a:t>, L </a:t>
            </a:r>
            <a:r>
              <a:rPr lang="en-US" altLang="en-US" sz="2000"/>
              <a:t>[Mathis 1997]: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MS Mincho" pitchFamily="49" charset="-128"/>
                <a:ea typeface="MS Mincho" pitchFamily="49" charset="-128"/>
              </a:rPr>
              <a:t>➜ </a:t>
            </a:r>
            <a:r>
              <a:rPr lang="en-US" altLang="en-US">
                <a:ea typeface="MS Mincho" pitchFamily="49" charset="-128"/>
              </a:rPr>
              <a:t>to achieve 10 Gbps throughput, need a loss rate of </a:t>
            </a:r>
            <a:r>
              <a:rPr lang="en-US" altLang="en-US"/>
              <a:t>L = 2</a:t>
            </a:r>
            <a:r>
              <a:rPr lang="el-GR" altLang="en-US"/>
              <a:t>·</a:t>
            </a:r>
            <a:r>
              <a:rPr lang="en-US" altLang="en-US"/>
              <a:t>10</a:t>
            </a:r>
            <a:r>
              <a:rPr lang="en-US" altLang="en-US" baseline="30000"/>
              <a:t>-10  </a:t>
            </a:r>
            <a:r>
              <a:rPr lang="en-US" altLang="en-US" i="1">
                <a:solidFill>
                  <a:srgbClr val="FF0000"/>
                </a:solidFill>
              </a:rPr>
              <a:t> – a very small loss rate!</a:t>
            </a:r>
          </a:p>
          <a:p>
            <a:r>
              <a:rPr lang="en-US" altLang="en-US"/>
              <a:t>new versions of TCP for high-speed</a:t>
            </a:r>
            <a:endParaRPr lang="en-US" altLang="en-US" baseline="30000"/>
          </a:p>
          <a:p>
            <a:endParaRPr lang="en-US" altLang="en-US"/>
          </a:p>
        </p:txBody>
      </p:sp>
      <p:grpSp>
        <p:nvGrpSpPr>
          <p:cNvPr id="126982" name="Group 16"/>
          <p:cNvGrpSpPr>
            <a:grpSpLocks/>
          </p:cNvGrpSpPr>
          <p:nvPr/>
        </p:nvGrpSpPr>
        <p:grpSpPr bwMode="auto">
          <a:xfrm>
            <a:off x="3471864" y="3462339"/>
            <a:ext cx="4160837" cy="962025"/>
            <a:chOff x="422" y="3400"/>
            <a:chExt cx="2621" cy="606"/>
          </a:xfrm>
        </p:grpSpPr>
        <p:sp>
          <p:nvSpPr>
            <p:cNvPr id="108552" name="Text Box 6"/>
            <p:cNvSpPr txBox="1">
              <a:spLocks noChangeArrowheads="1"/>
            </p:cNvSpPr>
            <p:nvPr/>
          </p:nvSpPr>
          <p:spPr bwMode="auto">
            <a:xfrm>
              <a:off x="422" y="3566"/>
              <a:ext cx="16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>
                  <a:latin typeface="Arial" charset="0"/>
                </a:rPr>
                <a:t>TCP throughput = </a:t>
              </a:r>
            </a:p>
          </p:txBody>
        </p:sp>
        <p:sp>
          <p:nvSpPr>
            <p:cNvPr id="108553" name="Text Box 7"/>
            <p:cNvSpPr txBox="1">
              <a:spLocks noChangeArrowheads="1"/>
            </p:cNvSpPr>
            <p:nvPr/>
          </p:nvSpPr>
          <p:spPr bwMode="auto">
            <a:xfrm>
              <a:off x="2010" y="3470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>
                  <a:latin typeface="Arial" charset="0"/>
                </a:rPr>
                <a:t>1.22</a:t>
              </a:r>
            </a:p>
          </p:txBody>
        </p:sp>
        <p:grpSp>
          <p:nvGrpSpPr>
            <p:cNvPr id="126985" name="Group 15"/>
            <p:cNvGrpSpPr>
              <a:grpSpLocks/>
            </p:cNvGrpSpPr>
            <p:nvPr/>
          </p:nvGrpSpPr>
          <p:grpSpPr bwMode="auto">
            <a:xfrm>
              <a:off x="2092" y="3400"/>
              <a:ext cx="951" cy="606"/>
              <a:chOff x="2092" y="3400"/>
              <a:chExt cx="951" cy="606"/>
            </a:xfrm>
          </p:grpSpPr>
          <p:sp>
            <p:nvSpPr>
              <p:cNvPr id="108555" name="Text Box 8"/>
              <p:cNvSpPr txBox="1">
                <a:spLocks noChangeArrowheads="1"/>
              </p:cNvSpPr>
              <p:nvPr/>
            </p:nvSpPr>
            <p:spPr bwMode="auto">
              <a:xfrm>
                <a:off x="2423" y="3400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b="1">
                    <a:latin typeface="Arial" charset="0"/>
                  </a:rPr>
                  <a:t>.</a:t>
                </a:r>
              </a:p>
            </p:txBody>
          </p:sp>
          <p:sp>
            <p:nvSpPr>
              <p:cNvPr id="108556" name="Text Box 9"/>
              <p:cNvSpPr txBox="1">
                <a:spLocks noChangeArrowheads="1"/>
              </p:cNvSpPr>
              <p:nvPr/>
            </p:nvSpPr>
            <p:spPr bwMode="auto">
              <a:xfrm>
                <a:off x="2511" y="3472"/>
                <a:ext cx="5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MSS</a:t>
                </a:r>
              </a:p>
            </p:txBody>
          </p:sp>
          <p:sp>
            <p:nvSpPr>
              <p:cNvPr id="108557" name="Line 10"/>
              <p:cNvSpPr>
                <a:spLocks noChangeShapeType="1"/>
              </p:cNvSpPr>
              <p:nvPr/>
            </p:nvSpPr>
            <p:spPr bwMode="auto">
              <a:xfrm>
                <a:off x="2092" y="3720"/>
                <a:ext cx="8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8558" name="Text Box 11"/>
              <p:cNvSpPr txBox="1">
                <a:spLocks noChangeArrowheads="1"/>
              </p:cNvSpPr>
              <p:nvPr/>
            </p:nvSpPr>
            <p:spPr bwMode="auto">
              <a:xfrm>
                <a:off x="2133" y="3696"/>
                <a:ext cx="48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RTT</a:t>
                </a:r>
              </a:p>
            </p:txBody>
          </p:sp>
          <p:sp>
            <p:nvSpPr>
              <p:cNvPr id="126990" name="Freeform 13"/>
              <p:cNvSpPr>
                <a:spLocks/>
              </p:cNvSpPr>
              <p:nvPr/>
            </p:nvSpPr>
            <p:spPr bwMode="auto">
              <a:xfrm>
                <a:off x="2607" y="3740"/>
                <a:ext cx="294" cy="220"/>
              </a:xfrm>
              <a:custGeom>
                <a:avLst/>
                <a:gdLst>
                  <a:gd name="T0" fmla="*/ 0 w 294"/>
                  <a:gd name="T1" fmla="*/ 158 h 220"/>
                  <a:gd name="T2" fmla="*/ 32 w 294"/>
                  <a:gd name="T3" fmla="*/ 140 h 220"/>
                  <a:gd name="T4" fmla="*/ 72 w 294"/>
                  <a:gd name="T5" fmla="*/ 220 h 220"/>
                  <a:gd name="T6" fmla="*/ 132 w 294"/>
                  <a:gd name="T7" fmla="*/ 0 h 220"/>
                  <a:gd name="T8" fmla="*/ 294 w 294"/>
                  <a:gd name="T9" fmla="*/ 0 h 2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4" h="220">
                    <a:moveTo>
                      <a:pt x="0" y="158"/>
                    </a:moveTo>
                    <a:lnTo>
                      <a:pt x="32" y="140"/>
                    </a:lnTo>
                    <a:lnTo>
                      <a:pt x="72" y="220"/>
                    </a:lnTo>
                    <a:lnTo>
                      <a:pt x="132" y="0"/>
                    </a:lnTo>
                    <a:lnTo>
                      <a:pt x="294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8560" name="Text Box 14"/>
              <p:cNvSpPr txBox="1">
                <a:spLocks noChangeArrowheads="1"/>
              </p:cNvSpPr>
              <p:nvPr/>
            </p:nvSpPr>
            <p:spPr bwMode="auto">
              <a:xfrm>
                <a:off x="2704" y="371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373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0957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8613F4BA-01E3-429C-8ED8-776BEBCFA2AF}" type="slidenum">
              <a:rPr lang="en-US" altLang="en-US" sz="1200"/>
              <a:pPr/>
              <a:t>66</a:t>
            </a:fld>
            <a:endParaRPr lang="en-US" altLang="en-US" sz="1200"/>
          </a:p>
        </p:txBody>
      </p:sp>
      <p:sp>
        <p:nvSpPr>
          <p:cNvPr id="109572" name="Line 68"/>
          <p:cNvSpPr>
            <a:spLocks noChangeShapeType="1"/>
          </p:cNvSpPr>
          <p:nvPr/>
        </p:nvSpPr>
        <p:spPr bwMode="auto">
          <a:xfrm>
            <a:off x="6381750" y="4229101"/>
            <a:ext cx="5588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grpSp>
        <p:nvGrpSpPr>
          <p:cNvPr id="128004" name="Group 59"/>
          <p:cNvGrpSpPr>
            <a:grpSpLocks/>
          </p:cNvGrpSpPr>
          <p:nvPr/>
        </p:nvGrpSpPr>
        <p:grpSpPr bwMode="auto">
          <a:xfrm>
            <a:off x="5303839" y="3898901"/>
            <a:ext cx="1082675" cy="538163"/>
            <a:chOff x="2356" y="1300"/>
            <a:chExt cx="555" cy="194"/>
          </a:xfrm>
        </p:grpSpPr>
        <p:sp>
          <p:nvSpPr>
            <p:cNvPr id="12803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803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803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28035" name="Group 63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8038" name="Freeform 6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39" name="Freeform 6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9605" name="Line 66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606" name="Line 67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8005" name="Group 50"/>
          <p:cNvGrpSpPr>
            <a:grpSpLocks/>
          </p:cNvGrpSpPr>
          <p:nvPr/>
        </p:nvGrpSpPr>
        <p:grpSpPr bwMode="auto">
          <a:xfrm>
            <a:off x="6937376" y="3883026"/>
            <a:ext cx="1082675" cy="538163"/>
            <a:chOff x="2356" y="1300"/>
            <a:chExt cx="555" cy="194"/>
          </a:xfrm>
        </p:grpSpPr>
        <p:sp>
          <p:nvSpPr>
            <p:cNvPr id="12802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802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802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endParaRPr lang="en-US" altLang="en-US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28027" name="Group 5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8030" name="Freeform 5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31" name="Freeform 5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9597" name="Line 57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598" name="Line 58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09575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068513" y="1412875"/>
            <a:ext cx="7620000" cy="219075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fairness goal:</a:t>
            </a:r>
            <a:r>
              <a:rPr lang="en-US">
                <a:ea typeface="ＭＳ Ｐゴシック" charset="0"/>
                <a:cs typeface="+mn-cs"/>
              </a:rPr>
              <a:t> if K TCP sessions share same bottleneck link of bandwidth R, each should have average rate of R/K</a:t>
            </a:r>
          </a:p>
        </p:txBody>
      </p:sp>
      <p:sp>
        <p:nvSpPr>
          <p:cNvPr id="109576" name="Rectangle 25"/>
          <p:cNvSpPr>
            <a:spLocks noChangeArrowheads="1"/>
          </p:cNvSpPr>
          <p:nvPr/>
        </p:nvSpPr>
        <p:spPr bwMode="auto">
          <a:xfrm>
            <a:off x="6592889" y="4025901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9577" name="Rectangle 26"/>
          <p:cNvSpPr>
            <a:spLocks noChangeArrowheads="1"/>
          </p:cNvSpPr>
          <p:nvPr/>
        </p:nvSpPr>
        <p:spPr bwMode="auto">
          <a:xfrm>
            <a:off x="5902325" y="4087814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9578" name="Rectangle 27"/>
          <p:cNvSpPr>
            <a:spLocks noChangeArrowheads="1"/>
          </p:cNvSpPr>
          <p:nvPr/>
        </p:nvSpPr>
        <p:spPr bwMode="auto">
          <a:xfrm>
            <a:off x="6192839" y="4025901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09579" name="Text Box 28"/>
          <p:cNvSpPr txBox="1">
            <a:spLocks noChangeArrowheads="1"/>
          </p:cNvSpPr>
          <p:nvPr/>
        </p:nvSpPr>
        <p:spPr bwMode="auto">
          <a:xfrm>
            <a:off x="2655888" y="3017838"/>
            <a:ext cx="200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800">
                <a:latin typeface="Arial" charset="0"/>
              </a:rPr>
              <a:t>TCP connection 1</a:t>
            </a:r>
          </a:p>
        </p:txBody>
      </p:sp>
      <p:sp>
        <p:nvSpPr>
          <p:cNvPr id="109580" name="Text Box 29"/>
          <p:cNvSpPr txBox="1">
            <a:spLocks noChangeArrowheads="1"/>
          </p:cNvSpPr>
          <p:nvPr/>
        </p:nvSpPr>
        <p:spPr bwMode="auto">
          <a:xfrm>
            <a:off x="5053013" y="4471989"/>
            <a:ext cx="12509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800">
                <a:latin typeface="Arial" charset="0"/>
              </a:rPr>
              <a:t>bottleneck</a:t>
            </a:r>
          </a:p>
          <a:p>
            <a:pPr>
              <a:defRPr/>
            </a:pPr>
            <a:r>
              <a:rPr lang="en-US" sz="1800">
                <a:latin typeface="Arial" charset="0"/>
              </a:rPr>
              <a:t>router</a:t>
            </a:r>
          </a:p>
          <a:p>
            <a:pPr>
              <a:defRPr/>
            </a:pPr>
            <a:r>
              <a:rPr lang="en-US" sz="1800">
                <a:latin typeface="Arial" charset="0"/>
              </a:rPr>
              <a:t>capacity R</a:t>
            </a:r>
          </a:p>
        </p:txBody>
      </p:sp>
      <p:sp>
        <p:nvSpPr>
          <p:cNvPr id="128012" name="Freeform 40"/>
          <p:cNvSpPr>
            <a:spLocks/>
          </p:cNvSpPr>
          <p:nvPr/>
        </p:nvSpPr>
        <p:spPr bwMode="auto">
          <a:xfrm>
            <a:off x="4387851" y="3502025"/>
            <a:ext cx="4003675" cy="719138"/>
          </a:xfrm>
          <a:custGeom>
            <a:avLst/>
            <a:gdLst>
              <a:gd name="T0" fmla="*/ 0 w 2412"/>
              <a:gd name="T1" fmla="*/ 0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Rectangle 41"/>
          <p:cNvSpPr>
            <a:spLocks noChangeArrowheads="1"/>
          </p:cNvSpPr>
          <p:nvPr/>
        </p:nvSpPr>
        <p:spPr bwMode="auto">
          <a:xfrm>
            <a:off x="6064250" y="408781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28014" name="Freeform 42"/>
          <p:cNvSpPr>
            <a:spLocks/>
          </p:cNvSpPr>
          <p:nvPr/>
        </p:nvSpPr>
        <p:spPr bwMode="auto">
          <a:xfrm>
            <a:off x="4330700" y="4237039"/>
            <a:ext cx="4044950" cy="719137"/>
          </a:xfrm>
          <a:custGeom>
            <a:avLst/>
            <a:gdLst>
              <a:gd name="T0" fmla="*/ 0 w 2412"/>
              <a:gd name="T1" fmla="*/ 2147483647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Rectangle 43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TCP Fairness</a:t>
            </a:r>
          </a:p>
        </p:txBody>
      </p:sp>
      <p:pic>
        <p:nvPicPr>
          <p:cNvPr id="128016" name="Picture 4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6" y="969964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86" name="Text Box 48"/>
          <p:cNvSpPr txBox="1">
            <a:spLocks noChangeArrowheads="1"/>
          </p:cNvSpPr>
          <p:nvPr/>
        </p:nvSpPr>
        <p:spPr bwMode="auto">
          <a:xfrm>
            <a:off x="2649538" y="5146676"/>
            <a:ext cx="200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>
              <a:defRPr/>
            </a:pPr>
            <a:r>
              <a:rPr lang="en-US" sz="1800">
                <a:latin typeface="Arial" charset="0"/>
              </a:rPr>
              <a:t>TCP connection 2</a:t>
            </a:r>
          </a:p>
        </p:txBody>
      </p:sp>
      <p:grpSp>
        <p:nvGrpSpPr>
          <p:cNvPr id="128018" name="Group 69"/>
          <p:cNvGrpSpPr>
            <a:grpSpLocks/>
          </p:cNvGrpSpPr>
          <p:nvPr/>
        </p:nvGrpSpPr>
        <p:grpSpPr bwMode="auto">
          <a:xfrm>
            <a:off x="3581401" y="3333750"/>
            <a:ext cx="766763" cy="704850"/>
            <a:chOff x="-44" y="1473"/>
            <a:chExt cx="981" cy="1105"/>
          </a:xfrm>
        </p:grpSpPr>
        <p:pic>
          <p:nvPicPr>
            <p:cNvPr id="128022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23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8019" name="Group 72"/>
          <p:cNvGrpSpPr>
            <a:grpSpLocks/>
          </p:cNvGrpSpPr>
          <p:nvPr/>
        </p:nvGrpSpPr>
        <p:grpSpPr bwMode="auto">
          <a:xfrm>
            <a:off x="3597276" y="4579938"/>
            <a:ext cx="766763" cy="704850"/>
            <a:chOff x="-44" y="1473"/>
            <a:chExt cx="981" cy="1105"/>
          </a:xfrm>
        </p:grpSpPr>
        <p:pic>
          <p:nvPicPr>
            <p:cNvPr id="128020" name="Picture 7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21" name="Freeform 7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326 w 356"/>
                <a:gd name="T3" fmla="*/ 131 h 368"/>
                <a:gd name="T4" fmla="*/ 2759 w 356"/>
                <a:gd name="T5" fmla="*/ 2736 h 368"/>
                <a:gd name="T6" fmla="*/ 608 w 356"/>
                <a:gd name="T7" fmla="*/ 342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428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105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7374961E-F1F1-4639-B68D-ED456A56B3F9}" type="slidenum">
              <a:rPr lang="en-US" altLang="en-US" sz="1200"/>
              <a:pPr/>
              <a:t>67</a:t>
            </a:fld>
            <a:endParaRPr lang="en-US" altLang="en-US" sz="1200"/>
          </a:p>
        </p:txBody>
      </p:sp>
      <p:pic>
        <p:nvPicPr>
          <p:cNvPr id="129027" name="Picture 2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1" y="1027114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Why is TCP fair?</a:t>
            </a:r>
          </a:p>
        </p:txBody>
      </p:sp>
      <p:sp>
        <p:nvSpPr>
          <p:cNvPr id="1105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400175"/>
            <a:ext cx="83058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>
                <a:ea typeface="ＭＳ Ｐゴシック" charset="0"/>
                <a:cs typeface="+mn-cs"/>
              </a:rPr>
              <a:t>two competing sessions: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additive increase gives slope of 1, as throughout increases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</a:rPr>
              <a:t>multiplicative decrease decreases throughput proportionally </a:t>
            </a:r>
          </a:p>
        </p:txBody>
      </p:sp>
      <p:sp>
        <p:nvSpPr>
          <p:cNvPr id="110599" name="Line 4"/>
          <p:cNvSpPr>
            <a:spLocks noChangeShapeType="1"/>
          </p:cNvSpPr>
          <p:nvPr/>
        </p:nvSpPr>
        <p:spPr bwMode="auto">
          <a:xfrm>
            <a:off x="3924300" y="5848350"/>
            <a:ext cx="3638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10600" name="Line 5"/>
          <p:cNvSpPr>
            <a:spLocks noChangeShapeType="1"/>
          </p:cNvSpPr>
          <p:nvPr/>
        </p:nvSpPr>
        <p:spPr bwMode="auto">
          <a:xfrm flipV="1">
            <a:off x="3924300" y="2752725"/>
            <a:ext cx="0" cy="3086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10601" name="Line 6"/>
          <p:cNvSpPr>
            <a:spLocks noChangeShapeType="1"/>
          </p:cNvSpPr>
          <p:nvPr/>
        </p:nvSpPr>
        <p:spPr bwMode="auto">
          <a:xfrm rot="18661895" flipH="1" flipV="1">
            <a:off x="3317876" y="4487864"/>
            <a:ext cx="3560763" cy="14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10602" name="Line 7"/>
          <p:cNvSpPr>
            <a:spLocks noChangeShapeType="1"/>
          </p:cNvSpPr>
          <p:nvPr/>
        </p:nvSpPr>
        <p:spPr bwMode="auto">
          <a:xfrm>
            <a:off x="3905250" y="3000376"/>
            <a:ext cx="2819400" cy="28098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10603" name="Text Box 8"/>
          <p:cNvSpPr txBox="1">
            <a:spLocks noChangeArrowheads="1"/>
          </p:cNvSpPr>
          <p:nvPr/>
        </p:nvSpPr>
        <p:spPr bwMode="auto">
          <a:xfrm>
            <a:off x="3554414" y="2828926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charset="0"/>
              </a:rPr>
              <a:t>R</a:t>
            </a:r>
            <a:endParaRPr lang="en-US" sz="1000">
              <a:latin typeface="Arial" charset="0"/>
            </a:endParaRPr>
          </a:p>
        </p:txBody>
      </p:sp>
      <p:sp>
        <p:nvSpPr>
          <p:cNvPr id="110604" name="Text Box 9"/>
          <p:cNvSpPr txBox="1">
            <a:spLocks noChangeArrowheads="1"/>
          </p:cNvSpPr>
          <p:nvPr/>
        </p:nvSpPr>
        <p:spPr bwMode="auto">
          <a:xfrm>
            <a:off x="6507164" y="5876926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000">
                <a:latin typeface="Arial" charset="0"/>
              </a:rPr>
              <a:t>R</a:t>
            </a:r>
            <a:endParaRPr lang="en-US" sz="1000">
              <a:latin typeface="Arial" charset="0"/>
            </a:endParaRPr>
          </a:p>
        </p:txBody>
      </p:sp>
      <p:sp>
        <p:nvSpPr>
          <p:cNvPr id="110605" name="Text Box 10"/>
          <p:cNvSpPr txBox="1">
            <a:spLocks noChangeArrowheads="1"/>
          </p:cNvSpPr>
          <p:nvPr/>
        </p:nvSpPr>
        <p:spPr bwMode="auto">
          <a:xfrm>
            <a:off x="4783139" y="2819401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latin typeface="Arial" charset="0"/>
              </a:rPr>
              <a:t>equal bandwidth share</a:t>
            </a:r>
            <a:endParaRPr lang="en-US" sz="1000">
              <a:latin typeface="Arial" charset="0"/>
            </a:endParaRPr>
          </a:p>
        </p:txBody>
      </p:sp>
      <p:sp>
        <p:nvSpPr>
          <p:cNvPr id="110606" name="Text Box 11"/>
          <p:cNvSpPr txBox="1">
            <a:spLocks noChangeArrowheads="1"/>
          </p:cNvSpPr>
          <p:nvPr/>
        </p:nvSpPr>
        <p:spPr bwMode="auto">
          <a:xfrm>
            <a:off x="3363914" y="5857876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latin typeface="Arial" charset="0"/>
              </a:rPr>
              <a:t>Connection 1 throughput</a:t>
            </a:r>
            <a:endParaRPr lang="en-US" sz="1000">
              <a:latin typeface="Arial" charset="0"/>
            </a:endParaRPr>
          </a:p>
        </p:txBody>
      </p:sp>
      <p:sp>
        <p:nvSpPr>
          <p:cNvPr id="110607" name="Text Box 12"/>
          <p:cNvSpPr txBox="1">
            <a:spLocks noChangeArrowheads="1"/>
          </p:cNvSpPr>
          <p:nvPr/>
        </p:nvSpPr>
        <p:spPr bwMode="auto">
          <a:xfrm rot="16203358">
            <a:off x="1948657" y="4396582"/>
            <a:ext cx="3546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latin typeface="Arial" charset="0"/>
              </a:rPr>
              <a:t>Connection 2 throughput</a:t>
            </a:r>
            <a:endParaRPr lang="en-US" sz="1000">
              <a:latin typeface="Arial" charset="0"/>
            </a:endParaRPr>
          </a:p>
        </p:txBody>
      </p:sp>
      <p:sp>
        <p:nvSpPr>
          <p:cNvPr id="215053" name="Line 13"/>
          <p:cNvSpPr>
            <a:spLocks noChangeShapeType="1"/>
          </p:cNvSpPr>
          <p:nvPr/>
        </p:nvSpPr>
        <p:spPr bwMode="auto">
          <a:xfrm rot="18661895" flipH="1" flipV="1">
            <a:off x="5027613" y="5105401"/>
            <a:ext cx="1293813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5697539" y="4676775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congestion avoidance: additive increase</a:t>
            </a:r>
            <a:endParaRPr lang="en-US" sz="1000">
              <a:latin typeface="Arial" charset="0"/>
            </a:endParaRPr>
          </a:p>
        </p:txBody>
      </p:sp>
      <p:sp>
        <p:nvSpPr>
          <p:cNvPr id="215055" name="Line 15"/>
          <p:cNvSpPr>
            <a:spLocks noChangeShapeType="1"/>
          </p:cNvSpPr>
          <p:nvPr/>
        </p:nvSpPr>
        <p:spPr bwMode="auto">
          <a:xfrm flipH="1">
            <a:off x="4914901" y="4638676"/>
            <a:ext cx="1171575" cy="631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56" name="Text Box 16"/>
          <p:cNvSpPr txBox="1">
            <a:spLocks noChangeArrowheads="1"/>
          </p:cNvSpPr>
          <p:nvPr/>
        </p:nvSpPr>
        <p:spPr bwMode="auto">
          <a:xfrm>
            <a:off x="6229350" y="4432300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loss: decrease window by factor of 2</a:t>
            </a:r>
            <a:endParaRPr lang="en-US" sz="1000">
              <a:latin typeface="Arial" charset="0"/>
            </a:endParaRPr>
          </a:p>
        </p:txBody>
      </p:sp>
      <p:sp>
        <p:nvSpPr>
          <p:cNvPr id="215057" name="Line 17"/>
          <p:cNvSpPr>
            <a:spLocks noChangeShapeType="1"/>
          </p:cNvSpPr>
          <p:nvPr/>
        </p:nvSpPr>
        <p:spPr bwMode="auto">
          <a:xfrm rot="18661895" flipH="1" flipV="1">
            <a:off x="4706939" y="4778376"/>
            <a:ext cx="1303337" cy="238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58" name="Text Box 18"/>
          <p:cNvSpPr txBox="1">
            <a:spLocks noChangeArrowheads="1"/>
          </p:cNvSpPr>
          <p:nvPr/>
        </p:nvSpPr>
        <p:spPr bwMode="auto">
          <a:xfrm>
            <a:off x="5411789" y="4191000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congestion avoidance: additive increase</a:t>
            </a:r>
            <a:endParaRPr lang="en-US" sz="1000">
              <a:latin typeface="Arial" charset="0"/>
            </a:endParaRPr>
          </a:p>
        </p:txBody>
      </p:sp>
      <p:sp>
        <p:nvSpPr>
          <p:cNvPr id="215059" name="Line 19"/>
          <p:cNvSpPr>
            <a:spLocks noChangeShapeType="1"/>
          </p:cNvSpPr>
          <p:nvPr/>
        </p:nvSpPr>
        <p:spPr bwMode="auto">
          <a:xfrm flipH="1">
            <a:off x="4772026" y="4352926"/>
            <a:ext cx="981075" cy="765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60" name="Text Box 20"/>
          <p:cNvSpPr txBox="1">
            <a:spLocks noChangeArrowheads="1"/>
          </p:cNvSpPr>
          <p:nvPr/>
        </p:nvSpPr>
        <p:spPr bwMode="auto">
          <a:xfrm>
            <a:off x="5829300" y="3984625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>
                <a:latin typeface="Arial" charset="0"/>
              </a:rPr>
              <a:t>loss: decrease window by factor of 2</a:t>
            </a:r>
            <a:endParaRPr lang="en-US" sz="1000">
              <a:latin typeface="Arial" charset="0"/>
            </a:endParaRPr>
          </a:p>
        </p:txBody>
      </p:sp>
      <p:sp>
        <p:nvSpPr>
          <p:cNvPr id="215061" name="Line 21"/>
          <p:cNvSpPr>
            <a:spLocks noChangeShapeType="1"/>
          </p:cNvSpPr>
          <p:nvPr/>
        </p:nvSpPr>
        <p:spPr bwMode="auto">
          <a:xfrm rot="18661895" flipH="1" flipV="1">
            <a:off x="4563270" y="4631533"/>
            <a:ext cx="1279525" cy="142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62" name="Line 22"/>
          <p:cNvSpPr>
            <a:spLocks noChangeShapeType="1"/>
          </p:cNvSpPr>
          <p:nvPr/>
        </p:nvSpPr>
        <p:spPr bwMode="auto">
          <a:xfrm flipH="1">
            <a:off x="4705351" y="4171950"/>
            <a:ext cx="911225" cy="889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15063" name="Line 23"/>
          <p:cNvSpPr>
            <a:spLocks noChangeShapeType="1"/>
          </p:cNvSpPr>
          <p:nvPr/>
        </p:nvSpPr>
        <p:spPr bwMode="auto">
          <a:xfrm rot="18661895" flipH="1" flipV="1">
            <a:off x="4483895" y="4568033"/>
            <a:ext cx="1279525" cy="142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4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4" grpId="0" autoUpdateAnimBg="0"/>
      <p:bldP spid="215056" grpId="0" autoUpdateAnimBg="0"/>
      <p:bldP spid="215058" grpId="0" autoUpdateAnimBg="0"/>
      <p:bldP spid="215060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1161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0AAABDC5-B7D7-431D-8F27-0B354E8F9F5D}" type="slidenum">
              <a:rPr lang="en-US" altLang="en-US" sz="1200"/>
              <a:pPr/>
              <a:t>68</a:t>
            </a:fld>
            <a:endParaRPr lang="en-US" altLang="en-US" sz="1200"/>
          </a:p>
        </p:txBody>
      </p:sp>
      <p:pic>
        <p:nvPicPr>
          <p:cNvPr id="130051" name="Picture 5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822325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Fairness (more)</a:t>
            </a:r>
          </a:p>
        </p:txBody>
      </p:sp>
      <p:sp>
        <p:nvSpPr>
          <p:cNvPr id="1116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3900" y="1219200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ea typeface="ＭＳ Ｐゴシック" charset="0"/>
                <a:cs typeface="+mn-cs"/>
              </a:rPr>
              <a:t>Fairness and UDP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multimedia apps often do not use TCP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008000"/>
                </a:solidFill>
                <a:ea typeface="ＭＳ Ｐゴシック" charset="0"/>
              </a:rPr>
              <a:t>do not want rate throttled by congestion control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solidFill>
                  <a:srgbClr val="0000FF"/>
                </a:solidFill>
                <a:ea typeface="ＭＳ Ｐゴシック" charset="0"/>
                <a:cs typeface="+mn-cs"/>
              </a:rPr>
              <a:t>instead use UDP</a:t>
            </a:r>
            <a:r>
              <a:rPr lang="en-US" dirty="0">
                <a:ea typeface="ＭＳ Ｐゴシック" charset="0"/>
                <a:cs typeface="+mn-cs"/>
              </a:rPr>
              <a:t>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 audio/video at constant rate, tolerate packet loss</a:t>
            </a:r>
          </a:p>
          <a:p>
            <a:pPr>
              <a:buFont typeface="Wingdings" charset="0"/>
              <a:buChar char="v"/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  <p:sp>
        <p:nvSpPr>
          <p:cNvPr id="11162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922963" y="1206500"/>
            <a:ext cx="4578350" cy="464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ea typeface="ＭＳ Ｐゴシック" charset="0"/>
                <a:cs typeface="+mn-cs"/>
              </a:rPr>
              <a:t>Fairness, parallel TCP connections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application can open multiple parallel connections between two hosts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web browsers do this 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e.g., link of rate R with 9 existing connections: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2000" dirty="0">
                <a:solidFill>
                  <a:srgbClr val="008000"/>
                </a:solidFill>
                <a:ea typeface="ＭＳ Ｐゴシック" charset="0"/>
              </a:rPr>
              <a:t>new app asks for 1 TCP, gets rate R/10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2000" dirty="0">
                <a:solidFill>
                  <a:srgbClr val="008000"/>
                </a:solidFill>
                <a:ea typeface="ＭＳ Ｐゴシック" charset="0"/>
              </a:rPr>
              <a:t>new app asks for 11 TCPs, gets R/2 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endParaRPr lang="en-US" sz="2000" dirty="0">
              <a:ea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27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5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/>
              <a:t>Transport</a:t>
            </a:r>
            <a:r>
              <a:rPr lang="en-US" sz="1400"/>
              <a:t> </a:t>
            </a:r>
            <a:r>
              <a:rPr lang="en-US" sz="1200"/>
              <a:t>Layer</a:t>
            </a:r>
          </a:p>
        </p:txBody>
      </p:sp>
      <p:sp>
        <p:nvSpPr>
          <p:cNvPr id="11264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3-</a:t>
            </a:r>
            <a:fld id="{6CE0DEB8-774B-4463-8792-4E3CB041C2CB}" type="slidenum">
              <a:rPr lang="en-US" altLang="en-US" sz="1200"/>
              <a:pPr/>
              <a:t>69</a:t>
            </a:fld>
            <a:endParaRPr lang="en-US" altLang="en-US" sz="1200"/>
          </a:p>
        </p:txBody>
      </p:sp>
      <p:pic>
        <p:nvPicPr>
          <p:cNvPr id="131075" name="Picture 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90487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>
          <a:xfrm>
            <a:off x="1897063" y="188914"/>
            <a:ext cx="7772400" cy="98107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Chapter 3: summary</a:t>
            </a:r>
          </a:p>
        </p:txBody>
      </p:sp>
      <p:sp>
        <p:nvSpPr>
          <p:cNvPr id="1126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57413" y="1360489"/>
            <a:ext cx="4398962" cy="395287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>
                <a:ea typeface="ＭＳ Ｐゴシック" charset="0"/>
                <a:cs typeface="+mn-cs"/>
              </a:rPr>
              <a:t>principles behind transport layer services: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>
                <a:ea typeface="ＭＳ Ｐゴシック" charset="0"/>
              </a:rPr>
              <a:t>multiplexing, demultiplexing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>
                <a:ea typeface="ＭＳ Ｐゴシック" charset="0"/>
              </a:rPr>
              <a:t>reliable data transfer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>
                <a:ea typeface="ＭＳ Ｐゴシック" charset="0"/>
              </a:rPr>
              <a:t>flow control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800">
                <a:ea typeface="ＭＳ Ｐゴシック" charset="0"/>
              </a:rPr>
              <a:t>congestion control</a:t>
            </a:r>
          </a:p>
          <a:p>
            <a:pPr>
              <a:buFont typeface="Wingdings" charset="0"/>
              <a:buChar char="v"/>
              <a:defRPr/>
            </a:pPr>
            <a:r>
              <a:rPr lang="en-US">
                <a:ea typeface="ＭＳ Ｐゴシック" charset="0"/>
                <a:cs typeface="+mn-cs"/>
              </a:rPr>
              <a:t>instantiation, implementation in the Internet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UDP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>
                <a:ea typeface="ＭＳ Ｐゴシック" charset="0"/>
              </a:rPr>
              <a:t>TCP</a:t>
            </a:r>
          </a:p>
        </p:txBody>
      </p:sp>
      <p:sp>
        <p:nvSpPr>
          <p:cNvPr id="11264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019925" y="2389188"/>
            <a:ext cx="3333750" cy="24574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u="sng" smtClean="0">
                <a:solidFill>
                  <a:srgbClr val="CC0000"/>
                </a:solidFill>
              </a:rPr>
              <a:t>next:</a:t>
            </a:r>
            <a:endParaRPr lang="en-US" altLang="en-US" smtClean="0">
              <a:solidFill>
                <a:srgbClr val="CC0000"/>
              </a:solidFill>
            </a:endParaRPr>
          </a:p>
          <a:p>
            <a:r>
              <a:rPr lang="en-US" altLang="en-US" smtClean="0"/>
              <a:t>leaving the network </a:t>
            </a:r>
            <a:r>
              <a:rPr lang="ja-JP" altLang="en-US" smtClean="0"/>
              <a:t>“</a:t>
            </a:r>
            <a:r>
              <a:rPr lang="en-US" altLang="ja-JP" smtClean="0"/>
              <a:t>edge</a:t>
            </a:r>
            <a:r>
              <a:rPr lang="ja-JP" altLang="en-US" smtClean="0"/>
              <a:t>”</a:t>
            </a:r>
            <a:r>
              <a:rPr lang="en-US" altLang="ja-JP" smtClean="0"/>
              <a:t> (application, transport layers)</a:t>
            </a:r>
          </a:p>
          <a:p>
            <a:r>
              <a:rPr lang="en-US" altLang="en-US" smtClean="0"/>
              <a:t>into the network </a:t>
            </a:r>
            <a:r>
              <a:rPr lang="ja-JP" altLang="en-US" smtClean="0"/>
              <a:t>“</a:t>
            </a:r>
            <a:r>
              <a:rPr lang="en-US" altLang="ja-JP" smtClean="0"/>
              <a:t>core</a:t>
            </a:r>
            <a:r>
              <a:rPr lang="ja-JP" altLang="en-US" smtClean="0"/>
              <a:t>”</a:t>
            </a:r>
            <a:endParaRPr lang="en-US" altLang="ja-JP" smtClean="0"/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667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4669</Words>
  <Application>Microsoft Office PowerPoint</Application>
  <PresentationFormat>Widescreen</PresentationFormat>
  <Paragraphs>1236</Paragraphs>
  <Slides>69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7" baseType="lpstr">
      <vt:lpstr>MS PGothic</vt:lpstr>
      <vt:lpstr>MS PGothic</vt:lpstr>
      <vt:lpstr>游ゴシック</vt:lpstr>
      <vt:lpstr>游ゴシック Light</vt:lpstr>
      <vt:lpstr>Arial</vt:lpstr>
      <vt:lpstr>Arial Narrow</vt:lpstr>
      <vt:lpstr>Calibri</vt:lpstr>
      <vt:lpstr>Calibri Light</vt:lpstr>
      <vt:lpstr>Comic Sans MS</vt:lpstr>
      <vt:lpstr>Courier New</vt:lpstr>
      <vt:lpstr>Gill Sans MT</vt:lpstr>
      <vt:lpstr>MS Mincho</vt:lpstr>
      <vt:lpstr>Symbol</vt:lpstr>
      <vt:lpstr>Tahoma</vt:lpstr>
      <vt:lpstr>Times New Roman</vt:lpstr>
      <vt:lpstr>Wingdings</vt:lpstr>
      <vt:lpstr>Wingdings 3</vt:lpstr>
      <vt:lpstr>Office Theme</vt:lpstr>
      <vt:lpstr>Transport Layer</vt:lpstr>
      <vt:lpstr>Outline</vt:lpstr>
      <vt:lpstr>Transport services and protocols</vt:lpstr>
      <vt:lpstr>Transport vs. network layer</vt:lpstr>
      <vt:lpstr>Port Number</vt:lpstr>
      <vt:lpstr>Port Number Ranges</vt:lpstr>
      <vt:lpstr>Internet transport-layer protocols</vt:lpstr>
      <vt:lpstr>Multiplexing/demultiplexing</vt:lpstr>
      <vt:lpstr>Multiplexing/demultiplexing</vt:lpstr>
      <vt:lpstr>UDP: User Datagram Protocol</vt:lpstr>
      <vt:lpstr>UDP: segment header</vt:lpstr>
      <vt:lpstr>UDP checksum</vt:lpstr>
      <vt:lpstr>Internet checksum: example</vt:lpstr>
      <vt:lpstr>Transmission Control Protocol (TCP)</vt:lpstr>
      <vt:lpstr>TCP Segment</vt:lpstr>
      <vt:lpstr>TCP segment</vt:lpstr>
      <vt:lpstr>TCP segment structure</vt:lpstr>
      <vt:lpstr>TCP seq. numbers, ACKs</vt:lpstr>
      <vt:lpstr>TCP seq. numbers, ACKs</vt:lpstr>
      <vt:lpstr>TCP round trip time, timeout</vt:lpstr>
      <vt:lpstr>TCP round trip time, timeout</vt:lpstr>
      <vt:lpstr>TCP round trip time, timeout</vt:lpstr>
      <vt:lpstr>Chapter 3 outline</vt:lpstr>
      <vt:lpstr>TCP reliable data transfer</vt:lpstr>
      <vt:lpstr>TCP sender events:</vt:lpstr>
      <vt:lpstr>TCP sender (simplified)</vt:lpstr>
      <vt:lpstr>TCP: retransmission scenarios</vt:lpstr>
      <vt:lpstr>TCP: retransmission scenarios</vt:lpstr>
      <vt:lpstr>TCP ACK generation [RFC 1122, RFC 2581]</vt:lpstr>
      <vt:lpstr>TCP fast retransmit</vt:lpstr>
      <vt:lpstr>TCP fast retransmit</vt:lpstr>
      <vt:lpstr>Chapter 3 outline</vt:lpstr>
      <vt:lpstr>TCP flow control</vt:lpstr>
      <vt:lpstr>TCP flow control</vt:lpstr>
      <vt:lpstr>Chapter 3 outline</vt:lpstr>
      <vt:lpstr>Connection Management</vt:lpstr>
      <vt:lpstr>Agreeing to establish a connection</vt:lpstr>
      <vt:lpstr>Agreeing to establish a connection</vt:lpstr>
      <vt:lpstr>TCP 3-way handshake</vt:lpstr>
      <vt:lpstr>TCP 3-way handshake: FSM</vt:lpstr>
      <vt:lpstr>TCP: closing a connection</vt:lpstr>
      <vt:lpstr>TCP: closing a connection</vt:lpstr>
      <vt:lpstr>Chapter 3 outline</vt:lpstr>
      <vt:lpstr>Principles of congestion control</vt:lpstr>
      <vt:lpstr>Causes/costs of congestion: scenario 1 </vt:lpstr>
      <vt:lpstr>Causes/costs of congestion: scenario 2 </vt:lpstr>
      <vt:lpstr>Causes/costs of congestion: scenario 2 </vt:lpstr>
      <vt:lpstr>Causes/costs of congestion: scenario 2 </vt:lpstr>
      <vt:lpstr>Causes/costs of congestion: scenario 2 </vt:lpstr>
      <vt:lpstr>Causes/costs of congestion: scenario 2 </vt:lpstr>
      <vt:lpstr>Causes/costs of congestion: scenario 2 </vt:lpstr>
      <vt:lpstr>Causes/costs of congestion: scenario 3 </vt:lpstr>
      <vt:lpstr>Causes/costs of congestion: scenario 3 </vt:lpstr>
      <vt:lpstr>Approaches towards congestion control</vt:lpstr>
      <vt:lpstr>Case study: ATM ABR congestion control</vt:lpstr>
      <vt:lpstr>Case study: ATM ABR congestion control</vt:lpstr>
      <vt:lpstr>Chapter 3 outline</vt:lpstr>
      <vt:lpstr>TCP congestion control: additive increase multiplicative decrease</vt:lpstr>
      <vt:lpstr>TCP Congestion Control: details</vt:lpstr>
      <vt:lpstr>TCP Slow Start </vt:lpstr>
      <vt:lpstr>TCP: detecting, reacting to loss</vt:lpstr>
      <vt:lpstr>TCP: switching from slow start to CA</vt:lpstr>
      <vt:lpstr>Summary: TCP Congestion Control</vt:lpstr>
      <vt:lpstr>TCP throughput</vt:lpstr>
      <vt:lpstr>TCP Futures: TCP over “long, fat pipes”</vt:lpstr>
      <vt:lpstr>TCP Fairness</vt:lpstr>
      <vt:lpstr>Why is TCP fair?</vt:lpstr>
      <vt:lpstr>Fairness (more)</vt:lpstr>
      <vt:lpstr>Chapter 3: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13</cp:revision>
  <dcterms:created xsi:type="dcterms:W3CDTF">2018-08-21T06:21:40Z</dcterms:created>
  <dcterms:modified xsi:type="dcterms:W3CDTF">2018-09-27T06:20:07Z</dcterms:modified>
</cp:coreProperties>
</file>