
<file path=[Content_Types].xml><?xml version="1.0" encoding="utf-8"?>
<Types xmlns="http://schemas.openxmlformats.org/package/2006/content-types"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70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91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4" r:id="rId28"/>
    <p:sldId id="287" r:id="rId29"/>
    <p:sldId id="286" r:id="rId30"/>
    <p:sldId id="285" r:id="rId31"/>
    <p:sldId id="290" r:id="rId32"/>
    <p:sldId id="292" r:id="rId33"/>
    <p:sldId id="288" r:id="rId34"/>
    <p:sldId id="293" r:id="rId35"/>
    <p:sldId id="294" r:id="rId36"/>
    <p:sldId id="295" r:id="rId37"/>
    <p:sldId id="296" r:id="rId38"/>
    <p:sldId id="297" r:id="rId39"/>
    <p:sldId id="298" r:id="rId40"/>
    <p:sldId id="299" r:id="rId41"/>
    <p:sldId id="300" r:id="rId42"/>
    <p:sldId id="306" r:id="rId43"/>
    <p:sldId id="307" r:id="rId44"/>
    <p:sldId id="302" r:id="rId45"/>
    <p:sldId id="303" r:id="rId46"/>
    <p:sldId id="304" r:id="rId47"/>
    <p:sldId id="305" r:id="rId48"/>
    <p:sldId id="308" r:id="rId49"/>
    <p:sldId id="309" r:id="rId50"/>
    <p:sldId id="310" r:id="rId51"/>
    <p:sldId id="311" r:id="rId52"/>
    <p:sldId id="312" r:id="rId53"/>
    <p:sldId id="313" r:id="rId54"/>
    <p:sldId id="314" r:id="rId55"/>
    <p:sldId id="315" r:id="rId56"/>
    <p:sldId id="316" r:id="rId57"/>
    <p:sldId id="326" r:id="rId58"/>
    <p:sldId id="327" r:id="rId59"/>
    <p:sldId id="318" r:id="rId60"/>
    <p:sldId id="321" r:id="rId61"/>
    <p:sldId id="319" r:id="rId62"/>
    <p:sldId id="320" r:id="rId63"/>
    <p:sldId id="328" r:id="rId64"/>
    <p:sldId id="329" r:id="rId65"/>
    <p:sldId id="330" r:id="rId66"/>
    <p:sldId id="331" r:id="rId67"/>
    <p:sldId id="332" r:id="rId68"/>
    <p:sldId id="333" r:id="rId6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141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" Type="http://schemas.openxmlformats.org/officeDocument/2006/relationships/slide" Target="slides/slide6.xml"/><Relationship Id="rId71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131EE1-E741-4D1C-B052-D73A75FF54AD}" type="datetimeFigureOut">
              <a:rPr lang="en-IN" smtClean="0"/>
              <a:t>05-02-2019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ED5BE8-8E5D-4292-8918-D56E3BB73E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39291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59" name="Text Box 2"/>
          <p:cNvSpPr txBox="1">
            <a:spLocks noChangeArrowheads="1"/>
          </p:cNvSpPr>
          <p:nvPr/>
        </p:nvSpPr>
        <p:spPr bwMode="auto">
          <a:xfrm>
            <a:off x="503238" y="4316413"/>
            <a:ext cx="5854700" cy="4059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Text Box 2"/>
          <p:cNvSpPr txBox="1">
            <a:spLocks noChangeArrowheads="1"/>
          </p:cNvSpPr>
          <p:nvPr/>
        </p:nvSpPr>
        <p:spPr bwMode="auto">
          <a:xfrm>
            <a:off x="503238" y="4316413"/>
            <a:ext cx="5854700" cy="4059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5" name="Text Box 2"/>
          <p:cNvSpPr txBox="1">
            <a:spLocks noChangeArrowheads="1"/>
          </p:cNvSpPr>
          <p:nvPr/>
        </p:nvSpPr>
        <p:spPr bwMode="auto">
          <a:xfrm>
            <a:off x="503238" y="4316413"/>
            <a:ext cx="5854700" cy="4059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79" name="Text Box 2"/>
          <p:cNvSpPr txBox="1">
            <a:spLocks noChangeArrowheads="1"/>
          </p:cNvSpPr>
          <p:nvPr/>
        </p:nvSpPr>
        <p:spPr bwMode="auto">
          <a:xfrm>
            <a:off x="503238" y="4316413"/>
            <a:ext cx="5854700" cy="4059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3" name="Text Box 2"/>
          <p:cNvSpPr txBox="1">
            <a:spLocks noChangeArrowheads="1"/>
          </p:cNvSpPr>
          <p:nvPr/>
        </p:nvSpPr>
        <p:spPr bwMode="auto">
          <a:xfrm>
            <a:off x="503238" y="4316413"/>
            <a:ext cx="5854700" cy="4059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7" name="Text Box 2"/>
          <p:cNvSpPr txBox="1">
            <a:spLocks noChangeArrowheads="1"/>
          </p:cNvSpPr>
          <p:nvPr/>
        </p:nvSpPr>
        <p:spPr bwMode="auto">
          <a:xfrm>
            <a:off x="503238" y="4316413"/>
            <a:ext cx="5854700" cy="4059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1" name="Text Box 2"/>
          <p:cNvSpPr txBox="1">
            <a:spLocks noChangeArrowheads="1"/>
          </p:cNvSpPr>
          <p:nvPr/>
        </p:nvSpPr>
        <p:spPr bwMode="auto">
          <a:xfrm>
            <a:off x="503238" y="4316413"/>
            <a:ext cx="5854700" cy="4059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Text Box 2"/>
          <p:cNvSpPr txBox="1">
            <a:spLocks noChangeArrowheads="1"/>
          </p:cNvSpPr>
          <p:nvPr/>
        </p:nvSpPr>
        <p:spPr bwMode="auto">
          <a:xfrm>
            <a:off x="503238" y="4316413"/>
            <a:ext cx="5854700" cy="4059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19" name="Text Box 2"/>
          <p:cNvSpPr txBox="1">
            <a:spLocks noChangeArrowheads="1"/>
          </p:cNvSpPr>
          <p:nvPr/>
        </p:nvSpPr>
        <p:spPr bwMode="auto">
          <a:xfrm>
            <a:off x="503238" y="4316413"/>
            <a:ext cx="5854700" cy="4059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3" name="Text Box 2"/>
          <p:cNvSpPr txBox="1">
            <a:spLocks noChangeArrowheads="1"/>
          </p:cNvSpPr>
          <p:nvPr/>
        </p:nvSpPr>
        <p:spPr bwMode="auto">
          <a:xfrm>
            <a:off x="503238" y="4316413"/>
            <a:ext cx="5854700" cy="4059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7" name="Text Box 2"/>
          <p:cNvSpPr txBox="1">
            <a:spLocks noChangeArrowheads="1"/>
          </p:cNvSpPr>
          <p:nvPr/>
        </p:nvSpPr>
        <p:spPr bwMode="auto">
          <a:xfrm>
            <a:off x="503238" y="4316413"/>
            <a:ext cx="5854700" cy="4059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1" name="Text Box 2"/>
          <p:cNvSpPr txBox="1">
            <a:spLocks noChangeArrowheads="1"/>
          </p:cNvSpPr>
          <p:nvPr/>
        </p:nvSpPr>
        <p:spPr bwMode="auto">
          <a:xfrm>
            <a:off x="503238" y="4316413"/>
            <a:ext cx="5854700" cy="4059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5" name="Text Box 2"/>
          <p:cNvSpPr txBox="1">
            <a:spLocks noChangeArrowheads="1"/>
          </p:cNvSpPr>
          <p:nvPr/>
        </p:nvSpPr>
        <p:spPr bwMode="auto">
          <a:xfrm>
            <a:off x="503238" y="4316413"/>
            <a:ext cx="5854700" cy="4059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7" name="Text Box 2"/>
          <p:cNvSpPr txBox="1">
            <a:spLocks noChangeArrowheads="1"/>
          </p:cNvSpPr>
          <p:nvPr/>
        </p:nvSpPr>
        <p:spPr bwMode="auto">
          <a:xfrm>
            <a:off x="503238" y="4316413"/>
            <a:ext cx="5854700" cy="4059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Text Box 2"/>
          <p:cNvSpPr txBox="1">
            <a:spLocks noChangeArrowheads="1"/>
          </p:cNvSpPr>
          <p:nvPr/>
        </p:nvSpPr>
        <p:spPr bwMode="auto">
          <a:xfrm>
            <a:off x="503238" y="4316413"/>
            <a:ext cx="5854700" cy="4059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5" name="Text Box 2"/>
          <p:cNvSpPr txBox="1">
            <a:spLocks noChangeArrowheads="1"/>
          </p:cNvSpPr>
          <p:nvPr/>
        </p:nvSpPr>
        <p:spPr bwMode="auto">
          <a:xfrm>
            <a:off x="503238" y="4316413"/>
            <a:ext cx="5854700" cy="4059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79" name="Text Box 2"/>
          <p:cNvSpPr txBox="1">
            <a:spLocks noChangeArrowheads="1"/>
          </p:cNvSpPr>
          <p:nvPr/>
        </p:nvSpPr>
        <p:spPr bwMode="auto">
          <a:xfrm>
            <a:off x="503238" y="4316413"/>
            <a:ext cx="5854700" cy="4059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3" name="Text Box 2"/>
          <p:cNvSpPr txBox="1">
            <a:spLocks noChangeArrowheads="1"/>
          </p:cNvSpPr>
          <p:nvPr/>
        </p:nvSpPr>
        <p:spPr bwMode="auto">
          <a:xfrm>
            <a:off x="503238" y="4316413"/>
            <a:ext cx="5854700" cy="4059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7" name="Text Box 2"/>
          <p:cNvSpPr txBox="1">
            <a:spLocks noChangeArrowheads="1"/>
          </p:cNvSpPr>
          <p:nvPr/>
        </p:nvSpPr>
        <p:spPr bwMode="auto">
          <a:xfrm>
            <a:off x="503238" y="4316413"/>
            <a:ext cx="5854700" cy="4059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1" name="Text Box 2"/>
          <p:cNvSpPr txBox="1">
            <a:spLocks noChangeArrowheads="1"/>
          </p:cNvSpPr>
          <p:nvPr/>
        </p:nvSpPr>
        <p:spPr bwMode="auto">
          <a:xfrm>
            <a:off x="503238" y="4316413"/>
            <a:ext cx="5854700" cy="4059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5" name="Text Box 2"/>
          <p:cNvSpPr txBox="1">
            <a:spLocks noChangeArrowheads="1"/>
          </p:cNvSpPr>
          <p:nvPr/>
        </p:nvSpPr>
        <p:spPr bwMode="auto">
          <a:xfrm>
            <a:off x="503238" y="4316413"/>
            <a:ext cx="5854700" cy="4059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099" name="Text Box 2"/>
          <p:cNvSpPr txBox="1">
            <a:spLocks noChangeArrowheads="1"/>
          </p:cNvSpPr>
          <p:nvPr/>
        </p:nvSpPr>
        <p:spPr bwMode="auto">
          <a:xfrm>
            <a:off x="503238" y="4316413"/>
            <a:ext cx="5854700" cy="4059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9394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041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1442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01FA2-AF05-478E-B951-8C321134F4AF}" type="datetime1">
              <a:rPr lang="en-IN" smtClean="0"/>
              <a:t>05-02-2019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BD27E-A942-441D-9BF8-C7CFFBCD84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97341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C03CF-95CC-4724-9756-95428E3E55CC}" type="datetime1">
              <a:rPr lang="en-IN" smtClean="0"/>
              <a:t>05-02-2019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BD27E-A942-441D-9BF8-C7CFFBCD84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4311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E4CF5-192F-4CD4-BF55-EE1C606B464A}" type="datetime1">
              <a:rPr lang="en-IN" smtClean="0"/>
              <a:t>05-02-2019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BD27E-A942-441D-9BF8-C7CFFBCD84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0674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CDCF1-E1FB-421D-BD3C-257D8B2E5491}" type="datetime1">
              <a:rPr lang="en-IN" smtClean="0"/>
              <a:t>05-02-2019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BD27E-A942-441D-9BF8-C7CFFBCD84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4585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BEE67-E8FD-443B-8595-2A44DACDE0B5}" type="datetime1">
              <a:rPr lang="en-IN" smtClean="0"/>
              <a:t>05-02-2019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BD27E-A942-441D-9BF8-C7CFFBCD84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23355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85195-BEDD-4A96-B5FE-3A85B5D89F75}" type="datetime1">
              <a:rPr lang="en-IN" smtClean="0"/>
              <a:t>05-02-2019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BD27E-A942-441D-9BF8-C7CFFBCD84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1809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84E31-A289-4D3D-90C5-ED42BF14D530}" type="datetime1">
              <a:rPr lang="en-IN" smtClean="0"/>
              <a:t>05-02-2019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BD27E-A942-441D-9BF8-C7CFFBCD84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7599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B5092-CFBE-42FF-BC4E-E873D2EBE6BE}" type="datetime1">
              <a:rPr lang="en-IN" smtClean="0"/>
              <a:t>05-02-2019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BD27E-A942-441D-9BF8-C7CFFBCD84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2867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E73EA-C26D-4345-8DA7-3E484E82978A}" type="datetime1">
              <a:rPr lang="en-IN" smtClean="0"/>
              <a:t>05-02-2019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BD27E-A942-441D-9BF8-C7CFFBCD84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63055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1D334-7330-4B06-BC39-BC4E13D842A5}" type="datetime1">
              <a:rPr lang="en-IN" smtClean="0"/>
              <a:t>05-02-2019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BD27E-A942-441D-9BF8-C7CFFBCD84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5129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A06E2-7E4F-4233-A6A4-3D79FAD4DDD9}" type="datetime1">
              <a:rPr lang="en-IN" smtClean="0"/>
              <a:t>05-02-2019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BD27E-A942-441D-9BF8-C7CFFBCD84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19009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400" y="2286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885950"/>
            <a:ext cx="4013200" cy="417195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4622800" y="1885950"/>
            <a:ext cx="4013200" cy="4171950"/>
          </a:xfrm>
        </p:spPr>
        <p:txBody>
          <a:bodyPr/>
          <a:lstStyle/>
          <a:p>
            <a:pPr lvl="0"/>
            <a:endParaRPr lang="en-IN" noProof="0" smtClean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E0026D-F6B0-44CB-9115-4581DE2ED29B}" type="datetime1">
              <a:rPr lang="en-IN" altLang="en-US" smtClean="0"/>
              <a:t>05-02-2019</a:t>
            </a:fld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1E79D1-1AA1-4959-8727-31A1FC3E0CE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57025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6806FE-EB49-47A1-A837-C0D36F4CF733}" type="datetime1">
              <a:rPr lang="en-IN" smtClean="0"/>
              <a:t>05-02-2019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CBD27E-A942-441D-9BF8-C7CFFBCD84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8752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echuz.com/blog/progressive-web-apps-the-future-of-mobile-web-app-development/" TargetMode="Externa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Introduction to Software Engineering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Dr. </a:t>
            </a:r>
            <a:r>
              <a:rPr lang="en-US" dirty="0" err="1" smtClean="0"/>
              <a:t>Tulika</a:t>
            </a:r>
            <a:endParaRPr lang="en-US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49514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Software Systems</a:t>
            </a:r>
          </a:p>
          <a:p>
            <a:r>
              <a:rPr lang="en-US" dirty="0" smtClean="0"/>
              <a:t>Challenges in large projects</a:t>
            </a:r>
          </a:p>
          <a:p>
            <a:r>
              <a:rPr lang="en-US" dirty="0" smtClean="0"/>
              <a:t>Successful Software Systems</a:t>
            </a:r>
          </a:p>
          <a:p>
            <a:r>
              <a:rPr lang="en-US" dirty="0" smtClean="0"/>
              <a:t>Engineering Approaches</a:t>
            </a:r>
          </a:p>
          <a:p>
            <a:r>
              <a:rPr lang="en-US" dirty="0" smtClean="0"/>
              <a:t>Characteristics of a good process</a:t>
            </a:r>
          </a:p>
          <a:p>
            <a:r>
              <a:rPr lang="en-US" dirty="0" smtClean="0"/>
              <a:t>Generic Process Models</a:t>
            </a:r>
          </a:p>
          <a:p>
            <a:r>
              <a:rPr lang="en-US" dirty="0" smtClean="0"/>
              <a:t>Software Development Life Cycle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87506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Software Systems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Ubiquitous , used in variety of applications</a:t>
            </a:r>
          </a:p>
          <a:p>
            <a:pPr lvl="1"/>
            <a:r>
              <a:rPr lang="en-US" dirty="0" smtClean="0"/>
              <a:t>Business, engineering, scientific applications</a:t>
            </a:r>
          </a:p>
          <a:p>
            <a:r>
              <a:rPr lang="en-US" dirty="0" smtClean="0"/>
              <a:t>Simple to complex, internal to public, single function to enterprise wide, one location to distributed, batch or real time, informational  to mission critical,…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5876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in large projects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Developing large/complex software application is very challenging</a:t>
            </a:r>
          </a:p>
          <a:p>
            <a:pPr lvl="1"/>
            <a:r>
              <a:rPr lang="en-US" dirty="0" smtClean="0"/>
              <a:t>Effort intensive</a:t>
            </a:r>
          </a:p>
          <a:p>
            <a:pPr lvl="1"/>
            <a:r>
              <a:rPr lang="en-US" dirty="0" smtClean="0"/>
              <a:t>High cost</a:t>
            </a:r>
          </a:p>
          <a:p>
            <a:pPr lvl="1"/>
            <a:r>
              <a:rPr lang="en-US" dirty="0" smtClean="0"/>
              <a:t>Long development  time</a:t>
            </a:r>
          </a:p>
          <a:p>
            <a:pPr lvl="1"/>
            <a:r>
              <a:rPr lang="en-US" dirty="0" smtClean="0"/>
              <a:t>Changing needs for users</a:t>
            </a:r>
          </a:p>
          <a:p>
            <a:pPr lvl="1"/>
            <a:r>
              <a:rPr lang="en-US" dirty="0" smtClean="0"/>
              <a:t>High risk of failure , user acceptance,  performance , maintainability,…</a:t>
            </a:r>
          </a:p>
          <a:p>
            <a:r>
              <a:rPr lang="en-US" dirty="0" smtClean="0"/>
              <a:t>Quite  different from one-time programs where author and user  are same!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420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Successful software system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Software development projects have not always been successful</a:t>
            </a:r>
          </a:p>
          <a:p>
            <a:r>
              <a:rPr lang="en-US" dirty="0" smtClean="0"/>
              <a:t>When do we consider a software application successful?</a:t>
            </a:r>
          </a:p>
          <a:p>
            <a:pPr lvl="1"/>
            <a:r>
              <a:rPr lang="en-US" dirty="0"/>
              <a:t>Development completed</a:t>
            </a:r>
          </a:p>
          <a:p>
            <a:pPr lvl="1"/>
            <a:r>
              <a:rPr lang="en-US" dirty="0"/>
              <a:t>It is useful</a:t>
            </a:r>
          </a:p>
          <a:p>
            <a:pPr lvl="1"/>
            <a:r>
              <a:rPr lang="en-US" dirty="0"/>
              <a:t>It is usable and</a:t>
            </a:r>
          </a:p>
          <a:p>
            <a:pPr lvl="1"/>
            <a:r>
              <a:rPr lang="en-US" dirty="0"/>
              <a:t>It is used</a:t>
            </a:r>
            <a:endParaRPr lang="en-IN" dirty="0"/>
          </a:p>
          <a:p>
            <a:r>
              <a:rPr lang="en-US" dirty="0" smtClean="0"/>
              <a:t>Cost-effectiveness , maintainability  implied</a:t>
            </a:r>
          </a:p>
        </p:txBody>
      </p:sp>
    </p:spTree>
    <p:extLst>
      <p:ext uri="{BB962C8B-B14F-4D97-AF65-F5344CB8AC3E}">
        <p14:creationId xmlns:p14="http://schemas.microsoft.com/office/powerpoint/2010/main" val="3787550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Reason of failure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Schedule slippage</a:t>
            </a:r>
          </a:p>
          <a:p>
            <a:r>
              <a:rPr lang="en-US" dirty="0" smtClean="0"/>
              <a:t>Cost over-runs</a:t>
            </a:r>
          </a:p>
          <a:p>
            <a:r>
              <a:rPr lang="en-US" dirty="0" smtClean="0"/>
              <a:t>Does not solve user’s problem</a:t>
            </a:r>
          </a:p>
          <a:p>
            <a:r>
              <a:rPr lang="en-US" dirty="0" smtClean="0"/>
              <a:t>Poor quality of software</a:t>
            </a:r>
          </a:p>
          <a:p>
            <a:r>
              <a:rPr lang="en-US" dirty="0" smtClean="0"/>
              <a:t>Poor maintainability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6959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Reasons of failure…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Ad  hoc software development results  in such problems</a:t>
            </a:r>
          </a:p>
          <a:p>
            <a:pPr lvl="1"/>
            <a:r>
              <a:rPr lang="en-US" dirty="0" smtClean="0"/>
              <a:t>No planning of development work (e.g. no milestones defined)</a:t>
            </a:r>
          </a:p>
          <a:p>
            <a:pPr lvl="1"/>
            <a:r>
              <a:rPr lang="en-US" dirty="0" smtClean="0"/>
              <a:t>Deliverables  to user not identified</a:t>
            </a:r>
          </a:p>
          <a:p>
            <a:pPr lvl="1"/>
            <a:r>
              <a:rPr lang="en-US" dirty="0" smtClean="0"/>
              <a:t>Poor understanding of user requirements</a:t>
            </a:r>
          </a:p>
          <a:p>
            <a:pPr lvl="1"/>
            <a:r>
              <a:rPr lang="en-US" dirty="0" smtClean="0"/>
              <a:t>No control or review</a:t>
            </a:r>
          </a:p>
          <a:p>
            <a:pPr lvl="1"/>
            <a:r>
              <a:rPr lang="en-US" dirty="0" smtClean="0"/>
              <a:t>Technical incompetence of developers</a:t>
            </a:r>
          </a:p>
          <a:p>
            <a:pPr lvl="1"/>
            <a:r>
              <a:rPr lang="en-US" dirty="0" smtClean="0"/>
              <a:t>Poor understanding of cost and effort by both developer and user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26146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Engineering: other disciplines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Large projects common  and successfully  done</a:t>
            </a:r>
          </a:p>
          <a:p>
            <a:pPr lvl="1"/>
            <a:r>
              <a:rPr lang="en-US" dirty="0" smtClean="0"/>
              <a:t>Building bridges, dams</a:t>
            </a:r>
          </a:p>
          <a:p>
            <a:pPr lvl="1"/>
            <a:r>
              <a:rPr lang="en-US" dirty="0" smtClean="0"/>
              <a:t>Power plants</a:t>
            </a:r>
          </a:p>
          <a:p>
            <a:pPr lvl="1"/>
            <a:r>
              <a:rPr lang="en-US" dirty="0" smtClean="0"/>
              <a:t>Aircrafts, missiles,…</a:t>
            </a:r>
          </a:p>
          <a:p>
            <a:r>
              <a:rPr lang="en-US" dirty="0" smtClean="0"/>
              <a:t>Engineering a solution</a:t>
            </a:r>
          </a:p>
          <a:p>
            <a:pPr lvl="1"/>
            <a:r>
              <a:rPr lang="en-US" dirty="0" smtClean="0"/>
              <a:t>To design, develop(build, fabricate) an artifact that meets specifications efficiently, cost-effectively and ensuring quality</a:t>
            </a:r>
          </a:p>
          <a:p>
            <a:pPr lvl="1"/>
            <a:r>
              <a:rPr lang="en-US" dirty="0" smtClean="0"/>
              <a:t>Using scientific principles</a:t>
            </a:r>
          </a:p>
          <a:p>
            <a:pPr lvl="1"/>
            <a:endParaRPr lang="en-US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9423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Engineering…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Requires well-defined approach: repeatable  predictable</a:t>
            </a:r>
          </a:p>
          <a:p>
            <a:r>
              <a:rPr lang="en-US" dirty="0" smtClean="0"/>
              <a:t>Large projects requires managing the project itself</a:t>
            </a:r>
          </a:p>
          <a:p>
            <a:pPr lvl="1"/>
            <a:r>
              <a:rPr lang="en-US" dirty="0" smtClean="0"/>
              <a:t>Manage people, money (cost), equipment, schedule</a:t>
            </a:r>
          </a:p>
          <a:p>
            <a:pPr lvl="1"/>
            <a:r>
              <a:rPr lang="en-US" dirty="0" smtClean="0"/>
              <a:t>Scale makes big difference: compare building a hut,  2-storeyed house or 50-storeyed apartment building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3955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Large projects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Involve different types of people</a:t>
            </a:r>
          </a:p>
          <a:p>
            <a:pPr lvl="1"/>
            <a:r>
              <a:rPr lang="en-US" dirty="0" smtClean="0"/>
              <a:t>Large building: architect, civil engineer, electrical engineer, workers (masons, carpenters), …</a:t>
            </a:r>
          </a:p>
          <a:p>
            <a:r>
              <a:rPr lang="en-US" dirty="0" smtClean="0"/>
              <a:t>Continuous supervision of quality assurance</a:t>
            </a:r>
          </a:p>
          <a:p>
            <a:pPr lvl="1"/>
            <a:r>
              <a:rPr lang="en-US" dirty="0" smtClean="0"/>
              <a:t>On site supervision (check cement/steel quality, ensuring proper mix of sand and cement, …)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9511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Large projects…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Many deliverables: architecture plan, model, structure diagrams, electrical cabling layouts, …</a:t>
            </a:r>
          </a:p>
          <a:p>
            <a:r>
              <a:rPr lang="en-US" dirty="0" smtClean="0"/>
              <a:t>Standards, regulations, conventions need to  be followed</a:t>
            </a:r>
          </a:p>
          <a:p>
            <a:r>
              <a:rPr lang="en-US" dirty="0" smtClean="0"/>
              <a:t>Steps, milestones defined and reviews are carried out: progress is visible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3526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Apply engineering </a:t>
            </a:r>
            <a:r>
              <a:rPr lang="en-IN" dirty="0"/>
              <a:t>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Hence planning and control even more important in software development</a:t>
            </a:r>
          </a:p>
          <a:p>
            <a:pPr marL="0" indent="0">
              <a:buNone/>
            </a:pPr>
            <a:r>
              <a:rPr lang="en-US" dirty="0" smtClean="0"/>
              <a:t>     Engineering approach</a:t>
            </a:r>
          </a:p>
          <a:p>
            <a:pPr lvl="1"/>
            <a:r>
              <a:rPr lang="en-IN" dirty="0"/>
              <a:t>A</a:t>
            </a:r>
            <a:r>
              <a:rPr lang="en-IN" dirty="0" smtClean="0"/>
              <a:t>ttempt </a:t>
            </a:r>
            <a:r>
              <a:rPr lang="en-IN" dirty="0"/>
              <a:t>to estimate </a:t>
            </a:r>
            <a:r>
              <a:rPr lang="en-IN" dirty="0" smtClean="0"/>
              <a:t>cost </a:t>
            </a:r>
            <a:r>
              <a:rPr lang="en-IN" dirty="0"/>
              <a:t>and effort </a:t>
            </a:r>
            <a:endParaRPr lang="en-IN" dirty="0" smtClean="0"/>
          </a:p>
          <a:p>
            <a:pPr lvl="1"/>
            <a:r>
              <a:rPr lang="en-IN" dirty="0"/>
              <a:t>P</a:t>
            </a:r>
            <a:r>
              <a:rPr lang="en-IN" dirty="0" smtClean="0"/>
              <a:t>lan </a:t>
            </a:r>
            <a:r>
              <a:rPr lang="en-IN" dirty="0"/>
              <a:t>and schedule </a:t>
            </a:r>
            <a:r>
              <a:rPr lang="en-IN" dirty="0" smtClean="0"/>
              <a:t> work</a:t>
            </a:r>
          </a:p>
          <a:p>
            <a:pPr lvl="1"/>
            <a:r>
              <a:rPr lang="en-IN" dirty="0"/>
              <a:t>I</a:t>
            </a:r>
            <a:r>
              <a:rPr lang="en-IN" dirty="0" smtClean="0"/>
              <a:t>nvolve </a:t>
            </a:r>
            <a:r>
              <a:rPr lang="en-IN" dirty="0"/>
              <a:t>users in defining requirements</a:t>
            </a:r>
            <a:r>
              <a:rPr lang="en-IN" dirty="0" smtClean="0"/>
              <a:t>,</a:t>
            </a:r>
          </a:p>
          <a:p>
            <a:pPr lvl="1"/>
            <a:r>
              <a:rPr lang="en-US" dirty="0" smtClean="0"/>
              <a:t>Identify stages in development</a:t>
            </a:r>
          </a:p>
          <a:p>
            <a:pPr lvl="1"/>
            <a:r>
              <a:rPr lang="en-IN" dirty="0"/>
              <a:t>D</a:t>
            </a:r>
            <a:r>
              <a:rPr lang="en-IN" dirty="0" smtClean="0"/>
              <a:t>efine </a:t>
            </a:r>
            <a:r>
              <a:rPr lang="en-IN" dirty="0"/>
              <a:t>clear </a:t>
            </a:r>
            <a:r>
              <a:rPr lang="en-IN" dirty="0" smtClean="0"/>
              <a:t>milestones so that  progress </a:t>
            </a:r>
            <a:r>
              <a:rPr lang="en-IN" dirty="0"/>
              <a:t>can be </a:t>
            </a:r>
            <a:r>
              <a:rPr lang="en-IN" dirty="0" smtClean="0"/>
              <a:t>seen.</a:t>
            </a:r>
          </a:p>
          <a:p>
            <a:pPr lvl="1"/>
            <a:r>
              <a:rPr lang="en-IN" dirty="0" smtClean="0"/>
              <a:t>Schedule </a:t>
            </a:r>
            <a:r>
              <a:rPr lang="en-IN" dirty="0"/>
              <a:t>reviews </a:t>
            </a:r>
            <a:r>
              <a:rPr lang="en-IN" dirty="0" smtClean="0"/>
              <a:t>both </a:t>
            </a:r>
            <a:r>
              <a:rPr lang="en-IN" dirty="0"/>
              <a:t>for </a:t>
            </a:r>
            <a:r>
              <a:rPr lang="en-IN" dirty="0" smtClean="0"/>
              <a:t> </a:t>
            </a:r>
            <a:r>
              <a:rPr lang="en-IN" dirty="0"/>
              <a:t>quality and </a:t>
            </a:r>
            <a:r>
              <a:rPr lang="en-IN" dirty="0" smtClean="0"/>
              <a:t>control.</a:t>
            </a:r>
          </a:p>
          <a:p>
            <a:pPr lvl="1"/>
            <a:r>
              <a:rPr lang="en-IN" dirty="0"/>
              <a:t>D</a:t>
            </a:r>
            <a:r>
              <a:rPr lang="en-IN" dirty="0" smtClean="0"/>
              <a:t>efine deliverables</a:t>
            </a:r>
          </a:p>
          <a:p>
            <a:pPr lvl="1"/>
            <a:r>
              <a:rPr lang="en-US" dirty="0" smtClean="0"/>
              <a:t>Plan extensive testing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6940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Job of Software Developer is difficult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Dealing with users</a:t>
            </a:r>
          </a:p>
          <a:p>
            <a:pPr lvl="1"/>
            <a:r>
              <a:rPr lang="en-US" dirty="0"/>
              <a:t>Ill-defined requirements</a:t>
            </a:r>
          </a:p>
          <a:p>
            <a:pPr lvl="1"/>
            <a:r>
              <a:rPr lang="en-US" dirty="0"/>
              <a:t>Concern with ease-of-use and response time</a:t>
            </a:r>
            <a:endParaRPr lang="en-IN" dirty="0"/>
          </a:p>
          <a:p>
            <a:r>
              <a:rPr lang="en-US" dirty="0" smtClean="0"/>
              <a:t>Dealing with technical  people</a:t>
            </a:r>
          </a:p>
          <a:p>
            <a:pPr lvl="1"/>
            <a:r>
              <a:rPr lang="en-US" dirty="0" smtClean="0"/>
              <a:t>Concerned with coding, databases, file structure </a:t>
            </a:r>
            <a:r>
              <a:rPr lang="en-US" dirty="0" err="1" smtClean="0"/>
              <a:t>etc</a:t>
            </a:r>
            <a:endParaRPr lang="en-US" dirty="0" smtClean="0"/>
          </a:p>
          <a:p>
            <a:r>
              <a:rPr lang="en-US" dirty="0" smtClean="0"/>
              <a:t>Dealing with management</a:t>
            </a:r>
          </a:p>
          <a:p>
            <a:pPr lvl="1"/>
            <a:r>
              <a:rPr lang="en-US" dirty="0" smtClean="0"/>
              <a:t>Concerned with return on their investment</a:t>
            </a:r>
          </a:p>
          <a:p>
            <a:pPr lvl="1"/>
            <a:r>
              <a:rPr lang="en-US" dirty="0" smtClean="0"/>
              <a:t>Cost-benefit analysis</a:t>
            </a:r>
          </a:p>
          <a:p>
            <a:pPr lvl="1"/>
            <a:r>
              <a:rPr lang="en-US" dirty="0" smtClean="0"/>
              <a:t>Schedule</a:t>
            </a:r>
          </a:p>
        </p:txBody>
      </p:sp>
    </p:spTree>
    <p:extLst>
      <p:ext uri="{BB962C8B-B14F-4D97-AF65-F5344CB8AC3E}">
        <p14:creationId xmlns:p14="http://schemas.microsoft.com/office/powerpoint/2010/main" val="1223124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762000" y="3581400"/>
            <a:ext cx="7772400" cy="2346325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dirty="0">
                <a:latin typeface="+mn-lt"/>
                <a:ea typeface="ＭＳ Ｐゴシック" charset="-128"/>
              </a:rPr>
              <a:t>The IEEE definition:</a:t>
            </a:r>
          </a:p>
          <a:p>
            <a:pPr lvl="1" eaLnBrk="1" hangingPunct="1">
              <a:spcBef>
                <a:spcPts val="300"/>
              </a:spcBef>
              <a:defRPr/>
            </a:pPr>
            <a:r>
              <a:rPr lang="en-US" i="1" dirty="0">
                <a:latin typeface="+mn-lt"/>
                <a:ea typeface="ＭＳ Ｐゴシック" charset="-128"/>
              </a:rPr>
              <a:t>Software Engineering: (1) The application of a </a:t>
            </a:r>
            <a:r>
              <a:rPr lang="en-US" i="1" dirty="0">
                <a:solidFill>
                  <a:srgbClr val="AD0101"/>
                </a:solidFill>
                <a:latin typeface="+mn-lt"/>
                <a:ea typeface="ＭＳ Ｐゴシック" charset="-128"/>
              </a:rPr>
              <a:t>systematic, disciplined, quantifiable approach </a:t>
            </a:r>
            <a:r>
              <a:rPr lang="en-US" i="1" dirty="0">
                <a:latin typeface="+mn-lt"/>
                <a:ea typeface="ＭＳ Ｐゴシック" charset="-128"/>
              </a:rPr>
              <a:t>to the </a:t>
            </a:r>
            <a:r>
              <a:rPr lang="en-US" i="1" dirty="0">
                <a:solidFill>
                  <a:srgbClr val="AD0101"/>
                </a:solidFill>
                <a:latin typeface="+mn-lt"/>
                <a:ea typeface="ＭＳ Ｐゴシック" charset="-128"/>
              </a:rPr>
              <a:t>development, operation, and maintenance </a:t>
            </a:r>
            <a:r>
              <a:rPr lang="en-US" i="1" dirty="0">
                <a:latin typeface="+mn-lt"/>
                <a:ea typeface="ＭＳ Ｐゴシック" charset="-128"/>
              </a:rPr>
              <a:t>of software; that is, the application of engineering to software.  (2) The study of approaches as in (1).</a:t>
            </a:r>
          </a:p>
        </p:txBody>
      </p:sp>
      <p:sp>
        <p:nvSpPr>
          <p:cNvPr id="15363" name="Rectangle 14"/>
          <p:cNvSpPr>
            <a:spLocks noChangeArrowheads="1"/>
          </p:cNvSpPr>
          <p:nvPr/>
        </p:nvSpPr>
        <p:spPr bwMode="auto">
          <a:xfrm>
            <a:off x="685800" y="1447800"/>
            <a:ext cx="7543800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dirty="0">
                <a:latin typeface="Times New Roman" pitchFamily="18" charset="0"/>
              </a:rPr>
              <a:t>The </a:t>
            </a:r>
            <a:r>
              <a:rPr lang="en-US" altLang="en-US" dirty="0" smtClean="0">
                <a:latin typeface="Times New Roman" pitchFamily="18" charset="0"/>
              </a:rPr>
              <a:t>formative </a:t>
            </a:r>
            <a:r>
              <a:rPr lang="en-US" altLang="en-US" dirty="0">
                <a:latin typeface="Times New Roman" pitchFamily="18" charset="0"/>
              </a:rPr>
              <a:t>definition:</a:t>
            </a:r>
            <a:endParaRPr lang="en-US" altLang="en-US" i="1" dirty="0">
              <a:latin typeface="Times New Roman" pitchFamily="18" charset="0"/>
            </a:endParaRPr>
          </a:p>
          <a:p>
            <a:pPr lvl="1" eaLnBrk="1" hangingPunct="1"/>
            <a:r>
              <a:rPr lang="en-US" altLang="en-US" i="1" dirty="0">
                <a:latin typeface="Times New Roman" pitchFamily="18" charset="0"/>
              </a:rPr>
              <a:t>[Software engineering is] the establishment and use of </a:t>
            </a:r>
            <a:r>
              <a:rPr lang="en-US" altLang="en-US" i="1" dirty="0">
                <a:solidFill>
                  <a:srgbClr val="AD0101"/>
                </a:solidFill>
                <a:latin typeface="Times New Roman" pitchFamily="18" charset="0"/>
              </a:rPr>
              <a:t>sound engineering principles </a:t>
            </a:r>
            <a:r>
              <a:rPr lang="en-US" altLang="en-US" i="1" dirty="0">
                <a:latin typeface="Times New Roman" pitchFamily="18" charset="0"/>
              </a:rPr>
              <a:t>in order to obtain </a:t>
            </a:r>
            <a:r>
              <a:rPr lang="en-US" altLang="en-US" i="1" dirty="0">
                <a:solidFill>
                  <a:srgbClr val="AD0101"/>
                </a:solidFill>
                <a:latin typeface="Times New Roman" pitchFamily="18" charset="0"/>
              </a:rPr>
              <a:t>economically</a:t>
            </a:r>
            <a:r>
              <a:rPr lang="en-US" altLang="en-US" i="1" dirty="0">
                <a:latin typeface="Times New Roman" pitchFamily="18" charset="0"/>
              </a:rPr>
              <a:t> software that is </a:t>
            </a:r>
            <a:r>
              <a:rPr lang="en-US" altLang="en-US" i="1" dirty="0">
                <a:solidFill>
                  <a:srgbClr val="AD0101"/>
                </a:solidFill>
                <a:latin typeface="Times New Roman" pitchFamily="18" charset="0"/>
              </a:rPr>
              <a:t>reliable and works efficiently on real machines.</a:t>
            </a:r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661988"/>
            <a:ext cx="8686800" cy="785812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ea typeface="+mj-ea"/>
                <a:cs typeface="+mj-cs"/>
              </a:rPr>
              <a:t>Software Engineering Definition</a:t>
            </a:r>
          </a:p>
        </p:txBody>
      </p:sp>
    </p:spTree>
    <p:extLst>
      <p:ext uri="{BB962C8B-B14F-4D97-AF65-F5344CB8AC3E}">
        <p14:creationId xmlns:p14="http://schemas.microsoft.com/office/powerpoint/2010/main" val="1490163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Software Process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Process consists  of activities/steps to be carried out in a particular order</a:t>
            </a:r>
          </a:p>
          <a:p>
            <a:r>
              <a:rPr lang="en-US" dirty="0" smtClean="0"/>
              <a:t>Software  process deals with both technical and management issues</a:t>
            </a:r>
          </a:p>
          <a:p>
            <a:r>
              <a:rPr lang="en-US" dirty="0" smtClean="0"/>
              <a:t>Consists of different types of process</a:t>
            </a:r>
          </a:p>
          <a:p>
            <a:r>
              <a:rPr lang="en-US" dirty="0" smtClean="0"/>
              <a:t>Process for software development: produces software as end result</a:t>
            </a:r>
          </a:p>
          <a:p>
            <a:pPr lvl="1"/>
            <a:r>
              <a:rPr lang="en-US" dirty="0" smtClean="0"/>
              <a:t>Multiple such processes may exist</a:t>
            </a:r>
          </a:p>
          <a:p>
            <a:pPr lvl="1"/>
            <a:r>
              <a:rPr lang="en-US" dirty="0" smtClean="0"/>
              <a:t>A project follows a particular process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2925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Process types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Process for managing projects</a:t>
            </a:r>
          </a:p>
          <a:p>
            <a:pPr lvl="1"/>
            <a:r>
              <a:rPr lang="en-US" dirty="0" smtClean="0"/>
              <a:t>Define project planning and control</a:t>
            </a:r>
          </a:p>
          <a:p>
            <a:pPr lvl="1"/>
            <a:r>
              <a:rPr lang="en-US" dirty="0" smtClean="0"/>
              <a:t>Effort estimations made and schedule prepared</a:t>
            </a:r>
          </a:p>
          <a:p>
            <a:pPr lvl="1"/>
            <a:r>
              <a:rPr lang="en-US" dirty="0" smtClean="0"/>
              <a:t>Resources are provided</a:t>
            </a:r>
          </a:p>
          <a:p>
            <a:pPr lvl="1"/>
            <a:r>
              <a:rPr lang="en-US" dirty="0" smtClean="0"/>
              <a:t>Feedback taken  for quality assurances</a:t>
            </a:r>
          </a:p>
          <a:p>
            <a:pPr lvl="1"/>
            <a:r>
              <a:rPr lang="en-US" dirty="0" smtClean="0"/>
              <a:t>Monitoring done</a:t>
            </a:r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30531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Process Types…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Process for change and configuration management</a:t>
            </a:r>
          </a:p>
          <a:p>
            <a:pPr lvl="1"/>
            <a:r>
              <a:rPr lang="en-US" dirty="0"/>
              <a:t>Resolving requests for changes</a:t>
            </a:r>
          </a:p>
          <a:p>
            <a:pPr lvl="1"/>
            <a:r>
              <a:rPr lang="en-US" dirty="0"/>
              <a:t>Defining versions their compositions</a:t>
            </a:r>
          </a:p>
          <a:p>
            <a:pPr lvl="1"/>
            <a:r>
              <a:rPr lang="en-US" dirty="0"/>
              <a:t>Release control</a:t>
            </a:r>
          </a:p>
          <a:p>
            <a:r>
              <a:rPr lang="en-US" dirty="0" smtClean="0"/>
              <a:t>Process for managing the above  processes themselves</a:t>
            </a:r>
          </a:p>
          <a:p>
            <a:pPr lvl="1"/>
            <a:r>
              <a:rPr lang="en-US" dirty="0" smtClean="0"/>
              <a:t>Improving the processes based on new techniques, tools  </a:t>
            </a:r>
            <a:r>
              <a:rPr lang="en-US" dirty="0" err="1" smtClean="0"/>
              <a:t>etc</a:t>
            </a:r>
            <a:endParaRPr lang="en-US" dirty="0" smtClean="0"/>
          </a:p>
          <a:p>
            <a:pPr lvl="1"/>
            <a:r>
              <a:rPr lang="en-US" dirty="0" smtClean="0"/>
              <a:t>Standardization and certifications(ISO, CMM)</a:t>
            </a:r>
          </a:p>
          <a:p>
            <a:pPr marL="274320" lvl="1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20237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Multiple processes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large software development company may have multiple development processes</a:t>
            </a:r>
          </a:p>
          <a:p>
            <a:pPr marL="731520" lvl="1" indent="-457200">
              <a:buFont typeface="+mj-lt"/>
              <a:buAutoNum type="alphaUcPeriod"/>
            </a:pPr>
            <a:r>
              <a:rPr lang="en-US" dirty="0" smtClean="0"/>
              <a:t>For client –server based conventional applications (sales processing, payroll)</a:t>
            </a:r>
          </a:p>
          <a:p>
            <a:pPr marL="731520" lvl="1" indent="-457200">
              <a:buFont typeface="+mj-lt"/>
              <a:buAutoNum type="alphaUcPeriod"/>
            </a:pPr>
            <a:r>
              <a:rPr lang="en-US" dirty="0" smtClean="0"/>
              <a:t>For enterprise-level (ERP) projects based on packages and customization</a:t>
            </a:r>
          </a:p>
          <a:p>
            <a:pPr marL="731520" lvl="1" indent="-457200">
              <a:buFont typeface="+mj-lt"/>
              <a:buAutoNum type="alphaUcPeriod"/>
            </a:pPr>
            <a:r>
              <a:rPr lang="en-US" dirty="0" smtClean="0"/>
              <a:t>For web based e-commerce type</a:t>
            </a:r>
          </a:p>
          <a:p>
            <a:pPr marL="731520" lvl="1" indent="-457200">
              <a:buFont typeface="+mj-lt"/>
              <a:buAutoNum type="alphaUcPeriod"/>
            </a:pPr>
            <a:r>
              <a:rPr lang="en-US" dirty="0" smtClean="0"/>
              <a:t>For data ware housing decision support type</a:t>
            </a:r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32994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 in a process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Each step has a well defined objective</a:t>
            </a:r>
          </a:p>
          <a:p>
            <a:r>
              <a:rPr lang="en-US" dirty="0" smtClean="0"/>
              <a:t>Requires people with specific skill</a:t>
            </a:r>
          </a:p>
          <a:p>
            <a:r>
              <a:rPr lang="en-US" dirty="0" smtClean="0"/>
              <a:t>Takes specific inputs and produces well defined outputs</a:t>
            </a:r>
          </a:p>
          <a:p>
            <a:r>
              <a:rPr lang="en-US" dirty="0" smtClean="0"/>
              <a:t>Step defines when it may begin (entry  criteria) and when it ends (exit criteria)</a:t>
            </a:r>
          </a:p>
          <a:p>
            <a:r>
              <a:rPr lang="en-US" dirty="0" smtClean="0"/>
              <a:t>Uses specific techniques, tools, guidelines, conventions.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9056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Process step…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Step must be executed as per project plan that gives duration, effort, resources, constraints, etc.</a:t>
            </a:r>
          </a:p>
          <a:p>
            <a:r>
              <a:rPr lang="en-US" dirty="0" smtClean="0"/>
              <a:t>A step ends in a review</a:t>
            </a:r>
          </a:p>
          <a:p>
            <a:pPr lvl="1"/>
            <a:r>
              <a:rPr lang="en-US" dirty="0" smtClean="0"/>
              <a:t>Verification: check consistency of outputs with inputs (of the step)</a:t>
            </a:r>
          </a:p>
          <a:p>
            <a:pPr lvl="1"/>
            <a:r>
              <a:rPr lang="en-US" dirty="0" smtClean="0"/>
              <a:t>Validation: check consistency with user needs</a:t>
            </a:r>
          </a:p>
          <a:p>
            <a:r>
              <a:rPr lang="en-US" dirty="0" smtClean="0"/>
              <a:t>It must produce information for management so that corrective actions can be taken</a:t>
            </a:r>
          </a:p>
          <a:p>
            <a:pPr lvl="1"/>
            <a:r>
              <a:rPr lang="en-US" dirty="0" err="1" smtClean="0"/>
              <a:t>E.g</a:t>
            </a:r>
            <a:r>
              <a:rPr lang="en-US" dirty="0" smtClean="0"/>
              <a:t> adding more resources</a:t>
            </a:r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47633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Characteristics of a good process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Should be precisely defined – no ambiguity  about what is to be done, when, how, </a:t>
            </a:r>
            <a:r>
              <a:rPr lang="en-US" dirty="0" err="1" smtClean="0"/>
              <a:t>etc</a:t>
            </a:r>
            <a:endParaRPr lang="en-US" dirty="0" smtClean="0"/>
          </a:p>
          <a:p>
            <a:r>
              <a:rPr lang="en-US" dirty="0" smtClean="0"/>
              <a:t>It must be predictable – can be repeated in other projects with confidence about its outcome</a:t>
            </a:r>
          </a:p>
          <a:p>
            <a:pPr lvl="1"/>
            <a:r>
              <a:rPr lang="en-US" dirty="0" smtClean="0"/>
              <a:t>Predictable with respect to effort, cost:</a:t>
            </a:r>
          </a:p>
          <a:p>
            <a:pPr lvl="1"/>
            <a:r>
              <a:rPr lang="en-US" dirty="0" smtClean="0"/>
              <a:t>Project  A : web-based library applications done by 3 persons in 4 months</a:t>
            </a:r>
          </a:p>
          <a:p>
            <a:pPr lvl="2"/>
            <a:r>
              <a:rPr lang="en-US" dirty="0" smtClean="0"/>
              <a:t>Another project B (guest house bookings), similar in complexity should also take about 12 person months</a:t>
            </a:r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1407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good process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1"/>
            <a:r>
              <a:rPr lang="en-US" dirty="0" smtClean="0"/>
              <a:t>Predictable for quality with respect to  number and type of defects, performance,…</a:t>
            </a:r>
          </a:p>
          <a:p>
            <a:r>
              <a:rPr lang="en-US" dirty="0" smtClean="0"/>
              <a:t>Predictable process is said to be under statistical control where actual value are close to expected values.</a:t>
            </a:r>
          </a:p>
          <a:p>
            <a:r>
              <a:rPr lang="en-US" dirty="0" smtClean="0"/>
              <a:t>It supports testing and maintainability</a:t>
            </a:r>
          </a:p>
          <a:p>
            <a:pPr lvl="1"/>
            <a:r>
              <a:rPr lang="en-US" dirty="0" smtClean="0"/>
              <a:t>Maintenance by third party</a:t>
            </a:r>
          </a:p>
          <a:p>
            <a:pPr lvl="1"/>
            <a:r>
              <a:rPr lang="en-US" dirty="0" smtClean="0"/>
              <a:t>Follow standards, provide necessary documentation</a:t>
            </a:r>
          </a:p>
          <a:p>
            <a:pPr lvl="1"/>
            <a:r>
              <a:rPr lang="en-US" dirty="0" smtClean="0"/>
              <a:t>This characteristics differentiates between  prototype and product</a:t>
            </a:r>
          </a:p>
          <a:p>
            <a:pPr lvl="1"/>
            <a:endParaRPr lang="en-US" dirty="0" smtClean="0"/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55735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good process…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Facilitates early detection of and removal of defects</a:t>
            </a:r>
          </a:p>
          <a:p>
            <a:pPr lvl="1"/>
            <a:r>
              <a:rPr lang="en-US" dirty="0" smtClean="0"/>
              <a:t>Defects add to project cost</a:t>
            </a:r>
          </a:p>
          <a:p>
            <a:pPr lvl="1"/>
            <a:r>
              <a:rPr lang="en-US" dirty="0" smtClean="0"/>
              <a:t>Late detection/correction is costly</a:t>
            </a:r>
          </a:p>
          <a:p>
            <a:r>
              <a:rPr lang="en-US" dirty="0" smtClean="0"/>
              <a:t>It should facilitate monitoring and improvement</a:t>
            </a:r>
          </a:p>
          <a:p>
            <a:pPr lvl="1"/>
            <a:r>
              <a:rPr lang="en-US" dirty="0" smtClean="0"/>
              <a:t>Based on feedback</a:t>
            </a:r>
          </a:p>
          <a:p>
            <a:pPr lvl="1"/>
            <a:r>
              <a:rPr lang="en-US" dirty="0" smtClean="0"/>
              <a:t>Permit use of new tools, technologies</a:t>
            </a:r>
          </a:p>
          <a:p>
            <a:pPr lvl="1"/>
            <a:r>
              <a:rPr lang="en-US" dirty="0" smtClean="0"/>
              <a:t>Permit measurement 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2776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>
          <a:xfrm>
            <a:off x="395536" y="188640"/>
            <a:ext cx="8496944" cy="108012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dirty="0" smtClean="0"/>
              <a:t>Five Activities of a Generic Process framework</a:t>
            </a:r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>
          <a:xfrm>
            <a:off x="323528" y="1556792"/>
            <a:ext cx="8568952" cy="4752528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spcBef>
                <a:spcPts val="648"/>
              </a:spcBef>
            </a:pPr>
            <a:r>
              <a:rPr lang="en-US" altLang="en-US" sz="2600" b="1" dirty="0" smtClean="0"/>
              <a:t>Communication</a:t>
            </a:r>
            <a:r>
              <a:rPr lang="en-US" altLang="en-US" sz="2600" dirty="0" smtClean="0"/>
              <a:t>: communicate with customer to understand objectives and gather requirements</a:t>
            </a:r>
          </a:p>
          <a:p>
            <a:pPr eaLnBrk="1" hangingPunct="1">
              <a:spcBef>
                <a:spcPts val="648"/>
              </a:spcBef>
            </a:pPr>
            <a:r>
              <a:rPr lang="en-US" altLang="en-US" sz="2600" b="1" dirty="0" smtClean="0"/>
              <a:t>Planning</a:t>
            </a:r>
            <a:r>
              <a:rPr lang="en-US" altLang="en-US" sz="2600" dirty="0" smtClean="0"/>
              <a:t>: creates a </a:t>
            </a:r>
            <a:r>
              <a:rPr lang="ja-JP" altLang="en-US" sz="2600" dirty="0" smtClean="0"/>
              <a:t>“</a:t>
            </a:r>
            <a:r>
              <a:rPr lang="en-US" altLang="ja-JP" sz="2600" dirty="0" smtClean="0"/>
              <a:t>map</a:t>
            </a:r>
            <a:r>
              <a:rPr lang="ja-JP" altLang="en-US" sz="2600" dirty="0" smtClean="0"/>
              <a:t>”</a:t>
            </a:r>
            <a:r>
              <a:rPr lang="en-US" altLang="ja-JP" sz="2600" dirty="0" smtClean="0"/>
              <a:t> defines the work by describing the tasks, risks and resources, work products and work schedule. </a:t>
            </a:r>
          </a:p>
          <a:p>
            <a:pPr eaLnBrk="1" hangingPunct="1">
              <a:spcBef>
                <a:spcPts val="648"/>
              </a:spcBef>
            </a:pPr>
            <a:r>
              <a:rPr lang="en-US" altLang="en-US" sz="2600" b="1" dirty="0" smtClean="0"/>
              <a:t>Modeling:</a:t>
            </a:r>
            <a:r>
              <a:rPr lang="en-US" altLang="en-US" sz="2600" dirty="0" smtClean="0"/>
              <a:t> Create a </a:t>
            </a:r>
            <a:r>
              <a:rPr lang="ja-JP" altLang="en-US" sz="2600" dirty="0" smtClean="0"/>
              <a:t>“</a:t>
            </a:r>
            <a:r>
              <a:rPr lang="en-US" altLang="ja-JP" sz="2600" dirty="0" smtClean="0"/>
              <a:t>sketch</a:t>
            </a:r>
            <a:r>
              <a:rPr lang="ja-JP" altLang="en-US" sz="2600" dirty="0" smtClean="0"/>
              <a:t>”</a:t>
            </a:r>
            <a:r>
              <a:rPr lang="en-US" altLang="ja-JP" sz="2600" dirty="0" smtClean="0"/>
              <a:t>, what it looks like architecturally, how the constituent parts fit together and other characteristics. </a:t>
            </a:r>
          </a:p>
          <a:p>
            <a:pPr eaLnBrk="1" hangingPunct="1">
              <a:spcBef>
                <a:spcPts val="648"/>
              </a:spcBef>
            </a:pPr>
            <a:r>
              <a:rPr lang="en-US" altLang="en-US" sz="2600" b="1" dirty="0" smtClean="0"/>
              <a:t>Construction</a:t>
            </a:r>
            <a:r>
              <a:rPr lang="en-US" altLang="en-US" sz="2600" dirty="0" smtClean="0"/>
              <a:t>: code generation and the testing. </a:t>
            </a:r>
          </a:p>
          <a:p>
            <a:pPr eaLnBrk="1" hangingPunct="1">
              <a:spcBef>
                <a:spcPts val="648"/>
              </a:spcBef>
            </a:pPr>
            <a:r>
              <a:rPr lang="en-US" altLang="en-US" sz="2600" b="1" dirty="0" smtClean="0"/>
              <a:t>Deployment:</a:t>
            </a:r>
            <a:r>
              <a:rPr lang="en-US" altLang="en-US" sz="2600" dirty="0" smtClean="0"/>
              <a:t> Delivered to the customer who evaluates the products and provides feedback based on the evaluation. </a:t>
            </a:r>
          </a:p>
          <a:p>
            <a:pPr eaLnBrk="1" hangingPunct="1">
              <a:spcBef>
                <a:spcPts val="648"/>
              </a:spcBef>
            </a:pPr>
            <a:endParaRPr lang="en-US" altLang="en-US" sz="2600" dirty="0" smtClean="0"/>
          </a:p>
          <a:p>
            <a:pPr marL="0" indent="0" algn="just" eaLnBrk="1" hangingPunct="1">
              <a:spcBef>
                <a:spcPts val="648"/>
              </a:spcBef>
              <a:buNone/>
            </a:pPr>
            <a:r>
              <a:rPr lang="en-US" altLang="en-US" sz="2600" dirty="0" smtClean="0"/>
              <a:t>These five framework activities can be used to all software development regardless of the application domain, size of the project, complexity of the efforts </a:t>
            </a:r>
            <a:r>
              <a:rPr lang="en-US" altLang="en-US" sz="2600" dirty="0" err="1" smtClean="0"/>
              <a:t>etc</a:t>
            </a:r>
            <a:r>
              <a:rPr lang="en-US" altLang="en-US" sz="2600" dirty="0" smtClean="0"/>
              <a:t>, though the details will be different in each case. </a:t>
            </a:r>
          </a:p>
        </p:txBody>
      </p:sp>
    </p:spTree>
    <p:extLst>
      <p:ext uri="{BB962C8B-B14F-4D97-AF65-F5344CB8AC3E}">
        <p14:creationId xmlns:p14="http://schemas.microsoft.com/office/powerpoint/2010/main" val="2054466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3"/>
          <p:cNvSpPr>
            <a:spLocks noGrp="1" noChangeArrowheads="1"/>
          </p:cNvSpPr>
          <p:nvPr>
            <p:ph type="title"/>
          </p:nvPr>
        </p:nvSpPr>
        <p:spPr>
          <a:xfrm>
            <a:off x="1331640" y="260648"/>
            <a:ext cx="6324600" cy="633413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ea typeface="+mj-ea"/>
                <a:cs typeface="+mj-cs"/>
              </a:rPr>
              <a:t>Umbrella Activities</a:t>
            </a:r>
          </a:p>
        </p:txBody>
      </p:sp>
      <p:sp>
        <p:nvSpPr>
          <p:cNvPr id="22531" name="Rectangle 4"/>
          <p:cNvSpPr>
            <a:spLocks noGrp="1" noChangeArrowheads="1"/>
          </p:cNvSpPr>
          <p:nvPr>
            <p:ph idx="1"/>
          </p:nvPr>
        </p:nvSpPr>
        <p:spPr>
          <a:xfrm>
            <a:off x="251520" y="1124744"/>
            <a:ext cx="8712968" cy="4968552"/>
          </a:xfrm>
        </p:spPr>
        <p:txBody>
          <a:bodyPr lIns="90487" tIns="44450" rIns="90487" bIns="44450">
            <a:noAutofit/>
          </a:bodyPr>
          <a:lstStyle/>
          <a:p>
            <a:pPr marL="285750" indent="-285750" algn="just" eaLnBrk="1" hangingPunct="1">
              <a:spcBef>
                <a:spcPts val="648"/>
              </a:spcBef>
              <a:buFont typeface="Wingdings" pitchFamily="2" charset="2"/>
              <a:buNone/>
            </a:pPr>
            <a:r>
              <a:rPr lang="en-US" altLang="en-US" sz="2000" dirty="0" smtClean="0"/>
              <a:t>Complement the five process framework activities and help team manage and control progress, quality, change, and risk. </a:t>
            </a:r>
          </a:p>
          <a:p>
            <a:pPr marL="285750" indent="-285750" algn="just" eaLnBrk="1" hangingPunct="1">
              <a:spcBef>
                <a:spcPts val="648"/>
              </a:spcBef>
            </a:pPr>
            <a:r>
              <a:rPr lang="en-US" altLang="en-US" sz="2000" b="1" dirty="0" smtClean="0"/>
              <a:t>Software project tracking and control</a:t>
            </a:r>
            <a:r>
              <a:rPr lang="en-US" altLang="en-US" sz="2000" dirty="0" smtClean="0"/>
              <a:t>: assess progress against the plan and take actions to maintain the schedule. </a:t>
            </a:r>
          </a:p>
          <a:p>
            <a:pPr marL="285750" indent="-285750" algn="just" eaLnBrk="1" hangingPunct="1">
              <a:spcBef>
                <a:spcPts val="648"/>
              </a:spcBef>
            </a:pPr>
            <a:r>
              <a:rPr lang="en-US" altLang="en-US" sz="2000" b="1" dirty="0" smtClean="0"/>
              <a:t>Risk management</a:t>
            </a:r>
            <a:r>
              <a:rPr lang="en-US" altLang="en-US" sz="2000" dirty="0" smtClean="0"/>
              <a:t>: assesses risks that may affect the outcome and quality. </a:t>
            </a:r>
          </a:p>
          <a:p>
            <a:pPr marL="285750" indent="-285750" algn="just" eaLnBrk="1" hangingPunct="1">
              <a:spcBef>
                <a:spcPts val="648"/>
              </a:spcBef>
            </a:pPr>
            <a:r>
              <a:rPr lang="en-US" altLang="en-US" sz="2000" b="1" dirty="0" smtClean="0"/>
              <a:t>Software quality assurance</a:t>
            </a:r>
            <a:r>
              <a:rPr lang="en-US" altLang="en-US" sz="2000" dirty="0" smtClean="0"/>
              <a:t>: defines and conduct activities to ensure quality. </a:t>
            </a:r>
          </a:p>
          <a:p>
            <a:pPr marL="285750" indent="-285750" algn="just" eaLnBrk="1" hangingPunct="1">
              <a:spcBef>
                <a:spcPts val="648"/>
              </a:spcBef>
            </a:pPr>
            <a:r>
              <a:rPr lang="en-US" altLang="en-US" sz="2000" b="1" dirty="0" smtClean="0"/>
              <a:t>Technical reviews</a:t>
            </a:r>
            <a:r>
              <a:rPr lang="en-US" altLang="en-US" sz="2000" dirty="0" smtClean="0"/>
              <a:t>: assesses work products to uncover and remove errors before going to the next activity. </a:t>
            </a:r>
          </a:p>
          <a:p>
            <a:pPr marL="285750" indent="-285750" algn="just" eaLnBrk="1" hangingPunct="1">
              <a:spcBef>
                <a:spcPts val="648"/>
              </a:spcBef>
            </a:pPr>
            <a:r>
              <a:rPr lang="en-US" altLang="en-US" sz="2000" b="1" dirty="0" smtClean="0"/>
              <a:t>Measurement</a:t>
            </a:r>
            <a:r>
              <a:rPr lang="en-US" altLang="en-US" sz="2000" dirty="0" smtClean="0"/>
              <a:t>: define and collects process, project, and product measures to ensure stakeholder</a:t>
            </a:r>
            <a:r>
              <a:rPr lang="ja-JP" altLang="en-US" sz="2000" dirty="0" smtClean="0"/>
              <a:t>’</a:t>
            </a:r>
            <a:r>
              <a:rPr lang="en-US" altLang="ja-JP" sz="2000" dirty="0" smtClean="0"/>
              <a:t>s needs are met. </a:t>
            </a:r>
          </a:p>
          <a:p>
            <a:pPr marL="285750" indent="-285750" algn="just" eaLnBrk="1" hangingPunct="1">
              <a:spcBef>
                <a:spcPts val="648"/>
              </a:spcBef>
            </a:pPr>
            <a:r>
              <a:rPr lang="en-US" altLang="en-US" sz="2000" b="1" dirty="0" smtClean="0"/>
              <a:t>Software configuration management</a:t>
            </a:r>
            <a:r>
              <a:rPr lang="en-US" altLang="en-US" sz="2000" dirty="0" smtClean="0"/>
              <a:t>: manage the effects of change throughout the software process. </a:t>
            </a:r>
          </a:p>
          <a:p>
            <a:pPr marL="285750" indent="-285750" algn="just" eaLnBrk="1" hangingPunct="1">
              <a:spcBef>
                <a:spcPts val="648"/>
              </a:spcBef>
            </a:pPr>
            <a:r>
              <a:rPr lang="en-US" altLang="en-US" sz="2000" b="1" dirty="0" smtClean="0"/>
              <a:t>Reusability management</a:t>
            </a:r>
            <a:r>
              <a:rPr lang="en-US" altLang="en-US" sz="2000" dirty="0" smtClean="0"/>
              <a:t>: defines criteria for work product reuse and establishes mechanism to achieve reusable components. </a:t>
            </a:r>
          </a:p>
          <a:p>
            <a:pPr marL="285750" indent="-285750" algn="just" eaLnBrk="1" hangingPunct="1">
              <a:spcBef>
                <a:spcPts val="648"/>
              </a:spcBef>
            </a:pPr>
            <a:r>
              <a:rPr lang="en-US" altLang="en-US" sz="2000" b="1" dirty="0" smtClean="0"/>
              <a:t>Work product preparation and production</a:t>
            </a:r>
            <a:r>
              <a:rPr lang="en-US" altLang="en-US" sz="2000" dirty="0" smtClean="0"/>
              <a:t>: create work products such as models, documents, logs, forms and lists. </a:t>
            </a:r>
          </a:p>
        </p:txBody>
      </p:sp>
    </p:spTree>
    <p:extLst>
      <p:ext uri="{BB962C8B-B14F-4D97-AF65-F5344CB8AC3E}">
        <p14:creationId xmlns:p14="http://schemas.microsoft.com/office/powerpoint/2010/main" val="1002883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4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ea typeface="+mj-ea"/>
                <a:cs typeface="+mj-cs"/>
              </a:rPr>
              <a:t>Adapting a Process Model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>
          <a:xfrm>
            <a:off x="179512" y="1484784"/>
            <a:ext cx="8784976" cy="4876800"/>
          </a:xfrm>
        </p:spPr>
        <p:txBody>
          <a:bodyPr>
            <a:normAutofit lnSpcReduction="10000"/>
          </a:bodyPr>
          <a:lstStyle/>
          <a:p>
            <a:pPr marL="319088" lvl="1" indent="0" eaLnBrk="1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None/>
            </a:pPr>
            <a:r>
              <a:rPr lang="en-US" altLang="en-US" sz="2000" dirty="0" smtClean="0">
                <a:solidFill>
                  <a:schemeClr val="tx1"/>
                </a:solidFill>
              </a:rPr>
              <a:t>The process should be </a:t>
            </a:r>
            <a:r>
              <a:rPr lang="en-US" altLang="en-US" sz="2000" b="1" dirty="0" smtClean="0">
                <a:solidFill>
                  <a:schemeClr val="tx1"/>
                </a:solidFill>
              </a:rPr>
              <a:t>agile and adaptable</a:t>
            </a:r>
            <a:r>
              <a:rPr lang="en-US" altLang="en-US" sz="2000" dirty="0" smtClean="0">
                <a:solidFill>
                  <a:schemeClr val="tx1"/>
                </a:solidFill>
              </a:rPr>
              <a:t> to problems. Process adopted for one project might be significantly different than a process adopted from another project. (to the problem, the project, the team, organizational culture). Among the differences are:</a:t>
            </a:r>
          </a:p>
          <a:p>
            <a:pPr marL="319088" lvl="1" indent="0" eaLnBrk="1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None/>
            </a:pPr>
            <a:endParaRPr lang="en-US" altLang="en-US" sz="2000" dirty="0" smtClean="0">
              <a:solidFill>
                <a:schemeClr val="tx1"/>
              </a:solidFill>
            </a:endParaRPr>
          </a:p>
          <a:p>
            <a:pPr marL="604838" lvl="1" indent="-285750">
              <a:lnSpc>
                <a:spcPct val="90000"/>
              </a:lnSpc>
              <a:spcBef>
                <a:spcPts val="600"/>
              </a:spcBef>
            </a:pPr>
            <a:r>
              <a:rPr lang="en-US" altLang="en-US" sz="2000" dirty="0" smtClean="0">
                <a:solidFill>
                  <a:schemeClr val="tx1"/>
                </a:solidFill>
              </a:rPr>
              <a:t>the overall flow of activities, actions, and tasks and the interdependencies among them</a:t>
            </a:r>
          </a:p>
          <a:p>
            <a:pPr marL="604838" lvl="1" indent="-285750">
              <a:lnSpc>
                <a:spcPct val="90000"/>
              </a:lnSpc>
              <a:spcBef>
                <a:spcPts val="300"/>
              </a:spcBef>
            </a:pPr>
            <a:r>
              <a:rPr lang="en-US" altLang="en-US" sz="2000" dirty="0" smtClean="0">
                <a:solidFill>
                  <a:schemeClr val="tx1"/>
                </a:solidFill>
              </a:rPr>
              <a:t>the degree to which actions and tasks are defined within each framework activity</a:t>
            </a:r>
          </a:p>
          <a:p>
            <a:pPr marL="604838" lvl="1" indent="-285750">
              <a:lnSpc>
                <a:spcPct val="90000"/>
              </a:lnSpc>
            </a:pPr>
            <a:r>
              <a:rPr lang="en-US" altLang="en-US" sz="2000" dirty="0" smtClean="0">
                <a:solidFill>
                  <a:schemeClr val="tx1"/>
                </a:solidFill>
              </a:rPr>
              <a:t>the degree to which work products are identified and required</a:t>
            </a:r>
          </a:p>
          <a:p>
            <a:pPr marL="604838" lvl="1" indent="-285750">
              <a:lnSpc>
                <a:spcPct val="90000"/>
              </a:lnSpc>
            </a:pPr>
            <a:r>
              <a:rPr lang="en-US" altLang="en-US" sz="2000" dirty="0" smtClean="0">
                <a:solidFill>
                  <a:schemeClr val="tx1"/>
                </a:solidFill>
              </a:rPr>
              <a:t>the manner which quality assurance activities are applied</a:t>
            </a:r>
          </a:p>
          <a:p>
            <a:pPr marL="604838" lvl="1" indent="-285750">
              <a:lnSpc>
                <a:spcPct val="90000"/>
              </a:lnSpc>
            </a:pPr>
            <a:r>
              <a:rPr lang="en-US" altLang="en-US" sz="2000" dirty="0" smtClean="0">
                <a:solidFill>
                  <a:schemeClr val="tx1"/>
                </a:solidFill>
              </a:rPr>
              <a:t>the manner in which project tracking and control activities are applied</a:t>
            </a:r>
          </a:p>
          <a:p>
            <a:pPr marL="604838" lvl="1" indent="-285750">
              <a:lnSpc>
                <a:spcPct val="90000"/>
              </a:lnSpc>
            </a:pPr>
            <a:r>
              <a:rPr lang="en-US" altLang="en-US" sz="2000" dirty="0" smtClean="0">
                <a:solidFill>
                  <a:schemeClr val="tx1"/>
                </a:solidFill>
              </a:rPr>
              <a:t>the overall degree of detail and rigor with which the process is described</a:t>
            </a:r>
          </a:p>
          <a:p>
            <a:pPr marL="604838" lvl="1" indent="-285750">
              <a:lnSpc>
                <a:spcPct val="90000"/>
              </a:lnSpc>
            </a:pPr>
            <a:r>
              <a:rPr lang="en-US" altLang="en-US" sz="2000" dirty="0" smtClean="0">
                <a:solidFill>
                  <a:schemeClr val="tx1"/>
                </a:solidFill>
              </a:rPr>
              <a:t>the degree to which the customer and other stakeholders are involved with the project</a:t>
            </a:r>
          </a:p>
          <a:p>
            <a:pPr marL="604838" lvl="1" indent="-285750">
              <a:lnSpc>
                <a:spcPct val="90000"/>
              </a:lnSpc>
            </a:pPr>
            <a:r>
              <a:rPr lang="en-US" altLang="en-US" sz="2000" dirty="0" smtClean="0">
                <a:solidFill>
                  <a:schemeClr val="tx1"/>
                </a:solidFill>
              </a:rPr>
              <a:t>the level of autonomy given to the software team</a:t>
            </a:r>
          </a:p>
          <a:p>
            <a:pPr marL="604838" lvl="1" indent="-285750">
              <a:lnSpc>
                <a:spcPct val="90000"/>
              </a:lnSpc>
            </a:pPr>
            <a:r>
              <a:rPr lang="en-US" altLang="en-US" sz="2000" dirty="0" smtClean="0">
                <a:solidFill>
                  <a:schemeClr val="tx1"/>
                </a:solidFill>
              </a:rPr>
              <a:t>the degree to which team organization and roles are prescribed</a:t>
            </a:r>
          </a:p>
          <a:p>
            <a:pPr eaLnBrk="1" hangingPunct="1">
              <a:lnSpc>
                <a:spcPct val="90000"/>
              </a:lnSpc>
            </a:pPr>
            <a:endParaRPr lang="en-US" alt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83891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Prescriptive and Agile Process Models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340768"/>
            <a:ext cx="8229600" cy="4525963"/>
          </a:xfrm>
        </p:spPr>
        <p:txBody>
          <a:bodyPr>
            <a:noAutofit/>
          </a:bodyPr>
          <a:lstStyle/>
          <a:p>
            <a:r>
              <a:rPr lang="en-US" altLang="en-US" sz="2000" dirty="0" smtClean="0"/>
              <a:t>Prescriptive process</a:t>
            </a:r>
          </a:p>
          <a:p>
            <a:pPr lvl="1"/>
            <a:r>
              <a:rPr lang="en-US" altLang="en-US" sz="2000" dirty="0" smtClean="0"/>
              <a:t>models </a:t>
            </a:r>
            <a:r>
              <a:rPr lang="en-US" altLang="en-US" sz="2000" dirty="0"/>
              <a:t>stress detailed definition, identification, and application of process activates and tasks</a:t>
            </a:r>
            <a:r>
              <a:rPr lang="en-US" altLang="en-US" sz="2000" dirty="0" smtClean="0"/>
              <a:t>.</a:t>
            </a:r>
          </a:p>
          <a:p>
            <a:pPr lvl="1"/>
            <a:r>
              <a:rPr lang="en-US" altLang="en-US" sz="2000" dirty="0" smtClean="0"/>
              <a:t>Intent </a:t>
            </a:r>
            <a:r>
              <a:rPr lang="en-US" altLang="en-US" sz="2000" dirty="0"/>
              <a:t>is to improve system quality, make projects more manageable, make delivery dates and costs more predictable</a:t>
            </a:r>
            <a:r>
              <a:rPr lang="en-US" altLang="en-US" sz="2000" dirty="0" smtClean="0"/>
              <a:t>.</a:t>
            </a:r>
          </a:p>
          <a:p>
            <a:pPr lvl="1"/>
            <a:r>
              <a:rPr lang="en-US" altLang="en-US" sz="2000" dirty="0" smtClean="0"/>
              <a:t>guide </a:t>
            </a:r>
            <a:r>
              <a:rPr lang="en-US" altLang="en-US" sz="2000" dirty="0"/>
              <a:t>teams of software engineers as they perform the work required to build a </a:t>
            </a:r>
            <a:r>
              <a:rPr lang="en-US" altLang="en-US" sz="2000" dirty="0" smtClean="0"/>
              <a:t>system.</a:t>
            </a:r>
          </a:p>
          <a:p>
            <a:pPr lvl="1"/>
            <a:r>
              <a:rPr lang="en-US" altLang="en-US" sz="2000" dirty="0" smtClean="0"/>
              <a:t>Unfortunately</a:t>
            </a:r>
            <a:r>
              <a:rPr lang="en-US" altLang="en-US" sz="2000" dirty="0"/>
              <a:t>, there have been times when these objectives were not achieved. If prescriptive models are applied </a:t>
            </a:r>
            <a:r>
              <a:rPr lang="en-US" altLang="en-US" sz="2000" dirty="0" smtClean="0"/>
              <a:t>rigidly </a:t>
            </a:r>
            <a:r>
              <a:rPr lang="en-US" altLang="en-US" sz="2000" dirty="0"/>
              <a:t>and without adaptation, they can increase the level of bureaucracy.</a:t>
            </a:r>
          </a:p>
          <a:p>
            <a:endParaRPr lang="en-US" altLang="en-US" sz="2000" dirty="0" smtClean="0"/>
          </a:p>
          <a:p>
            <a:r>
              <a:rPr lang="en-US" altLang="en-US" sz="2000" dirty="0" smtClean="0"/>
              <a:t>Agile process models</a:t>
            </a:r>
          </a:p>
          <a:p>
            <a:pPr lvl="1"/>
            <a:r>
              <a:rPr lang="en-US" altLang="en-US" sz="2000" dirty="0" smtClean="0"/>
              <a:t>emphasize </a:t>
            </a:r>
            <a:r>
              <a:rPr lang="en-US" altLang="en-US" sz="2000" dirty="0"/>
              <a:t>project “agility” and follow a set of principles that lead to a more informal approach to software process. </a:t>
            </a:r>
            <a:endParaRPr lang="en-US" altLang="en-US" sz="2000" dirty="0" smtClean="0"/>
          </a:p>
          <a:p>
            <a:pPr lvl="1"/>
            <a:r>
              <a:rPr lang="en-US" altLang="en-US" sz="2000" dirty="0" smtClean="0"/>
              <a:t>It </a:t>
            </a:r>
            <a:r>
              <a:rPr lang="en-US" altLang="en-US" sz="2000" dirty="0"/>
              <a:t>is particularly useful when Web applications are engineered. 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532052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568" y="3140968"/>
            <a:ext cx="7772400" cy="1362075"/>
          </a:xfrm>
        </p:spPr>
        <p:txBody>
          <a:bodyPr/>
          <a:lstStyle/>
          <a:p>
            <a:r>
              <a:rPr lang="en-US" dirty="0" smtClean="0"/>
              <a:t>Software Development Life Cycle models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46099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Software Development Life Cycle Models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Waterfall Model</a:t>
            </a:r>
          </a:p>
          <a:p>
            <a:r>
              <a:rPr lang="en-US" dirty="0" smtClean="0"/>
              <a:t>Incremental model</a:t>
            </a:r>
          </a:p>
          <a:p>
            <a:pPr lvl="1"/>
            <a:r>
              <a:rPr lang="en-US" dirty="0" smtClean="0"/>
              <a:t>Iterative Development</a:t>
            </a:r>
          </a:p>
          <a:p>
            <a:pPr lvl="1"/>
            <a:r>
              <a:rPr lang="en-US" dirty="0" smtClean="0"/>
              <a:t>RAD Model</a:t>
            </a:r>
            <a:endParaRPr lang="en-US" dirty="0"/>
          </a:p>
          <a:p>
            <a:r>
              <a:rPr lang="en-US" dirty="0"/>
              <a:t>Evolutionary model</a:t>
            </a:r>
          </a:p>
          <a:p>
            <a:pPr lvl="1"/>
            <a:r>
              <a:rPr lang="en-US" dirty="0"/>
              <a:t>Prototype Model</a:t>
            </a:r>
          </a:p>
          <a:p>
            <a:pPr lvl="1"/>
            <a:r>
              <a:rPr lang="en-US" dirty="0"/>
              <a:t>Spiral Model</a:t>
            </a:r>
          </a:p>
          <a:p>
            <a:r>
              <a:rPr lang="en-US" dirty="0" smtClean="0"/>
              <a:t>Specialized Process Model</a:t>
            </a:r>
          </a:p>
          <a:p>
            <a:pPr lvl="1"/>
            <a:r>
              <a:rPr lang="en-US" dirty="0" smtClean="0"/>
              <a:t>Component Based Development</a:t>
            </a:r>
          </a:p>
          <a:p>
            <a:pPr lvl="1"/>
            <a:r>
              <a:rPr lang="en-US" dirty="0" smtClean="0"/>
              <a:t>Formal Method Model</a:t>
            </a:r>
          </a:p>
          <a:p>
            <a:pPr lvl="1"/>
            <a:r>
              <a:rPr lang="en-US" dirty="0" smtClean="0"/>
              <a:t>Aspect Oriented Software Development</a:t>
            </a:r>
          </a:p>
          <a:p>
            <a:pPr lvl="1"/>
            <a:endParaRPr lang="en-US" dirty="0"/>
          </a:p>
          <a:p>
            <a:endParaRPr lang="en-US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0300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Waterfall Model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Produces many intermediate deliverables, usually documents</a:t>
            </a:r>
          </a:p>
          <a:p>
            <a:pPr lvl="1"/>
            <a:r>
              <a:rPr lang="en-US" dirty="0" smtClean="0"/>
              <a:t>Standard formats defined</a:t>
            </a:r>
          </a:p>
          <a:p>
            <a:pPr lvl="1"/>
            <a:r>
              <a:rPr lang="en-US" dirty="0" smtClean="0"/>
              <a:t>Act as baseline used as reference(for contractual obligations for maintenance)</a:t>
            </a:r>
          </a:p>
          <a:p>
            <a:pPr lvl="1"/>
            <a:r>
              <a:rPr lang="en-US" dirty="0" smtClean="0"/>
              <a:t>Important for quality assurance, project management </a:t>
            </a:r>
            <a:r>
              <a:rPr lang="en-US" dirty="0" err="1" smtClean="0"/>
              <a:t>etc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5923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Text Box 2"/>
          <p:cNvSpPr txBox="1">
            <a:spLocks noChangeArrowheads="1"/>
          </p:cNvSpPr>
          <p:nvPr/>
        </p:nvSpPr>
        <p:spPr bwMode="auto">
          <a:xfrm>
            <a:off x="1600200" y="1966913"/>
            <a:ext cx="2132013" cy="395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8000" tIns="46800" rIns="18000" bIns="46800"/>
          <a:lstStyle>
            <a:lvl1pPr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>
              <a:lnSpc>
                <a:spcPct val="85000"/>
              </a:lnSpc>
              <a:spcBef>
                <a:spcPts val="1150"/>
              </a:spcBef>
            </a:pPr>
            <a:r>
              <a:rPr lang="en-GB" altLang="en-US" sz="2000" b="1">
                <a:latin typeface="times" charset="0"/>
              </a:rPr>
              <a:t>Feasibility Study</a:t>
            </a:r>
          </a:p>
        </p:txBody>
      </p:sp>
      <p:sp>
        <p:nvSpPr>
          <p:cNvPr id="5125" name="AutoShape 3"/>
          <p:cNvSpPr>
            <a:spLocks noChangeArrowheads="1"/>
          </p:cNvSpPr>
          <p:nvPr/>
        </p:nvSpPr>
        <p:spPr bwMode="auto">
          <a:xfrm>
            <a:off x="1600200" y="1966913"/>
            <a:ext cx="2043113" cy="379412"/>
          </a:xfrm>
          <a:prstGeom prst="roundRect">
            <a:avLst>
              <a:gd name="adj" fmla="val 417"/>
            </a:avLst>
          </a:prstGeom>
          <a:noFill/>
          <a:ln w="38160">
            <a:solidFill>
              <a:srgbClr val="00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endParaRPr lang="en-IN" altLang="en-US"/>
          </a:p>
        </p:txBody>
      </p:sp>
      <p:sp>
        <p:nvSpPr>
          <p:cNvPr id="5126" name="Text Box 4"/>
          <p:cNvSpPr txBox="1">
            <a:spLocks noChangeArrowheads="1"/>
          </p:cNvSpPr>
          <p:nvPr/>
        </p:nvSpPr>
        <p:spPr bwMode="auto">
          <a:xfrm>
            <a:off x="2286000" y="2652713"/>
            <a:ext cx="2132013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33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/>
          <a:lstStyle>
            <a:lvl1pPr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>
              <a:lnSpc>
                <a:spcPct val="85000"/>
              </a:lnSpc>
              <a:spcBef>
                <a:spcPts val="1150"/>
              </a:spcBef>
            </a:pPr>
            <a:r>
              <a:rPr lang="en-GB" altLang="en-US" sz="2000" b="1">
                <a:latin typeface="times" charset="0"/>
              </a:rPr>
              <a:t>Req.   Analysis</a:t>
            </a:r>
          </a:p>
        </p:txBody>
      </p:sp>
      <p:sp>
        <p:nvSpPr>
          <p:cNvPr id="5127" name="AutoShape 5"/>
          <p:cNvSpPr>
            <a:spLocks noChangeArrowheads="1"/>
          </p:cNvSpPr>
          <p:nvPr/>
        </p:nvSpPr>
        <p:spPr bwMode="auto">
          <a:xfrm>
            <a:off x="2286000" y="2652713"/>
            <a:ext cx="2043113" cy="379412"/>
          </a:xfrm>
          <a:prstGeom prst="roundRect">
            <a:avLst>
              <a:gd name="adj" fmla="val 417"/>
            </a:avLst>
          </a:prstGeom>
          <a:noFill/>
          <a:ln w="38160">
            <a:solidFill>
              <a:srgbClr val="00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endParaRPr lang="en-IN" altLang="en-US"/>
          </a:p>
        </p:txBody>
      </p:sp>
      <p:sp>
        <p:nvSpPr>
          <p:cNvPr id="5128" name="Text Box 6"/>
          <p:cNvSpPr txBox="1">
            <a:spLocks noChangeArrowheads="1"/>
          </p:cNvSpPr>
          <p:nvPr/>
        </p:nvSpPr>
        <p:spPr bwMode="auto">
          <a:xfrm>
            <a:off x="2971800" y="3262313"/>
            <a:ext cx="2132013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33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/>
          <a:lstStyle>
            <a:lvl1pPr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>
              <a:lnSpc>
                <a:spcPct val="85000"/>
              </a:lnSpc>
              <a:spcBef>
                <a:spcPts val="1150"/>
              </a:spcBef>
            </a:pPr>
            <a:r>
              <a:rPr lang="en-GB" altLang="en-US" sz="2000" b="1" dirty="0">
                <a:latin typeface="times" charset="0"/>
              </a:rPr>
              <a:t>       Design</a:t>
            </a:r>
          </a:p>
        </p:txBody>
      </p:sp>
      <p:sp>
        <p:nvSpPr>
          <p:cNvPr id="5129" name="AutoShape 7"/>
          <p:cNvSpPr>
            <a:spLocks noChangeArrowheads="1"/>
          </p:cNvSpPr>
          <p:nvPr/>
        </p:nvSpPr>
        <p:spPr bwMode="auto">
          <a:xfrm>
            <a:off x="2971800" y="3262313"/>
            <a:ext cx="2043113" cy="379412"/>
          </a:xfrm>
          <a:prstGeom prst="roundRect">
            <a:avLst>
              <a:gd name="adj" fmla="val 417"/>
            </a:avLst>
          </a:prstGeom>
          <a:noFill/>
          <a:ln w="38160">
            <a:solidFill>
              <a:srgbClr val="00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endParaRPr lang="en-IN" altLang="en-US"/>
          </a:p>
        </p:txBody>
      </p:sp>
      <p:sp>
        <p:nvSpPr>
          <p:cNvPr id="5130" name="Text Box 8"/>
          <p:cNvSpPr txBox="1">
            <a:spLocks noChangeArrowheads="1"/>
          </p:cNvSpPr>
          <p:nvPr/>
        </p:nvSpPr>
        <p:spPr bwMode="auto">
          <a:xfrm>
            <a:off x="3733800" y="3871913"/>
            <a:ext cx="2132013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33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/>
          <a:lstStyle>
            <a:lvl1pPr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>
              <a:lnSpc>
                <a:spcPct val="85000"/>
              </a:lnSpc>
              <a:spcBef>
                <a:spcPts val="1150"/>
              </a:spcBef>
            </a:pPr>
            <a:r>
              <a:rPr lang="en-GB" altLang="en-US" sz="2000" b="1">
                <a:latin typeface="times" charset="0"/>
              </a:rPr>
              <a:t>        Coding</a:t>
            </a:r>
          </a:p>
        </p:txBody>
      </p:sp>
      <p:sp>
        <p:nvSpPr>
          <p:cNvPr id="5131" name="AutoShape 9"/>
          <p:cNvSpPr>
            <a:spLocks noChangeArrowheads="1"/>
          </p:cNvSpPr>
          <p:nvPr/>
        </p:nvSpPr>
        <p:spPr bwMode="auto">
          <a:xfrm>
            <a:off x="3733800" y="3871913"/>
            <a:ext cx="2043113" cy="379412"/>
          </a:xfrm>
          <a:prstGeom prst="roundRect">
            <a:avLst>
              <a:gd name="adj" fmla="val 417"/>
            </a:avLst>
          </a:prstGeom>
          <a:noFill/>
          <a:ln w="38160">
            <a:solidFill>
              <a:srgbClr val="00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endParaRPr lang="en-IN" altLang="en-US"/>
          </a:p>
        </p:txBody>
      </p:sp>
      <p:sp>
        <p:nvSpPr>
          <p:cNvPr id="5132" name="Text Box 10"/>
          <p:cNvSpPr txBox="1">
            <a:spLocks noChangeArrowheads="1"/>
          </p:cNvSpPr>
          <p:nvPr/>
        </p:nvSpPr>
        <p:spPr bwMode="auto">
          <a:xfrm>
            <a:off x="4572000" y="4481513"/>
            <a:ext cx="2132013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33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/>
          <a:lstStyle>
            <a:lvl1pPr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>
              <a:lnSpc>
                <a:spcPct val="85000"/>
              </a:lnSpc>
              <a:spcBef>
                <a:spcPts val="1150"/>
              </a:spcBef>
            </a:pPr>
            <a:r>
              <a:rPr lang="en-GB" altLang="en-US" sz="2000" b="1">
                <a:latin typeface="times" charset="0"/>
              </a:rPr>
              <a:t>      Testing</a:t>
            </a:r>
          </a:p>
        </p:txBody>
      </p:sp>
      <p:sp>
        <p:nvSpPr>
          <p:cNvPr id="5133" name="AutoShape 11"/>
          <p:cNvSpPr>
            <a:spLocks noChangeArrowheads="1"/>
          </p:cNvSpPr>
          <p:nvPr/>
        </p:nvSpPr>
        <p:spPr bwMode="auto">
          <a:xfrm>
            <a:off x="4572000" y="4481513"/>
            <a:ext cx="2043113" cy="379412"/>
          </a:xfrm>
          <a:prstGeom prst="roundRect">
            <a:avLst>
              <a:gd name="adj" fmla="val 417"/>
            </a:avLst>
          </a:prstGeom>
          <a:noFill/>
          <a:ln w="38160">
            <a:solidFill>
              <a:srgbClr val="00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endParaRPr lang="en-IN" altLang="en-US"/>
          </a:p>
        </p:txBody>
      </p:sp>
      <p:sp>
        <p:nvSpPr>
          <p:cNvPr id="5134" name="Text Box 12"/>
          <p:cNvSpPr txBox="1">
            <a:spLocks noChangeArrowheads="1"/>
          </p:cNvSpPr>
          <p:nvPr/>
        </p:nvSpPr>
        <p:spPr bwMode="auto">
          <a:xfrm>
            <a:off x="5410200" y="5091113"/>
            <a:ext cx="2132013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33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/>
          <a:lstStyle>
            <a:lvl1pPr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>
              <a:lnSpc>
                <a:spcPct val="85000"/>
              </a:lnSpc>
              <a:spcBef>
                <a:spcPts val="1150"/>
              </a:spcBef>
            </a:pPr>
            <a:r>
              <a:rPr lang="en-GB" altLang="en-US" sz="2000" b="1">
                <a:latin typeface="times" charset="0"/>
              </a:rPr>
              <a:t>    Maintenance</a:t>
            </a:r>
          </a:p>
        </p:txBody>
      </p:sp>
      <p:sp>
        <p:nvSpPr>
          <p:cNvPr id="5135" name="AutoShape 13"/>
          <p:cNvSpPr>
            <a:spLocks noChangeArrowheads="1"/>
          </p:cNvSpPr>
          <p:nvPr/>
        </p:nvSpPr>
        <p:spPr bwMode="auto">
          <a:xfrm>
            <a:off x="5410200" y="5091113"/>
            <a:ext cx="2043113" cy="379412"/>
          </a:xfrm>
          <a:prstGeom prst="roundRect">
            <a:avLst>
              <a:gd name="adj" fmla="val 417"/>
            </a:avLst>
          </a:prstGeom>
          <a:noFill/>
          <a:ln w="38160">
            <a:solidFill>
              <a:srgbClr val="00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endParaRPr lang="en-IN" altLang="en-US"/>
          </a:p>
        </p:txBody>
      </p:sp>
      <p:sp>
        <p:nvSpPr>
          <p:cNvPr id="5136" name="Line 14"/>
          <p:cNvSpPr>
            <a:spLocks noChangeShapeType="1"/>
          </p:cNvSpPr>
          <p:nvPr/>
        </p:nvSpPr>
        <p:spPr bwMode="auto">
          <a:xfrm>
            <a:off x="3619500" y="2195513"/>
            <a:ext cx="266700" cy="1587"/>
          </a:xfrm>
          <a:prstGeom prst="line">
            <a:avLst/>
          </a:prstGeom>
          <a:noFill/>
          <a:ln w="38160">
            <a:solidFill>
              <a:srgbClr val="00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137" name="Line 15"/>
          <p:cNvSpPr>
            <a:spLocks noChangeShapeType="1"/>
          </p:cNvSpPr>
          <p:nvPr/>
        </p:nvSpPr>
        <p:spPr bwMode="auto">
          <a:xfrm>
            <a:off x="3884613" y="2195513"/>
            <a:ext cx="1587" cy="457200"/>
          </a:xfrm>
          <a:prstGeom prst="line">
            <a:avLst/>
          </a:prstGeom>
          <a:noFill/>
          <a:ln w="38160">
            <a:solidFill>
              <a:srgbClr val="0033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138" name="Line 16"/>
          <p:cNvSpPr>
            <a:spLocks noChangeShapeType="1"/>
          </p:cNvSpPr>
          <p:nvPr/>
        </p:nvSpPr>
        <p:spPr bwMode="auto">
          <a:xfrm>
            <a:off x="4343400" y="2881313"/>
            <a:ext cx="266700" cy="1587"/>
          </a:xfrm>
          <a:prstGeom prst="line">
            <a:avLst/>
          </a:prstGeom>
          <a:noFill/>
          <a:ln w="38160">
            <a:solidFill>
              <a:srgbClr val="00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139" name="Line 17"/>
          <p:cNvSpPr>
            <a:spLocks noChangeShapeType="1"/>
          </p:cNvSpPr>
          <p:nvPr/>
        </p:nvSpPr>
        <p:spPr bwMode="auto">
          <a:xfrm>
            <a:off x="4572000" y="2881313"/>
            <a:ext cx="1588" cy="381000"/>
          </a:xfrm>
          <a:prstGeom prst="line">
            <a:avLst/>
          </a:prstGeom>
          <a:noFill/>
          <a:ln w="38160">
            <a:solidFill>
              <a:srgbClr val="0033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140" name="Line 18"/>
          <p:cNvSpPr>
            <a:spLocks noChangeShapeType="1"/>
          </p:cNvSpPr>
          <p:nvPr/>
        </p:nvSpPr>
        <p:spPr bwMode="auto">
          <a:xfrm>
            <a:off x="5029200" y="3490913"/>
            <a:ext cx="266700" cy="1587"/>
          </a:xfrm>
          <a:prstGeom prst="line">
            <a:avLst/>
          </a:prstGeom>
          <a:noFill/>
          <a:ln w="38160">
            <a:solidFill>
              <a:srgbClr val="00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141" name="Line 19"/>
          <p:cNvSpPr>
            <a:spLocks noChangeShapeType="1"/>
          </p:cNvSpPr>
          <p:nvPr/>
        </p:nvSpPr>
        <p:spPr bwMode="auto">
          <a:xfrm>
            <a:off x="5257800" y="3490913"/>
            <a:ext cx="0" cy="381000"/>
          </a:xfrm>
          <a:prstGeom prst="line">
            <a:avLst/>
          </a:prstGeom>
          <a:noFill/>
          <a:ln w="38160">
            <a:solidFill>
              <a:srgbClr val="0033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142" name="Line 20"/>
          <p:cNvSpPr>
            <a:spLocks noChangeShapeType="1"/>
          </p:cNvSpPr>
          <p:nvPr/>
        </p:nvSpPr>
        <p:spPr bwMode="auto">
          <a:xfrm>
            <a:off x="5791200" y="4100513"/>
            <a:ext cx="266700" cy="1587"/>
          </a:xfrm>
          <a:prstGeom prst="line">
            <a:avLst/>
          </a:prstGeom>
          <a:noFill/>
          <a:ln w="38160">
            <a:solidFill>
              <a:srgbClr val="00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143" name="Line 21"/>
          <p:cNvSpPr>
            <a:spLocks noChangeShapeType="1"/>
          </p:cNvSpPr>
          <p:nvPr/>
        </p:nvSpPr>
        <p:spPr bwMode="auto">
          <a:xfrm>
            <a:off x="6019800" y="4100513"/>
            <a:ext cx="0" cy="381000"/>
          </a:xfrm>
          <a:prstGeom prst="line">
            <a:avLst/>
          </a:prstGeom>
          <a:noFill/>
          <a:ln w="38160">
            <a:solidFill>
              <a:srgbClr val="0033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144" name="Line 22"/>
          <p:cNvSpPr>
            <a:spLocks noChangeShapeType="1"/>
          </p:cNvSpPr>
          <p:nvPr/>
        </p:nvSpPr>
        <p:spPr bwMode="auto">
          <a:xfrm>
            <a:off x="6629400" y="4633913"/>
            <a:ext cx="304800" cy="0"/>
          </a:xfrm>
          <a:prstGeom prst="line">
            <a:avLst/>
          </a:prstGeom>
          <a:noFill/>
          <a:ln w="38160">
            <a:solidFill>
              <a:srgbClr val="00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145" name="Line 23"/>
          <p:cNvSpPr>
            <a:spLocks noChangeShapeType="1"/>
          </p:cNvSpPr>
          <p:nvPr/>
        </p:nvSpPr>
        <p:spPr bwMode="auto">
          <a:xfrm>
            <a:off x="6934200" y="4633913"/>
            <a:ext cx="0" cy="457200"/>
          </a:xfrm>
          <a:prstGeom prst="line">
            <a:avLst/>
          </a:prstGeom>
          <a:noFill/>
          <a:ln w="38160">
            <a:solidFill>
              <a:srgbClr val="0033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Waterfall Model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83050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1"/>
          <p:cNvSpPr>
            <a:spLocks noGrp="1" noChangeArrowheads="1"/>
          </p:cNvSpPr>
          <p:nvPr>
            <p:ph type="title"/>
          </p:nvPr>
        </p:nvSpPr>
        <p:spPr>
          <a:xfrm>
            <a:off x="406400" y="228600"/>
            <a:ext cx="7770813" cy="1141413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 anchor="ctr"/>
          <a:lstStyle/>
          <a:p>
            <a:pPr>
              <a:spcBef>
                <a:spcPts val="1000"/>
              </a:spcBef>
            </a:pPr>
            <a:r>
              <a:rPr lang="en-GB" altLang="en-US" dirty="0" smtClean="0"/>
              <a:t>Relative Effort for Phases</a:t>
            </a:r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79512" y="1624013"/>
            <a:ext cx="5002088" cy="5310187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/>
          <a:lstStyle/>
          <a:p>
            <a:pPr>
              <a:spcBef>
                <a:spcPts val="550"/>
              </a:spcBef>
              <a:defRPr/>
            </a:pPr>
            <a:r>
              <a:rPr lang="en-GB" altLang="en-US" sz="2400" dirty="0" smtClean="0"/>
              <a:t>Phases between feasibility study and testing 	</a:t>
            </a:r>
          </a:p>
          <a:p>
            <a:pPr lvl="1">
              <a:spcBef>
                <a:spcPts val="463"/>
              </a:spcBef>
              <a:defRPr/>
            </a:pPr>
            <a:r>
              <a:rPr lang="en-GB" altLang="en-US" sz="2000" dirty="0" smtClean="0"/>
              <a:t>known as development phases.</a:t>
            </a:r>
          </a:p>
          <a:p>
            <a:pPr>
              <a:spcBef>
                <a:spcPts val="550"/>
              </a:spcBef>
              <a:defRPr/>
            </a:pPr>
            <a:r>
              <a:rPr lang="en-GB" altLang="en-US" sz="2400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Among all life cycle phases</a:t>
            </a:r>
          </a:p>
          <a:p>
            <a:pPr lvl="1">
              <a:spcBef>
                <a:spcPts val="463"/>
              </a:spcBef>
              <a:defRPr/>
            </a:pPr>
            <a:r>
              <a:rPr lang="en-GB" altLang="en-US" sz="2000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maintenance phase consumes  maximum effort.</a:t>
            </a:r>
          </a:p>
          <a:p>
            <a:pPr>
              <a:spcBef>
                <a:spcPts val="550"/>
              </a:spcBef>
              <a:defRPr/>
            </a:pPr>
            <a:r>
              <a:rPr lang="en-GB" altLang="en-US" sz="2400" dirty="0" smtClean="0"/>
              <a:t>Among development phases,</a:t>
            </a:r>
          </a:p>
          <a:p>
            <a:pPr lvl="1">
              <a:spcBef>
                <a:spcPts val="463"/>
              </a:spcBef>
              <a:defRPr/>
            </a:pPr>
            <a:r>
              <a:rPr lang="en-GB" altLang="en-US" sz="2000" dirty="0" smtClean="0"/>
              <a:t>testing phase consumes the maximum effort.</a:t>
            </a:r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9624" y="1885950"/>
            <a:ext cx="4416872" cy="415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50" name="Text Box 4"/>
          <p:cNvSpPr txBox="1">
            <a:spLocks noChangeArrowheads="1"/>
          </p:cNvSpPr>
          <p:nvPr/>
        </p:nvSpPr>
        <p:spPr bwMode="auto">
          <a:xfrm>
            <a:off x="5638800" y="2667000"/>
            <a:ext cx="304641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/>
          <a:lstStyle>
            <a:lvl1pPr>
              <a:tabLst>
                <a:tab pos="863600" algn="l"/>
                <a:tab pos="1728788" algn="l"/>
                <a:tab pos="2592388" algn="l"/>
                <a:tab pos="2895600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>
              <a:tabLst>
                <a:tab pos="863600" algn="l"/>
                <a:tab pos="1728788" algn="l"/>
                <a:tab pos="2592388" algn="l"/>
                <a:tab pos="2895600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>
              <a:tabLst>
                <a:tab pos="863600" algn="l"/>
                <a:tab pos="1728788" algn="l"/>
                <a:tab pos="2592388" algn="l"/>
                <a:tab pos="2895600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>
              <a:tabLst>
                <a:tab pos="863600" algn="l"/>
                <a:tab pos="1728788" algn="l"/>
                <a:tab pos="2592388" algn="l"/>
                <a:tab pos="2895600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>
              <a:tabLst>
                <a:tab pos="863600" algn="l"/>
                <a:tab pos="1728788" algn="l"/>
                <a:tab pos="2592388" algn="l"/>
                <a:tab pos="2895600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63600" algn="l"/>
                <a:tab pos="1728788" algn="l"/>
                <a:tab pos="2592388" algn="l"/>
                <a:tab pos="2895600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63600" algn="l"/>
                <a:tab pos="1728788" algn="l"/>
                <a:tab pos="2592388" algn="l"/>
                <a:tab pos="2895600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63600" algn="l"/>
                <a:tab pos="1728788" algn="l"/>
                <a:tab pos="2592388" algn="l"/>
                <a:tab pos="2895600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63600" algn="l"/>
                <a:tab pos="1728788" algn="l"/>
                <a:tab pos="2592388" algn="l"/>
                <a:tab pos="2895600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>
              <a:lnSpc>
                <a:spcPct val="85000"/>
              </a:lnSpc>
              <a:spcBef>
                <a:spcPts val="1038"/>
              </a:spcBef>
            </a:pPr>
            <a:r>
              <a:rPr lang="en-GB" altLang="en-US" sz="1800" b="1">
                <a:latin typeface="times" charset="0"/>
              </a:rPr>
              <a:t>Relative Effort</a:t>
            </a:r>
          </a:p>
        </p:txBody>
      </p:sp>
    </p:spTree>
    <p:extLst>
      <p:ext uri="{BB962C8B-B14F-4D97-AF65-F5344CB8AC3E}">
        <p14:creationId xmlns:p14="http://schemas.microsoft.com/office/powerpoint/2010/main" val="2978319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7171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Deliverables in Waterfall model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Project Plan and feasibility report</a:t>
            </a:r>
          </a:p>
          <a:p>
            <a:r>
              <a:rPr lang="en-US" dirty="0" smtClean="0"/>
              <a:t>Requirements document</a:t>
            </a:r>
          </a:p>
          <a:p>
            <a:r>
              <a:rPr lang="en-US" dirty="0" smtClean="0"/>
              <a:t>System design document</a:t>
            </a:r>
          </a:p>
          <a:p>
            <a:r>
              <a:rPr lang="en-US" dirty="0" smtClean="0"/>
              <a:t>Detailed design document</a:t>
            </a:r>
          </a:p>
          <a:p>
            <a:r>
              <a:rPr lang="en-US" dirty="0" smtClean="0"/>
              <a:t>Test plans and test reports</a:t>
            </a:r>
          </a:p>
          <a:p>
            <a:r>
              <a:rPr lang="en-US" dirty="0" smtClean="0"/>
              <a:t>Source code</a:t>
            </a:r>
          </a:p>
          <a:p>
            <a:r>
              <a:rPr lang="en-US" dirty="0" smtClean="0"/>
              <a:t>Software manuals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7016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1"/>
          <p:cNvSpPr>
            <a:spLocks noGrp="1" noChangeArrowheads="1"/>
          </p:cNvSpPr>
          <p:nvPr>
            <p:ph type="title"/>
          </p:nvPr>
        </p:nvSpPr>
        <p:spPr>
          <a:xfrm>
            <a:off x="406400" y="228600"/>
            <a:ext cx="7770813" cy="1141413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 anchor="ctr"/>
          <a:lstStyle/>
          <a:p>
            <a:pPr>
              <a:spcBef>
                <a:spcPts val="1000"/>
              </a:spcBef>
            </a:pPr>
            <a:r>
              <a:rPr lang="en-GB" altLang="en-US" dirty="0" smtClean="0"/>
              <a:t>Waterfall Model</a:t>
            </a:r>
          </a:p>
        </p:txBody>
      </p:sp>
      <p:sp>
        <p:nvSpPr>
          <p:cNvPr id="3482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1447800"/>
            <a:ext cx="7770813" cy="4243388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/>
          <a:lstStyle/>
          <a:p>
            <a:pPr>
              <a:spcBef>
                <a:spcPts val="825"/>
              </a:spcBef>
            </a:pPr>
            <a:r>
              <a:rPr lang="en-GB" altLang="en-US" sz="3600" dirty="0" smtClean="0"/>
              <a:t>Classical waterfall model is idealistic:</a:t>
            </a:r>
          </a:p>
          <a:p>
            <a:pPr lvl="1">
              <a:spcBef>
                <a:spcPts val="725"/>
              </a:spcBef>
            </a:pPr>
            <a:r>
              <a:rPr lang="en-GB" altLang="en-US" sz="3200" dirty="0" smtClean="0"/>
              <a:t>assumes that no defect is introduced during any development activity.</a:t>
            </a:r>
          </a:p>
          <a:p>
            <a:pPr lvl="1">
              <a:spcBef>
                <a:spcPts val="725"/>
              </a:spcBef>
            </a:pPr>
            <a:r>
              <a:rPr lang="en-GB" altLang="en-US" sz="3200" dirty="0" smtClean="0"/>
              <a:t>in practice: </a:t>
            </a:r>
          </a:p>
          <a:p>
            <a:pPr lvl="2">
              <a:spcBef>
                <a:spcPts val="638"/>
              </a:spcBef>
            </a:pPr>
            <a:r>
              <a:rPr lang="en-GB" altLang="en-US" sz="2800" dirty="0" smtClean="0"/>
              <a:t>defects do get introduced in almost every phase of the life cycle. </a:t>
            </a:r>
          </a:p>
        </p:txBody>
      </p:sp>
    </p:spTree>
    <p:extLst>
      <p:ext uri="{BB962C8B-B14F-4D97-AF65-F5344CB8AC3E}">
        <p14:creationId xmlns:p14="http://schemas.microsoft.com/office/powerpoint/2010/main" val="981601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1"/>
          <p:cNvSpPr>
            <a:spLocks noGrp="1" noChangeArrowheads="1"/>
          </p:cNvSpPr>
          <p:nvPr>
            <p:ph type="title"/>
          </p:nvPr>
        </p:nvSpPr>
        <p:spPr>
          <a:xfrm>
            <a:off x="406400" y="228600"/>
            <a:ext cx="7770813" cy="1141413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 anchor="ctr"/>
          <a:lstStyle/>
          <a:p>
            <a:pPr>
              <a:spcBef>
                <a:spcPts val="1000"/>
              </a:spcBef>
            </a:pPr>
            <a:r>
              <a:rPr lang="en-GB" altLang="en-US" dirty="0" smtClean="0"/>
              <a:t>Waterfall Model </a:t>
            </a:r>
            <a:endParaRPr lang="en-GB" altLang="en-US" sz="1600" dirty="0" smtClean="0"/>
          </a:p>
        </p:txBody>
      </p:sp>
      <p:sp>
        <p:nvSpPr>
          <p:cNvPr id="35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1752600"/>
            <a:ext cx="8177213" cy="4170363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/>
          <a:lstStyle/>
          <a:p>
            <a:pPr>
              <a:spcBef>
                <a:spcPts val="913"/>
              </a:spcBef>
            </a:pPr>
            <a:r>
              <a:rPr lang="en-GB" altLang="en-US" sz="4000" dirty="0" smtClean="0"/>
              <a:t>Defects usually get detected much later in the life cycle: </a:t>
            </a:r>
          </a:p>
          <a:p>
            <a:pPr lvl="1">
              <a:spcBef>
                <a:spcPts val="825"/>
              </a:spcBef>
            </a:pPr>
            <a:r>
              <a:rPr lang="en-GB" altLang="en-US" sz="3600" dirty="0" smtClean="0"/>
              <a:t>For example, a design defect might go unnoticed till the coding or testing phase.</a:t>
            </a:r>
            <a:r>
              <a:rPr lang="en-GB" altLang="en-US" sz="3600" b="1" dirty="0" smtClean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03953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1"/>
          <p:cNvSpPr>
            <a:spLocks noGrp="1" noChangeArrowheads="1"/>
          </p:cNvSpPr>
          <p:nvPr>
            <p:ph type="title"/>
          </p:nvPr>
        </p:nvSpPr>
        <p:spPr>
          <a:xfrm>
            <a:off x="406400" y="228600"/>
            <a:ext cx="7770813" cy="1141413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 anchor="ctr"/>
          <a:lstStyle/>
          <a:p>
            <a:pPr>
              <a:spcBef>
                <a:spcPts val="1000"/>
              </a:spcBef>
            </a:pPr>
            <a:r>
              <a:rPr lang="en-GB" altLang="en-US" dirty="0" smtClean="0"/>
              <a:t>Waterfall Model </a:t>
            </a:r>
            <a:endParaRPr lang="en-GB" altLang="en-US" sz="1600" dirty="0" smtClean="0"/>
          </a:p>
        </p:txBody>
      </p:sp>
      <p:sp>
        <p:nvSpPr>
          <p:cNvPr id="3686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1677988"/>
            <a:ext cx="7770813" cy="4113212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/>
          <a:lstStyle/>
          <a:p>
            <a:pPr>
              <a:spcBef>
                <a:spcPts val="1000"/>
              </a:spcBef>
            </a:pPr>
            <a:r>
              <a:rPr lang="en-GB" altLang="en-US" dirty="0" smtClean="0"/>
              <a:t>Once a defect is detected:</a:t>
            </a:r>
          </a:p>
          <a:p>
            <a:pPr lvl="1">
              <a:spcBef>
                <a:spcPts val="725"/>
              </a:spcBef>
            </a:pPr>
            <a:r>
              <a:rPr lang="en-GB" altLang="en-US" dirty="0" smtClean="0"/>
              <a:t>we need to go back to the phase where it was introduced</a:t>
            </a:r>
          </a:p>
          <a:p>
            <a:pPr lvl="1">
              <a:spcBef>
                <a:spcPts val="725"/>
              </a:spcBef>
            </a:pPr>
            <a:r>
              <a:rPr lang="en-GB" altLang="en-US" dirty="0" smtClean="0"/>
              <a:t> redo some of the work done during that and all subsequent phases. </a:t>
            </a:r>
          </a:p>
          <a:p>
            <a:pPr>
              <a:spcBef>
                <a:spcPts val="1000"/>
              </a:spcBef>
            </a:pPr>
            <a:r>
              <a:rPr lang="en-GB" altLang="en-US" dirty="0" smtClean="0"/>
              <a:t>Therefore we need feedback paths in the classical waterfall model.</a:t>
            </a:r>
          </a:p>
        </p:txBody>
      </p:sp>
    </p:spTree>
    <p:extLst>
      <p:ext uri="{BB962C8B-B14F-4D97-AF65-F5344CB8AC3E}">
        <p14:creationId xmlns:p14="http://schemas.microsoft.com/office/powerpoint/2010/main" val="3578616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Incremental Model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Iterative Waterfall Model</a:t>
            </a:r>
          </a:p>
          <a:p>
            <a:r>
              <a:rPr lang="en-US" dirty="0" smtClean="0"/>
              <a:t>RAD model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792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Iterative Waterfall Model</a:t>
            </a:r>
            <a:endParaRPr lang="en-IN" dirty="0"/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1828800" y="2233835"/>
            <a:ext cx="1827213" cy="62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33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/>
          <a:lstStyle>
            <a:lvl1pPr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>
              <a:lnSpc>
                <a:spcPct val="85000"/>
              </a:lnSpc>
              <a:spcBef>
                <a:spcPts val="1038"/>
              </a:spcBef>
            </a:pPr>
            <a:r>
              <a:rPr lang="en-GB" altLang="en-US" sz="1800" b="1">
                <a:latin typeface="times" charset="0"/>
              </a:rPr>
              <a:t>Feasibility Study</a:t>
            </a:r>
          </a:p>
        </p:txBody>
      </p:sp>
      <p:sp>
        <p:nvSpPr>
          <p:cNvPr id="5" name="AutoShape 3"/>
          <p:cNvSpPr>
            <a:spLocks noChangeArrowheads="1"/>
          </p:cNvSpPr>
          <p:nvPr/>
        </p:nvSpPr>
        <p:spPr bwMode="auto">
          <a:xfrm>
            <a:off x="1828800" y="2233835"/>
            <a:ext cx="1751013" cy="379413"/>
          </a:xfrm>
          <a:prstGeom prst="roundRect">
            <a:avLst>
              <a:gd name="adj" fmla="val 417"/>
            </a:avLst>
          </a:prstGeom>
          <a:noFill/>
          <a:ln w="38160">
            <a:solidFill>
              <a:srgbClr val="00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endParaRPr lang="en-IN" altLang="en-US"/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2362200" y="2843435"/>
            <a:ext cx="182721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33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/>
          <a:lstStyle>
            <a:lvl1pPr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>
              <a:lnSpc>
                <a:spcPct val="85000"/>
              </a:lnSpc>
              <a:spcBef>
                <a:spcPts val="1038"/>
              </a:spcBef>
            </a:pPr>
            <a:r>
              <a:rPr lang="en-GB" altLang="en-US" sz="1800" b="1">
                <a:latin typeface="times" charset="0"/>
              </a:rPr>
              <a:t>Req.   Analysis</a:t>
            </a:r>
          </a:p>
        </p:txBody>
      </p:sp>
      <p:sp>
        <p:nvSpPr>
          <p:cNvPr id="7" name="AutoShape 5"/>
          <p:cNvSpPr>
            <a:spLocks noChangeArrowheads="1"/>
          </p:cNvSpPr>
          <p:nvPr/>
        </p:nvSpPr>
        <p:spPr bwMode="auto">
          <a:xfrm>
            <a:off x="2362200" y="2843435"/>
            <a:ext cx="1751013" cy="379413"/>
          </a:xfrm>
          <a:prstGeom prst="roundRect">
            <a:avLst>
              <a:gd name="adj" fmla="val 417"/>
            </a:avLst>
          </a:prstGeom>
          <a:noFill/>
          <a:ln w="38160">
            <a:solidFill>
              <a:srgbClr val="00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endParaRPr lang="en-IN" altLang="en-US"/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2971800" y="3453035"/>
            <a:ext cx="182721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33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/>
          <a:lstStyle>
            <a:lvl1pPr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>
              <a:lnSpc>
                <a:spcPct val="85000"/>
              </a:lnSpc>
              <a:spcBef>
                <a:spcPts val="1038"/>
              </a:spcBef>
            </a:pPr>
            <a:r>
              <a:rPr lang="en-GB" altLang="en-US" sz="1800" b="1">
                <a:latin typeface="times" charset="0"/>
              </a:rPr>
              <a:t>       Design</a:t>
            </a:r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2971800" y="3453035"/>
            <a:ext cx="1751013" cy="379413"/>
          </a:xfrm>
          <a:prstGeom prst="roundRect">
            <a:avLst>
              <a:gd name="adj" fmla="val 417"/>
            </a:avLst>
          </a:prstGeom>
          <a:noFill/>
          <a:ln w="38160">
            <a:solidFill>
              <a:srgbClr val="00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endParaRPr lang="en-IN" altLang="en-US"/>
          </a:p>
        </p:txBody>
      </p:sp>
      <p:sp>
        <p:nvSpPr>
          <p:cNvPr id="10" name="Text Box 8"/>
          <p:cNvSpPr txBox="1">
            <a:spLocks noChangeArrowheads="1"/>
          </p:cNvSpPr>
          <p:nvPr/>
        </p:nvSpPr>
        <p:spPr bwMode="auto">
          <a:xfrm>
            <a:off x="3581400" y="4062635"/>
            <a:ext cx="182721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33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/>
          <a:lstStyle>
            <a:lvl1pPr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>
              <a:lnSpc>
                <a:spcPct val="85000"/>
              </a:lnSpc>
              <a:spcBef>
                <a:spcPts val="1038"/>
              </a:spcBef>
            </a:pPr>
            <a:r>
              <a:rPr lang="en-GB" altLang="en-US" sz="1800" b="1">
                <a:latin typeface="times" charset="0"/>
              </a:rPr>
              <a:t>        Coding</a:t>
            </a:r>
          </a:p>
        </p:txBody>
      </p:sp>
      <p:sp>
        <p:nvSpPr>
          <p:cNvPr id="11" name="AutoShape 9"/>
          <p:cNvSpPr>
            <a:spLocks noChangeArrowheads="1"/>
          </p:cNvSpPr>
          <p:nvPr/>
        </p:nvSpPr>
        <p:spPr bwMode="auto">
          <a:xfrm>
            <a:off x="3581400" y="4062635"/>
            <a:ext cx="1751013" cy="379413"/>
          </a:xfrm>
          <a:prstGeom prst="roundRect">
            <a:avLst>
              <a:gd name="adj" fmla="val 417"/>
            </a:avLst>
          </a:prstGeom>
          <a:noFill/>
          <a:ln w="38160">
            <a:solidFill>
              <a:srgbClr val="00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endParaRPr lang="en-IN" altLang="en-US"/>
          </a:p>
        </p:txBody>
      </p:sp>
      <p:sp>
        <p:nvSpPr>
          <p:cNvPr id="12" name="Text Box 10"/>
          <p:cNvSpPr txBox="1">
            <a:spLocks noChangeArrowheads="1"/>
          </p:cNvSpPr>
          <p:nvPr/>
        </p:nvSpPr>
        <p:spPr bwMode="auto">
          <a:xfrm>
            <a:off x="4191000" y="4672235"/>
            <a:ext cx="182721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33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/>
          <a:lstStyle>
            <a:lvl1pPr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>
              <a:lnSpc>
                <a:spcPct val="85000"/>
              </a:lnSpc>
              <a:spcBef>
                <a:spcPts val="1038"/>
              </a:spcBef>
            </a:pPr>
            <a:r>
              <a:rPr lang="en-GB" altLang="en-US" sz="1800" b="1">
                <a:latin typeface="times" charset="0"/>
              </a:rPr>
              <a:t>      Testing</a:t>
            </a:r>
          </a:p>
        </p:txBody>
      </p:sp>
      <p:sp>
        <p:nvSpPr>
          <p:cNvPr id="13" name="AutoShape 11"/>
          <p:cNvSpPr>
            <a:spLocks noChangeArrowheads="1"/>
          </p:cNvSpPr>
          <p:nvPr/>
        </p:nvSpPr>
        <p:spPr bwMode="auto">
          <a:xfrm>
            <a:off x="4191000" y="4672235"/>
            <a:ext cx="1751013" cy="379413"/>
          </a:xfrm>
          <a:prstGeom prst="roundRect">
            <a:avLst>
              <a:gd name="adj" fmla="val 417"/>
            </a:avLst>
          </a:prstGeom>
          <a:noFill/>
          <a:ln w="38160">
            <a:solidFill>
              <a:srgbClr val="00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endParaRPr lang="en-IN" altLang="en-US"/>
          </a:p>
        </p:txBody>
      </p:sp>
      <p:sp>
        <p:nvSpPr>
          <p:cNvPr id="14" name="Text Box 12"/>
          <p:cNvSpPr txBox="1">
            <a:spLocks noChangeArrowheads="1"/>
          </p:cNvSpPr>
          <p:nvPr/>
        </p:nvSpPr>
        <p:spPr bwMode="auto">
          <a:xfrm>
            <a:off x="4800600" y="5281835"/>
            <a:ext cx="182721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33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/>
          <a:lstStyle>
            <a:lvl1pPr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>
              <a:lnSpc>
                <a:spcPct val="85000"/>
              </a:lnSpc>
              <a:spcBef>
                <a:spcPts val="1038"/>
              </a:spcBef>
            </a:pPr>
            <a:r>
              <a:rPr lang="en-GB" altLang="en-US" sz="1800" b="1">
                <a:latin typeface="times" charset="0"/>
              </a:rPr>
              <a:t>    Maintenance</a:t>
            </a:r>
          </a:p>
        </p:txBody>
      </p:sp>
      <p:sp>
        <p:nvSpPr>
          <p:cNvPr id="15" name="AutoShape 13"/>
          <p:cNvSpPr>
            <a:spLocks noChangeArrowheads="1"/>
          </p:cNvSpPr>
          <p:nvPr/>
        </p:nvSpPr>
        <p:spPr bwMode="auto">
          <a:xfrm>
            <a:off x="4800600" y="5281835"/>
            <a:ext cx="1751013" cy="379413"/>
          </a:xfrm>
          <a:prstGeom prst="roundRect">
            <a:avLst>
              <a:gd name="adj" fmla="val 417"/>
            </a:avLst>
          </a:prstGeom>
          <a:noFill/>
          <a:ln w="38160">
            <a:solidFill>
              <a:srgbClr val="00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endParaRPr lang="en-IN" altLang="en-US"/>
          </a:p>
        </p:txBody>
      </p:sp>
      <p:sp>
        <p:nvSpPr>
          <p:cNvPr id="16" name="Line 14"/>
          <p:cNvSpPr>
            <a:spLocks noChangeShapeType="1"/>
          </p:cNvSpPr>
          <p:nvPr/>
        </p:nvSpPr>
        <p:spPr bwMode="auto">
          <a:xfrm>
            <a:off x="3581400" y="2462435"/>
            <a:ext cx="228600" cy="0"/>
          </a:xfrm>
          <a:prstGeom prst="line">
            <a:avLst/>
          </a:prstGeom>
          <a:noFill/>
          <a:ln w="38160">
            <a:solidFill>
              <a:srgbClr val="00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7" name="Line 15"/>
          <p:cNvSpPr>
            <a:spLocks noChangeShapeType="1"/>
          </p:cNvSpPr>
          <p:nvPr/>
        </p:nvSpPr>
        <p:spPr bwMode="auto">
          <a:xfrm>
            <a:off x="3810000" y="2462435"/>
            <a:ext cx="0" cy="381000"/>
          </a:xfrm>
          <a:prstGeom prst="line">
            <a:avLst/>
          </a:prstGeom>
          <a:noFill/>
          <a:ln w="38160">
            <a:solidFill>
              <a:srgbClr val="0033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8" name="Line 16"/>
          <p:cNvSpPr>
            <a:spLocks noChangeShapeType="1"/>
          </p:cNvSpPr>
          <p:nvPr/>
        </p:nvSpPr>
        <p:spPr bwMode="auto">
          <a:xfrm>
            <a:off x="4114800" y="3072035"/>
            <a:ext cx="228600" cy="0"/>
          </a:xfrm>
          <a:prstGeom prst="line">
            <a:avLst/>
          </a:prstGeom>
          <a:noFill/>
          <a:ln w="38160">
            <a:solidFill>
              <a:srgbClr val="00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9" name="Line 17"/>
          <p:cNvSpPr>
            <a:spLocks noChangeShapeType="1"/>
          </p:cNvSpPr>
          <p:nvPr/>
        </p:nvSpPr>
        <p:spPr bwMode="auto">
          <a:xfrm>
            <a:off x="4343400" y="3072035"/>
            <a:ext cx="0" cy="381000"/>
          </a:xfrm>
          <a:prstGeom prst="line">
            <a:avLst/>
          </a:prstGeom>
          <a:noFill/>
          <a:ln w="38160">
            <a:solidFill>
              <a:srgbClr val="0033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0" name="Line 18"/>
          <p:cNvSpPr>
            <a:spLocks noChangeShapeType="1"/>
          </p:cNvSpPr>
          <p:nvPr/>
        </p:nvSpPr>
        <p:spPr bwMode="auto">
          <a:xfrm>
            <a:off x="4724400" y="3681635"/>
            <a:ext cx="228600" cy="0"/>
          </a:xfrm>
          <a:prstGeom prst="line">
            <a:avLst/>
          </a:prstGeom>
          <a:noFill/>
          <a:ln w="38160">
            <a:solidFill>
              <a:srgbClr val="00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1" name="Line 19"/>
          <p:cNvSpPr>
            <a:spLocks noChangeShapeType="1"/>
          </p:cNvSpPr>
          <p:nvPr/>
        </p:nvSpPr>
        <p:spPr bwMode="auto">
          <a:xfrm>
            <a:off x="4953000" y="3681635"/>
            <a:ext cx="0" cy="381000"/>
          </a:xfrm>
          <a:prstGeom prst="line">
            <a:avLst/>
          </a:prstGeom>
          <a:noFill/>
          <a:ln w="38160">
            <a:solidFill>
              <a:srgbClr val="0033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2" name="Line 20"/>
          <p:cNvSpPr>
            <a:spLocks noChangeShapeType="1"/>
          </p:cNvSpPr>
          <p:nvPr/>
        </p:nvSpPr>
        <p:spPr bwMode="auto">
          <a:xfrm>
            <a:off x="5334000" y="4291235"/>
            <a:ext cx="228600" cy="0"/>
          </a:xfrm>
          <a:prstGeom prst="line">
            <a:avLst/>
          </a:prstGeom>
          <a:noFill/>
          <a:ln w="38160">
            <a:solidFill>
              <a:srgbClr val="00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3" name="Line 21"/>
          <p:cNvSpPr>
            <a:spLocks noChangeShapeType="1"/>
          </p:cNvSpPr>
          <p:nvPr/>
        </p:nvSpPr>
        <p:spPr bwMode="auto">
          <a:xfrm>
            <a:off x="5562600" y="4291235"/>
            <a:ext cx="0" cy="381000"/>
          </a:xfrm>
          <a:prstGeom prst="line">
            <a:avLst/>
          </a:prstGeom>
          <a:noFill/>
          <a:ln w="38160">
            <a:solidFill>
              <a:srgbClr val="0033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4" name="Line 22"/>
          <p:cNvSpPr>
            <a:spLocks noChangeShapeType="1"/>
          </p:cNvSpPr>
          <p:nvPr/>
        </p:nvSpPr>
        <p:spPr bwMode="auto">
          <a:xfrm>
            <a:off x="5943600" y="4824635"/>
            <a:ext cx="228600" cy="0"/>
          </a:xfrm>
          <a:prstGeom prst="line">
            <a:avLst/>
          </a:prstGeom>
          <a:noFill/>
          <a:ln w="38160">
            <a:solidFill>
              <a:srgbClr val="00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5" name="Line 23"/>
          <p:cNvSpPr>
            <a:spLocks noChangeShapeType="1"/>
          </p:cNvSpPr>
          <p:nvPr/>
        </p:nvSpPr>
        <p:spPr bwMode="auto">
          <a:xfrm>
            <a:off x="6172200" y="4824635"/>
            <a:ext cx="0" cy="457200"/>
          </a:xfrm>
          <a:prstGeom prst="line">
            <a:avLst/>
          </a:prstGeom>
          <a:noFill/>
          <a:ln w="38160">
            <a:solidFill>
              <a:srgbClr val="0033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6" name="Line 24"/>
          <p:cNvSpPr>
            <a:spLocks noChangeShapeType="1"/>
          </p:cNvSpPr>
          <p:nvPr/>
        </p:nvSpPr>
        <p:spPr bwMode="auto">
          <a:xfrm flipV="1">
            <a:off x="4419600" y="5053235"/>
            <a:ext cx="0" cy="457200"/>
          </a:xfrm>
          <a:prstGeom prst="line">
            <a:avLst/>
          </a:prstGeom>
          <a:noFill/>
          <a:ln w="38160">
            <a:solidFill>
              <a:srgbClr val="003300"/>
            </a:solidFill>
            <a:round/>
            <a:headEnd type="triangle" w="lg" len="lg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7" name="Line 25"/>
          <p:cNvSpPr>
            <a:spLocks noChangeShapeType="1"/>
          </p:cNvSpPr>
          <p:nvPr/>
        </p:nvSpPr>
        <p:spPr bwMode="auto">
          <a:xfrm flipV="1">
            <a:off x="3276600" y="3834035"/>
            <a:ext cx="0" cy="1676400"/>
          </a:xfrm>
          <a:prstGeom prst="line">
            <a:avLst/>
          </a:prstGeom>
          <a:noFill/>
          <a:ln w="38160">
            <a:solidFill>
              <a:srgbClr val="003300"/>
            </a:solidFill>
            <a:round/>
            <a:headEnd type="triangle" w="lg" len="lg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8" name="Line 26"/>
          <p:cNvSpPr>
            <a:spLocks noChangeShapeType="1"/>
          </p:cNvSpPr>
          <p:nvPr/>
        </p:nvSpPr>
        <p:spPr bwMode="auto">
          <a:xfrm flipV="1">
            <a:off x="3810000" y="4443635"/>
            <a:ext cx="0" cy="1066800"/>
          </a:xfrm>
          <a:prstGeom prst="line">
            <a:avLst/>
          </a:prstGeom>
          <a:noFill/>
          <a:ln w="38160">
            <a:solidFill>
              <a:srgbClr val="003300"/>
            </a:solidFill>
            <a:round/>
            <a:headEnd type="triangle" w="lg" len="lg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9" name="Line 27"/>
          <p:cNvSpPr>
            <a:spLocks noChangeShapeType="1"/>
          </p:cNvSpPr>
          <p:nvPr/>
        </p:nvSpPr>
        <p:spPr bwMode="auto">
          <a:xfrm flipH="1">
            <a:off x="2057400" y="5510435"/>
            <a:ext cx="2743200" cy="0"/>
          </a:xfrm>
          <a:prstGeom prst="line">
            <a:avLst/>
          </a:prstGeom>
          <a:noFill/>
          <a:ln w="38160">
            <a:solidFill>
              <a:srgbClr val="00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0" name="Line 28"/>
          <p:cNvSpPr>
            <a:spLocks noChangeShapeType="1"/>
          </p:cNvSpPr>
          <p:nvPr/>
        </p:nvSpPr>
        <p:spPr bwMode="auto">
          <a:xfrm flipV="1">
            <a:off x="2057400" y="2614835"/>
            <a:ext cx="0" cy="2895600"/>
          </a:xfrm>
          <a:prstGeom prst="line">
            <a:avLst/>
          </a:prstGeom>
          <a:noFill/>
          <a:ln w="38160">
            <a:solidFill>
              <a:srgbClr val="003300"/>
            </a:solidFill>
            <a:round/>
            <a:headEnd type="triangle" w="lg" len="lg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1" name="Line 29"/>
          <p:cNvSpPr>
            <a:spLocks noChangeShapeType="1"/>
          </p:cNvSpPr>
          <p:nvPr/>
        </p:nvSpPr>
        <p:spPr bwMode="auto">
          <a:xfrm flipV="1">
            <a:off x="2667000" y="3224435"/>
            <a:ext cx="0" cy="2286000"/>
          </a:xfrm>
          <a:prstGeom prst="line">
            <a:avLst/>
          </a:prstGeom>
          <a:noFill/>
          <a:ln w="38160">
            <a:solidFill>
              <a:srgbClr val="003300"/>
            </a:solidFill>
            <a:round/>
            <a:headEnd type="triangle" w="lg" len="lg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714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RAD Model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 smtClean="0"/>
              <a:t>Rapid </a:t>
            </a:r>
            <a:r>
              <a:rPr lang="en-US" dirty="0" err="1" smtClean="0"/>
              <a:t>Appplication</a:t>
            </a:r>
            <a:r>
              <a:rPr lang="en-US" dirty="0" smtClean="0"/>
              <a:t> Development (RAD) emphasizes in extremely short development life cycle (60 to 90 days)</a:t>
            </a:r>
          </a:p>
          <a:p>
            <a:r>
              <a:rPr lang="en-US" dirty="0" smtClean="0"/>
              <a:t>Provided requirements are well understood and project scope is constrained.</a:t>
            </a:r>
          </a:p>
          <a:p>
            <a:r>
              <a:rPr lang="en-US" dirty="0" smtClean="0"/>
              <a:t>Encompasses following phases</a:t>
            </a:r>
          </a:p>
          <a:p>
            <a:pPr lvl="1"/>
            <a:r>
              <a:rPr lang="en-US" dirty="0" smtClean="0"/>
              <a:t>Communication: works to understand business problem</a:t>
            </a:r>
          </a:p>
          <a:p>
            <a:pPr lvl="1"/>
            <a:r>
              <a:rPr lang="en-US" dirty="0" smtClean="0"/>
              <a:t>Planning</a:t>
            </a:r>
          </a:p>
          <a:p>
            <a:pPr lvl="1"/>
            <a:r>
              <a:rPr lang="en-US" dirty="0" smtClean="0"/>
              <a:t>Modeling</a:t>
            </a:r>
          </a:p>
          <a:p>
            <a:pPr lvl="1"/>
            <a:r>
              <a:rPr lang="en-US" dirty="0" smtClean="0"/>
              <a:t>Construction</a:t>
            </a:r>
          </a:p>
          <a:p>
            <a:pPr lvl="1"/>
            <a:r>
              <a:rPr lang="en-US" dirty="0" smtClean="0"/>
              <a:t>Deployment</a:t>
            </a:r>
          </a:p>
          <a:p>
            <a:pPr lvl="1"/>
            <a:endParaRPr lang="en-US" dirty="0" smtClean="0"/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9758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RAD Model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For large but scalable projects, RAD requires sufficient human resources to create right number of RAD teams</a:t>
            </a:r>
          </a:p>
          <a:p>
            <a:r>
              <a:rPr lang="en-US" dirty="0" smtClean="0"/>
              <a:t>RAD requires developers and customers who are committed to rapid fire activities</a:t>
            </a:r>
          </a:p>
          <a:p>
            <a:r>
              <a:rPr lang="en-US" dirty="0" smtClean="0"/>
              <a:t>Not all types of applications are appropriate for RAD</a:t>
            </a:r>
          </a:p>
          <a:p>
            <a:r>
              <a:rPr lang="en-US" dirty="0" smtClean="0"/>
              <a:t>RAD is not appropriate when technical risks are high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3085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Evolutionary Model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Prototype Model</a:t>
            </a:r>
          </a:p>
          <a:p>
            <a:r>
              <a:rPr lang="en-US" dirty="0" smtClean="0"/>
              <a:t>Spiral Model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07271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1"/>
          <p:cNvSpPr>
            <a:spLocks noGrp="1" noChangeArrowheads="1"/>
          </p:cNvSpPr>
          <p:nvPr>
            <p:ph type="title"/>
          </p:nvPr>
        </p:nvSpPr>
        <p:spPr>
          <a:xfrm>
            <a:off x="406400" y="228600"/>
            <a:ext cx="7770813" cy="1141413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 anchor="ctr"/>
          <a:lstStyle/>
          <a:p>
            <a:pPr>
              <a:spcBef>
                <a:spcPts val="1000"/>
              </a:spcBef>
            </a:pPr>
            <a:r>
              <a:rPr lang="en-GB" altLang="en-US" dirty="0" smtClean="0"/>
              <a:t>Prototyping Model</a:t>
            </a:r>
          </a:p>
        </p:txBody>
      </p:sp>
      <p:sp>
        <p:nvSpPr>
          <p:cNvPr id="4403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1447800"/>
            <a:ext cx="7770813" cy="4179888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/>
          <a:lstStyle/>
          <a:p>
            <a:pPr>
              <a:spcBef>
                <a:spcPts val="1000"/>
              </a:spcBef>
            </a:pPr>
            <a:r>
              <a:rPr lang="en-GB" altLang="en-US" dirty="0" smtClean="0"/>
              <a:t>Before  starting actual development, </a:t>
            </a:r>
          </a:p>
          <a:p>
            <a:pPr lvl="1">
              <a:spcBef>
                <a:spcPts val="725"/>
              </a:spcBef>
            </a:pPr>
            <a:r>
              <a:rPr lang="en-GB" altLang="en-US" dirty="0" smtClean="0"/>
              <a:t>a working prototype of the system should first be built.</a:t>
            </a:r>
          </a:p>
          <a:p>
            <a:pPr>
              <a:spcBef>
                <a:spcPts val="1000"/>
              </a:spcBef>
            </a:pPr>
            <a:r>
              <a:rPr lang="en-GB" altLang="en-US" dirty="0" smtClean="0"/>
              <a:t>A prototype is a toy implementation of a system:</a:t>
            </a:r>
          </a:p>
          <a:p>
            <a:pPr lvl="1">
              <a:spcBef>
                <a:spcPts val="725"/>
              </a:spcBef>
            </a:pPr>
            <a:r>
              <a:rPr lang="en-GB" altLang="en-US" dirty="0" smtClean="0"/>
              <a:t>limited functional capabilities, </a:t>
            </a:r>
          </a:p>
          <a:p>
            <a:pPr lvl="1">
              <a:spcBef>
                <a:spcPts val="725"/>
              </a:spcBef>
            </a:pPr>
            <a:r>
              <a:rPr lang="en-GB" altLang="en-US" dirty="0" smtClean="0"/>
              <a:t>low reliability,  </a:t>
            </a:r>
          </a:p>
          <a:p>
            <a:pPr lvl="1">
              <a:spcBef>
                <a:spcPts val="725"/>
              </a:spcBef>
            </a:pPr>
            <a:r>
              <a:rPr lang="en-GB" altLang="en-US" dirty="0" smtClean="0"/>
              <a:t>inefficient performance.</a:t>
            </a:r>
          </a:p>
        </p:txBody>
      </p:sp>
    </p:spTree>
    <p:extLst>
      <p:ext uri="{BB962C8B-B14F-4D97-AF65-F5344CB8AC3E}">
        <p14:creationId xmlns:p14="http://schemas.microsoft.com/office/powerpoint/2010/main" val="2756379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44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4" grpId="0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1"/>
          <p:cNvSpPr>
            <a:spLocks noGrp="1" noChangeArrowheads="1"/>
          </p:cNvSpPr>
          <p:nvPr>
            <p:ph type="title"/>
          </p:nvPr>
        </p:nvSpPr>
        <p:spPr>
          <a:xfrm>
            <a:off x="406400" y="228600"/>
            <a:ext cx="7770813" cy="1141413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 anchor="ctr"/>
          <a:lstStyle/>
          <a:p>
            <a:pPr>
              <a:spcBef>
                <a:spcPts val="800"/>
              </a:spcBef>
            </a:pPr>
            <a:r>
              <a:rPr lang="en-GB" altLang="en-US" sz="3600" b="1" dirty="0" smtClean="0"/>
              <a:t>Reasons for developing a prototype</a:t>
            </a:r>
          </a:p>
        </p:txBody>
      </p:sp>
      <p:sp>
        <p:nvSpPr>
          <p:cNvPr id="4403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1447800"/>
            <a:ext cx="7770813" cy="4460875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>
            <a:normAutofit lnSpcReduction="10000"/>
          </a:bodyPr>
          <a:lstStyle/>
          <a:p>
            <a:pPr>
              <a:spcBef>
                <a:spcPct val="0"/>
              </a:spcBef>
            </a:pPr>
            <a:r>
              <a:rPr lang="en-GB" altLang="en-US" sz="3600" smtClean="0"/>
              <a:t>Illustrate to the customer:</a:t>
            </a:r>
          </a:p>
          <a:p>
            <a:pPr lvl="1">
              <a:spcBef>
                <a:spcPct val="0"/>
              </a:spcBef>
            </a:pPr>
            <a:r>
              <a:rPr lang="en-GB" altLang="en-US" sz="3200" smtClean="0"/>
              <a:t>input data formats, messages, reports, or interactive dialogs. </a:t>
            </a:r>
          </a:p>
          <a:p>
            <a:pPr>
              <a:spcBef>
                <a:spcPct val="0"/>
              </a:spcBef>
            </a:pPr>
            <a:r>
              <a:rPr lang="en-GB" altLang="en-US" sz="3600" smtClean="0"/>
              <a:t>Examine technical issues associated with product development: </a:t>
            </a:r>
          </a:p>
          <a:p>
            <a:pPr lvl="1">
              <a:spcBef>
                <a:spcPct val="0"/>
              </a:spcBef>
            </a:pPr>
            <a:r>
              <a:rPr lang="en-GB" altLang="en-US" sz="3200" smtClean="0"/>
              <a:t>Often major design decisions  depend on issues like: </a:t>
            </a:r>
          </a:p>
          <a:p>
            <a:pPr lvl="2">
              <a:spcBef>
                <a:spcPct val="0"/>
              </a:spcBef>
            </a:pPr>
            <a:r>
              <a:rPr lang="en-GB" altLang="en-US" sz="2800" smtClean="0"/>
              <a:t>response time of a hardware controller, </a:t>
            </a:r>
          </a:p>
          <a:p>
            <a:pPr lvl="2">
              <a:spcBef>
                <a:spcPct val="0"/>
              </a:spcBef>
            </a:pPr>
            <a:r>
              <a:rPr lang="en-GB" altLang="en-US" sz="2800" smtClean="0"/>
              <a:t>efficiency of a sorting algorithm, etc.</a:t>
            </a:r>
          </a:p>
        </p:txBody>
      </p:sp>
    </p:spTree>
    <p:extLst>
      <p:ext uri="{BB962C8B-B14F-4D97-AF65-F5344CB8AC3E}">
        <p14:creationId xmlns:p14="http://schemas.microsoft.com/office/powerpoint/2010/main" val="1428659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Rectangle 1"/>
          <p:cNvSpPr>
            <a:spLocks noGrp="1" noChangeArrowheads="1"/>
          </p:cNvSpPr>
          <p:nvPr>
            <p:ph type="title"/>
          </p:nvPr>
        </p:nvSpPr>
        <p:spPr>
          <a:xfrm>
            <a:off x="406400" y="228600"/>
            <a:ext cx="7770813" cy="1141413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 anchor="ctr"/>
          <a:lstStyle/>
          <a:p>
            <a:pPr>
              <a:spcBef>
                <a:spcPts val="1000"/>
              </a:spcBef>
            </a:pPr>
            <a:r>
              <a:rPr lang="en-GB" altLang="en-US" dirty="0" smtClean="0"/>
              <a:t>Prototyping Model </a:t>
            </a:r>
            <a:r>
              <a:rPr lang="en-GB" altLang="en-US" sz="1600" dirty="0" smtClean="0"/>
              <a:t>(CONT.)</a:t>
            </a:r>
          </a:p>
        </p:txBody>
      </p:sp>
      <p:sp>
        <p:nvSpPr>
          <p:cNvPr id="45060" name="Rectangle 2"/>
          <p:cNvSpPr>
            <a:spLocks noGrp="1" noChangeArrowheads="1"/>
          </p:cNvSpPr>
          <p:nvPr>
            <p:ph type="body" idx="1"/>
          </p:nvPr>
        </p:nvSpPr>
        <p:spPr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/>
          <a:lstStyle/>
          <a:p>
            <a:pPr>
              <a:spcBef>
                <a:spcPts val="825"/>
              </a:spcBef>
            </a:pPr>
            <a:r>
              <a:rPr lang="en-GB" altLang="en-US" sz="3600" dirty="0" smtClean="0"/>
              <a:t>The third reason for developing a prototype is:</a:t>
            </a:r>
          </a:p>
          <a:p>
            <a:pPr lvl="1">
              <a:spcBef>
                <a:spcPts val="725"/>
              </a:spcBef>
            </a:pPr>
            <a:r>
              <a:rPr lang="en-GB" altLang="en-US" sz="3200" dirty="0" smtClean="0"/>
              <a:t>it is impossible to ``get it right'' the first time, </a:t>
            </a:r>
          </a:p>
          <a:p>
            <a:pPr lvl="1">
              <a:spcBef>
                <a:spcPts val="725"/>
              </a:spcBef>
            </a:pPr>
            <a:r>
              <a:rPr lang="en-GB" altLang="en-US" sz="3200" dirty="0" smtClean="0"/>
              <a:t>we must plan to throw away  the first product 	</a:t>
            </a:r>
          </a:p>
          <a:p>
            <a:pPr lvl="2">
              <a:spcBef>
                <a:spcPts val="638"/>
              </a:spcBef>
            </a:pPr>
            <a:r>
              <a:rPr lang="en-GB" altLang="en-US" sz="2800" dirty="0" smtClean="0"/>
              <a:t>if we want to develop a good product.</a:t>
            </a:r>
          </a:p>
        </p:txBody>
      </p:sp>
    </p:spTree>
    <p:extLst>
      <p:ext uri="{BB962C8B-B14F-4D97-AF65-F5344CB8AC3E}">
        <p14:creationId xmlns:p14="http://schemas.microsoft.com/office/powerpoint/2010/main" val="190977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Rectangle 1"/>
          <p:cNvSpPr>
            <a:spLocks noGrp="1" noChangeArrowheads="1"/>
          </p:cNvSpPr>
          <p:nvPr>
            <p:ph type="title"/>
          </p:nvPr>
        </p:nvSpPr>
        <p:spPr>
          <a:xfrm>
            <a:off x="406400" y="228600"/>
            <a:ext cx="7770813" cy="1141413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 anchor="ctr"/>
          <a:lstStyle/>
          <a:p>
            <a:pPr>
              <a:spcBef>
                <a:spcPts val="1000"/>
              </a:spcBef>
            </a:pPr>
            <a:r>
              <a:rPr lang="en-GB" altLang="en-US" dirty="0" smtClean="0"/>
              <a:t>Prototyping Model </a:t>
            </a:r>
            <a:r>
              <a:rPr lang="en-GB" altLang="en-US" sz="1600" dirty="0" smtClean="0"/>
              <a:t>(CONT.)</a:t>
            </a:r>
          </a:p>
        </p:txBody>
      </p:sp>
      <p:sp>
        <p:nvSpPr>
          <p:cNvPr id="46084" name="Rectangle 2"/>
          <p:cNvSpPr>
            <a:spLocks noGrp="1" noChangeArrowheads="1"/>
          </p:cNvSpPr>
          <p:nvPr>
            <p:ph type="body" idx="1"/>
          </p:nvPr>
        </p:nvSpPr>
        <p:spPr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/>
          <a:lstStyle/>
          <a:p>
            <a:pPr>
              <a:spcBef>
                <a:spcPts val="638"/>
              </a:spcBef>
            </a:pPr>
            <a:r>
              <a:rPr lang="en-GB" altLang="en-US" dirty="0" smtClean="0"/>
              <a:t>Start with approximate requirements.</a:t>
            </a:r>
          </a:p>
          <a:p>
            <a:pPr>
              <a:spcBef>
                <a:spcPts val="638"/>
              </a:spcBef>
            </a:pPr>
            <a:r>
              <a:rPr lang="en-GB" altLang="en-US" dirty="0" smtClean="0"/>
              <a:t>Carry out a quick design.</a:t>
            </a:r>
          </a:p>
          <a:p>
            <a:pPr>
              <a:spcBef>
                <a:spcPts val="638"/>
              </a:spcBef>
            </a:pPr>
            <a:r>
              <a:rPr lang="en-GB" altLang="en-US" dirty="0" smtClean="0"/>
              <a:t>Prototype model is built using several  short-cuts: </a:t>
            </a:r>
          </a:p>
          <a:p>
            <a:pPr lvl="1">
              <a:spcBef>
                <a:spcPts val="550"/>
              </a:spcBef>
            </a:pPr>
            <a:r>
              <a:rPr lang="en-GB" altLang="en-US" dirty="0" smtClean="0"/>
              <a:t>Short-cuts might involve using inefficient, inaccurate,  or dummy functions.</a:t>
            </a:r>
          </a:p>
          <a:p>
            <a:pPr lvl="2">
              <a:spcBef>
                <a:spcPts val="463"/>
              </a:spcBef>
            </a:pPr>
            <a:r>
              <a:rPr lang="en-GB" altLang="en-US" dirty="0" smtClean="0"/>
              <a:t>A function may use a table look-up rather than performing the actual computations.</a:t>
            </a:r>
          </a:p>
        </p:txBody>
      </p:sp>
    </p:spTree>
    <p:extLst>
      <p:ext uri="{BB962C8B-B14F-4D97-AF65-F5344CB8AC3E}">
        <p14:creationId xmlns:p14="http://schemas.microsoft.com/office/powerpoint/2010/main" val="1244132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Rectangle 1"/>
          <p:cNvSpPr>
            <a:spLocks noGrp="1" noChangeArrowheads="1"/>
          </p:cNvSpPr>
          <p:nvPr>
            <p:ph type="title"/>
          </p:nvPr>
        </p:nvSpPr>
        <p:spPr>
          <a:xfrm>
            <a:off x="406400" y="228600"/>
            <a:ext cx="7770813" cy="1141413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 anchor="ctr"/>
          <a:lstStyle/>
          <a:p>
            <a:pPr>
              <a:spcBef>
                <a:spcPts val="1000"/>
              </a:spcBef>
            </a:pPr>
            <a:r>
              <a:rPr lang="en-GB" altLang="en-US" dirty="0" smtClean="0"/>
              <a:t>Prototyping Model </a:t>
            </a:r>
            <a:r>
              <a:rPr lang="en-GB" altLang="en-US" sz="1600" dirty="0" smtClean="0"/>
              <a:t>(CONT.)</a:t>
            </a:r>
          </a:p>
        </p:txBody>
      </p:sp>
      <p:sp>
        <p:nvSpPr>
          <p:cNvPr id="4710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1447800"/>
            <a:ext cx="7770813" cy="4113213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/>
          <a:lstStyle/>
          <a:p>
            <a:pPr>
              <a:spcBef>
                <a:spcPts val="638"/>
              </a:spcBef>
            </a:pPr>
            <a:r>
              <a:rPr lang="en-GB" altLang="en-US" dirty="0" smtClean="0"/>
              <a:t>The developed prototype is submitted to the customer for his evaluation:</a:t>
            </a:r>
          </a:p>
          <a:p>
            <a:pPr lvl="1">
              <a:spcBef>
                <a:spcPts val="550"/>
              </a:spcBef>
            </a:pPr>
            <a:r>
              <a:rPr lang="en-GB" altLang="en-US" dirty="0" smtClean="0"/>
              <a:t>Based on the user feedback,  requirements are refined.</a:t>
            </a:r>
          </a:p>
          <a:p>
            <a:pPr lvl="1">
              <a:spcBef>
                <a:spcPts val="550"/>
              </a:spcBef>
            </a:pPr>
            <a:r>
              <a:rPr lang="en-GB" altLang="en-US" dirty="0" smtClean="0"/>
              <a:t>This cycle continues until the user approves the prototype.</a:t>
            </a:r>
          </a:p>
          <a:p>
            <a:pPr>
              <a:spcBef>
                <a:spcPts val="638"/>
              </a:spcBef>
            </a:pPr>
            <a:r>
              <a:rPr lang="en-GB" altLang="en-US" dirty="0" smtClean="0"/>
              <a:t>The actual system is developed using the classical waterfall approach.</a:t>
            </a:r>
          </a:p>
        </p:txBody>
      </p:sp>
    </p:spTree>
    <p:extLst>
      <p:ext uri="{BB962C8B-B14F-4D97-AF65-F5344CB8AC3E}">
        <p14:creationId xmlns:p14="http://schemas.microsoft.com/office/powerpoint/2010/main" val="2928897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1" name="Rectangle 1"/>
          <p:cNvSpPr>
            <a:spLocks noGrp="1" noChangeArrowheads="1"/>
          </p:cNvSpPr>
          <p:nvPr>
            <p:ph type="title"/>
          </p:nvPr>
        </p:nvSpPr>
        <p:spPr>
          <a:xfrm>
            <a:off x="342899" y="127000"/>
            <a:ext cx="7770813" cy="1141413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 anchor="ctr"/>
          <a:lstStyle/>
          <a:p>
            <a:pPr>
              <a:spcBef>
                <a:spcPts val="1000"/>
              </a:spcBef>
            </a:pPr>
            <a:r>
              <a:rPr lang="en-GB" altLang="en-US" dirty="0" smtClean="0"/>
              <a:t>Prototyping Model </a:t>
            </a:r>
            <a:r>
              <a:rPr lang="en-GB" altLang="en-US" sz="1600" dirty="0" smtClean="0"/>
              <a:t>(CONT.)</a:t>
            </a:r>
          </a:p>
        </p:txBody>
      </p:sp>
      <p:sp>
        <p:nvSpPr>
          <p:cNvPr id="48132" name="Text Box 2"/>
          <p:cNvSpPr txBox="1">
            <a:spLocks noChangeArrowheads="1"/>
          </p:cNvSpPr>
          <p:nvPr/>
        </p:nvSpPr>
        <p:spPr bwMode="auto">
          <a:xfrm>
            <a:off x="914400" y="2162175"/>
            <a:ext cx="1403350" cy="850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33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/>
          <a:lstStyle>
            <a:lvl1pPr>
              <a:tabLst>
                <a:tab pos="863600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>
              <a:tabLst>
                <a:tab pos="863600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>
              <a:tabLst>
                <a:tab pos="863600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>
              <a:tabLst>
                <a:tab pos="863600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>
              <a:tabLst>
                <a:tab pos="863600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63600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63600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63600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63600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>
              <a:lnSpc>
                <a:spcPct val="85000"/>
              </a:lnSpc>
              <a:spcBef>
                <a:spcPts val="363"/>
              </a:spcBef>
            </a:pPr>
            <a:r>
              <a:rPr lang="en-GB" altLang="en-US" sz="1600" b="1" dirty="0">
                <a:latin typeface="times" charset="0"/>
              </a:rPr>
              <a:t>Requirements</a:t>
            </a:r>
          </a:p>
          <a:p>
            <a:pPr>
              <a:lnSpc>
                <a:spcPct val="85000"/>
              </a:lnSpc>
              <a:spcBef>
                <a:spcPts val="363"/>
              </a:spcBef>
            </a:pPr>
            <a:r>
              <a:rPr lang="en-GB" altLang="en-US" sz="1600" b="1" dirty="0">
                <a:latin typeface="times" charset="0"/>
              </a:rPr>
              <a:t>Gathering</a:t>
            </a:r>
          </a:p>
        </p:txBody>
      </p:sp>
      <p:sp>
        <p:nvSpPr>
          <p:cNvPr id="48133" name="Text Box 3"/>
          <p:cNvSpPr txBox="1">
            <a:spLocks noChangeArrowheads="1"/>
          </p:cNvSpPr>
          <p:nvPr/>
        </p:nvSpPr>
        <p:spPr bwMode="auto">
          <a:xfrm>
            <a:off x="2286000" y="2362200"/>
            <a:ext cx="1370013" cy="33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33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/>
          <a:lstStyle>
            <a:lvl1pPr>
              <a:tabLst>
                <a:tab pos="863600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>
              <a:tabLst>
                <a:tab pos="863600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>
              <a:tabLst>
                <a:tab pos="863600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>
              <a:tabLst>
                <a:tab pos="863600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>
              <a:tabLst>
                <a:tab pos="863600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63600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63600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63600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63600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>
              <a:lnSpc>
                <a:spcPct val="85000"/>
              </a:lnSpc>
              <a:spcBef>
                <a:spcPts val="925"/>
              </a:spcBef>
            </a:pPr>
            <a:r>
              <a:rPr lang="en-GB" altLang="en-US" sz="1600" b="1">
                <a:latin typeface="times" charset="0"/>
              </a:rPr>
              <a:t>Quick Design</a:t>
            </a:r>
          </a:p>
        </p:txBody>
      </p:sp>
      <p:sp>
        <p:nvSpPr>
          <p:cNvPr id="48134" name="Text Box 4"/>
          <p:cNvSpPr txBox="1">
            <a:spLocks noChangeArrowheads="1"/>
          </p:cNvSpPr>
          <p:nvPr/>
        </p:nvSpPr>
        <p:spPr bwMode="auto">
          <a:xfrm>
            <a:off x="3429000" y="3048000"/>
            <a:ext cx="15986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33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/>
          <a:lstStyle>
            <a:lvl1pPr>
              <a:tabLst>
                <a:tab pos="863600" algn="l"/>
                <a:tab pos="1447800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>
              <a:tabLst>
                <a:tab pos="863600" algn="l"/>
                <a:tab pos="1447800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>
              <a:tabLst>
                <a:tab pos="863600" algn="l"/>
                <a:tab pos="1447800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>
              <a:tabLst>
                <a:tab pos="863600" algn="l"/>
                <a:tab pos="1447800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>
              <a:tabLst>
                <a:tab pos="863600" algn="l"/>
                <a:tab pos="1447800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63600" algn="l"/>
                <a:tab pos="1447800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63600" algn="l"/>
                <a:tab pos="1447800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63600" algn="l"/>
                <a:tab pos="1447800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63600" algn="l"/>
                <a:tab pos="1447800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>
              <a:lnSpc>
                <a:spcPct val="85000"/>
              </a:lnSpc>
              <a:spcBef>
                <a:spcPts val="925"/>
              </a:spcBef>
            </a:pPr>
            <a:r>
              <a:rPr lang="en-GB" altLang="en-US" sz="1600" b="1">
                <a:latin typeface="times" charset="0"/>
              </a:rPr>
              <a:t>Refine Requirements</a:t>
            </a:r>
          </a:p>
        </p:txBody>
      </p:sp>
      <p:sp>
        <p:nvSpPr>
          <p:cNvPr id="48135" name="Text Box 5"/>
          <p:cNvSpPr txBox="1">
            <a:spLocks noChangeArrowheads="1"/>
          </p:cNvSpPr>
          <p:nvPr/>
        </p:nvSpPr>
        <p:spPr bwMode="auto">
          <a:xfrm>
            <a:off x="3200400" y="1600200"/>
            <a:ext cx="15224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33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/>
          <a:lstStyle>
            <a:lvl1pPr>
              <a:tabLst>
                <a:tab pos="863600" algn="l"/>
                <a:tab pos="1447800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>
              <a:tabLst>
                <a:tab pos="863600" algn="l"/>
                <a:tab pos="1447800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>
              <a:tabLst>
                <a:tab pos="863600" algn="l"/>
                <a:tab pos="1447800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>
              <a:tabLst>
                <a:tab pos="863600" algn="l"/>
                <a:tab pos="1447800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>
              <a:tabLst>
                <a:tab pos="863600" algn="l"/>
                <a:tab pos="1447800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63600" algn="l"/>
                <a:tab pos="1447800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63600" algn="l"/>
                <a:tab pos="1447800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63600" algn="l"/>
                <a:tab pos="1447800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63600" algn="l"/>
                <a:tab pos="1447800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>
              <a:lnSpc>
                <a:spcPct val="85000"/>
              </a:lnSpc>
              <a:spcBef>
                <a:spcPts val="925"/>
              </a:spcBef>
            </a:pPr>
            <a:r>
              <a:rPr lang="en-GB" altLang="en-US" sz="1600" b="1">
                <a:latin typeface="times" charset="0"/>
              </a:rPr>
              <a:t>Build Prototype</a:t>
            </a:r>
          </a:p>
        </p:txBody>
      </p:sp>
      <p:sp>
        <p:nvSpPr>
          <p:cNvPr id="48136" name="Text Box 6"/>
          <p:cNvSpPr txBox="1">
            <a:spLocks noChangeArrowheads="1"/>
          </p:cNvSpPr>
          <p:nvPr/>
        </p:nvSpPr>
        <p:spPr bwMode="auto">
          <a:xfrm>
            <a:off x="4038600" y="2209800"/>
            <a:ext cx="1522413" cy="684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33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/>
          <a:lstStyle>
            <a:lvl1pPr>
              <a:tabLst>
                <a:tab pos="863600" algn="l"/>
                <a:tab pos="1447800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>
              <a:tabLst>
                <a:tab pos="863600" algn="l"/>
                <a:tab pos="1447800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>
              <a:tabLst>
                <a:tab pos="863600" algn="l"/>
                <a:tab pos="1447800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>
              <a:tabLst>
                <a:tab pos="863600" algn="l"/>
                <a:tab pos="1447800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>
              <a:tabLst>
                <a:tab pos="863600" algn="l"/>
                <a:tab pos="1447800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63600" algn="l"/>
                <a:tab pos="1447800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63600" algn="l"/>
                <a:tab pos="1447800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63600" algn="l"/>
                <a:tab pos="1447800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63600" algn="l"/>
                <a:tab pos="1447800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>
              <a:lnSpc>
                <a:spcPct val="63000"/>
              </a:lnSpc>
              <a:spcBef>
                <a:spcPts val="363"/>
              </a:spcBef>
            </a:pPr>
            <a:r>
              <a:rPr lang="en-GB" altLang="en-US" sz="1600" b="1">
                <a:latin typeface="times" charset="0"/>
              </a:rPr>
              <a:t>Customer Evaluation of Prototype</a:t>
            </a:r>
          </a:p>
        </p:txBody>
      </p:sp>
      <p:sp>
        <p:nvSpPr>
          <p:cNvPr id="48137" name="Line 7"/>
          <p:cNvSpPr>
            <a:spLocks noChangeShapeType="1"/>
          </p:cNvSpPr>
          <p:nvPr/>
        </p:nvSpPr>
        <p:spPr bwMode="auto">
          <a:xfrm>
            <a:off x="1905000" y="2514600"/>
            <a:ext cx="457200" cy="0"/>
          </a:xfrm>
          <a:prstGeom prst="line">
            <a:avLst/>
          </a:prstGeom>
          <a:noFill/>
          <a:ln w="38160">
            <a:solidFill>
              <a:srgbClr val="0033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8138" name="Freeform 8"/>
          <p:cNvSpPr>
            <a:spLocks/>
          </p:cNvSpPr>
          <p:nvPr/>
        </p:nvSpPr>
        <p:spPr bwMode="auto">
          <a:xfrm>
            <a:off x="2971800" y="1905000"/>
            <a:ext cx="227013" cy="531813"/>
          </a:xfrm>
          <a:custGeom>
            <a:avLst/>
            <a:gdLst>
              <a:gd name="T0" fmla="*/ 0 w 636"/>
              <a:gd name="T1" fmla="*/ 531454 h 1481"/>
              <a:gd name="T2" fmla="*/ 75671 w 636"/>
              <a:gd name="T3" fmla="*/ 265727 h 1481"/>
              <a:gd name="T4" fmla="*/ 226656 w 636"/>
              <a:gd name="T5" fmla="*/ 0 h 148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636" h="1481">
                <a:moveTo>
                  <a:pt x="0" y="1480"/>
                </a:moveTo>
                <a:cubicBezTo>
                  <a:pt x="53" y="1233"/>
                  <a:pt x="106" y="987"/>
                  <a:pt x="212" y="740"/>
                </a:cubicBezTo>
                <a:cubicBezTo>
                  <a:pt x="318" y="493"/>
                  <a:pt x="476" y="247"/>
                  <a:pt x="635" y="0"/>
                </a:cubicBezTo>
              </a:path>
            </a:pathLst>
          </a:custGeom>
          <a:noFill/>
          <a:ln w="38160">
            <a:solidFill>
              <a:srgbClr val="0033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8139" name="Freeform 9"/>
          <p:cNvSpPr>
            <a:spLocks/>
          </p:cNvSpPr>
          <p:nvPr/>
        </p:nvSpPr>
        <p:spPr bwMode="auto">
          <a:xfrm>
            <a:off x="4191000" y="1828800"/>
            <a:ext cx="455613" cy="379413"/>
          </a:xfrm>
          <a:custGeom>
            <a:avLst/>
            <a:gdLst>
              <a:gd name="T0" fmla="*/ 0 w 1270"/>
              <a:gd name="T1" fmla="*/ 0 h 1059"/>
              <a:gd name="T2" fmla="*/ 341172 w 1270"/>
              <a:gd name="T3" fmla="*/ 151550 h 1059"/>
              <a:gd name="T4" fmla="*/ 455254 w 1270"/>
              <a:gd name="T5" fmla="*/ 379055 h 1059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270" h="1059">
                <a:moveTo>
                  <a:pt x="0" y="0"/>
                </a:moveTo>
                <a:cubicBezTo>
                  <a:pt x="370" y="123"/>
                  <a:pt x="740" y="247"/>
                  <a:pt x="951" y="423"/>
                </a:cubicBezTo>
                <a:cubicBezTo>
                  <a:pt x="1163" y="600"/>
                  <a:pt x="1215" y="829"/>
                  <a:pt x="1269" y="1058"/>
                </a:cubicBezTo>
              </a:path>
            </a:pathLst>
          </a:custGeom>
          <a:noFill/>
          <a:ln w="38160">
            <a:solidFill>
              <a:srgbClr val="0033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8140" name="Freeform 10"/>
          <p:cNvSpPr>
            <a:spLocks/>
          </p:cNvSpPr>
          <p:nvPr/>
        </p:nvSpPr>
        <p:spPr bwMode="auto">
          <a:xfrm>
            <a:off x="4191000" y="2819400"/>
            <a:ext cx="379413" cy="303213"/>
          </a:xfrm>
          <a:custGeom>
            <a:avLst/>
            <a:gdLst>
              <a:gd name="T0" fmla="*/ 379055 w 1059"/>
              <a:gd name="T1" fmla="*/ 0 h 847"/>
              <a:gd name="T2" fmla="*/ 270497 w 1059"/>
              <a:gd name="T3" fmla="*/ 172907 h 847"/>
              <a:gd name="T4" fmla="*/ 0 w 1059"/>
              <a:gd name="T5" fmla="*/ 302855 h 84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59" h="847">
                <a:moveTo>
                  <a:pt x="1058" y="0"/>
                </a:moveTo>
                <a:cubicBezTo>
                  <a:pt x="994" y="171"/>
                  <a:pt x="931" y="342"/>
                  <a:pt x="755" y="483"/>
                </a:cubicBezTo>
                <a:cubicBezTo>
                  <a:pt x="579" y="624"/>
                  <a:pt x="289" y="735"/>
                  <a:pt x="0" y="846"/>
                </a:cubicBezTo>
              </a:path>
            </a:pathLst>
          </a:custGeom>
          <a:noFill/>
          <a:ln w="38160">
            <a:solidFill>
              <a:srgbClr val="0033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8141" name="Freeform 11"/>
          <p:cNvSpPr>
            <a:spLocks/>
          </p:cNvSpPr>
          <p:nvPr/>
        </p:nvSpPr>
        <p:spPr bwMode="auto">
          <a:xfrm>
            <a:off x="2971800" y="2667000"/>
            <a:ext cx="531813" cy="455613"/>
          </a:xfrm>
          <a:custGeom>
            <a:avLst/>
            <a:gdLst>
              <a:gd name="T0" fmla="*/ 531454 w 1482"/>
              <a:gd name="T1" fmla="*/ 455255 h 1271"/>
              <a:gd name="T2" fmla="*/ 176912 w 1482"/>
              <a:gd name="T3" fmla="*/ 324772 h 1271"/>
              <a:gd name="T4" fmla="*/ 0 w 1482"/>
              <a:gd name="T5" fmla="*/ 0 h 127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482" h="1271">
                <a:moveTo>
                  <a:pt x="1481" y="1270"/>
                </a:moveTo>
                <a:cubicBezTo>
                  <a:pt x="1111" y="1193"/>
                  <a:pt x="740" y="1118"/>
                  <a:pt x="493" y="906"/>
                </a:cubicBezTo>
                <a:cubicBezTo>
                  <a:pt x="247" y="695"/>
                  <a:pt x="123" y="347"/>
                  <a:pt x="0" y="0"/>
                </a:cubicBezTo>
              </a:path>
            </a:pathLst>
          </a:custGeom>
          <a:noFill/>
          <a:ln w="38160">
            <a:solidFill>
              <a:srgbClr val="0033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8142" name="Line 12"/>
          <p:cNvSpPr>
            <a:spLocks noChangeShapeType="1"/>
          </p:cNvSpPr>
          <p:nvPr/>
        </p:nvSpPr>
        <p:spPr bwMode="auto">
          <a:xfrm>
            <a:off x="5334000" y="2514600"/>
            <a:ext cx="1143000" cy="0"/>
          </a:xfrm>
          <a:prstGeom prst="line">
            <a:avLst/>
          </a:prstGeom>
          <a:noFill/>
          <a:ln w="38160">
            <a:solidFill>
              <a:srgbClr val="0033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8143" name="Text Box 13"/>
          <p:cNvSpPr txBox="1">
            <a:spLocks noChangeArrowheads="1"/>
          </p:cNvSpPr>
          <p:nvPr/>
        </p:nvSpPr>
        <p:spPr bwMode="auto">
          <a:xfrm>
            <a:off x="6477000" y="2362200"/>
            <a:ext cx="1141413" cy="33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33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/>
          <a:lstStyle>
            <a:lvl1pPr>
              <a:tabLst>
                <a:tab pos="863600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>
              <a:tabLst>
                <a:tab pos="863600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>
              <a:tabLst>
                <a:tab pos="863600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>
              <a:tabLst>
                <a:tab pos="863600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>
              <a:tabLst>
                <a:tab pos="863600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63600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63600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63600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63600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>
              <a:lnSpc>
                <a:spcPct val="85000"/>
              </a:lnSpc>
              <a:spcBef>
                <a:spcPts val="925"/>
              </a:spcBef>
            </a:pPr>
            <a:r>
              <a:rPr lang="en-GB" altLang="en-US" sz="1600" b="1">
                <a:latin typeface="times" charset="0"/>
              </a:rPr>
              <a:t>Design</a:t>
            </a:r>
          </a:p>
        </p:txBody>
      </p:sp>
      <p:sp>
        <p:nvSpPr>
          <p:cNvPr id="48144" name="Text Box 14"/>
          <p:cNvSpPr txBox="1">
            <a:spLocks noChangeArrowheads="1"/>
          </p:cNvSpPr>
          <p:nvPr/>
        </p:nvSpPr>
        <p:spPr bwMode="auto">
          <a:xfrm>
            <a:off x="6477000" y="3048000"/>
            <a:ext cx="1141413" cy="33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33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/>
          <a:lstStyle>
            <a:lvl1pPr>
              <a:tabLst>
                <a:tab pos="863600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>
              <a:tabLst>
                <a:tab pos="863600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>
              <a:tabLst>
                <a:tab pos="863600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>
              <a:tabLst>
                <a:tab pos="863600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>
              <a:tabLst>
                <a:tab pos="863600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63600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63600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63600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63600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>
              <a:lnSpc>
                <a:spcPct val="85000"/>
              </a:lnSpc>
              <a:spcBef>
                <a:spcPts val="925"/>
              </a:spcBef>
            </a:pPr>
            <a:r>
              <a:rPr lang="en-GB" altLang="en-US" sz="1600" b="1">
                <a:latin typeface="times" charset="0"/>
              </a:rPr>
              <a:t>Implement</a:t>
            </a:r>
          </a:p>
        </p:txBody>
      </p:sp>
      <p:sp>
        <p:nvSpPr>
          <p:cNvPr id="48145" name="Text Box 15"/>
          <p:cNvSpPr txBox="1">
            <a:spLocks noChangeArrowheads="1"/>
          </p:cNvSpPr>
          <p:nvPr/>
        </p:nvSpPr>
        <p:spPr bwMode="auto">
          <a:xfrm>
            <a:off x="6553200" y="3763963"/>
            <a:ext cx="1141413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33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/>
          <a:lstStyle>
            <a:lvl1pPr>
              <a:tabLst>
                <a:tab pos="863600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>
              <a:tabLst>
                <a:tab pos="863600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>
              <a:tabLst>
                <a:tab pos="863600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>
              <a:tabLst>
                <a:tab pos="863600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>
              <a:tabLst>
                <a:tab pos="863600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63600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63600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63600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63600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>
              <a:lnSpc>
                <a:spcPct val="85000"/>
              </a:lnSpc>
              <a:spcBef>
                <a:spcPts val="925"/>
              </a:spcBef>
            </a:pPr>
            <a:r>
              <a:rPr lang="en-GB" altLang="en-US" sz="1600" b="1">
                <a:latin typeface="times" charset="0"/>
              </a:rPr>
              <a:t>Test</a:t>
            </a:r>
          </a:p>
        </p:txBody>
      </p:sp>
      <p:sp>
        <p:nvSpPr>
          <p:cNvPr id="48146" name="Text Box 16"/>
          <p:cNvSpPr txBox="1">
            <a:spLocks noChangeArrowheads="1"/>
          </p:cNvSpPr>
          <p:nvPr/>
        </p:nvSpPr>
        <p:spPr bwMode="auto">
          <a:xfrm>
            <a:off x="6477000" y="4449763"/>
            <a:ext cx="1141413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33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/>
          <a:lstStyle>
            <a:lvl1pPr>
              <a:tabLst>
                <a:tab pos="863600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>
              <a:tabLst>
                <a:tab pos="863600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>
              <a:tabLst>
                <a:tab pos="863600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>
              <a:tabLst>
                <a:tab pos="863600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>
              <a:tabLst>
                <a:tab pos="863600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63600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63600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63600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63600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>
              <a:lnSpc>
                <a:spcPct val="85000"/>
              </a:lnSpc>
              <a:spcBef>
                <a:spcPts val="925"/>
              </a:spcBef>
            </a:pPr>
            <a:r>
              <a:rPr lang="en-GB" altLang="en-US" sz="1600" b="1">
                <a:latin typeface="times" charset="0"/>
              </a:rPr>
              <a:t>Maintain</a:t>
            </a:r>
          </a:p>
        </p:txBody>
      </p:sp>
      <p:sp>
        <p:nvSpPr>
          <p:cNvPr id="48147" name="Line 17"/>
          <p:cNvSpPr>
            <a:spLocks noChangeShapeType="1"/>
          </p:cNvSpPr>
          <p:nvPr/>
        </p:nvSpPr>
        <p:spPr bwMode="auto">
          <a:xfrm>
            <a:off x="6781800" y="2667000"/>
            <a:ext cx="0" cy="457200"/>
          </a:xfrm>
          <a:prstGeom prst="line">
            <a:avLst/>
          </a:prstGeom>
          <a:noFill/>
          <a:ln w="38160">
            <a:solidFill>
              <a:srgbClr val="0033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8148" name="Line 18"/>
          <p:cNvSpPr>
            <a:spLocks noChangeShapeType="1"/>
          </p:cNvSpPr>
          <p:nvPr/>
        </p:nvSpPr>
        <p:spPr bwMode="auto">
          <a:xfrm>
            <a:off x="6781800" y="3352800"/>
            <a:ext cx="0" cy="457200"/>
          </a:xfrm>
          <a:prstGeom prst="line">
            <a:avLst/>
          </a:prstGeom>
          <a:noFill/>
          <a:ln w="38160">
            <a:solidFill>
              <a:srgbClr val="0033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8149" name="Line 19"/>
          <p:cNvSpPr>
            <a:spLocks noChangeShapeType="1"/>
          </p:cNvSpPr>
          <p:nvPr/>
        </p:nvSpPr>
        <p:spPr bwMode="auto">
          <a:xfrm>
            <a:off x="6781800" y="4038600"/>
            <a:ext cx="0" cy="457200"/>
          </a:xfrm>
          <a:prstGeom prst="line">
            <a:avLst/>
          </a:prstGeom>
          <a:noFill/>
          <a:ln w="38160">
            <a:solidFill>
              <a:srgbClr val="0033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8150" name="Text Box 20"/>
          <p:cNvSpPr txBox="1">
            <a:spLocks noChangeArrowheads="1"/>
          </p:cNvSpPr>
          <p:nvPr/>
        </p:nvSpPr>
        <p:spPr bwMode="auto">
          <a:xfrm>
            <a:off x="5410200" y="2209800"/>
            <a:ext cx="15224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33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/>
          <a:lstStyle>
            <a:lvl1pPr>
              <a:tabLst>
                <a:tab pos="863600" algn="l"/>
                <a:tab pos="1447800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>
              <a:tabLst>
                <a:tab pos="863600" algn="l"/>
                <a:tab pos="1447800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>
              <a:tabLst>
                <a:tab pos="863600" algn="l"/>
                <a:tab pos="1447800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>
              <a:tabLst>
                <a:tab pos="863600" algn="l"/>
                <a:tab pos="1447800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>
              <a:tabLst>
                <a:tab pos="863600" algn="l"/>
                <a:tab pos="1447800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63600" algn="l"/>
                <a:tab pos="1447800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63600" algn="l"/>
                <a:tab pos="1447800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63600" algn="l"/>
                <a:tab pos="1447800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63600" algn="l"/>
                <a:tab pos="1447800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>
              <a:lnSpc>
                <a:spcPct val="85000"/>
              </a:lnSpc>
              <a:spcBef>
                <a:spcPts val="925"/>
              </a:spcBef>
            </a:pPr>
            <a:r>
              <a:rPr lang="en-GB" altLang="en-US" sz="1600" b="1">
                <a:latin typeface="times" charset="0"/>
              </a:rPr>
              <a:t>Customer satisfied</a:t>
            </a:r>
          </a:p>
        </p:txBody>
      </p:sp>
    </p:spTree>
    <p:extLst>
      <p:ext uri="{BB962C8B-B14F-4D97-AF65-F5344CB8AC3E}">
        <p14:creationId xmlns:p14="http://schemas.microsoft.com/office/powerpoint/2010/main" val="1071225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Rectangle 1"/>
          <p:cNvSpPr>
            <a:spLocks noGrp="1" noChangeArrowheads="1"/>
          </p:cNvSpPr>
          <p:nvPr>
            <p:ph type="title"/>
          </p:nvPr>
        </p:nvSpPr>
        <p:spPr>
          <a:xfrm>
            <a:off x="406400" y="228600"/>
            <a:ext cx="7770813" cy="1141413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 anchor="ctr"/>
          <a:lstStyle/>
          <a:p>
            <a:pPr>
              <a:spcBef>
                <a:spcPts val="1000"/>
              </a:spcBef>
            </a:pPr>
            <a:r>
              <a:rPr lang="en-GB" altLang="en-US" dirty="0" smtClean="0"/>
              <a:t>Prototyping Model </a:t>
            </a:r>
            <a:r>
              <a:rPr lang="en-GB" altLang="en-US" sz="1600" dirty="0" smtClean="0"/>
              <a:t>(CONT.)</a:t>
            </a:r>
          </a:p>
        </p:txBody>
      </p:sp>
      <p:sp>
        <p:nvSpPr>
          <p:cNvPr id="4915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1885950"/>
            <a:ext cx="8177213" cy="4332288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/>
          <a:lstStyle/>
          <a:p>
            <a:pPr>
              <a:spcBef>
                <a:spcPts val="638"/>
              </a:spcBef>
            </a:pPr>
            <a:r>
              <a:rPr lang="en-GB" altLang="en-US" sz="2800" dirty="0" smtClean="0"/>
              <a:t>Requirements analysis and specification phase becomes redundant:</a:t>
            </a:r>
          </a:p>
          <a:p>
            <a:pPr lvl="1">
              <a:spcBef>
                <a:spcPts val="550"/>
              </a:spcBef>
            </a:pPr>
            <a:r>
              <a:rPr lang="en-GB" altLang="en-US" sz="2400" dirty="0" smtClean="0"/>
              <a:t>final working prototype  (with all user feedbacks incorporated) serves as an animated  requirements specification.</a:t>
            </a:r>
          </a:p>
          <a:p>
            <a:pPr>
              <a:spcBef>
                <a:spcPts val="638"/>
              </a:spcBef>
            </a:pPr>
            <a:r>
              <a:rPr lang="en-GB" altLang="en-US" sz="2800" dirty="0" smtClean="0"/>
              <a:t>Design and code for the prototype is usually thrown away:</a:t>
            </a:r>
          </a:p>
          <a:p>
            <a:pPr lvl="1">
              <a:spcBef>
                <a:spcPts val="550"/>
              </a:spcBef>
            </a:pPr>
            <a:r>
              <a:rPr lang="en-GB" altLang="en-US" sz="2400" dirty="0" smtClean="0"/>
              <a:t>However, the experience gathered from developing the prototype helps a great deal while developing the actual product. </a:t>
            </a:r>
          </a:p>
        </p:txBody>
      </p:sp>
    </p:spTree>
    <p:extLst>
      <p:ext uri="{BB962C8B-B14F-4D97-AF65-F5344CB8AC3E}">
        <p14:creationId xmlns:p14="http://schemas.microsoft.com/office/powerpoint/2010/main" val="1150992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Rectangle 1"/>
          <p:cNvSpPr>
            <a:spLocks noGrp="1" noChangeArrowheads="1"/>
          </p:cNvSpPr>
          <p:nvPr>
            <p:ph type="title"/>
          </p:nvPr>
        </p:nvSpPr>
        <p:spPr>
          <a:xfrm>
            <a:off x="406400" y="228600"/>
            <a:ext cx="7770813" cy="1141413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 anchor="ctr"/>
          <a:lstStyle/>
          <a:p>
            <a:pPr>
              <a:spcBef>
                <a:spcPts val="1000"/>
              </a:spcBef>
            </a:pPr>
            <a:r>
              <a:rPr lang="en-GB" altLang="en-US" dirty="0" smtClean="0"/>
              <a:t>Prototyping Model </a:t>
            </a:r>
            <a:r>
              <a:rPr lang="en-GB" altLang="en-US" sz="1600" dirty="0" smtClean="0"/>
              <a:t>(CONT.)</a:t>
            </a:r>
          </a:p>
        </p:txBody>
      </p:sp>
      <p:sp>
        <p:nvSpPr>
          <p:cNvPr id="50180" name="Rectangle 2"/>
          <p:cNvSpPr>
            <a:spLocks noGrp="1" noChangeArrowheads="1"/>
          </p:cNvSpPr>
          <p:nvPr>
            <p:ph type="body" idx="1"/>
          </p:nvPr>
        </p:nvSpPr>
        <p:spPr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/>
          <a:lstStyle/>
          <a:p>
            <a:pPr>
              <a:spcBef>
                <a:spcPts val="550"/>
              </a:spcBef>
            </a:pPr>
            <a:r>
              <a:rPr lang="en-GB" altLang="en-US" sz="2800" dirty="0" smtClean="0"/>
              <a:t>Even though construction of a working prototype model involves additional cost ---  overall development cost might be lower for: </a:t>
            </a:r>
          </a:p>
          <a:p>
            <a:pPr lvl="1">
              <a:spcBef>
                <a:spcPts val="463"/>
              </a:spcBef>
            </a:pPr>
            <a:r>
              <a:rPr lang="en-GB" altLang="en-US" sz="2400" dirty="0" smtClean="0"/>
              <a:t>systems with unclear user requirements, </a:t>
            </a:r>
          </a:p>
          <a:p>
            <a:pPr lvl="1">
              <a:spcBef>
                <a:spcPts val="463"/>
              </a:spcBef>
            </a:pPr>
            <a:r>
              <a:rPr lang="en-GB" altLang="en-US" sz="2400" dirty="0" smtClean="0"/>
              <a:t>systems with unresolved technical issues.</a:t>
            </a:r>
          </a:p>
          <a:p>
            <a:pPr>
              <a:spcBef>
                <a:spcPts val="550"/>
              </a:spcBef>
            </a:pPr>
            <a:r>
              <a:rPr lang="en-GB" altLang="en-US" sz="2800" dirty="0" smtClean="0"/>
              <a:t>Many user requirements get properly defined and  technical issues get resolved: </a:t>
            </a:r>
          </a:p>
          <a:p>
            <a:pPr lvl="1">
              <a:spcBef>
                <a:spcPts val="463"/>
              </a:spcBef>
            </a:pPr>
            <a:r>
              <a:rPr lang="en-GB" altLang="en-US" sz="2400" dirty="0" smtClean="0"/>
              <a:t>these would  have appeared later as change requests and resulted in incurring massive redesign costs.</a:t>
            </a:r>
          </a:p>
        </p:txBody>
      </p:sp>
    </p:spTree>
    <p:extLst>
      <p:ext uri="{BB962C8B-B14F-4D97-AF65-F5344CB8AC3E}">
        <p14:creationId xmlns:p14="http://schemas.microsoft.com/office/powerpoint/2010/main" val="3002513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1" name="Rectangle 1"/>
          <p:cNvSpPr>
            <a:spLocks noGrp="1" noChangeArrowheads="1"/>
          </p:cNvSpPr>
          <p:nvPr>
            <p:ph type="title"/>
          </p:nvPr>
        </p:nvSpPr>
        <p:spPr>
          <a:xfrm>
            <a:off x="406400" y="228600"/>
            <a:ext cx="7770813" cy="1141413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 anchor="ctr"/>
          <a:lstStyle/>
          <a:p>
            <a:pPr>
              <a:spcBef>
                <a:spcPts val="1000"/>
              </a:spcBef>
            </a:pPr>
            <a:r>
              <a:rPr lang="en-GB" altLang="en-US" dirty="0" smtClean="0"/>
              <a:t>Spiral Model</a:t>
            </a:r>
          </a:p>
        </p:txBody>
      </p:sp>
      <p:sp>
        <p:nvSpPr>
          <p:cNvPr id="5837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1447800"/>
            <a:ext cx="7770813" cy="5045075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/>
          <a:lstStyle/>
          <a:p>
            <a:pPr>
              <a:spcBef>
                <a:spcPts val="638"/>
              </a:spcBef>
            </a:pPr>
            <a:r>
              <a:rPr lang="en-GB" altLang="en-US" sz="2800" b="1" dirty="0" smtClean="0"/>
              <a:t>Proposed by Boehm in 1988.</a:t>
            </a:r>
          </a:p>
          <a:p>
            <a:pPr>
              <a:spcBef>
                <a:spcPts val="638"/>
              </a:spcBef>
            </a:pPr>
            <a:r>
              <a:rPr lang="en-GB" altLang="en-US" sz="2800" b="1" dirty="0" smtClean="0"/>
              <a:t>Each loop of the spiral represents a phase of the software process:</a:t>
            </a:r>
          </a:p>
          <a:p>
            <a:pPr lvl="1">
              <a:spcBef>
                <a:spcPts val="550"/>
              </a:spcBef>
            </a:pPr>
            <a:r>
              <a:rPr lang="en-GB" altLang="en-US" sz="2400" b="1" dirty="0" smtClean="0"/>
              <a:t>the innermost loop might be concerned with system feasibility, </a:t>
            </a:r>
          </a:p>
          <a:p>
            <a:pPr lvl="1">
              <a:spcBef>
                <a:spcPts val="550"/>
              </a:spcBef>
            </a:pPr>
            <a:r>
              <a:rPr lang="en-GB" altLang="en-US" sz="2400" b="1" dirty="0" smtClean="0"/>
              <a:t>the next loop with system requirements definition,</a:t>
            </a:r>
          </a:p>
          <a:p>
            <a:pPr lvl="1">
              <a:spcBef>
                <a:spcPts val="550"/>
              </a:spcBef>
            </a:pPr>
            <a:r>
              <a:rPr lang="en-GB" altLang="en-US" sz="2400" b="1" dirty="0" smtClean="0"/>
              <a:t>the next one with system design, and so on.</a:t>
            </a:r>
          </a:p>
          <a:p>
            <a:pPr>
              <a:spcBef>
                <a:spcPts val="638"/>
              </a:spcBef>
            </a:pPr>
            <a:r>
              <a:rPr lang="en-GB" altLang="en-US" sz="2800" b="1" dirty="0" smtClean="0"/>
              <a:t>There are no fixed phases in this model, the phases shown in the figure are just examples.</a:t>
            </a:r>
          </a:p>
        </p:txBody>
      </p:sp>
    </p:spTree>
    <p:extLst>
      <p:ext uri="{BB962C8B-B14F-4D97-AF65-F5344CB8AC3E}">
        <p14:creationId xmlns:p14="http://schemas.microsoft.com/office/powerpoint/2010/main" val="979302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5" name="Rectangle 1"/>
          <p:cNvSpPr>
            <a:spLocks noGrp="1" noChangeArrowheads="1"/>
          </p:cNvSpPr>
          <p:nvPr>
            <p:ph type="title"/>
          </p:nvPr>
        </p:nvSpPr>
        <p:spPr>
          <a:xfrm>
            <a:off x="406400" y="228600"/>
            <a:ext cx="7770813" cy="1141413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 anchor="ctr"/>
          <a:lstStyle/>
          <a:p>
            <a:pPr>
              <a:spcBef>
                <a:spcPts val="1000"/>
              </a:spcBef>
            </a:pPr>
            <a:r>
              <a:rPr lang="en-GB" altLang="en-US" dirty="0" smtClean="0"/>
              <a:t>Spiral Model </a:t>
            </a:r>
            <a:r>
              <a:rPr lang="en-GB" altLang="en-US" sz="1600" dirty="0" smtClean="0"/>
              <a:t>(CONT.)</a:t>
            </a:r>
          </a:p>
        </p:txBody>
      </p:sp>
      <p:sp>
        <p:nvSpPr>
          <p:cNvPr id="59396" name="Rectangle 2"/>
          <p:cNvSpPr>
            <a:spLocks noGrp="1" noChangeArrowheads="1"/>
          </p:cNvSpPr>
          <p:nvPr>
            <p:ph type="body" idx="1"/>
          </p:nvPr>
        </p:nvSpPr>
        <p:spPr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/>
          <a:lstStyle/>
          <a:p>
            <a:pPr>
              <a:spcBef>
                <a:spcPct val="0"/>
              </a:spcBef>
            </a:pPr>
            <a:r>
              <a:rPr lang="en-GB" altLang="en-US" dirty="0" smtClean="0"/>
              <a:t>The team must decide: </a:t>
            </a:r>
          </a:p>
          <a:p>
            <a:pPr lvl="1">
              <a:spcBef>
                <a:spcPct val="0"/>
              </a:spcBef>
            </a:pPr>
            <a:r>
              <a:rPr lang="en-GB" altLang="en-US" dirty="0" smtClean="0"/>
              <a:t>how to structure the project into phases.</a:t>
            </a:r>
          </a:p>
          <a:p>
            <a:pPr>
              <a:spcBef>
                <a:spcPct val="0"/>
              </a:spcBef>
            </a:pPr>
            <a:r>
              <a:rPr lang="en-GB" altLang="en-US" dirty="0" smtClean="0"/>
              <a:t>Start work using some generic model:</a:t>
            </a:r>
          </a:p>
          <a:p>
            <a:pPr lvl="1">
              <a:spcBef>
                <a:spcPct val="0"/>
              </a:spcBef>
            </a:pPr>
            <a:r>
              <a:rPr lang="en-GB" altLang="en-US" dirty="0" smtClean="0"/>
              <a:t>add extra phases </a:t>
            </a:r>
          </a:p>
          <a:p>
            <a:pPr lvl="2">
              <a:spcBef>
                <a:spcPct val="0"/>
              </a:spcBef>
            </a:pPr>
            <a:r>
              <a:rPr lang="en-GB" altLang="en-US" dirty="0" smtClean="0"/>
              <a:t>for specific projects or when problems are identified during a project.</a:t>
            </a:r>
          </a:p>
          <a:p>
            <a:pPr>
              <a:spcBef>
                <a:spcPct val="0"/>
              </a:spcBef>
            </a:pPr>
            <a:r>
              <a:rPr lang="en-GB" altLang="en-US" dirty="0" smtClean="0"/>
              <a:t>Each loop in the spiral is split into four sectors (quadrants).</a:t>
            </a:r>
          </a:p>
        </p:txBody>
      </p:sp>
    </p:spTree>
    <p:extLst>
      <p:ext uri="{BB962C8B-B14F-4D97-AF65-F5344CB8AC3E}">
        <p14:creationId xmlns:p14="http://schemas.microsoft.com/office/powerpoint/2010/main" val="1759634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9" name="Rectangle 1"/>
          <p:cNvSpPr>
            <a:spLocks noGrp="1" noChangeArrowheads="1"/>
          </p:cNvSpPr>
          <p:nvPr>
            <p:ph type="title"/>
          </p:nvPr>
        </p:nvSpPr>
        <p:spPr>
          <a:xfrm>
            <a:off x="406400" y="228600"/>
            <a:ext cx="7770813" cy="1141413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 anchor="ctr"/>
          <a:lstStyle/>
          <a:p>
            <a:pPr>
              <a:spcBef>
                <a:spcPts val="1000"/>
              </a:spcBef>
            </a:pPr>
            <a:r>
              <a:rPr lang="en-GB" altLang="en-US" dirty="0" smtClean="0"/>
              <a:t>Spiral Model </a:t>
            </a:r>
            <a:r>
              <a:rPr lang="en-GB" altLang="en-US" sz="1600" dirty="0" smtClean="0"/>
              <a:t>(CONT.)</a:t>
            </a:r>
          </a:p>
        </p:txBody>
      </p:sp>
      <p:sp>
        <p:nvSpPr>
          <p:cNvPr id="60420" name="Line 2"/>
          <p:cNvSpPr>
            <a:spLocks noChangeShapeType="1"/>
          </p:cNvSpPr>
          <p:nvPr/>
        </p:nvSpPr>
        <p:spPr bwMode="auto">
          <a:xfrm>
            <a:off x="4038600" y="838200"/>
            <a:ext cx="0" cy="5029200"/>
          </a:xfrm>
          <a:prstGeom prst="line">
            <a:avLst/>
          </a:prstGeom>
          <a:noFill/>
          <a:ln w="9525">
            <a:solidFill>
              <a:srgbClr val="00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60421" name="Line 3"/>
          <p:cNvSpPr>
            <a:spLocks noChangeShapeType="1"/>
          </p:cNvSpPr>
          <p:nvPr/>
        </p:nvSpPr>
        <p:spPr bwMode="auto">
          <a:xfrm>
            <a:off x="0" y="3276600"/>
            <a:ext cx="9144000" cy="0"/>
          </a:xfrm>
          <a:prstGeom prst="line">
            <a:avLst/>
          </a:prstGeom>
          <a:noFill/>
          <a:ln w="9525">
            <a:solidFill>
              <a:srgbClr val="00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60422" name="Freeform 4"/>
          <p:cNvSpPr>
            <a:spLocks noChangeArrowheads="1"/>
          </p:cNvSpPr>
          <p:nvPr/>
        </p:nvSpPr>
        <p:spPr bwMode="auto">
          <a:xfrm>
            <a:off x="2362200" y="1524000"/>
            <a:ext cx="3884613" cy="3808413"/>
          </a:xfrm>
          <a:custGeom>
            <a:avLst/>
            <a:gdLst>
              <a:gd name="T0" fmla="*/ 1684316 w 10796"/>
              <a:gd name="T1" fmla="*/ 1744803 h 10584"/>
              <a:gd name="T2" fmla="*/ 1609113 w 10796"/>
              <a:gd name="T3" fmla="*/ 1668160 h 10584"/>
              <a:gd name="T4" fmla="*/ 1609113 w 10796"/>
              <a:gd name="T5" fmla="*/ 1515593 h 10584"/>
              <a:gd name="T6" fmla="*/ 1684316 w 10796"/>
              <a:gd name="T7" fmla="*/ 1438950 h 10584"/>
              <a:gd name="T8" fmla="*/ 1835080 w 10796"/>
              <a:gd name="T9" fmla="*/ 1515593 h 10584"/>
              <a:gd name="T10" fmla="*/ 1835080 w 10796"/>
              <a:gd name="T11" fmla="*/ 1668160 h 10584"/>
              <a:gd name="T12" fmla="*/ 1684316 w 10796"/>
              <a:gd name="T13" fmla="*/ 1897370 h 10584"/>
              <a:gd name="T14" fmla="*/ 1382787 w 10796"/>
              <a:gd name="T15" fmla="*/ 1897370 h 10584"/>
              <a:gd name="T16" fmla="*/ 1307225 w 10796"/>
              <a:gd name="T17" fmla="*/ 1744803 h 10584"/>
              <a:gd name="T18" fmla="*/ 1307225 w 10796"/>
              <a:gd name="T19" fmla="*/ 1438950 h 10584"/>
              <a:gd name="T20" fmla="*/ 1533551 w 10796"/>
              <a:gd name="T21" fmla="*/ 1209740 h 10584"/>
              <a:gd name="T22" fmla="*/ 1985845 w 10796"/>
              <a:gd name="T23" fmla="*/ 1209740 h 10584"/>
              <a:gd name="T24" fmla="*/ 2212171 w 10796"/>
              <a:gd name="T25" fmla="*/ 1515593 h 10584"/>
              <a:gd name="T26" fmla="*/ 2136609 w 10796"/>
              <a:gd name="T27" fmla="*/ 1974013 h 10584"/>
              <a:gd name="T28" fmla="*/ 1835080 w 10796"/>
              <a:gd name="T29" fmla="*/ 2279866 h 10584"/>
              <a:gd name="T30" fmla="*/ 1533551 w 10796"/>
              <a:gd name="T31" fmla="*/ 2279866 h 10584"/>
              <a:gd name="T32" fmla="*/ 1231663 w 10796"/>
              <a:gd name="T33" fmla="*/ 2203223 h 10584"/>
              <a:gd name="T34" fmla="*/ 854572 w 10796"/>
              <a:gd name="T35" fmla="*/ 1821446 h 10584"/>
              <a:gd name="T36" fmla="*/ 1005336 w 10796"/>
              <a:gd name="T37" fmla="*/ 1209740 h 10584"/>
              <a:gd name="T38" fmla="*/ 1382787 w 10796"/>
              <a:gd name="T39" fmla="*/ 827603 h 10584"/>
              <a:gd name="T40" fmla="*/ 2061407 w 10796"/>
              <a:gd name="T41" fmla="*/ 675036 h 10584"/>
              <a:gd name="T42" fmla="*/ 2589262 w 10796"/>
              <a:gd name="T43" fmla="*/ 904246 h 10584"/>
              <a:gd name="T44" fmla="*/ 2966713 w 10796"/>
              <a:gd name="T45" fmla="*/ 1438950 h 10584"/>
              <a:gd name="T46" fmla="*/ 3041556 w 10796"/>
              <a:gd name="T47" fmla="*/ 1897370 h 10584"/>
              <a:gd name="T48" fmla="*/ 2966713 w 10796"/>
              <a:gd name="T49" fmla="*/ 2279866 h 10584"/>
              <a:gd name="T50" fmla="*/ 2664824 w 10796"/>
              <a:gd name="T51" fmla="*/ 2662003 h 10584"/>
              <a:gd name="T52" fmla="*/ 2287733 w 10796"/>
              <a:gd name="T53" fmla="*/ 2891213 h 10584"/>
              <a:gd name="T54" fmla="*/ 1684316 w 10796"/>
              <a:gd name="T55" fmla="*/ 3043780 h 10584"/>
              <a:gd name="T56" fmla="*/ 1231663 w 10796"/>
              <a:gd name="T57" fmla="*/ 3043780 h 10584"/>
              <a:gd name="T58" fmla="*/ 552683 w 10796"/>
              <a:gd name="T59" fmla="*/ 2814570 h 10584"/>
              <a:gd name="T60" fmla="*/ 175952 w 10796"/>
              <a:gd name="T61" fmla="*/ 2279866 h 10584"/>
              <a:gd name="T62" fmla="*/ 25187 w 10796"/>
              <a:gd name="T63" fmla="*/ 1744803 h 10584"/>
              <a:gd name="T64" fmla="*/ 326716 w 10796"/>
              <a:gd name="T65" fmla="*/ 1056813 h 10584"/>
              <a:gd name="T66" fmla="*/ 1156460 w 10796"/>
              <a:gd name="T67" fmla="*/ 216616 h 10584"/>
              <a:gd name="T68" fmla="*/ 2438498 w 10796"/>
              <a:gd name="T69" fmla="*/ 63330 h 10584"/>
              <a:gd name="T70" fmla="*/ 3192680 w 10796"/>
              <a:gd name="T71" fmla="*/ 598393 h 10584"/>
              <a:gd name="T72" fmla="*/ 3569771 w 10796"/>
              <a:gd name="T73" fmla="*/ 1056813 h 10584"/>
              <a:gd name="T74" fmla="*/ 3871659 w 10796"/>
              <a:gd name="T75" fmla="*/ 1821446 h 10584"/>
              <a:gd name="T76" fmla="*/ 3494209 w 10796"/>
              <a:gd name="T77" fmla="*/ 2891213 h 10584"/>
              <a:gd name="T78" fmla="*/ 2514060 w 10796"/>
              <a:gd name="T79" fmla="*/ 3578843 h 10584"/>
              <a:gd name="T80" fmla="*/ 1684316 w 10796"/>
              <a:gd name="T81" fmla="*/ 3808053 h 10584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</a:gdLst>
            <a:ahLst/>
            <a:cxnLst>
              <a:cxn ang="T82">
                <a:pos x="T0" y="T1"/>
              </a:cxn>
              <a:cxn ang="T83">
                <a:pos x="T2" y="T3"/>
              </a:cxn>
              <a:cxn ang="T84">
                <a:pos x="T4" y="T5"/>
              </a:cxn>
              <a:cxn ang="T85">
                <a:pos x="T6" y="T7"/>
              </a:cxn>
              <a:cxn ang="T86">
                <a:pos x="T8" y="T9"/>
              </a:cxn>
              <a:cxn ang="T87">
                <a:pos x="T10" y="T11"/>
              </a:cxn>
              <a:cxn ang="T88">
                <a:pos x="T12" y="T13"/>
              </a:cxn>
              <a:cxn ang="T89">
                <a:pos x="T14" y="T15"/>
              </a:cxn>
              <a:cxn ang="T90">
                <a:pos x="T16" y="T17"/>
              </a:cxn>
              <a:cxn ang="T91">
                <a:pos x="T18" y="T19"/>
              </a:cxn>
              <a:cxn ang="T92">
                <a:pos x="T20" y="T21"/>
              </a:cxn>
              <a:cxn ang="T93">
                <a:pos x="T22" y="T23"/>
              </a:cxn>
              <a:cxn ang="T94">
                <a:pos x="T24" y="T25"/>
              </a:cxn>
              <a:cxn ang="T95">
                <a:pos x="T26" y="T27"/>
              </a:cxn>
              <a:cxn ang="T96">
                <a:pos x="T28" y="T29"/>
              </a:cxn>
              <a:cxn ang="T97">
                <a:pos x="T30" y="T31"/>
              </a:cxn>
              <a:cxn ang="T98">
                <a:pos x="T32" y="T33"/>
              </a:cxn>
              <a:cxn ang="T99">
                <a:pos x="T34" y="T35"/>
              </a:cxn>
              <a:cxn ang="T100">
                <a:pos x="T36" y="T37"/>
              </a:cxn>
              <a:cxn ang="T101">
                <a:pos x="T38" y="T39"/>
              </a:cxn>
              <a:cxn ang="T102">
                <a:pos x="T40" y="T41"/>
              </a:cxn>
              <a:cxn ang="T103">
                <a:pos x="T42" y="T43"/>
              </a:cxn>
              <a:cxn ang="T104">
                <a:pos x="T44" y="T45"/>
              </a:cxn>
              <a:cxn ang="T105">
                <a:pos x="T46" y="T47"/>
              </a:cxn>
              <a:cxn ang="T106">
                <a:pos x="T48" y="T49"/>
              </a:cxn>
              <a:cxn ang="T107">
                <a:pos x="T50" y="T51"/>
              </a:cxn>
              <a:cxn ang="T108">
                <a:pos x="T52" y="T53"/>
              </a:cxn>
              <a:cxn ang="T109">
                <a:pos x="T54" y="T55"/>
              </a:cxn>
              <a:cxn ang="T110">
                <a:pos x="T56" y="T57"/>
              </a:cxn>
              <a:cxn ang="T111">
                <a:pos x="T58" y="T59"/>
              </a:cxn>
              <a:cxn ang="T112">
                <a:pos x="T60" y="T61"/>
              </a:cxn>
              <a:cxn ang="T113">
                <a:pos x="T62" y="T63"/>
              </a:cxn>
              <a:cxn ang="T114">
                <a:pos x="T64" y="T65"/>
              </a:cxn>
              <a:cxn ang="T115">
                <a:pos x="T66" y="T67"/>
              </a:cxn>
              <a:cxn ang="T116">
                <a:pos x="T68" y="T69"/>
              </a:cxn>
              <a:cxn ang="T117">
                <a:pos x="T70" y="T71"/>
              </a:cxn>
              <a:cxn ang="T118">
                <a:pos x="T72" y="T73"/>
              </a:cxn>
              <a:cxn ang="T119">
                <a:pos x="T74" y="T75"/>
              </a:cxn>
              <a:cxn ang="T120">
                <a:pos x="T76" y="T77"/>
              </a:cxn>
              <a:cxn ang="T121">
                <a:pos x="T78" y="T79"/>
              </a:cxn>
              <a:cxn ang="T122">
                <a:pos x="T80" y="T81"/>
              </a:cxn>
            </a:cxnLst>
            <a:rect l="0" t="0" r="r" b="b"/>
            <a:pathLst>
              <a:path w="10796" h="10584">
                <a:moveTo>
                  <a:pt x="4681" y="4849"/>
                </a:moveTo>
                <a:cubicBezTo>
                  <a:pt x="4593" y="4796"/>
                  <a:pt x="4506" y="4743"/>
                  <a:pt x="4472" y="4636"/>
                </a:cubicBezTo>
                <a:cubicBezTo>
                  <a:pt x="4436" y="4531"/>
                  <a:pt x="4436" y="4318"/>
                  <a:pt x="4472" y="4212"/>
                </a:cubicBezTo>
                <a:cubicBezTo>
                  <a:pt x="4506" y="4105"/>
                  <a:pt x="4576" y="3999"/>
                  <a:pt x="4681" y="3999"/>
                </a:cubicBezTo>
                <a:cubicBezTo>
                  <a:pt x="4786" y="3999"/>
                  <a:pt x="5030" y="4105"/>
                  <a:pt x="5100" y="4212"/>
                </a:cubicBezTo>
                <a:cubicBezTo>
                  <a:pt x="5170" y="4318"/>
                  <a:pt x="5170" y="4460"/>
                  <a:pt x="5100" y="4636"/>
                </a:cubicBezTo>
                <a:cubicBezTo>
                  <a:pt x="5030" y="4814"/>
                  <a:pt x="4890" y="5168"/>
                  <a:pt x="4681" y="5273"/>
                </a:cubicBezTo>
                <a:cubicBezTo>
                  <a:pt x="4472" y="5380"/>
                  <a:pt x="4017" y="5345"/>
                  <a:pt x="3843" y="5273"/>
                </a:cubicBezTo>
                <a:cubicBezTo>
                  <a:pt x="3667" y="5203"/>
                  <a:pt x="3667" y="5062"/>
                  <a:pt x="3633" y="4849"/>
                </a:cubicBezTo>
                <a:cubicBezTo>
                  <a:pt x="3598" y="4636"/>
                  <a:pt x="3528" y="4247"/>
                  <a:pt x="3633" y="3999"/>
                </a:cubicBezTo>
                <a:cubicBezTo>
                  <a:pt x="3738" y="3751"/>
                  <a:pt x="3947" y="3468"/>
                  <a:pt x="4262" y="3362"/>
                </a:cubicBezTo>
                <a:cubicBezTo>
                  <a:pt x="4576" y="3257"/>
                  <a:pt x="5204" y="3220"/>
                  <a:pt x="5519" y="3362"/>
                </a:cubicBezTo>
                <a:cubicBezTo>
                  <a:pt x="5833" y="3504"/>
                  <a:pt x="6078" y="3858"/>
                  <a:pt x="6148" y="4212"/>
                </a:cubicBezTo>
                <a:cubicBezTo>
                  <a:pt x="6217" y="4566"/>
                  <a:pt x="6113" y="5132"/>
                  <a:pt x="5938" y="5486"/>
                </a:cubicBezTo>
                <a:cubicBezTo>
                  <a:pt x="5764" y="5840"/>
                  <a:pt x="5380" y="6195"/>
                  <a:pt x="5100" y="6336"/>
                </a:cubicBezTo>
                <a:cubicBezTo>
                  <a:pt x="4820" y="6478"/>
                  <a:pt x="4541" y="6371"/>
                  <a:pt x="4262" y="6336"/>
                </a:cubicBezTo>
                <a:cubicBezTo>
                  <a:pt x="3982" y="6300"/>
                  <a:pt x="3738" y="6336"/>
                  <a:pt x="3423" y="6123"/>
                </a:cubicBezTo>
                <a:cubicBezTo>
                  <a:pt x="3109" y="5911"/>
                  <a:pt x="2480" y="5521"/>
                  <a:pt x="2375" y="5062"/>
                </a:cubicBezTo>
                <a:cubicBezTo>
                  <a:pt x="2270" y="4601"/>
                  <a:pt x="2549" y="3823"/>
                  <a:pt x="2794" y="3362"/>
                </a:cubicBezTo>
                <a:cubicBezTo>
                  <a:pt x="3039" y="2902"/>
                  <a:pt x="3354" y="2548"/>
                  <a:pt x="3843" y="2300"/>
                </a:cubicBezTo>
                <a:cubicBezTo>
                  <a:pt x="4331" y="2052"/>
                  <a:pt x="5170" y="1840"/>
                  <a:pt x="5729" y="1876"/>
                </a:cubicBezTo>
                <a:cubicBezTo>
                  <a:pt x="6288" y="1911"/>
                  <a:pt x="6777" y="2159"/>
                  <a:pt x="7196" y="2513"/>
                </a:cubicBezTo>
                <a:cubicBezTo>
                  <a:pt x="7616" y="2867"/>
                  <a:pt x="8035" y="3540"/>
                  <a:pt x="8245" y="3999"/>
                </a:cubicBezTo>
                <a:cubicBezTo>
                  <a:pt x="8453" y="4460"/>
                  <a:pt x="8453" y="4884"/>
                  <a:pt x="8453" y="5273"/>
                </a:cubicBezTo>
                <a:cubicBezTo>
                  <a:pt x="8453" y="5663"/>
                  <a:pt x="8419" y="5982"/>
                  <a:pt x="8245" y="6336"/>
                </a:cubicBezTo>
                <a:cubicBezTo>
                  <a:pt x="8069" y="6690"/>
                  <a:pt x="7720" y="7115"/>
                  <a:pt x="7406" y="7398"/>
                </a:cubicBezTo>
                <a:cubicBezTo>
                  <a:pt x="7091" y="7681"/>
                  <a:pt x="6812" y="7858"/>
                  <a:pt x="6358" y="8035"/>
                </a:cubicBezTo>
                <a:cubicBezTo>
                  <a:pt x="5904" y="8211"/>
                  <a:pt x="5170" y="8389"/>
                  <a:pt x="4681" y="8459"/>
                </a:cubicBezTo>
                <a:cubicBezTo>
                  <a:pt x="4191" y="8531"/>
                  <a:pt x="3947" y="8566"/>
                  <a:pt x="3423" y="8459"/>
                </a:cubicBezTo>
                <a:cubicBezTo>
                  <a:pt x="2899" y="8354"/>
                  <a:pt x="2026" y="8176"/>
                  <a:pt x="1536" y="7822"/>
                </a:cubicBezTo>
                <a:cubicBezTo>
                  <a:pt x="1047" y="7469"/>
                  <a:pt x="733" y="6832"/>
                  <a:pt x="489" y="6336"/>
                </a:cubicBezTo>
                <a:cubicBezTo>
                  <a:pt x="244" y="5840"/>
                  <a:pt x="0" y="5416"/>
                  <a:pt x="70" y="4849"/>
                </a:cubicBezTo>
                <a:cubicBezTo>
                  <a:pt x="139" y="4283"/>
                  <a:pt x="384" y="3646"/>
                  <a:pt x="908" y="2937"/>
                </a:cubicBezTo>
                <a:cubicBezTo>
                  <a:pt x="1431" y="2230"/>
                  <a:pt x="2236" y="1061"/>
                  <a:pt x="3214" y="602"/>
                </a:cubicBezTo>
                <a:cubicBezTo>
                  <a:pt x="4191" y="141"/>
                  <a:pt x="5833" y="0"/>
                  <a:pt x="6777" y="176"/>
                </a:cubicBezTo>
                <a:cubicBezTo>
                  <a:pt x="7720" y="354"/>
                  <a:pt x="8349" y="1203"/>
                  <a:pt x="8873" y="1663"/>
                </a:cubicBezTo>
                <a:cubicBezTo>
                  <a:pt x="9397" y="2124"/>
                  <a:pt x="9606" y="2372"/>
                  <a:pt x="9921" y="2937"/>
                </a:cubicBezTo>
                <a:cubicBezTo>
                  <a:pt x="10235" y="3504"/>
                  <a:pt x="10795" y="4212"/>
                  <a:pt x="10760" y="5062"/>
                </a:cubicBezTo>
                <a:cubicBezTo>
                  <a:pt x="10724" y="5911"/>
                  <a:pt x="10340" y="7221"/>
                  <a:pt x="9711" y="8035"/>
                </a:cubicBezTo>
                <a:cubicBezTo>
                  <a:pt x="9082" y="8849"/>
                  <a:pt x="7825" y="9522"/>
                  <a:pt x="6987" y="9946"/>
                </a:cubicBezTo>
                <a:cubicBezTo>
                  <a:pt x="6148" y="10371"/>
                  <a:pt x="5414" y="10477"/>
                  <a:pt x="4681" y="10583"/>
                </a:cubicBezTo>
              </a:path>
            </a:pathLst>
          </a:custGeom>
          <a:noFill/>
          <a:ln w="57240">
            <a:solidFill>
              <a:srgbClr val="00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60423" name="Text Box 5"/>
          <p:cNvSpPr txBox="1">
            <a:spLocks noChangeArrowheads="1"/>
          </p:cNvSpPr>
          <p:nvPr/>
        </p:nvSpPr>
        <p:spPr bwMode="auto">
          <a:xfrm>
            <a:off x="1295400" y="1752600"/>
            <a:ext cx="1522413" cy="70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33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/>
          <a:lstStyle>
            <a:lvl1pPr>
              <a:tabLst>
                <a:tab pos="863600" algn="l"/>
                <a:tab pos="1447800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>
              <a:tabLst>
                <a:tab pos="863600" algn="l"/>
                <a:tab pos="1447800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>
              <a:tabLst>
                <a:tab pos="863600" algn="l"/>
                <a:tab pos="1447800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>
              <a:tabLst>
                <a:tab pos="863600" algn="l"/>
                <a:tab pos="1447800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>
              <a:tabLst>
                <a:tab pos="863600" algn="l"/>
                <a:tab pos="1447800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63600" algn="l"/>
                <a:tab pos="1447800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63600" algn="l"/>
                <a:tab pos="1447800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63600" algn="l"/>
                <a:tab pos="1447800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63600" algn="l"/>
                <a:tab pos="1447800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>
              <a:lnSpc>
                <a:spcPct val="85000"/>
              </a:lnSpc>
              <a:spcBef>
                <a:spcPts val="1150"/>
              </a:spcBef>
            </a:pPr>
            <a:r>
              <a:rPr lang="en-GB" altLang="en-US" sz="2000" b="1">
                <a:latin typeface="times" charset="0"/>
              </a:rPr>
              <a:t>Determine Objectives</a:t>
            </a:r>
          </a:p>
        </p:txBody>
      </p:sp>
      <p:sp>
        <p:nvSpPr>
          <p:cNvPr id="60424" name="Text Box 6"/>
          <p:cNvSpPr txBox="1">
            <a:spLocks noChangeArrowheads="1"/>
          </p:cNvSpPr>
          <p:nvPr/>
        </p:nvSpPr>
        <p:spPr bwMode="auto">
          <a:xfrm>
            <a:off x="5715000" y="1676400"/>
            <a:ext cx="1827213" cy="70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33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/>
          <a:lstStyle>
            <a:lvl1pPr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>
              <a:lnSpc>
                <a:spcPct val="85000"/>
              </a:lnSpc>
              <a:spcBef>
                <a:spcPts val="1150"/>
              </a:spcBef>
            </a:pPr>
            <a:r>
              <a:rPr lang="en-GB" altLang="en-US" sz="2000" b="1">
                <a:latin typeface="times" charset="0"/>
              </a:rPr>
              <a:t>Identify &amp; Resolve Risks</a:t>
            </a:r>
          </a:p>
        </p:txBody>
      </p:sp>
      <p:sp>
        <p:nvSpPr>
          <p:cNvPr id="60425" name="Text Box 7"/>
          <p:cNvSpPr txBox="1">
            <a:spLocks noChangeArrowheads="1"/>
          </p:cNvSpPr>
          <p:nvPr/>
        </p:nvSpPr>
        <p:spPr bwMode="auto">
          <a:xfrm>
            <a:off x="5791200" y="3886200"/>
            <a:ext cx="2132013" cy="70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33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/>
          <a:lstStyle>
            <a:lvl1pPr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>
              <a:lnSpc>
                <a:spcPct val="85000"/>
              </a:lnSpc>
              <a:spcBef>
                <a:spcPts val="1150"/>
              </a:spcBef>
            </a:pPr>
            <a:r>
              <a:rPr lang="en-GB" altLang="en-US" sz="2000" b="1">
                <a:latin typeface="times" charset="0"/>
              </a:rPr>
              <a:t>Develop Next Level of Product</a:t>
            </a:r>
          </a:p>
        </p:txBody>
      </p:sp>
      <p:sp>
        <p:nvSpPr>
          <p:cNvPr id="60426" name="Text Box 8"/>
          <p:cNvSpPr txBox="1">
            <a:spLocks noChangeArrowheads="1"/>
          </p:cNvSpPr>
          <p:nvPr/>
        </p:nvSpPr>
        <p:spPr bwMode="auto">
          <a:xfrm>
            <a:off x="1066800" y="3581400"/>
            <a:ext cx="1827213" cy="1004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33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/>
          <a:lstStyle>
            <a:lvl1pPr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63600" algn="l"/>
                <a:tab pos="1728788" algn="l"/>
              </a:tabLst>
              <a:defRPr sz="2400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>
              <a:lnSpc>
                <a:spcPct val="85000"/>
              </a:lnSpc>
              <a:spcBef>
                <a:spcPts val="1150"/>
              </a:spcBef>
            </a:pPr>
            <a:r>
              <a:rPr lang="en-GB" altLang="en-US" sz="2000" b="1">
                <a:latin typeface="times" charset="0"/>
              </a:rPr>
              <a:t>Customer Evaluation of Prototype</a:t>
            </a:r>
          </a:p>
        </p:txBody>
      </p:sp>
    </p:spTree>
    <p:extLst>
      <p:ext uri="{BB962C8B-B14F-4D97-AF65-F5344CB8AC3E}">
        <p14:creationId xmlns:p14="http://schemas.microsoft.com/office/powerpoint/2010/main" val="363788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3" name="Rectangle 1"/>
          <p:cNvSpPr>
            <a:spLocks noGrp="1" noChangeArrowheads="1"/>
          </p:cNvSpPr>
          <p:nvPr>
            <p:ph type="title"/>
          </p:nvPr>
        </p:nvSpPr>
        <p:spPr>
          <a:xfrm>
            <a:off x="406400" y="228600"/>
            <a:ext cx="7770813" cy="1141413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 anchor="ctr">
            <a:normAutofit/>
          </a:bodyPr>
          <a:lstStyle/>
          <a:p>
            <a:pPr>
              <a:spcBef>
                <a:spcPts val="800"/>
              </a:spcBef>
            </a:pPr>
            <a:r>
              <a:rPr lang="en-GB" altLang="en-US" dirty="0" smtClean="0"/>
              <a:t>Objective Setting (First Quadrant)</a:t>
            </a:r>
          </a:p>
        </p:txBody>
      </p:sp>
      <p:sp>
        <p:nvSpPr>
          <p:cNvPr id="61444" name="Rectangle 2"/>
          <p:cNvSpPr>
            <a:spLocks noGrp="1" noChangeArrowheads="1"/>
          </p:cNvSpPr>
          <p:nvPr>
            <p:ph type="body" idx="1"/>
          </p:nvPr>
        </p:nvSpPr>
        <p:spPr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/>
          <a:lstStyle/>
          <a:p>
            <a:pPr>
              <a:spcBef>
                <a:spcPts val="1000"/>
              </a:spcBef>
            </a:pPr>
            <a:r>
              <a:rPr lang="en-GB" altLang="en-US" dirty="0" smtClean="0"/>
              <a:t>Identify objectives  of the phase, </a:t>
            </a:r>
          </a:p>
          <a:p>
            <a:pPr>
              <a:spcBef>
                <a:spcPts val="1000"/>
              </a:spcBef>
            </a:pPr>
            <a:r>
              <a:rPr lang="en-GB" altLang="en-US" dirty="0" smtClean="0"/>
              <a:t>Examine the risks associated with these objectives.</a:t>
            </a:r>
          </a:p>
          <a:p>
            <a:pPr lvl="1">
              <a:spcBef>
                <a:spcPts val="725"/>
              </a:spcBef>
            </a:pPr>
            <a:r>
              <a:rPr lang="en-GB" altLang="en-US" dirty="0" smtClean="0"/>
              <a:t>Risk:</a:t>
            </a:r>
          </a:p>
          <a:p>
            <a:pPr lvl="2">
              <a:spcBef>
                <a:spcPts val="638"/>
              </a:spcBef>
            </a:pPr>
            <a:r>
              <a:rPr lang="en-GB" altLang="en-US" dirty="0" smtClean="0"/>
              <a:t>any adverse circumstance that  might hamper successful completion of a software project</a:t>
            </a:r>
            <a:r>
              <a:rPr lang="en-GB" altLang="en-US" sz="3200" dirty="0" smtClean="0"/>
              <a:t>.</a:t>
            </a:r>
          </a:p>
          <a:p>
            <a:pPr>
              <a:spcBef>
                <a:spcPts val="1000"/>
              </a:spcBef>
            </a:pPr>
            <a:r>
              <a:rPr lang="en-GB" altLang="en-US" dirty="0" smtClean="0"/>
              <a:t>Find alternate solutions possible.</a:t>
            </a:r>
            <a:r>
              <a:rPr lang="en-GB" altLang="en-US" b="1" dirty="0" smtClean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69279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7" name="Rectangle 1"/>
          <p:cNvSpPr>
            <a:spLocks noGrp="1" noChangeArrowheads="1"/>
          </p:cNvSpPr>
          <p:nvPr>
            <p:ph type="title"/>
          </p:nvPr>
        </p:nvSpPr>
        <p:spPr>
          <a:xfrm>
            <a:off x="406400" y="228600"/>
            <a:ext cx="7770813" cy="1141413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 anchor="ctr">
            <a:noAutofit/>
          </a:bodyPr>
          <a:lstStyle/>
          <a:p>
            <a:pPr>
              <a:spcBef>
                <a:spcPts val="538"/>
              </a:spcBef>
            </a:pPr>
            <a:r>
              <a:rPr lang="en-GB" altLang="en-US" dirty="0" smtClean="0"/>
              <a:t>Risk Assessment and Reduction (Second Quadrant</a:t>
            </a:r>
            <a:r>
              <a:rPr lang="en-GB" altLang="en-US" dirty="0" smtClean="0">
                <a:solidFill>
                  <a:srgbClr val="0033CC"/>
                </a:solidFill>
              </a:rPr>
              <a:t>)</a:t>
            </a:r>
          </a:p>
        </p:txBody>
      </p:sp>
      <p:sp>
        <p:nvSpPr>
          <p:cNvPr id="62468" name="Rectangle 2"/>
          <p:cNvSpPr>
            <a:spLocks noGrp="1" noChangeArrowheads="1"/>
          </p:cNvSpPr>
          <p:nvPr>
            <p:ph type="body" idx="1"/>
          </p:nvPr>
        </p:nvSpPr>
        <p:spPr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/>
          <a:lstStyle/>
          <a:p>
            <a:pPr>
              <a:spcBef>
                <a:spcPts val="1000"/>
              </a:spcBef>
            </a:pPr>
            <a:r>
              <a:rPr lang="en-GB" altLang="en-US" dirty="0" smtClean="0"/>
              <a:t>For each identified project risk, </a:t>
            </a:r>
          </a:p>
          <a:p>
            <a:pPr lvl="1">
              <a:spcBef>
                <a:spcPts val="725"/>
              </a:spcBef>
            </a:pPr>
            <a:r>
              <a:rPr lang="en-GB" altLang="en-US" dirty="0" smtClean="0"/>
              <a:t>a detailed analysis is carried out. </a:t>
            </a:r>
          </a:p>
          <a:p>
            <a:pPr>
              <a:spcBef>
                <a:spcPts val="1000"/>
              </a:spcBef>
            </a:pPr>
            <a:r>
              <a:rPr lang="en-GB" altLang="en-US" dirty="0" smtClean="0"/>
              <a:t>Steps are taken to reduce the risk.</a:t>
            </a:r>
          </a:p>
          <a:p>
            <a:pPr>
              <a:spcBef>
                <a:spcPts val="1000"/>
              </a:spcBef>
            </a:pPr>
            <a:r>
              <a:rPr lang="en-GB" altLang="en-US" dirty="0" smtClean="0"/>
              <a:t>For example, if there is a risk that the requirements are inappropriate:</a:t>
            </a:r>
          </a:p>
          <a:p>
            <a:pPr lvl="1">
              <a:spcBef>
                <a:spcPts val="725"/>
              </a:spcBef>
            </a:pPr>
            <a:r>
              <a:rPr lang="en-GB" altLang="en-US" dirty="0" smtClean="0"/>
              <a:t>a prototype system may be developed.</a:t>
            </a:r>
          </a:p>
        </p:txBody>
      </p:sp>
    </p:spTree>
    <p:extLst>
      <p:ext uri="{BB962C8B-B14F-4D97-AF65-F5344CB8AC3E}">
        <p14:creationId xmlns:p14="http://schemas.microsoft.com/office/powerpoint/2010/main" val="263333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Rectangle 1"/>
          <p:cNvSpPr>
            <a:spLocks noGrp="1" noChangeArrowheads="1"/>
          </p:cNvSpPr>
          <p:nvPr>
            <p:ph type="title"/>
          </p:nvPr>
        </p:nvSpPr>
        <p:spPr>
          <a:xfrm>
            <a:off x="406400" y="228600"/>
            <a:ext cx="7770813" cy="1141413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 anchor="ctr"/>
          <a:lstStyle/>
          <a:p>
            <a:pPr>
              <a:spcBef>
                <a:spcPts val="1000"/>
              </a:spcBef>
            </a:pPr>
            <a:r>
              <a:rPr lang="en-GB" altLang="en-US" dirty="0" smtClean="0"/>
              <a:t>Spiral Model </a:t>
            </a:r>
            <a:r>
              <a:rPr lang="en-GB" altLang="en-US" sz="1600" dirty="0" smtClean="0"/>
              <a:t>(CONT.)</a:t>
            </a:r>
          </a:p>
        </p:txBody>
      </p:sp>
      <p:sp>
        <p:nvSpPr>
          <p:cNvPr id="64514" name="Rectangle 2"/>
          <p:cNvSpPr>
            <a:spLocks noGrp="1" noChangeArrowheads="1"/>
          </p:cNvSpPr>
          <p:nvPr>
            <p:ph type="body" idx="1"/>
          </p:nvPr>
        </p:nvSpPr>
        <p:spPr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/>
          <a:lstStyle/>
          <a:p>
            <a:pPr>
              <a:spcBef>
                <a:spcPts val="550"/>
              </a:spcBef>
              <a:defRPr/>
            </a:pPr>
            <a:r>
              <a:rPr lang="en-GB" altLang="en-US" sz="2800" u="sng" dirty="0" smtClean="0"/>
              <a:t>Development and Validation</a:t>
            </a:r>
            <a:r>
              <a:rPr lang="en-GB" altLang="en-US" sz="2800" dirty="0" smtClean="0"/>
              <a:t> (</a:t>
            </a:r>
            <a:r>
              <a:rPr lang="en-GB" altLang="en-US" sz="2800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Third quadrant</a:t>
            </a:r>
            <a:r>
              <a:rPr lang="en-GB" altLang="en-US" sz="2800" dirty="0" smtClean="0"/>
              <a:t>):</a:t>
            </a:r>
          </a:p>
          <a:p>
            <a:pPr lvl="1">
              <a:spcBef>
                <a:spcPts val="463"/>
              </a:spcBef>
              <a:defRPr/>
            </a:pPr>
            <a:r>
              <a:rPr lang="en-GB" altLang="en-US" sz="2400" dirty="0" smtClean="0"/>
              <a:t> develop and validate the next level of  the product. </a:t>
            </a:r>
          </a:p>
          <a:p>
            <a:pPr>
              <a:spcBef>
                <a:spcPts val="550"/>
              </a:spcBef>
              <a:defRPr/>
            </a:pPr>
            <a:r>
              <a:rPr lang="en-GB" altLang="en-US" sz="2800" u="sng" dirty="0" smtClean="0"/>
              <a:t>Review and Planning</a:t>
            </a:r>
            <a:r>
              <a:rPr lang="en-GB" altLang="en-US" sz="2800" dirty="0" smtClean="0"/>
              <a:t> (</a:t>
            </a:r>
            <a:r>
              <a:rPr lang="en-GB" altLang="en-US" sz="2800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Fourth quadrant</a:t>
            </a:r>
            <a:r>
              <a:rPr lang="en-GB" altLang="en-US" sz="2800" dirty="0" smtClean="0"/>
              <a:t>): </a:t>
            </a:r>
          </a:p>
          <a:p>
            <a:pPr lvl="1">
              <a:spcBef>
                <a:spcPts val="463"/>
              </a:spcBef>
              <a:defRPr/>
            </a:pPr>
            <a:r>
              <a:rPr lang="en-GB" altLang="en-US" sz="2400" dirty="0" smtClean="0"/>
              <a:t>review the  results  achieved so far with the customer and plan the next iteration around the spiral.  </a:t>
            </a:r>
          </a:p>
          <a:p>
            <a:pPr>
              <a:spcBef>
                <a:spcPts val="550"/>
              </a:spcBef>
              <a:defRPr/>
            </a:pPr>
            <a:r>
              <a:rPr lang="en-GB" altLang="en-US" sz="2800" dirty="0" smtClean="0"/>
              <a:t>With each iteration around the spiral:</a:t>
            </a:r>
          </a:p>
          <a:p>
            <a:pPr lvl="1">
              <a:spcBef>
                <a:spcPts val="463"/>
              </a:spcBef>
              <a:defRPr/>
            </a:pPr>
            <a:r>
              <a:rPr lang="en-GB" altLang="en-US" sz="2400" dirty="0" smtClean="0"/>
              <a:t>progressively more complete version of the software gets built.</a:t>
            </a:r>
          </a:p>
        </p:txBody>
      </p:sp>
    </p:spTree>
    <p:extLst>
      <p:ext uri="{BB962C8B-B14F-4D97-AF65-F5344CB8AC3E}">
        <p14:creationId xmlns:p14="http://schemas.microsoft.com/office/powerpoint/2010/main" val="2231268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5" name="Rectangle 1"/>
          <p:cNvSpPr>
            <a:spLocks noGrp="1" noChangeArrowheads="1"/>
          </p:cNvSpPr>
          <p:nvPr>
            <p:ph type="title"/>
          </p:nvPr>
        </p:nvSpPr>
        <p:spPr>
          <a:xfrm>
            <a:off x="406400" y="228600"/>
            <a:ext cx="7770813" cy="1141413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 anchor="ctr"/>
          <a:lstStyle/>
          <a:p>
            <a:pPr>
              <a:spcBef>
                <a:spcPts val="1000"/>
              </a:spcBef>
            </a:pPr>
            <a:r>
              <a:rPr lang="en-GB" altLang="en-US" dirty="0" smtClean="0"/>
              <a:t>Spiral Model as a meta model</a:t>
            </a:r>
          </a:p>
        </p:txBody>
      </p:sp>
      <p:sp>
        <p:nvSpPr>
          <p:cNvPr id="6451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1677988"/>
            <a:ext cx="7770813" cy="4113212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>
            <a:normAutofit fontScale="92500"/>
          </a:bodyPr>
          <a:lstStyle/>
          <a:p>
            <a:pPr>
              <a:spcBef>
                <a:spcPts val="638"/>
              </a:spcBef>
            </a:pPr>
            <a:r>
              <a:rPr lang="en-GB" altLang="en-US" dirty="0" smtClean="0"/>
              <a:t> Subsumes all discussed models:</a:t>
            </a:r>
          </a:p>
          <a:p>
            <a:pPr lvl="1">
              <a:spcBef>
                <a:spcPts val="463"/>
              </a:spcBef>
            </a:pPr>
            <a:r>
              <a:rPr lang="en-GB" altLang="en-US" dirty="0" smtClean="0"/>
              <a:t>a single loop spiral  represents waterfall model.</a:t>
            </a:r>
          </a:p>
          <a:p>
            <a:pPr lvl="1">
              <a:spcBef>
                <a:spcPts val="463"/>
              </a:spcBef>
            </a:pPr>
            <a:r>
              <a:rPr lang="en-GB" altLang="en-US" dirty="0" smtClean="0"/>
              <a:t>uses an evolutionary approach  -- </a:t>
            </a:r>
          </a:p>
          <a:p>
            <a:pPr lvl="2">
              <a:spcBef>
                <a:spcPts val="413"/>
              </a:spcBef>
            </a:pPr>
            <a:r>
              <a:rPr lang="en-GB" altLang="en-US" dirty="0" smtClean="0"/>
              <a:t>iterations through the spiral are evolutionary levels. </a:t>
            </a:r>
          </a:p>
          <a:p>
            <a:pPr lvl="1">
              <a:spcBef>
                <a:spcPts val="463"/>
              </a:spcBef>
            </a:pPr>
            <a:r>
              <a:rPr lang="en-GB" altLang="en-US" dirty="0" smtClean="0"/>
              <a:t>enables understanding and  reacting to risks during each  iteration along the spiral.  </a:t>
            </a:r>
          </a:p>
          <a:p>
            <a:pPr lvl="1">
              <a:spcBef>
                <a:spcPts val="463"/>
              </a:spcBef>
            </a:pPr>
            <a:r>
              <a:rPr lang="en-GB" altLang="en-US" dirty="0" smtClean="0"/>
              <a:t>uses:</a:t>
            </a:r>
          </a:p>
          <a:p>
            <a:pPr lvl="2">
              <a:spcBef>
                <a:spcPts val="413"/>
              </a:spcBef>
            </a:pPr>
            <a:r>
              <a:rPr lang="en-GB" altLang="en-US" dirty="0" smtClean="0"/>
              <a:t>prototyping as a risk reduction mechanism</a:t>
            </a:r>
          </a:p>
          <a:p>
            <a:pPr lvl="2">
              <a:spcBef>
                <a:spcPts val="413"/>
              </a:spcBef>
            </a:pPr>
            <a:r>
              <a:rPr lang="en-GB" altLang="en-US" dirty="0" smtClean="0"/>
              <a:t>retains the step-wise approach of the waterfall model.  </a:t>
            </a:r>
          </a:p>
        </p:txBody>
      </p:sp>
    </p:spTree>
    <p:extLst>
      <p:ext uri="{BB962C8B-B14F-4D97-AF65-F5344CB8AC3E}">
        <p14:creationId xmlns:p14="http://schemas.microsoft.com/office/powerpoint/2010/main" val="4233394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fld id="{994923CF-6000-4E97-98AF-C97F5FF11A43}" type="slidenum">
              <a:rPr lang="en-US" altLang="en-US" sz="1400">
                <a:solidFill>
                  <a:schemeClr val="bg2"/>
                </a:solidFill>
                <a:latin typeface="Arial" pitchFamily="34" charset="0"/>
              </a:rPr>
              <a:pPr/>
              <a:t>57</a:t>
            </a:fld>
            <a:endParaRPr lang="en-US" altLang="en-US" sz="1400">
              <a:solidFill>
                <a:schemeClr val="bg2"/>
              </a:solidFill>
              <a:latin typeface="Arial" pitchFamily="34" charset="0"/>
            </a:endParaRPr>
          </a:p>
        </p:txBody>
      </p:sp>
      <p:sp>
        <p:nvSpPr>
          <p:cNvPr id="65539" name="Rectangle 1"/>
          <p:cNvSpPr>
            <a:spLocks noGrp="1" noChangeArrowheads="1"/>
          </p:cNvSpPr>
          <p:nvPr>
            <p:ph type="title"/>
          </p:nvPr>
        </p:nvSpPr>
        <p:spPr>
          <a:xfrm>
            <a:off x="406400" y="228600"/>
            <a:ext cx="7770813" cy="1141413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 anchor="ctr"/>
          <a:lstStyle/>
          <a:p>
            <a:pPr>
              <a:spcBef>
                <a:spcPts val="725"/>
              </a:spcBef>
            </a:pPr>
            <a:r>
              <a:rPr lang="en-GB" altLang="en-US" sz="3200" b="1" dirty="0" smtClean="0"/>
              <a:t>Comparison of Different Life Cycle Models</a:t>
            </a:r>
          </a:p>
        </p:txBody>
      </p:sp>
      <p:sp>
        <p:nvSpPr>
          <p:cNvPr id="6554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1447800"/>
            <a:ext cx="7770813" cy="4179888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/>
          <a:lstStyle/>
          <a:p>
            <a:pPr>
              <a:spcBef>
                <a:spcPts val="1000"/>
              </a:spcBef>
            </a:pPr>
            <a:r>
              <a:rPr lang="en-GB" altLang="en-US" b="1" dirty="0" smtClean="0"/>
              <a:t>Iterative waterfall model</a:t>
            </a:r>
          </a:p>
          <a:p>
            <a:pPr lvl="1">
              <a:spcBef>
                <a:spcPts val="725"/>
              </a:spcBef>
            </a:pPr>
            <a:r>
              <a:rPr lang="en-GB" altLang="en-US" dirty="0" smtClean="0"/>
              <a:t>most widely used model. </a:t>
            </a:r>
          </a:p>
          <a:p>
            <a:pPr lvl="1">
              <a:spcBef>
                <a:spcPts val="725"/>
              </a:spcBef>
            </a:pPr>
            <a:r>
              <a:rPr lang="en-GB" altLang="en-US" dirty="0" smtClean="0"/>
              <a:t>But, suitable only for well-understood problems</a:t>
            </a:r>
            <a:r>
              <a:rPr lang="en-GB" altLang="en-US" b="1" dirty="0" smtClean="0"/>
              <a:t>. </a:t>
            </a:r>
          </a:p>
          <a:p>
            <a:pPr>
              <a:spcBef>
                <a:spcPts val="1000"/>
              </a:spcBef>
            </a:pPr>
            <a:r>
              <a:rPr lang="en-GB" altLang="en-US" b="1" dirty="0" smtClean="0"/>
              <a:t>Prototype model is suitable for projects not well understood:</a:t>
            </a:r>
          </a:p>
          <a:p>
            <a:pPr lvl="1">
              <a:spcBef>
                <a:spcPts val="725"/>
              </a:spcBef>
            </a:pPr>
            <a:r>
              <a:rPr lang="en-GB" altLang="en-US" b="1" dirty="0" smtClean="0"/>
              <a:t>user requirements</a:t>
            </a:r>
          </a:p>
          <a:p>
            <a:pPr lvl="1">
              <a:spcBef>
                <a:spcPts val="725"/>
              </a:spcBef>
            </a:pPr>
            <a:r>
              <a:rPr lang="en-GB" altLang="en-US" b="1" dirty="0" smtClean="0"/>
              <a:t>technical aspects</a:t>
            </a:r>
          </a:p>
        </p:txBody>
      </p:sp>
    </p:spTree>
    <p:extLst>
      <p:ext uri="{BB962C8B-B14F-4D97-AF65-F5344CB8AC3E}">
        <p14:creationId xmlns:p14="http://schemas.microsoft.com/office/powerpoint/2010/main" val="3457554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fld id="{1C5B81E5-7A11-437B-82A3-05CD1636DBE8}" type="slidenum">
              <a:rPr lang="en-US" altLang="en-US" sz="1400">
                <a:solidFill>
                  <a:schemeClr val="bg2"/>
                </a:solidFill>
                <a:latin typeface="Arial" pitchFamily="34" charset="0"/>
              </a:rPr>
              <a:pPr/>
              <a:t>58</a:t>
            </a:fld>
            <a:endParaRPr lang="en-US" altLang="en-US" sz="1400">
              <a:solidFill>
                <a:schemeClr val="bg2"/>
              </a:solidFill>
              <a:latin typeface="Arial" pitchFamily="34" charset="0"/>
            </a:endParaRPr>
          </a:p>
        </p:txBody>
      </p:sp>
      <p:sp>
        <p:nvSpPr>
          <p:cNvPr id="66563" name="Rectangle 1"/>
          <p:cNvSpPr>
            <a:spLocks noGrp="1" noChangeArrowheads="1"/>
          </p:cNvSpPr>
          <p:nvPr>
            <p:ph type="title"/>
          </p:nvPr>
        </p:nvSpPr>
        <p:spPr>
          <a:xfrm>
            <a:off x="406400" y="228600"/>
            <a:ext cx="7770813" cy="1141413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 anchor="ctr"/>
          <a:lstStyle/>
          <a:p>
            <a:pPr>
              <a:spcBef>
                <a:spcPts val="725"/>
              </a:spcBef>
            </a:pPr>
            <a:r>
              <a:rPr lang="en-GB" altLang="en-US" sz="3200" b="1" dirty="0" smtClean="0"/>
              <a:t>Comparison of Different Life Cycle Models </a:t>
            </a:r>
            <a:r>
              <a:rPr lang="en-GB" altLang="en-US" sz="1200" b="1" dirty="0" smtClean="0"/>
              <a:t>(CONT.)</a:t>
            </a:r>
          </a:p>
        </p:txBody>
      </p:sp>
      <p:sp>
        <p:nvSpPr>
          <p:cNvPr id="66564" name="Rectangle 2"/>
          <p:cNvSpPr>
            <a:spLocks noGrp="1" noChangeArrowheads="1"/>
          </p:cNvSpPr>
          <p:nvPr>
            <p:ph type="body" idx="1"/>
          </p:nvPr>
        </p:nvSpPr>
        <p:spPr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>
            <a:normAutofit lnSpcReduction="10000"/>
          </a:bodyPr>
          <a:lstStyle/>
          <a:p>
            <a:pPr>
              <a:spcBef>
                <a:spcPct val="0"/>
              </a:spcBef>
            </a:pPr>
            <a:r>
              <a:rPr lang="en-GB" altLang="en-US" b="1" smtClean="0"/>
              <a:t>Evolutionary model is suitable for  large problems:</a:t>
            </a:r>
          </a:p>
          <a:p>
            <a:pPr lvl="1">
              <a:spcBef>
                <a:spcPct val="0"/>
              </a:spcBef>
            </a:pPr>
            <a:r>
              <a:rPr lang="en-GB" altLang="en-US" smtClean="0"/>
              <a:t>can be decomposed into a set of modules that can be incrementally implemented,   </a:t>
            </a:r>
          </a:p>
          <a:p>
            <a:pPr lvl="1">
              <a:spcBef>
                <a:spcPct val="0"/>
              </a:spcBef>
            </a:pPr>
            <a:r>
              <a:rPr lang="en-GB" altLang="en-US" smtClean="0"/>
              <a:t>incremental delivery of the system is acceptable  to the customer.  </a:t>
            </a:r>
          </a:p>
          <a:p>
            <a:pPr>
              <a:spcBef>
                <a:spcPct val="0"/>
              </a:spcBef>
            </a:pPr>
            <a:r>
              <a:rPr lang="en-GB" altLang="en-US" b="1" smtClean="0"/>
              <a:t>The spiral model: </a:t>
            </a:r>
          </a:p>
          <a:p>
            <a:pPr lvl="1">
              <a:spcBef>
                <a:spcPct val="0"/>
              </a:spcBef>
            </a:pPr>
            <a:r>
              <a:rPr lang="en-GB" altLang="en-US" smtClean="0"/>
              <a:t>suitable for development of technically challenging software products  that are subject to several kinds of risks.</a:t>
            </a:r>
            <a:r>
              <a:rPr lang="en-GB" altLang="en-US" b="1" smtClean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75769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381000"/>
            <a:ext cx="8763000" cy="1143000"/>
          </a:xfrm>
          <a:ln/>
        </p:spPr>
        <p:txBody>
          <a:bodyPr/>
          <a:lstStyle/>
          <a:p>
            <a:pPr>
              <a:lnSpc>
                <a:spcPct val="95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en-US" sz="4000" b="1" dirty="0"/>
              <a:t>Component-based Development Model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828800"/>
            <a:ext cx="7772400" cy="4114800"/>
          </a:xfrm>
          <a:ln/>
        </p:spPr>
        <p:txBody>
          <a:bodyPr>
            <a:no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sz="2400" dirty="0" smtClean="0"/>
              <a:t>It relies on software reuse</a:t>
            </a:r>
          </a:p>
          <a:p>
            <a:pPr>
              <a:lnSpc>
                <a:spcPct val="90000"/>
              </a:lnSpc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sz="2400" dirty="0" smtClean="0"/>
              <a:t>Emerged from failure of Object Oriented development to support reuse effectively</a:t>
            </a:r>
          </a:p>
          <a:p>
            <a:pPr>
              <a:lnSpc>
                <a:spcPct val="90000"/>
              </a:lnSpc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sz="2400" dirty="0" smtClean="0"/>
              <a:t>It improves software quality, developer productivity and overall system cost.</a:t>
            </a:r>
          </a:p>
          <a:p>
            <a:pPr>
              <a:lnSpc>
                <a:spcPct val="90000"/>
              </a:lnSpc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sz="2400" dirty="0" smtClean="0"/>
              <a:t>Relies </a:t>
            </a:r>
            <a:r>
              <a:rPr lang="en-GB" altLang="en-US" sz="2400" dirty="0"/>
              <a:t>on a robust component library</a:t>
            </a:r>
          </a:p>
          <a:p>
            <a:r>
              <a:rPr lang="en-US" altLang="en-US" sz="2400" dirty="0" smtClean="0"/>
              <a:t>Components </a:t>
            </a:r>
            <a:r>
              <a:rPr lang="en-US" altLang="en-US" sz="2400" dirty="0"/>
              <a:t>are more abstract than classes and can be considered to be stand-alone service providers</a:t>
            </a:r>
          </a:p>
          <a:p>
            <a:pPr>
              <a:lnSpc>
                <a:spcPct val="90000"/>
              </a:lnSpc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57857173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b="1" dirty="0"/>
              <a:t>Component-Based Development</a:t>
            </a:r>
            <a:endParaRPr lang="en-US" altLang="en-US" b="1" dirty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800" dirty="0" smtClean="0"/>
              <a:t>Available component based products are researched and evaluated for the application domain in question.</a:t>
            </a:r>
          </a:p>
          <a:p>
            <a:r>
              <a:rPr lang="en-US" altLang="en-US" sz="2800" dirty="0" smtClean="0"/>
              <a:t>Component integration issues are considered</a:t>
            </a:r>
          </a:p>
          <a:p>
            <a:r>
              <a:rPr lang="en-US" altLang="en-US" sz="2800" dirty="0" smtClean="0"/>
              <a:t>A software architecture is designed to accommodate components</a:t>
            </a:r>
          </a:p>
          <a:p>
            <a:r>
              <a:rPr lang="en-US" altLang="en-US" sz="2800" dirty="0" smtClean="0"/>
              <a:t>Components are integrated into the architecture</a:t>
            </a:r>
          </a:p>
          <a:p>
            <a:r>
              <a:rPr lang="en-US" altLang="en-US" sz="2800" dirty="0" smtClean="0"/>
              <a:t>Comprehensive testing is conducted to ensure proper functionality.</a:t>
            </a:r>
            <a:endParaRPr lang="en-US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846778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19063"/>
            <a:ext cx="7772400" cy="1362075"/>
          </a:xfrm>
          <a:ln/>
        </p:spPr>
        <p:txBody>
          <a:bodyPr>
            <a:normAutofit fontScale="90000"/>
          </a:bodyPr>
          <a:lstStyle/>
          <a:p>
            <a:pPr>
              <a:lnSpc>
                <a:spcPct val="95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en-US" b="1" dirty="0"/>
              <a:t>Formal Methods Model</a:t>
            </a:r>
            <a:br>
              <a:rPr lang="en-GB" altLang="en-US" b="1" dirty="0"/>
            </a:br>
            <a:endParaRPr lang="en-GB" altLang="en-US" b="1" dirty="0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7544" y="1340768"/>
            <a:ext cx="8352928" cy="4755232"/>
          </a:xfrm>
          <a:ln/>
        </p:spPr>
        <p:txBody>
          <a:bodyPr>
            <a:normAutofit/>
          </a:bodyPr>
          <a:lstStyle/>
          <a:p>
            <a:pPr>
              <a:lnSpc>
                <a:spcPct val="95000"/>
              </a:lnSpc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sz="2400" dirty="0"/>
              <a:t>Encompasses a set of activities that leads to formal mathematical specification of computer software</a:t>
            </a:r>
          </a:p>
          <a:p>
            <a:pPr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sz="2400" dirty="0"/>
              <a:t>Enables a software engineer to specify, develop, and verify a computer-based system by applying a rigorous, mathematical notation</a:t>
            </a:r>
          </a:p>
          <a:p>
            <a:pPr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sz="2400" dirty="0"/>
              <a:t>Ambiguity, incompleteness, and inconsistency can be discovered and corrected more easily through mathematical analysis</a:t>
            </a:r>
          </a:p>
          <a:p>
            <a:pPr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sz="2400" dirty="0"/>
              <a:t>Offers the promise of defect-free software</a:t>
            </a:r>
          </a:p>
          <a:p>
            <a:pPr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sz="2400" dirty="0"/>
              <a:t>Used often when building safety-critical systems</a:t>
            </a:r>
          </a:p>
        </p:txBody>
      </p:sp>
    </p:spTree>
    <p:extLst>
      <p:ext uri="{BB962C8B-B14F-4D97-AF65-F5344CB8AC3E}">
        <p14:creationId xmlns:p14="http://schemas.microsoft.com/office/powerpoint/2010/main" val="260100236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19063"/>
            <a:ext cx="7772400" cy="1362075"/>
          </a:xfrm>
          <a:ln/>
        </p:spPr>
        <p:txBody>
          <a:bodyPr>
            <a:normAutofit fontScale="90000"/>
          </a:bodyPr>
          <a:lstStyle/>
          <a:p>
            <a:pPr>
              <a:lnSpc>
                <a:spcPct val="95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en-US" b="1" dirty="0"/>
              <a:t>Formal Methods Model</a:t>
            </a:r>
            <a:r>
              <a:rPr lang="en-GB" altLang="en-US" dirty="0"/>
              <a:t/>
            </a:r>
            <a:br>
              <a:rPr lang="en-GB" altLang="en-US" dirty="0"/>
            </a:br>
            <a:endParaRPr lang="en-GB" altLang="en-US" dirty="0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  <a:ln/>
        </p:spPr>
        <p:txBody>
          <a:bodyPr>
            <a:normAutofit/>
          </a:bodyPr>
          <a:lstStyle/>
          <a:p>
            <a:pPr>
              <a:lnSpc>
                <a:spcPct val="95000"/>
              </a:lnSpc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sz="2800" dirty="0"/>
              <a:t>Development of formal methods is currently quite time-consuming and expensive</a:t>
            </a:r>
          </a:p>
          <a:p>
            <a:pPr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sz="2800" dirty="0"/>
              <a:t>Because few software developers have the necessary background to apply formal methods, extensive training is required</a:t>
            </a:r>
          </a:p>
          <a:p>
            <a:pPr>
              <a:spcBef>
                <a:spcPts val="6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sz="2800" dirty="0"/>
              <a:t>It is difficult to use the models as a communication mechanism for technically unsophisticated customers</a:t>
            </a:r>
          </a:p>
        </p:txBody>
      </p:sp>
    </p:spTree>
    <p:extLst>
      <p:ext uri="{BB962C8B-B14F-4D97-AF65-F5344CB8AC3E}">
        <p14:creationId xmlns:p14="http://schemas.microsoft.com/office/powerpoint/2010/main" val="48512286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Software Development trends to dominate in 2019</a:t>
            </a:r>
            <a:endParaRPr lang="en-US" dirty="0"/>
          </a:p>
        </p:txBody>
      </p:sp>
      <p:pic>
        <p:nvPicPr>
          <p:cNvPr id="1026" name="Picture 2" descr="https://cdn-images-1.medium.com/max/800/1*orNTo-HjdfoKttNG2-AmMQ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1556792"/>
            <a:ext cx="6576665" cy="4662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441910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Artificial Intelligence (AI</a:t>
            </a:r>
            <a:r>
              <a:rPr lang="en-US" b="1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Organizations of all sizes consider digital transformation as the core part of their business strategies to better compete in the market. </a:t>
            </a:r>
            <a:endParaRPr lang="en-US" dirty="0" smtClean="0"/>
          </a:p>
          <a:p>
            <a:r>
              <a:rPr lang="en-US" dirty="0" smtClean="0"/>
              <a:t>Business </a:t>
            </a:r>
            <a:r>
              <a:rPr lang="en-US" dirty="0"/>
              <a:t>leaders cite artificial intelligence as the key driver of digital transformation</a:t>
            </a:r>
            <a:r>
              <a:rPr lang="en-US" dirty="0" smtClean="0"/>
              <a:t>.</a:t>
            </a:r>
          </a:p>
          <a:p>
            <a:r>
              <a:rPr lang="en-US" dirty="0" smtClean="0"/>
              <a:t>AI </a:t>
            </a:r>
            <a:r>
              <a:rPr lang="en-US" dirty="0"/>
              <a:t>will be a trend at least for the next few years until the technology becomes mainstream. </a:t>
            </a:r>
            <a:endParaRPr lang="en-US" dirty="0" smtClean="0"/>
          </a:p>
          <a:p>
            <a:r>
              <a:rPr lang="en-US" dirty="0" smtClean="0"/>
              <a:t>Businesses </a:t>
            </a:r>
            <a:r>
              <a:rPr lang="en-US" dirty="0"/>
              <a:t>implement AI technology for execution of several tasks to provide high-quality services and enhance customer experience. </a:t>
            </a:r>
            <a:endParaRPr lang="en-US" dirty="0" smtClean="0"/>
          </a:p>
          <a:p>
            <a:r>
              <a:rPr lang="en-US" dirty="0" smtClean="0"/>
              <a:t>Few </a:t>
            </a:r>
            <a:r>
              <a:rPr lang="en-US" dirty="0"/>
              <a:t>of the practical applications of AI include voice-activated home assistants, big data, smartphones and more.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844023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err="1"/>
              <a:t>Blockchain</a:t>
            </a:r>
            <a:r>
              <a:rPr lang="en-US" b="1" dirty="0"/>
              <a:t> </a:t>
            </a:r>
            <a:r>
              <a:rPr lang="en-US" b="1" dirty="0" smtClean="0"/>
              <a:t>Technology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 err="1"/>
              <a:t>Blockchain</a:t>
            </a:r>
            <a:r>
              <a:rPr lang="en-US" dirty="0"/>
              <a:t> became a hot technology trend because of Bitcoin. </a:t>
            </a:r>
            <a:endParaRPr lang="en-US" dirty="0" smtClean="0"/>
          </a:p>
          <a:p>
            <a:r>
              <a:rPr lang="en-US" dirty="0" smtClean="0"/>
              <a:t>But</a:t>
            </a:r>
            <a:r>
              <a:rPr lang="en-US" dirty="0"/>
              <a:t>, this technology has its applications beyond the bitcoin and other cryptocurrencies</a:t>
            </a:r>
            <a:r>
              <a:rPr lang="en-US" dirty="0" smtClean="0"/>
              <a:t>.</a:t>
            </a:r>
          </a:p>
          <a:p>
            <a:r>
              <a:rPr lang="en-US" dirty="0"/>
              <a:t>The </a:t>
            </a:r>
            <a:r>
              <a:rPr lang="en-US" dirty="0" err="1"/>
              <a:t>blockchain</a:t>
            </a:r>
            <a:r>
              <a:rPr lang="en-US" dirty="0"/>
              <a:t> is a peer-to-peer network of interconnected computers for storing data or information which can’t be modified or stolen by anyone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/>
              <a:t>It is a distributed ledger technology which removes the need for central entities.</a:t>
            </a:r>
          </a:p>
          <a:p>
            <a:r>
              <a:rPr lang="en-US" dirty="0" err="1" smtClean="0"/>
              <a:t>Blockchain</a:t>
            </a:r>
            <a:r>
              <a:rPr lang="en-US" dirty="0" smtClean="0"/>
              <a:t> </a:t>
            </a:r>
            <a:r>
              <a:rPr lang="en-US" dirty="0"/>
              <a:t>allows authentication of large-scale transactions in no time and removing the need for expensive intermediaries. Thereby, reducing costs.</a:t>
            </a:r>
          </a:p>
          <a:p>
            <a:r>
              <a:rPr lang="en-US" dirty="0"/>
              <a:t>Companies associated with all the industries including healthcare are seeking </a:t>
            </a:r>
            <a:r>
              <a:rPr lang="en-US" dirty="0" err="1"/>
              <a:t>blockchain</a:t>
            </a:r>
            <a:r>
              <a:rPr lang="en-US" dirty="0"/>
              <a:t> to apply it in the supply chain, medical data, administration and more to streamline processes</a:t>
            </a:r>
            <a:r>
              <a:rPr lang="en-US" dirty="0" smtClean="0"/>
              <a:t>.</a:t>
            </a:r>
          </a:p>
          <a:p>
            <a:r>
              <a:rPr lang="en-US" dirty="0"/>
              <a:t>IBM launched its IBM </a:t>
            </a:r>
            <a:r>
              <a:rPr lang="en-US" dirty="0" err="1"/>
              <a:t>Blockchain</a:t>
            </a:r>
            <a:r>
              <a:rPr lang="en-US" dirty="0"/>
              <a:t> platform last year and it’s collaborating with banks, governments, distributors and more such organizations. Microsoft, Amazon, and Oracle are also pushing further with the </a:t>
            </a:r>
            <a:r>
              <a:rPr lang="en-US" dirty="0" err="1"/>
              <a:t>blockchain</a:t>
            </a:r>
            <a:r>
              <a:rPr lang="en-US" dirty="0"/>
              <a:t> technology.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06016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Progressive Web </a:t>
            </a:r>
            <a:r>
              <a:rPr lang="en-US" b="1" dirty="0" smtClean="0"/>
              <a:t>Apps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The websites or web pages that look and act like native mobile apps or conventional apps are known as </a:t>
            </a:r>
            <a:r>
              <a:rPr lang="en-US" dirty="0">
                <a:hlinkClick r:id="rId2"/>
              </a:rPr>
              <a:t>progressive web apps</a:t>
            </a:r>
            <a:r>
              <a:rPr lang="en-US" dirty="0"/>
              <a:t> (PWAs).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PWAs provide benefits of mobile experience along with the features of browser technology</a:t>
            </a:r>
            <a:r>
              <a:rPr lang="en-US" dirty="0" smtClean="0"/>
              <a:t>.</a:t>
            </a:r>
          </a:p>
          <a:p>
            <a:r>
              <a:rPr lang="en-US" dirty="0"/>
              <a:t>Gartner had counted PWAs as a software development trend in 2017 and it is likely to continue as a trend in 2019 as these apps are less complex to develop and maintain as compared to conventional mobile apps.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144094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Low-code </a:t>
            </a:r>
            <a:r>
              <a:rPr lang="en-US" b="1" dirty="0" smtClean="0"/>
              <a:t>Development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Even though the low-code development is around only since a short time, the technology has grown faster among the businesses</a:t>
            </a:r>
            <a:r>
              <a:rPr lang="en-US" dirty="0" smtClean="0"/>
              <a:t>.</a:t>
            </a:r>
          </a:p>
          <a:p>
            <a:r>
              <a:rPr lang="en-US" dirty="0" smtClean="0"/>
              <a:t>It </a:t>
            </a:r>
            <a:r>
              <a:rPr lang="en-US" dirty="0"/>
              <a:t>provides a faster way for building and deploying enterprise-grade applications.</a:t>
            </a:r>
          </a:p>
          <a:p>
            <a:r>
              <a:rPr lang="en-US" dirty="0"/>
              <a:t>Recently, a company like Siemens acquired the low-code development company Mendix for $730 million. This clearly shows that low-code development will be a </a:t>
            </a:r>
            <a:r>
              <a:rPr lang="en-US" i="1" dirty="0"/>
              <a:t>software development trend in </a:t>
            </a:r>
            <a:r>
              <a:rPr lang="en-US" i="1" dirty="0" smtClean="0"/>
              <a:t>2019.</a:t>
            </a:r>
          </a:p>
          <a:p>
            <a:r>
              <a:rPr lang="en-US" dirty="0" smtClean="0"/>
              <a:t>It </a:t>
            </a:r>
            <a:r>
              <a:rPr lang="en-US" dirty="0"/>
              <a:t>allows developers to build software without much expertise in coding.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985919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Cybersecurity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According to a research by Alert Logic, 18% of the organizations reported at least one security incident in the last one year. </a:t>
            </a:r>
            <a:endParaRPr lang="en-US" dirty="0" smtClean="0"/>
          </a:p>
          <a:p>
            <a:r>
              <a:rPr lang="en-US" dirty="0" smtClean="0"/>
              <a:t>Protecting </a:t>
            </a:r>
            <a:r>
              <a:rPr lang="en-US" dirty="0"/>
              <a:t>data loss and leakage (67%) is the biggest concern for cybersecurity professionals, followed by threats to data privacy (61%) and breaches of confidentiality (53%).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8498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Essential</Template>
  <TotalTime>1038</TotalTime>
  <Words>3307</Words>
  <Application>Microsoft Office PowerPoint</Application>
  <PresentationFormat>On-screen Show (4:3)</PresentationFormat>
  <Paragraphs>440</Paragraphs>
  <Slides>68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68</vt:i4>
      </vt:variant>
    </vt:vector>
  </HeadingPairs>
  <TitlesOfParts>
    <vt:vector size="77" baseType="lpstr">
      <vt:lpstr>ＭＳ Ｐゴシック</vt:lpstr>
      <vt:lpstr>ＭＳ Ｐゴシック</vt:lpstr>
      <vt:lpstr>Arial</vt:lpstr>
      <vt:lpstr>Arial Black</vt:lpstr>
      <vt:lpstr>Calibri</vt:lpstr>
      <vt:lpstr>times</vt:lpstr>
      <vt:lpstr>Times New Roman</vt:lpstr>
      <vt:lpstr>Wingdings</vt:lpstr>
      <vt:lpstr>Office Theme</vt:lpstr>
      <vt:lpstr>Introduction to Software Engineering</vt:lpstr>
      <vt:lpstr>Outline</vt:lpstr>
      <vt:lpstr>Software Systems</vt:lpstr>
      <vt:lpstr>Challenge in large projects</vt:lpstr>
      <vt:lpstr>Successful software system</vt:lpstr>
      <vt:lpstr>Reason of failure</vt:lpstr>
      <vt:lpstr>Reasons of failure…</vt:lpstr>
      <vt:lpstr>Engineering: other disciplines</vt:lpstr>
      <vt:lpstr>Engineering…</vt:lpstr>
      <vt:lpstr>Large projects</vt:lpstr>
      <vt:lpstr>Large projects…</vt:lpstr>
      <vt:lpstr>Apply engineering approach</vt:lpstr>
      <vt:lpstr>Job of Software Developer is difficult</vt:lpstr>
      <vt:lpstr>Software Engineering Definition</vt:lpstr>
      <vt:lpstr>Software Process</vt:lpstr>
      <vt:lpstr>Process types</vt:lpstr>
      <vt:lpstr>Process Types…</vt:lpstr>
      <vt:lpstr>Multiple processes</vt:lpstr>
      <vt:lpstr>Step in a process</vt:lpstr>
      <vt:lpstr>Process step…</vt:lpstr>
      <vt:lpstr>Characteristics of a good process</vt:lpstr>
      <vt:lpstr>A good process</vt:lpstr>
      <vt:lpstr>A good process…</vt:lpstr>
      <vt:lpstr>Five Activities of a Generic Process framework</vt:lpstr>
      <vt:lpstr>Umbrella Activities</vt:lpstr>
      <vt:lpstr>Adapting a Process Model</vt:lpstr>
      <vt:lpstr>Prescriptive and Agile Process Models</vt:lpstr>
      <vt:lpstr>Software Development Life Cycle models</vt:lpstr>
      <vt:lpstr>Software Development Life Cycle Models</vt:lpstr>
      <vt:lpstr>Waterfall Model</vt:lpstr>
      <vt:lpstr>Waterfall Model</vt:lpstr>
      <vt:lpstr>Relative Effort for Phases</vt:lpstr>
      <vt:lpstr>Deliverables in Waterfall model</vt:lpstr>
      <vt:lpstr>Waterfall Model</vt:lpstr>
      <vt:lpstr>Waterfall Model </vt:lpstr>
      <vt:lpstr>Waterfall Model </vt:lpstr>
      <vt:lpstr>Incremental Model</vt:lpstr>
      <vt:lpstr>Iterative Waterfall Model</vt:lpstr>
      <vt:lpstr>RAD Model</vt:lpstr>
      <vt:lpstr>RAD Model</vt:lpstr>
      <vt:lpstr>Evolutionary Model</vt:lpstr>
      <vt:lpstr>Prototyping Model</vt:lpstr>
      <vt:lpstr>Reasons for developing a prototype</vt:lpstr>
      <vt:lpstr>Prototyping Model (CONT.)</vt:lpstr>
      <vt:lpstr>Prototyping Model (CONT.)</vt:lpstr>
      <vt:lpstr>Prototyping Model (CONT.)</vt:lpstr>
      <vt:lpstr>Prototyping Model (CONT.)</vt:lpstr>
      <vt:lpstr>Prototyping Model (CONT.)</vt:lpstr>
      <vt:lpstr>Prototyping Model (CONT.)</vt:lpstr>
      <vt:lpstr>Spiral Model</vt:lpstr>
      <vt:lpstr>Spiral Model (CONT.)</vt:lpstr>
      <vt:lpstr>Spiral Model (CONT.)</vt:lpstr>
      <vt:lpstr>Objective Setting (First Quadrant)</vt:lpstr>
      <vt:lpstr>Risk Assessment and Reduction (Second Quadrant)</vt:lpstr>
      <vt:lpstr>Spiral Model (CONT.)</vt:lpstr>
      <vt:lpstr>Spiral Model as a meta model</vt:lpstr>
      <vt:lpstr>Comparison of Different Life Cycle Models</vt:lpstr>
      <vt:lpstr>Comparison of Different Life Cycle Models (CONT.)</vt:lpstr>
      <vt:lpstr>Component-based Development Model</vt:lpstr>
      <vt:lpstr>Component-Based Development</vt:lpstr>
      <vt:lpstr>Formal Methods Model </vt:lpstr>
      <vt:lpstr>Formal Methods Model </vt:lpstr>
      <vt:lpstr>Software Development trends to dominate in 2019</vt:lpstr>
      <vt:lpstr>Artificial Intelligence (AI)</vt:lpstr>
      <vt:lpstr>Blockchain Technology</vt:lpstr>
      <vt:lpstr>Progressive Web Apps</vt:lpstr>
      <vt:lpstr>Low-code Development</vt:lpstr>
      <vt:lpstr>Cybersecurity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Software Engineering</dc:title>
  <dc:creator>aa</dc:creator>
  <cp:lastModifiedBy>Windows User</cp:lastModifiedBy>
  <cp:revision>54</cp:revision>
  <dcterms:created xsi:type="dcterms:W3CDTF">2017-01-13T04:57:36Z</dcterms:created>
  <dcterms:modified xsi:type="dcterms:W3CDTF">2019-02-05T22:15:45Z</dcterms:modified>
</cp:coreProperties>
</file>