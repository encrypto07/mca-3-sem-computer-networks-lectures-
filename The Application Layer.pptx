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344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331" r:id="rId15"/>
    <p:sldId id="332" r:id="rId16"/>
    <p:sldId id="333" r:id="rId17"/>
    <p:sldId id="334" r:id="rId18"/>
    <p:sldId id="335" r:id="rId19"/>
    <p:sldId id="336" r:id="rId20"/>
    <p:sldId id="338" r:id="rId21"/>
    <p:sldId id="339" r:id="rId22"/>
    <p:sldId id="343" r:id="rId23"/>
    <p:sldId id="290" r:id="rId24"/>
    <p:sldId id="293" r:id="rId25"/>
    <p:sldId id="294" r:id="rId26"/>
    <p:sldId id="301" r:id="rId27"/>
    <p:sldId id="305" r:id="rId28"/>
    <p:sldId id="306" r:id="rId29"/>
    <p:sldId id="308" r:id="rId30"/>
    <p:sldId id="313" r:id="rId31"/>
    <p:sldId id="317" r:id="rId32"/>
    <p:sldId id="318" r:id="rId33"/>
    <p:sldId id="319" r:id="rId34"/>
    <p:sldId id="320" r:id="rId35"/>
    <p:sldId id="321" r:id="rId36"/>
    <p:sldId id="322" r:id="rId37"/>
    <p:sldId id="32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1C2DD-0A87-4AD5-8E8B-5DE4AC7DBDFD}" type="datetimeFigureOut">
              <a:rPr lang="en-US" smtClean="0"/>
              <a:t>8/5/2018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3AE43-7CF3-430A-9012-2C79E51C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26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76016E1-1FCF-47EE-A1A4-75785A9AEEBD}" type="slidenum">
              <a:rPr lang="en-US" altLang="en-US" sz="130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760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BC648F5-F7E8-40A9-BD27-CDB15166ABF8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570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6C01BB8-87DF-492B-847C-61403DD7F7DA}" type="slidenum">
              <a:rPr lang="en-US" altLang="en-US" sz="130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1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C2FDD44-59DB-4189-87CE-FD3D52C6E4D9}" type="slidenum">
              <a:rPr lang="en-US" altLang="en-US" sz="130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25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6B1EB46-F918-4CBF-BC15-5F06607BD341}" type="slidenum">
              <a:rPr lang="en-US" altLang="en-US" sz="130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709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B5FDCA9-0ADF-4B76-9EB2-F5FA716333F9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240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6214D0-E24F-4771-B490-C6E27CA91B57}" type="slidenum">
              <a:rPr lang="en-US" altLang="en-US" sz="130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368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C149EF-8C77-48BF-A706-ED1D3E00558A}" type="slidenum">
              <a:rPr lang="en-US" altLang="en-US" sz="130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490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3485CF-2ED2-4DBB-8638-351AC2E20C1F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7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E4FF60-E15C-4D2B-9118-EA5823C8D231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738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0D3344-CB02-4361-85B2-2CBF18D8DD62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085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57280E-F839-4F3B-B9EF-1FFF02118BBD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547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C7BCF2-142C-45CD-9440-64BF32159C25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976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EDDE69-645B-4384-B3E2-2FAFE0EB8727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86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DFD64C-696C-4FAB-A76A-970DBA163EC9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98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4CB29F-589C-487A-A335-C75EB0CC118A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686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48CC7B-A50D-4F5A-AC31-3278F9A97115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9132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EABA7A-FE95-40F7-B165-1E23EA6908A6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983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BDFC34-7005-47FD-98C9-BE13CD936371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92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F22448-13B7-4A3A-BFCA-CBB54AC472BE}" type="slidenum">
              <a:rPr lang="en-US" altLang="en-US" sz="13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693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157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A679CD-4807-419A-B642-549BC111C77A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7381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18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C719C4-3878-45BD-94E8-2C5F91C7F515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0308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239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8640408-0E1B-4CFF-A023-7E99ADE9E406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4383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3824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628CDC-7F47-4737-A39C-ADBE3A7018E8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2001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6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3E9C29-E31E-4DE9-A2CA-F058797E48B6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800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8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92EC55-15E9-4583-837B-0141F34F18EB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1099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257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52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10EB614-D87A-4905-A020-763EE9C92573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8400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6281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F0600D7-210E-4393-B1E6-89240C20DB81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7304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101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10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E6930F-A83D-49FA-9DE6-8D8BA1DF83FF}" type="slidenum">
              <a:rPr lang="en-US" altLang="en-US" sz="1300">
                <a:latin typeface="Times New Roman" panose="02020603050405020304" pitchFamily="18" charset="0"/>
              </a:rPr>
              <a:pPr/>
              <a:t>31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3522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305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30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E75B661-DFA4-4BD6-94FB-7382BFCE18C6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072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510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51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4D2AA9-4B64-4A93-8C1C-FB2FFD4A9195}" type="slidenum">
              <a:rPr lang="en-US" altLang="en-US" sz="1300">
                <a:latin typeface="Times New Roman" panose="02020603050405020304" pitchFamily="18" charset="0"/>
              </a:rPr>
              <a:pPr/>
              <a:t>33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3204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715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715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DE4F969-F4A4-4365-8B52-728CF44D1259}" type="slidenum">
              <a:rPr lang="en-US" altLang="en-US" sz="1300">
                <a:latin typeface="Times New Roman" panose="02020603050405020304" pitchFamily="18" charset="0"/>
              </a:rPr>
              <a:pPr/>
              <a:t>34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253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920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7920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DAC270-E738-4087-B898-504AA94A380A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836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125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125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5668717-DCBA-4914-BD27-F1C04A8C95A6}" type="slidenum">
              <a:rPr lang="en-US" altLang="en-US" sz="1300">
                <a:latin typeface="Times New Roman" panose="02020603050405020304" pitchFamily="18" charset="0"/>
              </a:rPr>
              <a:pPr/>
              <a:t>36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3892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329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329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7D6704-A099-4964-A272-C0CEDC79C72B}" type="slidenum">
              <a:rPr lang="en-US" altLang="en-US" sz="1300">
                <a:latin typeface="Times New Roman" panose="02020603050405020304" pitchFamily="18" charset="0"/>
              </a:rPr>
              <a:pPr/>
              <a:t>37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65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062-F977-4BB5-A603-5BE61CF35D98}" type="datetime1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17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505D9-2A02-42A3-96CC-245A05AE5F4D}" type="datetime1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27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04ECF-8B25-46E7-BA54-B953D172DA09}" type="datetime1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8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32DE3-7EB7-446D-82ED-0A869FC2AC91}" type="datetime1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7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BC074-108B-492C-A3A8-420E3022CAC0}" type="datetime1">
              <a:rPr lang="en-US" smtClean="0"/>
              <a:t>8/6/2018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8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45C9-1308-417D-93CB-95E5823EF290}" type="datetime1">
              <a:rPr lang="en-US" smtClean="0"/>
              <a:t>8/6/2018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4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417E8-2762-4FEC-8945-3C073A0E51A4}" type="datetime1">
              <a:rPr lang="en-US" smtClean="0"/>
              <a:t>8/6/2018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7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0BE05-B560-40BE-AD7F-07242CF58EE1}" type="datetime1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0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B03-B93B-4CDB-BF3C-985B53F42A0C}" type="datetime1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17A22-6E6A-4424-88C5-ED72C6441F18}" type="datetime1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8F24D-35FC-4406-A8CF-064303A4F3E5}" type="datetime1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4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00200"/>
            <a:ext cx="508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94400" y="1600200"/>
            <a:ext cx="508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676697-A7AE-43AA-BBBC-FF61CB5BBF5C}" type="datetime1">
              <a:rPr lang="en-US" altLang="en-US" smtClean="0"/>
              <a:t>8/6/2018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8473E3C8-4201-4EE5-956F-9E37814986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863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00200"/>
            <a:ext cx="508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600200"/>
            <a:ext cx="508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D573D6-8EF8-4F70-AEEC-ED46396F1147}" type="datetime1">
              <a:rPr lang="en-US" altLang="en-US" smtClean="0"/>
              <a:t>8/6/2018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64CAC436-ABCF-47EF-BB5A-3F78F54D54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123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600200"/>
            <a:ext cx="103632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200" y="4000500"/>
            <a:ext cx="10363200" cy="22479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925AE0-BCDE-4008-9BC2-64DEC549F5B4}" type="datetime1">
              <a:rPr lang="en-US" altLang="en-US" smtClean="0"/>
              <a:t>8/6/2018</a:t>
            </a:fld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2-</a:t>
            </a:r>
            <a:fld id="{788C94AB-18AD-45EA-848D-2D33485A00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860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FDC69-3F7B-404A-9690-573060ABBC3B}" type="datetime1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C1D7E-1965-4E89-B22F-767A98A97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6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Application Layer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Tulika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6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Creating Network application</a:t>
            </a:r>
          </a:p>
          <a:p>
            <a:r>
              <a:rPr lang="en-US" dirty="0" smtClean="0"/>
              <a:t>Application architecture</a:t>
            </a:r>
          </a:p>
          <a:p>
            <a:r>
              <a:rPr lang="en-US" dirty="0" smtClean="0"/>
              <a:t>Sockets</a:t>
            </a:r>
          </a:p>
          <a:p>
            <a:r>
              <a:rPr lang="en-US" dirty="0" smtClean="0"/>
              <a:t>HTTP</a:t>
            </a:r>
          </a:p>
          <a:p>
            <a:r>
              <a:rPr lang="en-US" dirty="0" smtClean="0"/>
              <a:t>Cookies</a:t>
            </a:r>
          </a:p>
          <a:p>
            <a:r>
              <a:rPr lang="en-US" dirty="0" smtClean="0"/>
              <a:t>Proxy server</a:t>
            </a:r>
          </a:p>
          <a:p>
            <a:r>
              <a:rPr lang="en-US" dirty="0" smtClean="0"/>
              <a:t>FTP</a:t>
            </a:r>
          </a:p>
          <a:p>
            <a:r>
              <a:rPr lang="en-US" dirty="0" smtClean="0"/>
              <a:t>E-mail</a:t>
            </a:r>
          </a:p>
          <a:p>
            <a:r>
              <a:rPr lang="en-US" dirty="0" smtClean="0"/>
              <a:t>DNS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63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Some network apps</a:t>
            </a:r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611313"/>
            <a:ext cx="7112726" cy="46482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400" dirty="0"/>
              <a:t>e-mail</a:t>
            </a:r>
          </a:p>
          <a:p>
            <a:r>
              <a:rPr lang="en-US" altLang="en-US" sz="2400" dirty="0"/>
              <a:t>web</a:t>
            </a:r>
          </a:p>
          <a:p>
            <a:r>
              <a:rPr lang="en-US" altLang="en-US" sz="2400" dirty="0"/>
              <a:t>text messaging</a:t>
            </a:r>
          </a:p>
          <a:p>
            <a:r>
              <a:rPr lang="en-US" altLang="en-US" sz="2400" dirty="0"/>
              <a:t>remote login</a:t>
            </a:r>
          </a:p>
          <a:p>
            <a:r>
              <a:rPr lang="en-US" altLang="en-US" sz="2400" dirty="0"/>
              <a:t>P2P file sharing</a:t>
            </a:r>
          </a:p>
          <a:p>
            <a:r>
              <a:rPr lang="en-US" altLang="en-US" sz="2400" dirty="0"/>
              <a:t>multi-user network games</a:t>
            </a:r>
          </a:p>
          <a:p>
            <a:r>
              <a:rPr lang="en-US" altLang="en-US" sz="2400" dirty="0"/>
              <a:t>streaming stored </a:t>
            </a:r>
            <a:r>
              <a:rPr lang="en-US" altLang="en-US" sz="2400" dirty="0" smtClean="0"/>
              <a:t>video (YouTube</a:t>
            </a:r>
            <a:r>
              <a:rPr lang="en-US" altLang="en-US" sz="2400" dirty="0"/>
              <a:t>, Hulu, Netflix) </a:t>
            </a:r>
          </a:p>
          <a:p>
            <a:r>
              <a:rPr lang="en-US" altLang="en-US" sz="2400" dirty="0" smtClean="0"/>
              <a:t>voice over IP (e.g., Skype)</a:t>
            </a:r>
          </a:p>
          <a:p>
            <a:r>
              <a:rPr lang="en-US" altLang="en-US" sz="2400" dirty="0" smtClean="0"/>
              <a:t>real-time video conferencing</a:t>
            </a:r>
          </a:p>
          <a:p>
            <a:r>
              <a:rPr lang="en-US" altLang="en-US" sz="2400" dirty="0" smtClean="0"/>
              <a:t>social networking</a:t>
            </a:r>
          </a:p>
          <a:p>
            <a:r>
              <a:rPr lang="en-US" altLang="en-US" sz="2400" dirty="0" smtClean="0"/>
              <a:t>search</a:t>
            </a:r>
          </a:p>
          <a:p>
            <a:r>
              <a:rPr lang="en-US" altLang="en-US" sz="2400" dirty="0" smtClean="0"/>
              <a:t>…</a:t>
            </a:r>
          </a:p>
          <a:p>
            <a:r>
              <a:rPr lang="en-US" altLang="en-US" sz="2400" dirty="0" smtClean="0"/>
              <a:t>…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9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3" name="Group 1037"/>
          <p:cNvGrpSpPr>
            <a:grpSpLocks/>
          </p:cNvGrpSpPr>
          <p:nvPr/>
        </p:nvGrpSpPr>
        <p:grpSpPr bwMode="auto">
          <a:xfrm>
            <a:off x="6648451" y="1257301"/>
            <a:ext cx="3540125" cy="4545013"/>
            <a:chOff x="3277" y="974"/>
            <a:chExt cx="2230" cy="2863"/>
          </a:xfrm>
        </p:grpSpPr>
        <p:sp>
          <p:nvSpPr>
            <p:cNvPr id="56356" name="Freeform 1038"/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1314 w 1036"/>
                <a:gd name="T1" fmla="*/ 11 h 675"/>
                <a:gd name="T2" fmla="*/ 793 w 1036"/>
                <a:gd name="T3" fmla="*/ 53 h 675"/>
                <a:gd name="T4" fmla="*/ 419 w 1036"/>
                <a:gd name="T5" fmla="*/ 129 h 675"/>
                <a:gd name="T6" fmla="*/ 312 w 1036"/>
                <a:gd name="T7" fmla="*/ 229 h 675"/>
                <a:gd name="T8" fmla="*/ 43 w 1036"/>
                <a:gd name="T9" fmla="*/ 297 h 675"/>
                <a:gd name="T10" fmla="*/ 35 w 1036"/>
                <a:gd name="T11" fmla="*/ 459 h 675"/>
                <a:gd name="T12" fmla="*/ 267 w 1036"/>
                <a:gd name="T13" fmla="*/ 489 h 675"/>
                <a:gd name="T14" fmla="*/ 932 w 1036"/>
                <a:gd name="T15" fmla="*/ 489 h 675"/>
                <a:gd name="T16" fmla="*/ 1213 w 1036"/>
                <a:gd name="T17" fmla="*/ 555 h 675"/>
                <a:gd name="T18" fmla="*/ 1527 w 1036"/>
                <a:gd name="T19" fmla="*/ 657 h 675"/>
                <a:gd name="T20" fmla="*/ 1766 w 1036"/>
                <a:gd name="T21" fmla="*/ 661 h 675"/>
                <a:gd name="T22" fmla="*/ 1931 w 1036"/>
                <a:gd name="T23" fmla="*/ 603 h 675"/>
                <a:gd name="T24" fmla="*/ 2015 w 1036"/>
                <a:gd name="T25" fmla="*/ 445 h 675"/>
                <a:gd name="T26" fmla="*/ 2067 w 1036"/>
                <a:gd name="T27" fmla="*/ 291 h 675"/>
                <a:gd name="T28" fmla="*/ 2073 w 1036"/>
                <a:gd name="T29" fmla="*/ 107 h 675"/>
                <a:gd name="T30" fmla="*/ 1895 w 1036"/>
                <a:gd name="T31" fmla="*/ 17 h 675"/>
                <a:gd name="T32" fmla="*/ 1574 w 1036"/>
                <a:gd name="T33" fmla="*/ 3 h 675"/>
                <a:gd name="T34" fmla="*/ 1314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357" name="Group 1039"/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56732" name="Rectangle 1040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733" name="AutoShape 1041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56358" name="Freeform 1042"/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9" name="Line 1043"/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0" name="Line 1044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1" name="Line 1045"/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62" name="Line 1047"/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3" name="Line 1048"/>
            <p:cNvSpPr>
              <a:spLocks noChangeShapeType="1"/>
            </p:cNvSpPr>
            <p:nvPr/>
          </p:nvSpPr>
          <p:spPr bwMode="auto">
            <a:xfrm flipV="1">
              <a:off x="3680" y="3155"/>
              <a:ext cx="248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4" name="Line 1051"/>
            <p:cNvSpPr>
              <a:spLocks noChangeShapeType="1"/>
            </p:cNvSpPr>
            <p:nvPr/>
          </p:nvSpPr>
          <p:spPr bwMode="auto">
            <a:xfrm flipH="1">
              <a:off x="3948" y="3208"/>
              <a:ext cx="96" cy="11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5" name="Line 1052"/>
            <p:cNvSpPr>
              <a:spLocks noChangeShapeType="1"/>
            </p:cNvSpPr>
            <p:nvPr/>
          </p:nvSpPr>
          <p:spPr bwMode="auto">
            <a:xfrm flipH="1" flipV="1">
              <a:off x="4144" y="3212"/>
              <a:ext cx="53" cy="11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6" name="Line 1053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7" name="Line 1054"/>
            <p:cNvSpPr>
              <a:spLocks noChangeShapeType="1"/>
            </p:cNvSpPr>
            <p:nvPr/>
          </p:nvSpPr>
          <p:spPr bwMode="auto">
            <a:xfrm>
              <a:off x="3898" y="3025"/>
              <a:ext cx="56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8" name="Line 1055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9" name="Line 1056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370" name="Group 1057"/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56730" name="Picture 1058" descr="access_point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731" name="Picture 1059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6371" name="Freeform 1060"/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2" name="Freeform 1061"/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42311 w 765"/>
                <a:gd name="T1" fmla="*/ 2813 h 459"/>
                <a:gd name="T2" fmla="*/ 28673 w 765"/>
                <a:gd name="T3" fmla="*/ 19976 h 459"/>
                <a:gd name="T4" fmla="*/ 9592 w 765"/>
                <a:gd name="T5" fmla="*/ 28431 h 459"/>
                <a:gd name="T6" fmla="*/ 1371 w 765"/>
                <a:gd name="T7" fmla="*/ 95805 h 459"/>
                <a:gd name="T8" fmla="*/ 17940 w 765"/>
                <a:gd name="T9" fmla="*/ 126584 h 459"/>
                <a:gd name="T10" fmla="*/ 34487 w 765"/>
                <a:gd name="T11" fmla="*/ 121332 h 459"/>
                <a:gd name="T12" fmla="*/ 58210 w 765"/>
                <a:gd name="T13" fmla="*/ 126584 h 459"/>
                <a:gd name="T14" fmla="*/ 69657 w 765"/>
                <a:gd name="T15" fmla="*/ 123646 h 459"/>
                <a:gd name="T16" fmla="*/ 74979 w 765"/>
                <a:gd name="T17" fmla="*/ 106087 h 459"/>
                <a:gd name="T18" fmla="*/ 74848 w 765"/>
                <a:gd name="T19" fmla="*/ 45030 h 459"/>
                <a:gd name="T20" fmla="*/ 66057 w 765"/>
                <a:gd name="T21" fmla="*/ 9823 h 459"/>
                <a:gd name="T22" fmla="*/ 42311 w 765"/>
                <a:gd name="T23" fmla="*/ 2813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3" name="Line 1062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4" name="Line 1063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5" name="Line 1064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6" name="Line 1065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7" name="Line 1066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8" name="Line 1067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9" name="Line 1068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0" name="Line 1069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1" name="Line 1070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2" name="Line 1071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3" name="Line 1072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4" name="Line 1073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5" name="Line 1074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6" name="Line 1075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7" name="Line 1076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8" name="Line 1077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89" name="Line 1078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390" name="Group 1079"/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56713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14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15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16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17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18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19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0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1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2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3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4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5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6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7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728" name="Oval 1095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pic>
            <p:nvPicPr>
              <p:cNvPr id="56729" name="Picture 1096" descr="cell_tower_radiation_gray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6391" name="Group 1097"/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56704" name="Line 1098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05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706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707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708" name="Group 1102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56711" name="Freeform 110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712" name="Freeform 110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709" name="Line 1105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10" name="Line 1106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392" name="Group 1107"/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5669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9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9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99" name="Group 111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702" name="Freeform 111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703" name="Freeform 111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700" name="Line 111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01" name="Line 111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393" name="Group 1116"/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5668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8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9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91" name="Group 112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94" name="Freeform 112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95" name="Freeform 112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92" name="Line 112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93" name="Line 112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394" name="Group 1125"/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5668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8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8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83" name="Group 112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86" name="Freeform 113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87" name="Freeform 113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84" name="Line 113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85" name="Line 113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395" name="Group 1134"/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5667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7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7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75" name="Group 113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78" name="Freeform 113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79" name="Freeform 114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76" name="Line 114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77" name="Line 114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396" name="Group 1143"/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5666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6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6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67" name="Group 114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70" name="Freeform 11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71" name="Freeform 11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68" name="Line 115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69" name="Line 115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6397" name="Line 1152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398" name="Group 1153"/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5665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5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5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59" name="Group 115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62" name="Freeform 115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63" name="Freeform 115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60" name="Line 116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61" name="Line 116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399" name="Group 1162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5664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4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5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51" name="Group 116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54" name="Freeform 116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55" name="Freeform 116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52" name="Line 116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53" name="Line 117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00" name="Group 1171"/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5664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4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4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43" name="Group 117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46" name="Freeform 117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47" name="Freeform 117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44" name="Line 117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45" name="Line 117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01" name="Group 1180"/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5663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3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3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35" name="Group 118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38" name="Freeform 118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39" name="Freeform 118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36" name="Line 118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37" name="Line 118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02" name="Group 1189"/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5662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2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2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27" name="Group 119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30" name="Freeform 119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31" name="Freeform 119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28" name="Line 119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29" name="Line 119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03" name="Group 1198"/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5661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1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61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619" name="Group 120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56622" name="Freeform 120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23" name="Freeform 120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620" name="Line 120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21" name="Line 120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04" name="Group 1207"/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56602" name="Group 1208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56604" name="Freeform 1209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05" name="Freeform 1210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06" name="Freeform 1211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07" name="Freeform 1212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08" name="Freeform 1213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09" name="Freeform 1214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10" name="Freeform 1215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11" name="Freeform 1216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12" name="Freeform 1217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13" name="Freeform 1218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14" name="Freeform 1219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15" name="Freeform 1220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56603" name="Picture 1221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6405" name="Group 1222"/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56588" name="Group 1223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56590" name="Freeform 1224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1" name="Freeform 1225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2" name="Freeform 1226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3" name="Freeform 1227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4" name="Freeform 1228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5" name="Freeform 1229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6" name="Freeform 1230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7" name="Freeform 1231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8" name="Freeform 1232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99" name="Freeform 1233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00" name="Freeform 1234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601" name="Freeform 1235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56589" name="Picture 1236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6406" name="Line 1237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6407" name="Group 1238"/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56586" name="Picture 123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587" name="Freeform 1240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6408" name="Group 1241"/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56584" name="Picture 12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585" name="Freeform 124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6409" name="Group 1244"/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56582" name="Picture 12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583" name="Freeform 1246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6410" name="Group 1247"/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56580" name="Picture 124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581" name="Freeform 124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56411" name="Picture 1250" descr="car_icon_small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6412" name="Group 1251"/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56578" name="Picture 1252" descr="iphone_stylized_small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579" name="Picture 1253" descr="antenna_radiation_stylized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6413" name="Group 1254"/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56546" name="Freeform 1255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47" name="Rectangle 1256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48" name="Freeform 1257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49" name="Freeform 1258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50" name="Rectangle 1259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6551" name="Group 1260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6576" name="AutoShape 126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6577" name="AutoShape 1262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6552" name="Rectangle 1263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6553" name="Group 1264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6574" name="AutoShape 1265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6575" name="AutoShape 1266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6554" name="Rectangle 1267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55" name="Rectangle 1268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6556" name="Group 1269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6572" name="AutoShape 1270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6573" name="AutoShape 1271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6557" name="Freeform 1272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558" name="Group 1273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6570" name="AutoShape 1274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6571" name="AutoShape 1275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6559" name="Rectangle 1276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60" name="Freeform 1277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61" name="Freeform 1278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62" name="Oval 1279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63" name="Freeform 1280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64" name="AutoShape 1281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65" name="AutoShape 1282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66" name="Oval 1283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67" name="Oval 1284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56568" name="Oval 1285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69" name="Rectangle 1286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56414" name="Group 1287"/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56514" name="Freeform 1288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15" name="Rectangle 1289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16" name="Freeform 1290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17" name="Freeform 1291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18" name="Rectangle 1292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6519" name="Group 1293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6544" name="AutoShape 1294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6545" name="AutoShape 1295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6520" name="Rectangle 1296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6521" name="Group 1297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6542" name="AutoShape 1298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6543" name="AutoShape 1299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6522" name="Rectangle 1300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23" name="Rectangle 1301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6524" name="Group 1302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6540" name="AutoShape 1303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6541" name="AutoShape 1304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6525" name="Freeform 1305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526" name="Group 1306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6538" name="AutoShape 130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6539" name="AutoShape 1308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56527" name="Rectangle 1309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28" name="Freeform 1310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29" name="Freeform 1311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30" name="Oval 1312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31" name="Freeform 1313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32" name="AutoShape 1314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33" name="AutoShape 1315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34" name="Oval 1316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35" name="Oval 1317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56536" name="Oval 1318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537" name="Rectangle 1319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56415" name="Group 1320"/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56491" name="Picture 1321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492" name="Picture 1322" descr="laptop_keyboar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93" name="Freeform 1323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6494" name="Picture 1324" descr="screen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95" name="Freeform 1325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96" name="Freeform 1326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97" name="Freeform 1327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98" name="Freeform 1328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99" name="Freeform 1329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00" name="Freeform 1330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501" name="Group 1331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6508" name="Freeform 1332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09" name="Freeform 1333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10" name="Freeform 1334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11" name="Freeform 1335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12" name="Freeform 1336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513" name="Freeform 1337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502" name="Freeform 1338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03" name="Freeform 1339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04" name="Freeform 1340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05" name="Freeform 1341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06" name="Freeform 1342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07" name="Freeform 1343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16" name="Group 1344"/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56468" name="Picture 1345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469" name="Picture 1346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70" name="Freeform 134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6471" name="Picture 1348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72" name="Freeform 134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73" name="Freeform 135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74" name="Freeform 135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75" name="Freeform 135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76" name="Freeform 135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77" name="Freeform 135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478" name="Group 135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6485" name="Freeform 135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86" name="Freeform 135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87" name="Freeform 135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88" name="Freeform 135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89" name="Freeform 136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90" name="Freeform 136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479" name="Freeform 136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80" name="Freeform 136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81" name="Freeform 136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82" name="Freeform 136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83" name="Freeform 136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84" name="Freeform 136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17" name="Group 1368"/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56445" name="Picture 1369" descr="antenna_stylized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446" name="Picture 1370" descr="laptop_keyboard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47" name="Freeform 1371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6448" name="Picture 1372" descr="screen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49" name="Freeform 1373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50" name="Freeform 1374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51" name="Freeform 1375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52" name="Freeform 1376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53" name="Freeform 1377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54" name="Freeform 1378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455" name="Group 1379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6462" name="Freeform 1380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63" name="Freeform 1381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64" name="Freeform 1382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65" name="Freeform 1383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66" name="Freeform 1384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67" name="Freeform 1385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456" name="Freeform 1386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57" name="Freeform 1387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58" name="Freeform 1388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59" name="Freeform 1389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60" name="Freeform 1390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61" name="Freeform 1391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6418" name="Group 1392"/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56443" name="Picture 139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44" name="Freeform 139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6419" name="Group 1395"/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56420" name="Picture 1396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6421" name="Picture 1397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22" name="Freeform 1398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56423" name="Picture 1399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424" name="Freeform 1400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25" name="Freeform 1401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26" name="Freeform 1402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27" name="Freeform 1403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28" name="Freeform 1404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29" name="Freeform 1405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6430" name="Group 1406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6437" name="Freeform 1407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8" name="Freeform 1408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39" name="Freeform 1409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0" name="Freeform 1410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1" name="Freeform 1411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442" name="Freeform 1412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6431" name="Freeform 1413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32" name="Freeform 1414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33" name="Freeform 1415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34" name="Freeform 1416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35" name="Freeform 1417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36" name="Freeform 1418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729" name="Line 913"/>
          <p:cNvSpPr>
            <a:spLocks noChangeShapeType="1"/>
          </p:cNvSpPr>
          <p:nvPr/>
        </p:nvSpPr>
        <p:spPr bwMode="auto">
          <a:xfrm>
            <a:off x="8374064" y="3786189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727" name="Line 911"/>
          <p:cNvSpPr>
            <a:spLocks noChangeShapeType="1"/>
          </p:cNvSpPr>
          <p:nvPr/>
        </p:nvSpPr>
        <p:spPr bwMode="auto">
          <a:xfrm>
            <a:off x="8469313" y="660400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19275" y="0"/>
            <a:ext cx="8382000" cy="1041400"/>
          </a:xfrm>
        </p:spPr>
        <p:txBody>
          <a:bodyPr/>
          <a:lstStyle/>
          <a:p>
            <a:r>
              <a:rPr lang="en-US" altLang="en-US" sz="4000"/>
              <a:t>Creating a network app</a:t>
            </a:r>
          </a:p>
        </p:txBody>
      </p:sp>
      <p:sp>
        <p:nvSpPr>
          <p:cNvPr id="5632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47875" y="1116014"/>
            <a:ext cx="4191000" cy="511492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CC0000"/>
                </a:solidFill>
              </a:rPr>
              <a:t>write programs that:</a:t>
            </a:r>
          </a:p>
          <a:p>
            <a:r>
              <a:rPr lang="en-US" altLang="en-US" sz="2400"/>
              <a:t>run on (different) </a:t>
            </a:r>
            <a:r>
              <a:rPr lang="en-US" altLang="en-US" sz="2400" i="1"/>
              <a:t>end systems</a:t>
            </a:r>
          </a:p>
          <a:p>
            <a:r>
              <a:rPr lang="en-US" altLang="en-US" sz="2400"/>
              <a:t>communicate over network</a:t>
            </a:r>
          </a:p>
          <a:p>
            <a:r>
              <a:rPr lang="en-US" altLang="en-US" sz="2400"/>
              <a:t>e.g., web server software communicates with browser software</a:t>
            </a:r>
          </a:p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CC0000"/>
                </a:solidFill>
              </a:rPr>
              <a:t>no need to write software for network-core devices</a:t>
            </a:r>
          </a:p>
          <a:p>
            <a:r>
              <a:rPr lang="en-US" altLang="en-US" sz="2400"/>
              <a:t>network-core devices do not run user applications </a:t>
            </a:r>
          </a:p>
          <a:p>
            <a:r>
              <a:rPr lang="en-US" altLang="en-US" sz="2400"/>
              <a:t>applications on end systems  allows for rapid app development, propagation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>
              <a:solidFill>
                <a:srgbClr val="FF0000"/>
              </a:solidFill>
            </a:endParaRPr>
          </a:p>
        </p:txBody>
      </p:sp>
      <p:grpSp>
        <p:nvGrpSpPr>
          <p:cNvPr id="35725" name="Group 618"/>
          <p:cNvGrpSpPr>
            <a:grpSpLocks/>
          </p:cNvGrpSpPr>
          <p:nvPr/>
        </p:nvGrpSpPr>
        <p:grpSpPr bwMode="auto">
          <a:xfrm>
            <a:off x="7381876" y="503238"/>
            <a:ext cx="1044575" cy="965200"/>
            <a:chOff x="4047" y="420"/>
            <a:chExt cx="658" cy="608"/>
          </a:xfrm>
        </p:grpSpPr>
        <p:sp>
          <p:nvSpPr>
            <p:cNvPr id="56348" name="Rectangle 227"/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49" name="Rectangle 228"/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50" name="Rectangle 229"/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51" name="Text Box 230"/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bg1"/>
                  </a:solidFill>
                </a:rPr>
                <a:t>application</a:t>
              </a:r>
              <a:endParaRPr lang="en-US" altLang="en-US" sz="1000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transport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physical</a:t>
              </a:r>
              <a:endParaRPr lang="en-US" altLang="en-US" sz="2400"/>
            </a:p>
          </p:txBody>
        </p:sp>
        <p:sp>
          <p:nvSpPr>
            <p:cNvPr id="56352" name="Line 231"/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53" name="Line 232"/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54" name="Line 233"/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55" name="Freeform 917"/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726" name="Group 619"/>
          <p:cNvGrpSpPr>
            <a:grpSpLocks/>
          </p:cNvGrpSpPr>
          <p:nvPr/>
        </p:nvGrpSpPr>
        <p:grpSpPr bwMode="auto">
          <a:xfrm>
            <a:off x="9480551" y="4087813"/>
            <a:ext cx="1044575" cy="965200"/>
            <a:chOff x="4047" y="420"/>
            <a:chExt cx="658" cy="608"/>
          </a:xfrm>
        </p:grpSpPr>
        <p:sp>
          <p:nvSpPr>
            <p:cNvPr id="56340" name="Rectangle 227"/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41" name="Rectangle 228"/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42" name="Rectangle 229"/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43" name="Text Box 230"/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bg1"/>
                  </a:solidFill>
                </a:rPr>
                <a:t>application</a:t>
              </a:r>
              <a:endParaRPr lang="en-US" altLang="en-US" sz="1000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transport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physical</a:t>
              </a:r>
              <a:endParaRPr lang="en-US" altLang="en-US" sz="2400"/>
            </a:p>
          </p:txBody>
        </p:sp>
        <p:sp>
          <p:nvSpPr>
            <p:cNvPr id="56344" name="Line 231"/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45" name="Line 232"/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46" name="Line 233"/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47" name="Freeform 917"/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728" name="Group 628"/>
          <p:cNvGrpSpPr>
            <a:grpSpLocks/>
          </p:cNvGrpSpPr>
          <p:nvPr/>
        </p:nvGrpSpPr>
        <p:grpSpPr bwMode="auto">
          <a:xfrm>
            <a:off x="7339014" y="3651250"/>
            <a:ext cx="1044575" cy="965200"/>
            <a:chOff x="4047" y="420"/>
            <a:chExt cx="658" cy="608"/>
          </a:xfrm>
        </p:grpSpPr>
        <p:sp>
          <p:nvSpPr>
            <p:cNvPr id="56332" name="Rectangle 227"/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33" name="Rectangle 228"/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34" name="Rectangle 229"/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56335" name="Text Box 230"/>
            <p:cNvSpPr txBox="1">
              <a:spLocks noChangeArrowheads="1"/>
            </p:cNvSpPr>
            <p:nvPr/>
          </p:nvSpPr>
          <p:spPr bwMode="auto">
            <a:xfrm>
              <a:off x="4192" y="420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>
                  <a:solidFill>
                    <a:schemeClr val="bg1"/>
                  </a:solidFill>
                </a:rPr>
                <a:t>application</a:t>
              </a:r>
              <a:endParaRPr lang="en-US" altLang="en-US" sz="1000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transport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network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data link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00"/>
                <a:t>physical</a:t>
              </a:r>
              <a:endParaRPr lang="en-US" altLang="en-US" sz="2400"/>
            </a:p>
          </p:txBody>
        </p:sp>
        <p:sp>
          <p:nvSpPr>
            <p:cNvPr id="56336" name="Line 231"/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37" name="Line 232"/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38" name="Line 233"/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39" name="Freeform 917"/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7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0" y="207964"/>
            <a:ext cx="7772400" cy="1030287"/>
          </a:xfrm>
        </p:spPr>
        <p:txBody>
          <a:bodyPr/>
          <a:lstStyle/>
          <a:p>
            <a:r>
              <a:rPr lang="en-US" altLang="en-US" smtClean="0"/>
              <a:t>Application architectures</a:t>
            </a: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000099"/>
                </a:solidFill>
              </a:rPr>
              <a:t>possible structure of applications:</a:t>
            </a:r>
          </a:p>
          <a:p>
            <a:r>
              <a:rPr lang="en-US" altLang="en-US" smtClean="0"/>
              <a:t>client-server</a:t>
            </a:r>
          </a:p>
          <a:p>
            <a:r>
              <a:rPr lang="en-US" altLang="en-US" smtClean="0"/>
              <a:t>peer-to-peer (P2P)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1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9" name="Group 582"/>
          <p:cNvGrpSpPr>
            <a:grpSpLocks/>
          </p:cNvGrpSpPr>
          <p:nvPr/>
        </p:nvGrpSpPr>
        <p:grpSpPr bwMode="auto">
          <a:xfrm>
            <a:off x="2066926" y="1492251"/>
            <a:ext cx="3540125" cy="4545013"/>
            <a:chOff x="3277" y="974"/>
            <a:chExt cx="2230" cy="2863"/>
          </a:xfrm>
        </p:grpSpPr>
        <p:sp>
          <p:nvSpPr>
            <p:cNvPr id="60426" name="Freeform 583"/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1314 w 1036"/>
                <a:gd name="T1" fmla="*/ 11 h 675"/>
                <a:gd name="T2" fmla="*/ 793 w 1036"/>
                <a:gd name="T3" fmla="*/ 53 h 675"/>
                <a:gd name="T4" fmla="*/ 419 w 1036"/>
                <a:gd name="T5" fmla="*/ 129 h 675"/>
                <a:gd name="T6" fmla="*/ 312 w 1036"/>
                <a:gd name="T7" fmla="*/ 229 h 675"/>
                <a:gd name="T8" fmla="*/ 43 w 1036"/>
                <a:gd name="T9" fmla="*/ 297 h 675"/>
                <a:gd name="T10" fmla="*/ 35 w 1036"/>
                <a:gd name="T11" fmla="*/ 459 h 675"/>
                <a:gd name="T12" fmla="*/ 267 w 1036"/>
                <a:gd name="T13" fmla="*/ 489 h 675"/>
                <a:gd name="T14" fmla="*/ 932 w 1036"/>
                <a:gd name="T15" fmla="*/ 489 h 675"/>
                <a:gd name="T16" fmla="*/ 1213 w 1036"/>
                <a:gd name="T17" fmla="*/ 555 h 675"/>
                <a:gd name="T18" fmla="*/ 1527 w 1036"/>
                <a:gd name="T19" fmla="*/ 657 h 675"/>
                <a:gd name="T20" fmla="*/ 1766 w 1036"/>
                <a:gd name="T21" fmla="*/ 661 h 675"/>
                <a:gd name="T22" fmla="*/ 1931 w 1036"/>
                <a:gd name="T23" fmla="*/ 603 h 675"/>
                <a:gd name="T24" fmla="*/ 2015 w 1036"/>
                <a:gd name="T25" fmla="*/ 445 h 675"/>
                <a:gd name="T26" fmla="*/ 2067 w 1036"/>
                <a:gd name="T27" fmla="*/ 291 h 675"/>
                <a:gd name="T28" fmla="*/ 2073 w 1036"/>
                <a:gd name="T29" fmla="*/ 107 h 675"/>
                <a:gd name="T30" fmla="*/ 1895 w 1036"/>
                <a:gd name="T31" fmla="*/ 17 h 675"/>
                <a:gd name="T32" fmla="*/ 1574 w 1036"/>
                <a:gd name="T33" fmla="*/ 3 h 675"/>
                <a:gd name="T34" fmla="*/ 1314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427" name="Group 584"/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60801" name="Rectangle 585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802" name="AutoShape 586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60428" name="Freeform 587"/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29" name="Line 588"/>
            <p:cNvSpPr>
              <a:spLocks noChangeShapeType="1"/>
            </p:cNvSpPr>
            <p:nvPr/>
          </p:nvSpPr>
          <p:spPr bwMode="auto">
            <a:xfrm rot="16200000" flipV="1">
              <a:off x="4915" y="3313"/>
              <a:ext cx="285" cy="11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0" name="Line 589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1" name="Line 590"/>
            <p:cNvSpPr>
              <a:spLocks noChangeShapeType="1"/>
            </p:cNvSpPr>
            <p:nvPr/>
          </p:nvSpPr>
          <p:spPr bwMode="auto">
            <a:xfrm rot="16200000" flipH="1">
              <a:off x="5116" y="3190"/>
              <a:ext cx="96" cy="4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2" name="Line 592"/>
            <p:cNvSpPr>
              <a:spLocks noChangeShapeType="1"/>
            </p:cNvSpPr>
            <p:nvPr/>
          </p:nvSpPr>
          <p:spPr bwMode="auto">
            <a:xfrm>
              <a:off x="3843" y="3009"/>
              <a:ext cx="94" cy="10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3" name="Line 593"/>
            <p:cNvSpPr>
              <a:spLocks noChangeShapeType="1"/>
            </p:cNvSpPr>
            <p:nvPr/>
          </p:nvSpPr>
          <p:spPr bwMode="auto">
            <a:xfrm flipV="1">
              <a:off x="3680" y="3150"/>
              <a:ext cx="261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4" name="Line 596"/>
            <p:cNvSpPr>
              <a:spLocks noChangeShapeType="1"/>
            </p:cNvSpPr>
            <p:nvPr/>
          </p:nvSpPr>
          <p:spPr bwMode="auto">
            <a:xfrm flipH="1">
              <a:off x="3948" y="3209"/>
              <a:ext cx="98" cy="1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5" name="Line 597"/>
            <p:cNvSpPr>
              <a:spLocks noChangeShapeType="1"/>
            </p:cNvSpPr>
            <p:nvPr/>
          </p:nvSpPr>
          <p:spPr bwMode="auto">
            <a:xfrm flipH="1" flipV="1">
              <a:off x="4132" y="3213"/>
              <a:ext cx="65" cy="10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6" name="Line 598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7" name="Line 600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38" name="Line 601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439" name="Group 602"/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60799" name="Picture 603" descr="access_point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800" name="Picture 604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0440" name="Freeform 605"/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1" name="Freeform 606"/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42311 w 765"/>
                <a:gd name="T1" fmla="*/ 2813 h 459"/>
                <a:gd name="T2" fmla="*/ 28673 w 765"/>
                <a:gd name="T3" fmla="*/ 19976 h 459"/>
                <a:gd name="T4" fmla="*/ 9592 w 765"/>
                <a:gd name="T5" fmla="*/ 28431 h 459"/>
                <a:gd name="T6" fmla="*/ 1371 w 765"/>
                <a:gd name="T7" fmla="*/ 95805 h 459"/>
                <a:gd name="T8" fmla="*/ 17940 w 765"/>
                <a:gd name="T9" fmla="*/ 126584 h 459"/>
                <a:gd name="T10" fmla="*/ 34487 w 765"/>
                <a:gd name="T11" fmla="*/ 121332 h 459"/>
                <a:gd name="T12" fmla="*/ 58210 w 765"/>
                <a:gd name="T13" fmla="*/ 126584 h 459"/>
                <a:gd name="T14" fmla="*/ 69657 w 765"/>
                <a:gd name="T15" fmla="*/ 123646 h 459"/>
                <a:gd name="T16" fmla="*/ 74979 w 765"/>
                <a:gd name="T17" fmla="*/ 106087 h 459"/>
                <a:gd name="T18" fmla="*/ 74848 w 765"/>
                <a:gd name="T19" fmla="*/ 45030 h 459"/>
                <a:gd name="T20" fmla="*/ 66057 w 765"/>
                <a:gd name="T21" fmla="*/ 9823 h 459"/>
                <a:gd name="T22" fmla="*/ 42311 w 765"/>
                <a:gd name="T23" fmla="*/ 2813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2" name="Line 607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3" name="Line 608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4" name="Line 609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5" name="Line 610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6" name="Line 611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7" name="Line 612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8" name="Line 613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9" name="Line 614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0" name="Line 615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1" name="Line 616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2" name="Line 617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3" name="Line 618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4" name="Line 619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5" name="Line 620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6" name="Line 621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7" name="Line 622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8" name="Line 623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459" name="Group 624"/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60782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83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84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85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86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87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88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89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90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91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92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93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94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95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96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0797" name="Oval 640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pic>
            <p:nvPicPr>
              <p:cNvPr id="60798" name="Picture 641" descr="cell_tower_radiation_gray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0460" name="Group 642"/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60773" name="Line 643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74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75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76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77" name="Group 647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60780" name="Freeform 6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81" name="Freeform 6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78" name="Line 650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79" name="Line 651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61" name="Group 652"/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6076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6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6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68" name="Group 65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71" name="Freeform 65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72" name="Freeform 65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69" name="Line 65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70" name="Line 66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62" name="Group 661"/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6075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5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5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60" name="Group 66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63" name="Freeform 66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64" name="Freeform 66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61" name="Line 66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62" name="Line 66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63" name="Group 670"/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6074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5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5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52" name="Group 67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55" name="Freeform 67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56" name="Freeform 67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53" name="Line 67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54" name="Line 67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64" name="Group 679"/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6074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4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4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44" name="Group 68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47" name="Freeform 68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48" name="Freeform 68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45" name="Line 68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46" name="Line 68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65" name="Group 688"/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6073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3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3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36" name="Group 69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39" name="Freeform 69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40" name="Freeform 69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37" name="Line 69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38" name="Line 69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0466" name="Line 697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0467" name="Group 698"/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6072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2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2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28" name="Group 70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31" name="Freeform 70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32" name="Freeform 70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29" name="Line 70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30" name="Line 70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68" name="Group 707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6071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1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1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20" name="Group 71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23" name="Freeform 71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24" name="Freeform 71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21" name="Line 71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22" name="Line 71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69" name="Group 716"/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6070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1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1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12" name="Group 72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15" name="Freeform 72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16" name="Freeform 72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13" name="Line 72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14" name="Line 72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70" name="Group 725"/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6070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0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0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704" name="Group 72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707" name="Freeform 73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08" name="Freeform 73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705" name="Line 73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06" name="Line 73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71" name="Group 734"/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6069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69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69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696" name="Group 73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699" name="Freeform 73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700" name="Freeform 74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697" name="Line 74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98" name="Line 74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72" name="Group 743"/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6068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68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68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688" name="Group 74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0691" name="Freeform 7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92" name="Freeform 7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689" name="Line 75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90" name="Line 75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73" name="Group 752"/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60671" name="Group 753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60673" name="Freeform 754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74" name="Freeform 755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75" name="Freeform 756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76" name="Freeform 757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77" name="Freeform 758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78" name="Freeform 759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79" name="Freeform 760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80" name="Freeform 761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81" name="Freeform 762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82" name="Freeform 763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83" name="Freeform 764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84" name="Freeform 765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60672" name="Picture 766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0474" name="Group 767"/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60657" name="Group 768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60659" name="Freeform 769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0" name="Freeform 770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1" name="Freeform 771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2" name="Freeform 772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3" name="Freeform 773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4" name="Freeform 774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5" name="Freeform 775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6" name="Freeform 776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7" name="Freeform 777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8" name="Freeform 778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69" name="Freeform 779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670" name="Freeform 780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60658" name="Picture 781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0475" name="Line 782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0476" name="Group 783"/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60655" name="Picture 78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656" name="Freeform 78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0477" name="Group 786"/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60653" name="Picture 78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654" name="Freeform 78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0478" name="Group 789"/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60651" name="Picture 79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652" name="Freeform 79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0479" name="Group 792"/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60649" name="Picture 79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650" name="Freeform 79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60480" name="Picture 795" descr="car_icon_small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0481" name="Group 796"/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60647" name="Picture 797" descr="iphone_stylized_small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648" name="Picture 798" descr="antenna_radiation_stylized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0482" name="Group 799"/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60615" name="Freeform 80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16" name="Rectangle 801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17" name="Freeform 80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18" name="Freeform 80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19" name="Rectangle 804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0620" name="Group 80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0645" name="AutoShape 806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0646" name="AutoShape 807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0621" name="Rectangle 808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0622" name="Group 80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0643" name="AutoShape 810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0644" name="AutoShape 811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0623" name="Rectangle 812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24" name="Rectangle 813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0625" name="Group 81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0641" name="AutoShape 815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0642" name="AutoShape 816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0626" name="Freeform 81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627" name="Group 81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0639" name="AutoShape 819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0640" name="AutoShape 820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0628" name="Rectangle 821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29" name="Freeform 82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30" name="Freeform 82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31" name="Oval 824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32" name="Freeform 82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33" name="AutoShape 826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34" name="AutoShape 827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35" name="Oval 828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36" name="Oval 829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60637" name="Oval 830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38" name="Rectangle 831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0483" name="Group 832"/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60583" name="Freeform 833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84" name="Rectangle 834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585" name="Freeform 835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86" name="Freeform 836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87" name="Rectangle 837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0588" name="Group 838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0613" name="AutoShape 839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0614" name="AutoShape 840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0589" name="Rectangle 841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0590" name="Group 842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0611" name="AutoShape 843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0612" name="AutoShape 844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0591" name="Rectangle 845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592" name="Rectangle 846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0593" name="Group 847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0609" name="AutoShape 848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0610" name="AutoShape 849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0594" name="Freeform 850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595" name="Group 851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0607" name="AutoShape 852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0608" name="AutoShape 853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0596" name="Rectangle 854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597" name="Freeform 855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98" name="Freeform 856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99" name="Oval 857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00" name="Freeform 858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01" name="AutoShape 859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02" name="AutoShape 860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03" name="Oval 861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04" name="Oval 862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60605" name="Oval 863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0606" name="Rectangle 864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0484" name="Group 865"/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60560" name="Picture 866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561" name="Picture 867" descr="laptop_keyboar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562" name="Freeform 868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0563" name="Picture 869" descr="screen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564" name="Freeform 870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65" name="Freeform 871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66" name="Freeform 872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67" name="Freeform 873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68" name="Freeform 874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69" name="Freeform 875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570" name="Group 876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0577" name="Freeform 877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78" name="Freeform 878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79" name="Freeform 879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80" name="Freeform 880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81" name="Freeform 881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82" name="Freeform 882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571" name="Freeform 883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72" name="Freeform 884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73" name="Freeform 885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74" name="Freeform 886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75" name="Freeform 887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76" name="Freeform 888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85" name="Group 889"/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60537" name="Picture 890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538" name="Picture 891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539" name="Freeform 892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0540" name="Picture 893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541" name="Freeform 894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42" name="Freeform 895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43" name="Freeform 896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44" name="Freeform 897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45" name="Freeform 898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46" name="Freeform 899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547" name="Group 900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0554" name="Freeform 901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55" name="Freeform 902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56" name="Freeform 903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57" name="Freeform 904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58" name="Freeform 905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59" name="Freeform 906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548" name="Freeform 907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49" name="Freeform 908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50" name="Freeform 909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51" name="Freeform 910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52" name="Freeform 911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53" name="Freeform 912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86" name="Group 913"/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60514" name="Picture 914" descr="antenna_stylized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515" name="Picture 915" descr="laptop_keyboard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516" name="Freeform 916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0517" name="Picture 917" descr="screen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518" name="Freeform 918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19" name="Freeform 919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20" name="Freeform 920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21" name="Freeform 921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22" name="Freeform 922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23" name="Freeform 923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524" name="Group 924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0531" name="Freeform 925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32" name="Freeform 926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33" name="Freeform 927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34" name="Freeform 928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35" name="Freeform 929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36" name="Freeform 930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525" name="Freeform 931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26" name="Freeform 932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27" name="Freeform 933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28" name="Freeform 934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29" name="Freeform 935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30" name="Freeform 936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487" name="Group 937"/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60512" name="Picture 93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513" name="Freeform 93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0488" name="Group 940"/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60489" name="Picture 941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0490" name="Picture 942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491" name="Freeform 943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0492" name="Picture 944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493" name="Freeform 945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94" name="Freeform 946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95" name="Freeform 947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96" name="Freeform 948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97" name="Freeform 949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98" name="Freeform 950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0499" name="Group 951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0506" name="Freeform 952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07" name="Freeform 953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08" name="Freeform 954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09" name="Freeform 955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10" name="Freeform 956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511" name="Freeform 957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0500" name="Freeform 958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01" name="Freeform 959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02" name="Freeform 960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03" name="Freeform 961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04" name="Freeform 962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05" name="Freeform 963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>
          <a:xfrm>
            <a:off x="1890713" y="184150"/>
            <a:ext cx="7772400" cy="852488"/>
          </a:xfrm>
        </p:spPr>
        <p:txBody>
          <a:bodyPr/>
          <a:lstStyle/>
          <a:p>
            <a:r>
              <a:rPr lang="en-US" altLang="en-US" smtClean="0"/>
              <a:t>Client-server architecture</a:t>
            </a:r>
          </a:p>
        </p:txBody>
      </p:sp>
      <p:sp>
        <p:nvSpPr>
          <p:cNvPr id="60421" name="Rectangle 460"/>
          <p:cNvSpPr>
            <a:spLocks noGrp="1" noChangeArrowheads="1"/>
          </p:cNvSpPr>
          <p:nvPr>
            <p:ph type="body" sz="half" idx="2"/>
          </p:nvPr>
        </p:nvSpPr>
        <p:spPr>
          <a:xfrm>
            <a:off x="6276976" y="1416050"/>
            <a:ext cx="4143375" cy="4648200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server: </a:t>
            </a:r>
          </a:p>
          <a:p>
            <a:r>
              <a:rPr lang="en-US" altLang="en-US" sz="2400"/>
              <a:t>always-on host</a:t>
            </a:r>
          </a:p>
          <a:p>
            <a:r>
              <a:rPr lang="en-US" altLang="en-US" sz="2400"/>
              <a:t>permanent IP address</a:t>
            </a:r>
          </a:p>
          <a:p>
            <a:r>
              <a:rPr lang="en-US" altLang="en-US" sz="2400"/>
              <a:t>data centers for scaling</a:t>
            </a:r>
          </a:p>
          <a:p>
            <a:pPr>
              <a:spcBef>
                <a:spcPct val="75000"/>
              </a:spcBef>
              <a:buFont typeface="Wingdings" panose="05000000000000000000" pitchFamily="2" charset="2"/>
              <a:buNone/>
            </a:pPr>
            <a:r>
              <a:rPr lang="en-US" altLang="en-US" smtClean="0">
                <a:solidFill>
                  <a:srgbClr val="CC0000"/>
                </a:solidFill>
              </a:rPr>
              <a:t>clients:</a:t>
            </a:r>
          </a:p>
          <a:p>
            <a:r>
              <a:rPr lang="en-US" altLang="en-US" sz="2400"/>
              <a:t>communicate with server</a:t>
            </a:r>
          </a:p>
          <a:p>
            <a:r>
              <a:rPr lang="en-US" altLang="en-US" sz="2400"/>
              <a:t>may be intermittently connected</a:t>
            </a:r>
          </a:p>
          <a:p>
            <a:r>
              <a:rPr lang="en-US" altLang="en-US" sz="2400"/>
              <a:t>may have dynamic IP addresses</a:t>
            </a:r>
          </a:p>
          <a:p>
            <a:r>
              <a:rPr lang="en-US" altLang="en-US" sz="2400"/>
              <a:t>do not communicate directly with each other</a:t>
            </a:r>
          </a:p>
        </p:txBody>
      </p:sp>
      <p:sp>
        <p:nvSpPr>
          <p:cNvPr id="60423" name="Line 913"/>
          <p:cNvSpPr>
            <a:spLocks noChangeShapeType="1"/>
          </p:cNvSpPr>
          <p:nvPr/>
        </p:nvSpPr>
        <p:spPr bwMode="auto">
          <a:xfrm>
            <a:off x="2773363" y="3235326"/>
            <a:ext cx="2006600" cy="197802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4" name="Line 800"/>
          <p:cNvSpPr>
            <a:spLocks noChangeShapeType="1"/>
          </p:cNvSpPr>
          <p:nvPr/>
        </p:nvSpPr>
        <p:spPr bwMode="auto">
          <a:xfrm>
            <a:off x="3735389" y="1844676"/>
            <a:ext cx="1481137" cy="3109913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5" name="Text Box 803"/>
          <p:cNvSpPr txBox="1">
            <a:spLocks noChangeArrowheads="1"/>
          </p:cNvSpPr>
          <p:nvPr/>
        </p:nvSpPr>
        <p:spPr bwMode="auto">
          <a:xfrm>
            <a:off x="1778001" y="4067176"/>
            <a:ext cx="155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CC0000"/>
                </a:solidFill>
              </a:rPr>
              <a:t>client/server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/>
              <a:t>2-</a:t>
            </a:r>
            <a:fld id="{8473E3C8-4201-4EE5-956F-9E3781498603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235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7" name="Group 566"/>
          <p:cNvGrpSpPr>
            <a:grpSpLocks/>
          </p:cNvGrpSpPr>
          <p:nvPr/>
        </p:nvGrpSpPr>
        <p:grpSpPr bwMode="auto">
          <a:xfrm>
            <a:off x="6726239" y="1546226"/>
            <a:ext cx="3540125" cy="4545013"/>
            <a:chOff x="3277" y="974"/>
            <a:chExt cx="2230" cy="2863"/>
          </a:xfrm>
        </p:grpSpPr>
        <p:sp>
          <p:nvSpPr>
            <p:cNvPr id="62475" name="Freeform 567"/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1314 w 1036"/>
                <a:gd name="T1" fmla="*/ 11 h 675"/>
                <a:gd name="T2" fmla="*/ 793 w 1036"/>
                <a:gd name="T3" fmla="*/ 53 h 675"/>
                <a:gd name="T4" fmla="*/ 419 w 1036"/>
                <a:gd name="T5" fmla="*/ 129 h 675"/>
                <a:gd name="T6" fmla="*/ 312 w 1036"/>
                <a:gd name="T7" fmla="*/ 229 h 675"/>
                <a:gd name="T8" fmla="*/ 43 w 1036"/>
                <a:gd name="T9" fmla="*/ 297 h 675"/>
                <a:gd name="T10" fmla="*/ 35 w 1036"/>
                <a:gd name="T11" fmla="*/ 459 h 675"/>
                <a:gd name="T12" fmla="*/ 267 w 1036"/>
                <a:gd name="T13" fmla="*/ 489 h 675"/>
                <a:gd name="T14" fmla="*/ 932 w 1036"/>
                <a:gd name="T15" fmla="*/ 489 h 675"/>
                <a:gd name="T16" fmla="*/ 1213 w 1036"/>
                <a:gd name="T17" fmla="*/ 555 h 675"/>
                <a:gd name="T18" fmla="*/ 1527 w 1036"/>
                <a:gd name="T19" fmla="*/ 657 h 675"/>
                <a:gd name="T20" fmla="*/ 1766 w 1036"/>
                <a:gd name="T21" fmla="*/ 661 h 675"/>
                <a:gd name="T22" fmla="*/ 1931 w 1036"/>
                <a:gd name="T23" fmla="*/ 603 h 675"/>
                <a:gd name="T24" fmla="*/ 2015 w 1036"/>
                <a:gd name="T25" fmla="*/ 445 h 675"/>
                <a:gd name="T26" fmla="*/ 2067 w 1036"/>
                <a:gd name="T27" fmla="*/ 291 h 675"/>
                <a:gd name="T28" fmla="*/ 2073 w 1036"/>
                <a:gd name="T29" fmla="*/ 107 h 675"/>
                <a:gd name="T30" fmla="*/ 1895 w 1036"/>
                <a:gd name="T31" fmla="*/ 17 h 675"/>
                <a:gd name="T32" fmla="*/ 1574 w 1036"/>
                <a:gd name="T33" fmla="*/ 3 h 675"/>
                <a:gd name="T34" fmla="*/ 1314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476" name="Group 568"/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62850" name="Rectangle 56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851" name="AutoShape 57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62477" name="Freeform 571"/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78" name="Line 572"/>
            <p:cNvSpPr>
              <a:spLocks noChangeShapeType="1"/>
            </p:cNvSpPr>
            <p:nvPr/>
          </p:nvSpPr>
          <p:spPr bwMode="auto">
            <a:xfrm rot="-5400000">
              <a:off x="4924" y="3316"/>
              <a:ext cx="284" cy="7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9" name="Line 573"/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0" name="Line 574"/>
            <p:cNvSpPr>
              <a:spLocks noChangeShapeType="1"/>
            </p:cNvSpPr>
            <p:nvPr/>
          </p:nvSpPr>
          <p:spPr bwMode="auto">
            <a:xfrm rot="16200000" flipH="1">
              <a:off x="5113" y="3192"/>
              <a:ext cx="90" cy="51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81" name="Line 576"/>
            <p:cNvSpPr>
              <a:spLocks noChangeShapeType="1"/>
            </p:cNvSpPr>
            <p:nvPr/>
          </p:nvSpPr>
          <p:spPr bwMode="auto">
            <a:xfrm>
              <a:off x="3843" y="3009"/>
              <a:ext cx="99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2" name="Line 577"/>
            <p:cNvSpPr>
              <a:spLocks noChangeShapeType="1"/>
            </p:cNvSpPr>
            <p:nvPr/>
          </p:nvSpPr>
          <p:spPr bwMode="auto">
            <a:xfrm flipV="1">
              <a:off x="3680" y="3159"/>
              <a:ext cx="256" cy="6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3" name="Line 580"/>
            <p:cNvSpPr>
              <a:spLocks noChangeShapeType="1"/>
            </p:cNvSpPr>
            <p:nvPr/>
          </p:nvSpPr>
          <p:spPr bwMode="auto">
            <a:xfrm flipH="1">
              <a:off x="3948" y="3204"/>
              <a:ext cx="90" cy="11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4" name="Line 581"/>
            <p:cNvSpPr>
              <a:spLocks noChangeShapeType="1"/>
            </p:cNvSpPr>
            <p:nvPr/>
          </p:nvSpPr>
          <p:spPr bwMode="auto">
            <a:xfrm flipH="1" flipV="1">
              <a:off x="4146" y="3213"/>
              <a:ext cx="51" cy="10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5" name="Line 582"/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6" name="Line 584"/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87" name="Line 585"/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488" name="Group 586"/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62848" name="Picture 587" descr="access_point_stylized_small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849" name="Picture 588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2489" name="Freeform 589"/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0" name="Freeform 590"/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42311 w 765"/>
                <a:gd name="T1" fmla="*/ 2813 h 459"/>
                <a:gd name="T2" fmla="*/ 28673 w 765"/>
                <a:gd name="T3" fmla="*/ 19976 h 459"/>
                <a:gd name="T4" fmla="*/ 9592 w 765"/>
                <a:gd name="T5" fmla="*/ 28431 h 459"/>
                <a:gd name="T6" fmla="*/ 1371 w 765"/>
                <a:gd name="T7" fmla="*/ 95805 h 459"/>
                <a:gd name="T8" fmla="*/ 17940 w 765"/>
                <a:gd name="T9" fmla="*/ 126584 h 459"/>
                <a:gd name="T10" fmla="*/ 34487 w 765"/>
                <a:gd name="T11" fmla="*/ 121332 h 459"/>
                <a:gd name="T12" fmla="*/ 58210 w 765"/>
                <a:gd name="T13" fmla="*/ 126584 h 459"/>
                <a:gd name="T14" fmla="*/ 69657 w 765"/>
                <a:gd name="T15" fmla="*/ 123646 h 459"/>
                <a:gd name="T16" fmla="*/ 74979 w 765"/>
                <a:gd name="T17" fmla="*/ 106087 h 459"/>
                <a:gd name="T18" fmla="*/ 74848 w 765"/>
                <a:gd name="T19" fmla="*/ 45030 h 459"/>
                <a:gd name="T20" fmla="*/ 66057 w 765"/>
                <a:gd name="T21" fmla="*/ 9823 h 459"/>
                <a:gd name="T22" fmla="*/ 42311 w 765"/>
                <a:gd name="T23" fmla="*/ 2813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1" name="Line 591"/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2" name="Line 592"/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3" name="Line 593"/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4" name="Line 594"/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5" name="Line 595"/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6" name="Line 596"/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7" name="Line 597"/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8" name="Line 598"/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9" name="Line 599"/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0" name="Line 600"/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1" name="Line 601"/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2" name="Line 602"/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3" name="Line 603"/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4" name="Line 604"/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5" name="Line 605"/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6" name="Line 606"/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7" name="Line 607"/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508" name="Group 608"/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62831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32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33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34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35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36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37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38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39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40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41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42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43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44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45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846" name="Oval 624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pic>
            <p:nvPicPr>
              <p:cNvPr id="62847" name="Picture 625" descr="cell_tower_radiation_gray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2509" name="Group 626"/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62822" name="Line 627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23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24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25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826" name="Group 631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62829" name="Freeform 63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830" name="Freeform 63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827" name="Line 634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28" name="Line 635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10" name="Group 636"/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6281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1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1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817" name="Group 64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820" name="Freeform 64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821" name="Freeform 64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818" name="Line 64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19" name="Line 64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11" name="Group 645"/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6280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0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0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809" name="Group 64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812" name="Freeform 65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813" name="Freeform 65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810" name="Line 65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11" name="Line 65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12" name="Group 654"/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6279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9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0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801" name="Group 65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804" name="Freeform 65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805" name="Freeform 66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802" name="Line 66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03" name="Line 66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13" name="Group 663"/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6279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9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9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793" name="Group 66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796" name="Freeform 66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97" name="Freeform 66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794" name="Line 67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95" name="Line 67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14" name="Group 672"/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6278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8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8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785" name="Group 67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788" name="Freeform 67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89" name="Freeform 67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786" name="Line 67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87" name="Line 68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2515" name="Line 681"/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516" name="Group 682"/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6277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7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7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777" name="Group 68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780" name="Freeform 68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81" name="Freeform 68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778" name="Line 68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79" name="Line 69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17" name="Group 691"/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6276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6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6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769" name="Group 69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772" name="Freeform 69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73" name="Freeform 69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770" name="Line 69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71" name="Line 69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18" name="Group 700"/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6275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5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6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761" name="Group 70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764" name="Freeform 70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65" name="Freeform 70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762" name="Line 70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63" name="Line 70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19" name="Group 709"/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6275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5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5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753" name="Group 71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756" name="Freeform 71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57" name="Freeform 71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754" name="Line 71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55" name="Line 71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20" name="Group 718"/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6274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4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4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745" name="Group 72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748" name="Freeform 72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49" name="Freeform 72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746" name="Line 72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47" name="Line 72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21" name="Group 727"/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6273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3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3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2737" name="Group 73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2740" name="Freeform 73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41" name="Freeform 73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738" name="Line 73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39" name="Line 73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22" name="Group 736"/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62720" name="Group 737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62722" name="Freeform 738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23" name="Freeform 739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24" name="Freeform 740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25" name="Freeform 741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26" name="Freeform 742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27" name="Freeform 743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28" name="Freeform 744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29" name="Freeform 745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30" name="Freeform 746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31" name="Freeform 747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32" name="Freeform 748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33" name="Freeform 749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62721" name="Picture 750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2523" name="Group 751"/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62706" name="Group 752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62708" name="Freeform 753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09" name="Freeform 754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0" name="Freeform 755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1" name="Freeform 756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2" name="Freeform 757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3" name="Freeform 758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4" name="Freeform 759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5" name="Freeform 760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6" name="Freeform 761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7" name="Freeform 762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8" name="Freeform 763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719" name="Freeform 764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62707" name="Picture 765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2524" name="Line 766"/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25" name="Group 767"/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62704" name="Picture 7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705" name="Freeform 769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2526" name="Group 770"/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62702" name="Picture 7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703" name="Freeform 77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2527" name="Group 773"/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62700" name="Picture 7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701" name="Freeform 77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2528" name="Group 776"/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62698" name="Picture 7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699" name="Freeform 7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pic>
          <p:nvPicPr>
            <p:cNvPr id="62529" name="Picture 779" descr="car_icon_small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2530" name="Group 780"/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62696" name="Picture 781" descr="iphone_stylized_small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697" name="Picture 782" descr="antenna_radiation_stylized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2531" name="Group 783"/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62664" name="Freeform 7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65" name="Rectangle 7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66" name="Freeform 7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67" name="Freeform 7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68" name="Rectangle 7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2669" name="Group 7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2694" name="AutoShape 7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2695" name="AutoShape 7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2670" name="Rectangle 7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2671" name="Group 7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2692" name="AutoShape 7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2693" name="AutoShape 7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2672" name="Rectangle 7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73" name="Rectangle 7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2674" name="Group 7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2690" name="AutoShape 7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2691" name="AutoShape 8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2675" name="Freeform 8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676" name="Group 8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2688" name="AutoShape 8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2689" name="AutoShape 8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2677" name="Rectangle 8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78" name="Freeform 8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79" name="Freeform 8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80" name="Oval 8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81" name="Freeform 8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82" name="AutoShape 8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83" name="AutoShape 8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84" name="Oval 8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85" name="Oval 8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62686" name="Oval 8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87" name="Rectangle 8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2532" name="Group 816"/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62632" name="Freeform 81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33" name="Rectangle 818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34" name="Freeform 81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35" name="Freeform 82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36" name="Rectangle 821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2637" name="Group 82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2662" name="AutoShape 823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2663" name="AutoShape 824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2638" name="Rectangle 825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2639" name="Group 82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2660" name="AutoShape 827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2661" name="AutoShape 828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2640" name="Rectangle 829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41" name="Rectangle 830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62642" name="Group 831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2658" name="AutoShape 832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2659" name="AutoShape 833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2643" name="Freeform 83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644" name="Group 83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2656" name="AutoShape 836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62657" name="AutoShape 837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62645" name="Rectangle 838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46" name="Freeform 83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47" name="Freeform 84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48" name="Oval 841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49" name="Freeform 84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50" name="AutoShape 843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51" name="AutoShape 844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52" name="Oval 845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53" name="Oval 846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62654" name="Oval 847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655" name="Rectangle 848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2533" name="Group 849"/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62609" name="Picture 850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610" name="Picture 851" descr="laptop_keyboard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611" name="Freeform 852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2612" name="Picture 853" descr="screen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613" name="Freeform 854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14" name="Freeform 855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15" name="Freeform 856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16" name="Freeform 857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17" name="Freeform 858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18" name="Freeform 859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619" name="Group 860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2626" name="Freeform 861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27" name="Freeform 862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28" name="Freeform 863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29" name="Freeform 864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30" name="Freeform 865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31" name="Freeform 866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620" name="Freeform 867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21" name="Freeform 868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22" name="Freeform 869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23" name="Freeform 870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24" name="Freeform 871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25" name="Freeform 872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34" name="Group 873"/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62586" name="Picture 874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587" name="Picture 875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588" name="Freeform 876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2589" name="Picture 877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590" name="Freeform 878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1" name="Freeform 879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2" name="Freeform 880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3" name="Freeform 881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4" name="Freeform 882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5" name="Freeform 883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596" name="Group 884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2603" name="Freeform 885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04" name="Freeform 886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05" name="Freeform 887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06" name="Freeform 888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07" name="Freeform 889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608" name="Freeform 890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597" name="Freeform 891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8" name="Freeform 892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9" name="Freeform 893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00" name="Freeform 894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01" name="Freeform 895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02" name="Freeform 896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35" name="Group 897"/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62563" name="Picture 898" descr="antenna_stylized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564" name="Picture 899" descr="laptop_keyboard"/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565" name="Freeform 900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2566" name="Picture 901" descr="screen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567" name="Freeform 902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68" name="Freeform 903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69" name="Freeform 904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0" name="Freeform 905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1" name="Freeform 906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2" name="Freeform 907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573" name="Group 908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2580" name="Freeform 909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81" name="Freeform 910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82" name="Freeform 911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83" name="Freeform 912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84" name="Freeform 913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85" name="Freeform 914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574" name="Freeform 915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5" name="Freeform 916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6" name="Freeform 917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7" name="Freeform 918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8" name="Freeform 919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9" name="Freeform 920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2536" name="Group 921"/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62561" name="Picture 92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562" name="Freeform 923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2537" name="Group 924"/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62538" name="Picture 925" descr="antenna_stylized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539" name="Picture 926" descr="laptop_keyboard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540" name="Freeform 92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4 w 2982"/>
                  <a:gd name="T5" fmla="*/ 1 h 2442"/>
                  <a:gd name="T6" fmla="*/ 4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62541" name="Picture 928" descr="screen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542" name="Freeform 92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4 w 2528"/>
                  <a:gd name="T3" fmla="*/ 1 h 455"/>
                  <a:gd name="T4" fmla="*/ 4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43" name="Freeform 93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44" name="Freeform 93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45" name="Freeform 93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4 w 2773"/>
                  <a:gd name="T5" fmla="*/ 1 h 738"/>
                  <a:gd name="T6" fmla="*/ 4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46" name="Freeform 93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3 w 637"/>
                  <a:gd name="T1" fmla="*/ 0 h 1659"/>
                  <a:gd name="T2" fmla="*/ 3 w 637"/>
                  <a:gd name="T3" fmla="*/ 0 h 1659"/>
                  <a:gd name="T4" fmla="*/ 1 w 637"/>
                  <a:gd name="T5" fmla="*/ 21 h 1659"/>
                  <a:gd name="T6" fmla="*/ 0 w 637"/>
                  <a:gd name="T7" fmla="*/ 21 h 1659"/>
                  <a:gd name="T8" fmla="*/ 3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47" name="Freeform 93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3 w 2216"/>
                  <a:gd name="T5" fmla="*/ 7 h 550"/>
                  <a:gd name="T6" fmla="*/ 13 w 2216"/>
                  <a:gd name="T7" fmla="*/ 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548" name="Group 93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2555" name="Freeform 93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56" name="Freeform 93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57" name="Freeform 93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58" name="Freeform 93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59" name="Freeform 94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560" name="Freeform 94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62549" name="Freeform 94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3 h 792"/>
                  <a:gd name="T2" fmla="*/ 2 w 990"/>
                  <a:gd name="T3" fmla="*/ 0 h 792"/>
                  <a:gd name="T4" fmla="*/ 2 w 990"/>
                  <a:gd name="T5" fmla="*/ 1 h 792"/>
                  <a:gd name="T6" fmla="*/ 0 w 990"/>
                  <a:gd name="T7" fmla="*/ 3 h 792"/>
                  <a:gd name="T8" fmla="*/ 1 w 990"/>
                  <a:gd name="T9" fmla="*/ 3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50" name="Freeform 94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6 w 2532"/>
                  <a:gd name="T5" fmla="*/ 3 h 723"/>
                  <a:gd name="T6" fmla="*/ 6 w 2532"/>
                  <a:gd name="T7" fmla="*/ 3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51" name="Freeform 94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52" name="Freeform 94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2 w 1176"/>
                  <a:gd name="T1" fmla="*/ 0 h 606"/>
                  <a:gd name="T2" fmla="*/ 0 w 1176"/>
                  <a:gd name="T3" fmla="*/ 2 h 606"/>
                  <a:gd name="T4" fmla="*/ 1 w 1176"/>
                  <a:gd name="T5" fmla="*/ 2 h 606"/>
                  <a:gd name="T6" fmla="*/ 2 w 1176"/>
                  <a:gd name="T7" fmla="*/ 1 h 606"/>
                  <a:gd name="T8" fmla="*/ 2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53" name="Freeform 94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 w 2532"/>
                  <a:gd name="T5" fmla="*/ 1 h 723"/>
                  <a:gd name="T6" fmla="*/ 2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54" name="Freeform 94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 h 723"/>
                  <a:gd name="T6" fmla="*/ 0 w 2532"/>
                  <a:gd name="T7" fmla="*/ 3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2468" name="Rectangle 4"/>
          <p:cNvSpPr>
            <a:spLocks noGrp="1" noChangeArrowheads="1"/>
          </p:cNvSpPr>
          <p:nvPr>
            <p:ph type="title"/>
          </p:nvPr>
        </p:nvSpPr>
        <p:spPr>
          <a:xfrm>
            <a:off x="1833563" y="228600"/>
            <a:ext cx="7772400" cy="819150"/>
          </a:xfrm>
        </p:spPr>
        <p:txBody>
          <a:bodyPr/>
          <a:lstStyle/>
          <a:p>
            <a:r>
              <a:rPr lang="en-US" altLang="en-US" smtClean="0"/>
              <a:t>P2P architecture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1" y="1300164"/>
            <a:ext cx="5516564" cy="5241925"/>
          </a:xfrm>
        </p:spPr>
        <p:txBody>
          <a:bodyPr/>
          <a:lstStyle/>
          <a:p>
            <a:r>
              <a:rPr lang="en-US" altLang="en-US" sz="2400" i="1"/>
              <a:t>no</a:t>
            </a:r>
            <a:r>
              <a:rPr lang="en-US" altLang="en-US" sz="2400"/>
              <a:t> always-on server</a:t>
            </a:r>
          </a:p>
          <a:p>
            <a:r>
              <a:rPr lang="en-US" altLang="en-US" sz="2400" dirty="0"/>
              <a:t>arbitrary end systems directly communicate</a:t>
            </a:r>
          </a:p>
          <a:p>
            <a:r>
              <a:rPr lang="en-US" altLang="en-US" sz="2400" dirty="0"/>
              <a:t>peers request service from other peers, provide service in return to other peers</a:t>
            </a:r>
          </a:p>
          <a:p>
            <a:pPr lvl="1"/>
            <a:r>
              <a:rPr lang="en-US" altLang="en-US" i="1" dirty="0" smtClean="0">
                <a:solidFill>
                  <a:srgbClr val="CC0000"/>
                </a:solidFill>
              </a:rPr>
              <a:t>self scalability</a:t>
            </a:r>
            <a:r>
              <a:rPr lang="en-US" altLang="en-US" dirty="0" smtClean="0">
                <a:solidFill>
                  <a:srgbClr val="CC0000"/>
                </a:solidFill>
              </a:rPr>
              <a:t> – new peers bring new service capacity, as well as new service demands</a:t>
            </a:r>
          </a:p>
          <a:p>
            <a:r>
              <a:rPr lang="en-US" altLang="en-US" sz="2400" dirty="0"/>
              <a:t>peers are intermittently connected and change IP addresses</a:t>
            </a:r>
          </a:p>
          <a:p>
            <a:pPr lvl="1"/>
            <a:r>
              <a:rPr lang="en-US" altLang="en-US" dirty="0" smtClean="0"/>
              <a:t>complex management</a:t>
            </a:r>
          </a:p>
          <a:p>
            <a:endParaRPr lang="en-US" altLang="en-US" dirty="0" smtClean="0">
              <a:solidFill>
                <a:srgbClr val="CC0000"/>
              </a:solidFill>
            </a:endParaRPr>
          </a:p>
          <a:p>
            <a:endParaRPr lang="en-US" altLang="en-US" dirty="0" smtClean="0"/>
          </a:p>
        </p:txBody>
      </p:sp>
      <p:sp>
        <p:nvSpPr>
          <p:cNvPr id="62471" name="Line 1034"/>
          <p:cNvSpPr>
            <a:spLocks noChangeShapeType="1"/>
          </p:cNvSpPr>
          <p:nvPr/>
        </p:nvSpPr>
        <p:spPr bwMode="auto">
          <a:xfrm flipH="1">
            <a:off x="7745414" y="1852613"/>
            <a:ext cx="503237" cy="1389062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2" name="Line 1035"/>
          <p:cNvSpPr>
            <a:spLocks noChangeShapeType="1"/>
          </p:cNvSpPr>
          <p:nvPr/>
        </p:nvSpPr>
        <p:spPr bwMode="auto">
          <a:xfrm>
            <a:off x="7089776" y="2438401"/>
            <a:ext cx="238125" cy="256857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3" name="Line 1036"/>
          <p:cNvSpPr>
            <a:spLocks noChangeShapeType="1"/>
          </p:cNvSpPr>
          <p:nvPr/>
        </p:nvSpPr>
        <p:spPr bwMode="auto">
          <a:xfrm>
            <a:off x="7799388" y="3581401"/>
            <a:ext cx="1198562" cy="199707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4" name="Text Box 1037"/>
          <p:cNvSpPr txBox="1">
            <a:spLocks noChangeArrowheads="1"/>
          </p:cNvSpPr>
          <p:nvPr/>
        </p:nvSpPr>
        <p:spPr bwMode="auto">
          <a:xfrm>
            <a:off x="8763000" y="1373189"/>
            <a:ext cx="1284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CC0000"/>
                </a:solidFill>
              </a:rPr>
              <a:t>peer-peer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/>
              <a:t>2-</a:t>
            </a:r>
            <a:fld id="{64CAC436-ABCF-47EF-BB5A-3F78F54D5461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80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24050" y="185738"/>
            <a:ext cx="7772400" cy="863600"/>
          </a:xfrm>
        </p:spPr>
        <p:txBody>
          <a:bodyPr/>
          <a:lstStyle/>
          <a:p>
            <a:r>
              <a:rPr lang="en-US" altLang="en-US" smtClean="0"/>
              <a:t>Processes communicating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544638"/>
            <a:ext cx="3989388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process:</a:t>
            </a:r>
            <a:r>
              <a:rPr lang="en-US" altLang="en-US" smtClean="0"/>
              <a:t> program running within a host</a:t>
            </a:r>
          </a:p>
          <a:p>
            <a:r>
              <a:rPr lang="en-US" altLang="en-US" sz="2400"/>
              <a:t>within same host, two processes communicate using  </a:t>
            </a:r>
            <a:r>
              <a:rPr lang="en-US" altLang="en-US" sz="2400">
                <a:solidFill>
                  <a:srgbClr val="CC0000"/>
                </a:solidFill>
              </a:rPr>
              <a:t>inter-process communication</a:t>
            </a:r>
            <a:r>
              <a:rPr lang="en-US" altLang="en-US" sz="2400"/>
              <a:t> (defined by OS)</a:t>
            </a:r>
          </a:p>
          <a:p>
            <a:r>
              <a:rPr lang="en-US" altLang="en-US" sz="2400"/>
              <a:t>processes in different hosts communicate by exchanging </a:t>
            </a:r>
            <a:r>
              <a:rPr lang="en-US" altLang="en-US" sz="2400">
                <a:solidFill>
                  <a:srgbClr val="CC0000"/>
                </a:solidFill>
              </a:rPr>
              <a:t>messages</a:t>
            </a:r>
          </a:p>
        </p:txBody>
      </p:sp>
      <p:sp>
        <p:nvSpPr>
          <p:cNvPr id="6451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427788" y="1979614"/>
            <a:ext cx="3810000" cy="2033587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client process:</a:t>
            </a:r>
            <a:r>
              <a:rPr lang="en-US" altLang="en-US" smtClean="0"/>
              <a:t> </a:t>
            </a:r>
            <a:r>
              <a:rPr lang="en-US" altLang="en-US" sz="2400"/>
              <a:t>process that initiates communication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CC0000"/>
                </a:solidFill>
              </a:rPr>
              <a:t>server process:</a:t>
            </a:r>
            <a:r>
              <a:rPr lang="en-US" altLang="en-US" smtClean="0"/>
              <a:t> </a:t>
            </a:r>
            <a:r>
              <a:rPr lang="en-US" altLang="en-US" sz="2400"/>
              <a:t>process that waits to be contacted</a:t>
            </a:r>
            <a:endParaRPr lang="en-US" altLang="en-US" smtClean="0"/>
          </a:p>
          <a:p>
            <a:pPr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64520" name="Rectangle 13"/>
          <p:cNvSpPr>
            <a:spLocks noChangeArrowheads="1"/>
          </p:cNvSpPr>
          <p:nvPr/>
        </p:nvSpPr>
        <p:spPr bwMode="auto">
          <a:xfrm>
            <a:off x="6273801" y="1762126"/>
            <a:ext cx="4161117" cy="2251075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4521" name="Text Box 14"/>
          <p:cNvSpPr txBox="1">
            <a:spLocks noChangeArrowheads="1"/>
          </p:cNvSpPr>
          <p:nvPr/>
        </p:nvSpPr>
        <p:spPr bwMode="auto">
          <a:xfrm>
            <a:off x="6394450" y="1463676"/>
            <a:ext cx="2325688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>
                <a:latin typeface="Gill Sans MT" panose="020B0502020104020203" pitchFamily="34" charset="0"/>
              </a:rPr>
              <a:t>clients, servers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6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24050" y="123825"/>
            <a:ext cx="8077200" cy="896938"/>
          </a:xfrm>
        </p:spPr>
        <p:txBody>
          <a:bodyPr/>
          <a:lstStyle/>
          <a:p>
            <a:r>
              <a:rPr lang="en-US" altLang="en-US" smtClean="0"/>
              <a:t>Sockets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3251" y="1208088"/>
            <a:ext cx="8232775" cy="2328862"/>
          </a:xfrm>
        </p:spPr>
        <p:txBody>
          <a:bodyPr/>
          <a:lstStyle/>
          <a:p>
            <a:r>
              <a:rPr lang="en-US" altLang="en-US" sz="2400" dirty="0"/>
              <a:t>process sends/receives messages to/from its </a:t>
            </a:r>
            <a:r>
              <a:rPr lang="en-US" altLang="en-US" sz="2400" dirty="0">
                <a:solidFill>
                  <a:srgbClr val="CC0000"/>
                </a:solidFill>
              </a:rPr>
              <a:t>socket</a:t>
            </a:r>
          </a:p>
          <a:p>
            <a:r>
              <a:rPr lang="en-US" altLang="en-US" sz="2400" dirty="0"/>
              <a:t>socket analogous to door</a:t>
            </a:r>
          </a:p>
          <a:p>
            <a:pPr lvl="1"/>
            <a:r>
              <a:rPr lang="en-US" altLang="en-US" dirty="0" smtClean="0"/>
              <a:t>sending process relies on transport infrastructure on other side of door to deliver message to socket at receiving process</a:t>
            </a:r>
          </a:p>
        </p:txBody>
      </p:sp>
      <p:sp>
        <p:nvSpPr>
          <p:cNvPr id="66566" name="Freeform 66"/>
          <p:cNvSpPr>
            <a:spLocks/>
          </p:cNvSpPr>
          <p:nvPr/>
        </p:nvSpPr>
        <p:spPr bwMode="auto">
          <a:xfrm>
            <a:off x="8472488" y="3751263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6567" name="Freeform 7"/>
          <p:cNvSpPr>
            <a:spLocks/>
          </p:cNvSpPr>
          <p:nvPr/>
        </p:nvSpPr>
        <p:spPr bwMode="auto">
          <a:xfrm>
            <a:off x="5157788" y="5048251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8" name="Text Box 51"/>
          <p:cNvSpPr txBox="1">
            <a:spLocks noChangeArrowheads="1"/>
          </p:cNvSpPr>
          <p:nvPr/>
        </p:nvSpPr>
        <p:spPr bwMode="auto">
          <a:xfrm>
            <a:off x="5595938" y="518001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Internet</a:t>
            </a:r>
          </a:p>
        </p:txBody>
      </p:sp>
      <p:sp>
        <p:nvSpPr>
          <p:cNvPr id="66569" name="Line 52"/>
          <p:cNvSpPr>
            <a:spLocks noChangeShapeType="1"/>
          </p:cNvSpPr>
          <p:nvPr/>
        </p:nvSpPr>
        <p:spPr bwMode="auto">
          <a:xfrm>
            <a:off x="4916489" y="5591175"/>
            <a:ext cx="22113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0" name="Text Box 53"/>
          <p:cNvSpPr txBox="1">
            <a:spLocks noChangeArrowheads="1"/>
          </p:cNvSpPr>
          <p:nvPr/>
        </p:nvSpPr>
        <p:spPr bwMode="auto">
          <a:xfrm>
            <a:off x="8937626" y="481647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controlled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by OS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71" name="Text Box 56"/>
          <p:cNvSpPr txBox="1">
            <a:spLocks noChangeArrowheads="1"/>
          </p:cNvSpPr>
          <p:nvPr/>
        </p:nvSpPr>
        <p:spPr bwMode="auto">
          <a:xfrm>
            <a:off x="8915401" y="391636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controlled by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app developer</a:t>
            </a:r>
          </a:p>
        </p:txBody>
      </p:sp>
      <p:sp>
        <p:nvSpPr>
          <p:cNvPr id="66572" name="Freeform 45"/>
          <p:cNvSpPr>
            <a:spLocks/>
          </p:cNvSpPr>
          <p:nvPr/>
        </p:nvSpPr>
        <p:spPr bwMode="auto">
          <a:xfrm>
            <a:off x="2732089" y="3814764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6573" name="Rectangle 23"/>
          <p:cNvSpPr>
            <a:spLocks noChangeArrowheads="1"/>
          </p:cNvSpPr>
          <p:nvPr/>
        </p:nvSpPr>
        <p:spPr bwMode="auto">
          <a:xfrm>
            <a:off x="3535364" y="377031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74" name="Rectangle 24"/>
          <p:cNvSpPr>
            <a:spLocks noChangeArrowheads="1"/>
          </p:cNvSpPr>
          <p:nvPr/>
        </p:nvSpPr>
        <p:spPr bwMode="auto">
          <a:xfrm>
            <a:off x="3497264" y="3824288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75" name="Line 25"/>
          <p:cNvSpPr>
            <a:spLocks noChangeShapeType="1"/>
          </p:cNvSpPr>
          <p:nvPr/>
        </p:nvSpPr>
        <p:spPr bwMode="auto">
          <a:xfrm>
            <a:off x="3506788" y="45847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6" name="Text Box 26"/>
          <p:cNvSpPr txBox="1">
            <a:spLocks noChangeArrowheads="1"/>
          </p:cNvSpPr>
          <p:nvPr/>
        </p:nvSpPr>
        <p:spPr bwMode="auto">
          <a:xfrm>
            <a:off x="3463926" y="456723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66577" name="Line 27"/>
          <p:cNvSpPr>
            <a:spLocks noChangeShapeType="1"/>
          </p:cNvSpPr>
          <p:nvPr/>
        </p:nvSpPr>
        <p:spPr bwMode="auto">
          <a:xfrm>
            <a:off x="3514725" y="490537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8" name="Line 28"/>
          <p:cNvSpPr>
            <a:spLocks noChangeShapeType="1"/>
          </p:cNvSpPr>
          <p:nvPr/>
        </p:nvSpPr>
        <p:spPr bwMode="auto">
          <a:xfrm>
            <a:off x="3500438" y="521493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9" name="Line 29"/>
          <p:cNvSpPr>
            <a:spLocks noChangeShapeType="1"/>
          </p:cNvSpPr>
          <p:nvPr/>
        </p:nvSpPr>
        <p:spPr bwMode="auto">
          <a:xfrm>
            <a:off x="3500438" y="550068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0" name="Text Box 26"/>
          <p:cNvSpPr txBox="1">
            <a:spLocks noChangeArrowheads="1"/>
          </p:cNvSpPr>
          <p:nvPr/>
        </p:nvSpPr>
        <p:spPr bwMode="auto">
          <a:xfrm>
            <a:off x="3498851" y="381476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66581" name="Text Box 26"/>
          <p:cNvSpPr txBox="1">
            <a:spLocks noChangeArrowheads="1"/>
          </p:cNvSpPr>
          <p:nvPr/>
        </p:nvSpPr>
        <p:spPr bwMode="auto">
          <a:xfrm>
            <a:off x="3454401" y="547211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66582" name="Text Box 26"/>
          <p:cNvSpPr txBox="1">
            <a:spLocks noChangeArrowheads="1"/>
          </p:cNvSpPr>
          <p:nvPr/>
        </p:nvSpPr>
        <p:spPr bwMode="auto">
          <a:xfrm>
            <a:off x="3473451" y="518636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66583" name="Text Box 26"/>
          <p:cNvSpPr txBox="1">
            <a:spLocks noChangeArrowheads="1"/>
          </p:cNvSpPr>
          <p:nvPr/>
        </p:nvSpPr>
        <p:spPr bwMode="auto">
          <a:xfrm>
            <a:off x="3463926" y="489108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66584" name="Oval 57"/>
          <p:cNvSpPr>
            <a:spLocks noChangeArrowheads="1"/>
          </p:cNvSpPr>
          <p:nvPr/>
        </p:nvSpPr>
        <p:spPr bwMode="auto">
          <a:xfrm>
            <a:off x="3632200" y="408940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process</a:t>
            </a:r>
          </a:p>
        </p:txBody>
      </p:sp>
      <p:grpSp>
        <p:nvGrpSpPr>
          <p:cNvPr id="66585" name="Group 58"/>
          <p:cNvGrpSpPr>
            <a:grpSpLocks/>
          </p:cNvGrpSpPr>
          <p:nvPr/>
        </p:nvGrpSpPr>
        <p:grpSpPr bwMode="auto">
          <a:xfrm>
            <a:off x="3879850" y="4449764"/>
            <a:ext cx="546100" cy="225425"/>
            <a:chOff x="1287" y="2524"/>
            <a:chExt cx="260" cy="100"/>
          </a:xfrm>
        </p:grpSpPr>
        <p:sp>
          <p:nvSpPr>
            <p:cNvPr id="66615" name="Rectangle 59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6616" name="Rectangle 60"/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6617" name="Rectangle 61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6618" name="Rectangle 62"/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66586" name="Rectangle 23"/>
          <p:cNvSpPr>
            <a:spLocks noChangeArrowheads="1"/>
          </p:cNvSpPr>
          <p:nvPr/>
        </p:nvSpPr>
        <p:spPr bwMode="auto">
          <a:xfrm>
            <a:off x="7197725" y="374173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87" name="Rectangle 24"/>
          <p:cNvSpPr>
            <a:spLocks noChangeArrowheads="1"/>
          </p:cNvSpPr>
          <p:nvPr/>
        </p:nvSpPr>
        <p:spPr bwMode="auto">
          <a:xfrm>
            <a:off x="7159626" y="3795713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6588" name="Line 25"/>
          <p:cNvSpPr>
            <a:spLocks noChangeShapeType="1"/>
          </p:cNvSpPr>
          <p:nvPr/>
        </p:nvSpPr>
        <p:spPr bwMode="auto">
          <a:xfrm>
            <a:off x="7169150" y="455612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9" name="Text Box 26"/>
          <p:cNvSpPr txBox="1">
            <a:spLocks noChangeArrowheads="1"/>
          </p:cNvSpPr>
          <p:nvPr/>
        </p:nvSpPr>
        <p:spPr bwMode="auto">
          <a:xfrm>
            <a:off x="7126289" y="453866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66590" name="Line 27"/>
          <p:cNvSpPr>
            <a:spLocks noChangeShapeType="1"/>
          </p:cNvSpPr>
          <p:nvPr/>
        </p:nvSpPr>
        <p:spPr bwMode="auto">
          <a:xfrm>
            <a:off x="7177088" y="487680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91" name="Line 28"/>
          <p:cNvSpPr>
            <a:spLocks noChangeShapeType="1"/>
          </p:cNvSpPr>
          <p:nvPr/>
        </p:nvSpPr>
        <p:spPr bwMode="auto">
          <a:xfrm>
            <a:off x="7162800" y="518636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92" name="Line 29"/>
          <p:cNvSpPr>
            <a:spLocks noChangeShapeType="1"/>
          </p:cNvSpPr>
          <p:nvPr/>
        </p:nvSpPr>
        <p:spPr bwMode="auto">
          <a:xfrm>
            <a:off x="7162800" y="547211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93" name="Text Box 26"/>
          <p:cNvSpPr txBox="1">
            <a:spLocks noChangeArrowheads="1"/>
          </p:cNvSpPr>
          <p:nvPr/>
        </p:nvSpPr>
        <p:spPr bwMode="auto">
          <a:xfrm>
            <a:off x="7161214" y="378618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66594" name="Text Box 26"/>
          <p:cNvSpPr txBox="1">
            <a:spLocks noChangeArrowheads="1"/>
          </p:cNvSpPr>
          <p:nvPr/>
        </p:nvSpPr>
        <p:spPr bwMode="auto">
          <a:xfrm>
            <a:off x="7116764" y="544353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66595" name="Text Box 26"/>
          <p:cNvSpPr txBox="1">
            <a:spLocks noChangeArrowheads="1"/>
          </p:cNvSpPr>
          <p:nvPr/>
        </p:nvSpPr>
        <p:spPr bwMode="auto">
          <a:xfrm>
            <a:off x="7135814" y="5157789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66596" name="Text Box 26"/>
          <p:cNvSpPr txBox="1">
            <a:spLocks noChangeArrowheads="1"/>
          </p:cNvSpPr>
          <p:nvPr/>
        </p:nvSpPr>
        <p:spPr bwMode="auto">
          <a:xfrm>
            <a:off x="7126289" y="4862514"/>
            <a:ext cx="1317625" cy="32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69696"/>
                </a:solidFill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66597" name="Oval 78"/>
          <p:cNvSpPr>
            <a:spLocks noChangeArrowheads="1"/>
          </p:cNvSpPr>
          <p:nvPr/>
        </p:nvSpPr>
        <p:spPr bwMode="auto">
          <a:xfrm>
            <a:off x="7294563" y="406082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process</a:t>
            </a:r>
          </a:p>
        </p:txBody>
      </p:sp>
      <p:grpSp>
        <p:nvGrpSpPr>
          <p:cNvPr id="66598" name="Group 79"/>
          <p:cNvGrpSpPr>
            <a:grpSpLocks/>
          </p:cNvGrpSpPr>
          <p:nvPr/>
        </p:nvGrpSpPr>
        <p:grpSpPr bwMode="auto">
          <a:xfrm>
            <a:off x="7542213" y="4421189"/>
            <a:ext cx="546100" cy="225425"/>
            <a:chOff x="1287" y="2524"/>
            <a:chExt cx="260" cy="100"/>
          </a:xfrm>
        </p:grpSpPr>
        <p:sp>
          <p:nvSpPr>
            <p:cNvPr id="66611" name="Rectangle 80"/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6612" name="Rectangle 81"/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6613" name="Rectangle 82"/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6614" name="Rectangle 83"/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66599" name="Line 88"/>
          <p:cNvSpPr>
            <a:spLocks noChangeShapeType="1"/>
          </p:cNvSpPr>
          <p:nvPr/>
        </p:nvSpPr>
        <p:spPr bwMode="auto">
          <a:xfrm flipH="1">
            <a:off x="8351838" y="419258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00" name="Line 89"/>
          <p:cNvSpPr>
            <a:spLocks noChangeShapeType="1"/>
          </p:cNvSpPr>
          <p:nvPr/>
        </p:nvSpPr>
        <p:spPr bwMode="auto">
          <a:xfrm>
            <a:off x="8577263" y="4618038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01" name="Line 90"/>
          <p:cNvSpPr>
            <a:spLocks noChangeShapeType="1"/>
          </p:cNvSpPr>
          <p:nvPr/>
        </p:nvSpPr>
        <p:spPr bwMode="auto">
          <a:xfrm flipH="1">
            <a:off x="8601075" y="511810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02" name="Text Box 56"/>
          <p:cNvSpPr txBox="1">
            <a:spLocks noChangeArrowheads="1"/>
          </p:cNvSpPr>
          <p:nvPr/>
        </p:nvSpPr>
        <p:spPr bwMode="auto">
          <a:xfrm>
            <a:off x="5514976" y="3873501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CC0000"/>
                </a:solidFill>
              </a:rPr>
              <a:t>socket</a:t>
            </a:r>
          </a:p>
        </p:txBody>
      </p:sp>
      <p:sp>
        <p:nvSpPr>
          <p:cNvPr id="66603" name="Line 92"/>
          <p:cNvSpPr>
            <a:spLocks noChangeShapeType="1"/>
          </p:cNvSpPr>
          <p:nvPr/>
        </p:nvSpPr>
        <p:spPr bwMode="auto">
          <a:xfrm flipV="1">
            <a:off x="4518026" y="4073526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604" name="Line 93"/>
          <p:cNvSpPr>
            <a:spLocks noChangeShapeType="1"/>
          </p:cNvSpPr>
          <p:nvPr/>
        </p:nvSpPr>
        <p:spPr bwMode="auto">
          <a:xfrm flipH="1" flipV="1">
            <a:off x="6453189" y="4062414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6605" name="Group 96"/>
          <p:cNvGrpSpPr>
            <a:grpSpLocks/>
          </p:cNvGrpSpPr>
          <p:nvPr/>
        </p:nvGrpSpPr>
        <p:grpSpPr bwMode="auto">
          <a:xfrm>
            <a:off x="2308225" y="5127626"/>
            <a:ext cx="719138" cy="773113"/>
            <a:chOff x="-44" y="1473"/>
            <a:chExt cx="981" cy="1105"/>
          </a:xfrm>
        </p:grpSpPr>
        <p:pic>
          <p:nvPicPr>
            <p:cNvPr id="66609" name="Picture 9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10" name="Freeform 9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6606" name="Group 99"/>
          <p:cNvGrpSpPr>
            <a:grpSpLocks/>
          </p:cNvGrpSpPr>
          <p:nvPr/>
        </p:nvGrpSpPr>
        <p:grpSpPr bwMode="auto">
          <a:xfrm flipH="1">
            <a:off x="9004300" y="5322888"/>
            <a:ext cx="719138" cy="773112"/>
            <a:chOff x="-44" y="1473"/>
            <a:chExt cx="981" cy="1105"/>
          </a:xfrm>
        </p:grpSpPr>
        <p:pic>
          <p:nvPicPr>
            <p:cNvPr id="66607" name="Picture 10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08" name="Freeform 10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/>
              <a:t>2-</a:t>
            </a:r>
            <a:fld id="{64CAC436-ABCF-47EF-BB5A-3F78F54D5461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61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7050" y="238125"/>
            <a:ext cx="7772400" cy="871538"/>
          </a:xfrm>
        </p:spPr>
        <p:txBody>
          <a:bodyPr/>
          <a:lstStyle/>
          <a:p>
            <a:r>
              <a:rPr lang="en-US" altLang="en-US" sz="3600" dirty="0"/>
              <a:t>Addressing processes</a:t>
            </a:r>
            <a:endParaRPr lang="en-US" altLang="en-US" dirty="0" smtClean="0"/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452282" y="1365250"/>
            <a:ext cx="9901517" cy="464820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to receive messages, process  must have </a:t>
            </a:r>
            <a:r>
              <a:rPr lang="en-US" altLang="en-US" sz="2400" i="1" dirty="0">
                <a:solidFill>
                  <a:srgbClr val="CC0000"/>
                </a:solidFill>
              </a:rPr>
              <a:t>identifier</a:t>
            </a:r>
          </a:p>
          <a:p>
            <a:r>
              <a:rPr lang="en-US" altLang="en-US" sz="2400" dirty="0"/>
              <a:t>host device has unique 32-bit IP address</a:t>
            </a:r>
          </a:p>
          <a:p>
            <a:r>
              <a:rPr lang="en-US" altLang="en-US" sz="2400" i="1" u="sng" dirty="0">
                <a:solidFill>
                  <a:srgbClr val="CC0000"/>
                </a:solidFill>
              </a:rPr>
              <a:t>Q:</a:t>
            </a:r>
            <a:r>
              <a:rPr lang="en-US" altLang="en-US" sz="2400" dirty="0"/>
              <a:t> does  IP address of host on which process runs suffice for identifying the process</a:t>
            </a:r>
            <a:r>
              <a:rPr lang="en-US" altLang="en-US" sz="2400" dirty="0" smtClean="0"/>
              <a:t>?</a:t>
            </a:r>
          </a:p>
          <a:p>
            <a:pPr lvl="1">
              <a:lnSpc>
                <a:spcPct val="85000"/>
              </a:lnSpc>
              <a:buClr>
                <a:srgbClr val="000099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i="1" u="sng" dirty="0">
                <a:solidFill>
                  <a:srgbClr val="CC0000"/>
                </a:solidFill>
                <a:latin typeface="Gill Sans MT" panose="020B0502020104020203" pitchFamily="34" charset="0"/>
              </a:rPr>
              <a:t>A:</a:t>
            </a:r>
            <a:r>
              <a:rPr lang="en-US" altLang="en-US" dirty="0">
                <a:latin typeface="Gill Sans MT" panose="020B0502020104020203" pitchFamily="34" charset="0"/>
              </a:rPr>
              <a:t> no, </a:t>
            </a:r>
            <a:r>
              <a:rPr lang="en-US" altLang="en-US" i="1" dirty="0">
                <a:latin typeface="Gill Sans MT" panose="020B0502020104020203" pitchFamily="34" charset="0"/>
              </a:rPr>
              <a:t>many</a:t>
            </a:r>
            <a:r>
              <a:rPr lang="en-US" altLang="en-US" dirty="0">
                <a:latin typeface="Gill Sans MT" panose="020B0502020104020203" pitchFamily="34" charset="0"/>
              </a:rPr>
              <a:t> processes can be running on same host</a:t>
            </a:r>
          </a:p>
          <a:p>
            <a:r>
              <a:rPr lang="en-US" altLang="en-US" sz="2400" i="1" dirty="0">
                <a:solidFill>
                  <a:srgbClr val="CC0000"/>
                </a:solidFill>
              </a:rPr>
              <a:t>identifier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includes both </a:t>
            </a:r>
            <a:r>
              <a:rPr lang="en-US" altLang="en-US" sz="2400" dirty="0">
                <a:solidFill>
                  <a:srgbClr val="CC0000"/>
                </a:solidFill>
              </a:rPr>
              <a:t>IP address</a:t>
            </a:r>
            <a:r>
              <a:rPr lang="en-US" altLang="en-US" sz="2400" dirty="0"/>
              <a:t> and </a:t>
            </a:r>
            <a:r>
              <a:rPr lang="en-US" altLang="en-US" sz="2400" dirty="0">
                <a:solidFill>
                  <a:srgbClr val="CC0000"/>
                </a:solidFill>
              </a:rPr>
              <a:t>port numbers</a:t>
            </a:r>
            <a:r>
              <a:rPr lang="en-US" altLang="en-US" sz="2400" dirty="0"/>
              <a:t> associated with process on host.</a:t>
            </a:r>
          </a:p>
          <a:p>
            <a:r>
              <a:rPr lang="en-US" altLang="en-US" sz="2400" dirty="0"/>
              <a:t>example port numbers:</a:t>
            </a:r>
          </a:p>
          <a:p>
            <a:pPr lvl="1"/>
            <a:r>
              <a:rPr lang="en-US" altLang="en-US" dirty="0"/>
              <a:t>HTTP server: 80</a:t>
            </a:r>
          </a:p>
          <a:p>
            <a:pPr lvl="1"/>
            <a:r>
              <a:rPr lang="en-US" altLang="en-US" dirty="0"/>
              <a:t>mail server: 25</a:t>
            </a:r>
          </a:p>
          <a:p>
            <a:endParaRPr lang="en-US" altLang="en-US" sz="2400" dirty="0" smtClean="0"/>
          </a:p>
          <a:p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7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>
                <a:latin typeface="Tahoma" panose="020B0604030504040204" pitchFamily="34" charset="0"/>
              </a:rPr>
              <a:t>2-</a:t>
            </a:r>
            <a:fld id="{F7015FDF-106E-4E6D-A62A-1C3BEB45F071}" type="slidenum">
              <a:rPr lang="en-US" altLang="en-US" sz="1200">
                <a:latin typeface="Tahoma" panose="020B0604030504040204" pitchFamily="34" charset="0"/>
              </a:rPr>
              <a:pPr/>
              <a:t>11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>
          <a:xfrm>
            <a:off x="1860550" y="239714"/>
            <a:ext cx="7772400" cy="860425"/>
          </a:xfrm>
        </p:spPr>
        <p:txBody>
          <a:bodyPr/>
          <a:lstStyle/>
          <a:p>
            <a:r>
              <a:rPr lang="en-US" altLang="en-US" smtClean="0"/>
              <a:t>App-layer protocol defines</a:t>
            </a:r>
          </a:p>
        </p:txBody>
      </p:sp>
      <p:sp>
        <p:nvSpPr>
          <p:cNvPr id="7066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8907" y="1100139"/>
            <a:ext cx="10694894" cy="508550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>
                <a:solidFill>
                  <a:srgbClr val="CC0000"/>
                </a:solidFill>
              </a:rPr>
              <a:t>types of messages exchanged,</a:t>
            </a:r>
            <a:r>
              <a:rPr lang="en-US" altLang="en-US" sz="2400" dirty="0"/>
              <a:t> </a:t>
            </a:r>
          </a:p>
          <a:p>
            <a:pPr lvl="1"/>
            <a:r>
              <a:rPr lang="en-US" altLang="en-US" dirty="0" smtClean="0"/>
              <a:t>e.g., request, response </a:t>
            </a:r>
          </a:p>
          <a:p>
            <a:r>
              <a:rPr lang="en-US" altLang="en-US" sz="2400" dirty="0">
                <a:solidFill>
                  <a:srgbClr val="CC0000"/>
                </a:solidFill>
              </a:rPr>
              <a:t>message syntax:</a:t>
            </a:r>
          </a:p>
          <a:p>
            <a:pPr lvl="1"/>
            <a:r>
              <a:rPr lang="en-US" altLang="en-US" dirty="0" smtClean="0"/>
              <a:t>what fields in messages &amp; how fields are delineated</a:t>
            </a:r>
          </a:p>
          <a:p>
            <a:r>
              <a:rPr lang="en-US" altLang="en-US" sz="2400" dirty="0">
                <a:solidFill>
                  <a:srgbClr val="CC0000"/>
                </a:solidFill>
              </a:rPr>
              <a:t>message semantics</a:t>
            </a:r>
            <a:r>
              <a:rPr lang="en-US" altLang="en-US" sz="2400" dirty="0"/>
              <a:t> </a:t>
            </a:r>
          </a:p>
          <a:p>
            <a:pPr lvl="1"/>
            <a:r>
              <a:rPr lang="en-US" altLang="en-US" dirty="0" smtClean="0"/>
              <a:t>meaning of information in fields</a:t>
            </a:r>
          </a:p>
          <a:p>
            <a:r>
              <a:rPr lang="en-US" altLang="en-US" sz="2400" dirty="0">
                <a:solidFill>
                  <a:srgbClr val="CC0000"/>
                </a:solidFill>
              </a:rPr>
              <a:t>rules</a:t>
            </a:r>
            <a:r>
              <a:rPr lang="en-US" altLang="en-US" sz="2400" dirty="0"/>
              <a:t> for when and how processes send &amp; respond to </a:t>
            </a:r>
            <a:r>
              <a:rPr lang="en-US" altLang="en-US" sz="2400" dirty="0" smtClean="0"/>
              <a:t>messages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open protocols:</a:t>
            </a:r>
          </a:p>
          <a:p>
            <a:r>
              <a:rPr lang="en-US" altLang="en-US" sz="2400" dirty="0"/>
              <a:t>defined in RFCs</a:t>
            </a:r>
          </a:p>
          <a:p>
            <a:r>
              <a:rPr lang="en-US" altLang="en-US" sz="2400" dirty="0"/>
              <a:t>allows for interoperability</a:t>
            </a:r>
          </a:p>
          <a:p>
            <a:r>
              <a:rPr lang="en-US" altLang="en-US" sz="2400" dirty="0"/>
              <a:t>e.g., HTTP, SMTP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proprietary protocols:</a:t>
            </a:r>
          </a:p>
          <a:p>
            <a:r>
              <a:rPr lang="en-US" altLang="en-US" sz="2400" dirty="0"/>
              <a:t>e.g., Skype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3298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1825" y="-11113"/>
            <a:ext cx="8305800" cy="1143001"/>
          </a:xfrm>
        </p:spPr>
        <p:txBody>
          <a:bodyPr/>
          <a:lstStyle/>
          <a:p>
            <a:r>
              <a:rPr lang="en-US" altLang="en-US" sz="3600"/>
              <a:t>What transport service does an app need?</a:t>
            </a:r>
            <a:endParaRPr lang="en-US" altLang="en-US" smtClean="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21976" y="1141413"/>
            <a:ext cx="10219765" cy="5098021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CC0000"/>
                </a:solidFill>
              </a:rPr>
              <a:t>data integrity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some apps (e.g., file transfer, web transactions) require 100% reliable data transfer</a:t>
            </a:r>
            <a:r>
              <a:rPr lang="en-US" altLang="en-US" dirty="0" smtClean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other apps (e.g., audio) can tolerate some </a:t>
            </a:r>
            <a:r>
              <a:rPr lang="en-US" altLang="en-US" sz="2400" dirty="0" smtClean="0"/>
              <a:t>loss</a:t>
            </a:r>
          </a:p>
          <a:p>
            <a:pPr>
              <a:buNone/>
            </a:pPr>
            <a:r>
              <a:rPr lang="en-US" altLang="en-US" sz="2400" dirty="0">
                <a:solidFill>
                  <a:srgbClr val="CC0000"/>
                </a:solidFill>
              </a:rPr>
              <a:t>timing</a:t>
            </a:r>
          </a:p>
          <a:p>
            <a:r>
              <a:rPr lang="en-US" altLang="en-US" sz="2400" dirty="0"/>
              <a:t>some apps (e.g., Internet telephony, interactive games) require low delay to be </a:t>
            </a:r>
            <a:r>
              <a:rPr lang="ja-JP" altLang="en-US" sz="2400" dirty="0"/>
              <a:t>“</a:t>
            </a:r>
            <a:r>
              <a:rPr lang="en-US" altLang="ja-JP" sz="2400" dirty="0"/>
              <a:t>effective</a:t>
            </a:r>
            <a:r>
              <a:rPr lang="ja-JP" altLang="en-US" sz="2400" dirty="0"/>
              <a:t>”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dirty="0" smtClean="0"/>
          </a:p>
          <a:p>
            <a:r>
              <a:rPr lang="en-US" altLang="en-US" sz="2400" dirty="0">
                <a:solidFill>
                  <a:srgbClr val="CC0000"/>
                </a:solidFill>
                <a:latin typeface="Gill Sans MT" panose="020B0502020104020203" pitchFamily="34" charset="0"/>
              </a:rPr>
              <a:t>throughput</a:t>
            </a:r>
          </a:p>
          <a:p>
            <a:pPr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Gill Sans MT" panose="020B0502020104020203" pitchFamily="34" charset="0"/>
              </a:rPr>
              <a:t>some apps (e.g., multimedia) require minimum amount of throughput to be </a:t>
            </a:r>
            <a:r>
              <a:rPr lang="ja-JP" altLang="en-US" sz="2400" dirty="0">
                <a:latin typeface="Gill Sans MT" panose="020B0502020104020203" pitchFamily="34" charset="0"/>
              </a:rPr>
              <a:t>“</a:t>
            </a:r>
            <a:r>
              <a:rPr lang="en-US" altLang="ja-JP" sz="2400" dirty="0">
                <a:latin typeface="Gill Sans MT" panose="020B0502020104020203" pitchFamily="34" charset="0"/>
              </a:rPr>
              <a:t>effective</a:t>
            </a:r>
            <a:r>
              <a:rPr lang="ja-JP" altLang="en-US" sz="2400" dirty="0">
                <a:latin typeface="Gill Sans MT" panose="020B0502020104020203" pitchFamily="34" charset="0"/>
              </a:rPr>
              <a:t>”</a:t>
            </a:r>
            <a:endParaRPr lang="en-US" altLang="ja-JP" sz="2400" dirty="0">
              <a:latin typeface="Gill Sans MT" panose="020B0502020104020203" pitchFamily="34" charset="0"/>
            </a:endParaRPr>
          </a:p>
          <a:p>
            <a:pPr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Gill Sans MT" panose="020B0502020104020203" pitchFamily="34" charset="0"/>
              </a:rPr>
              <a:t>other apps (</a:t>
            </a:r>
            <a:r>
              <a:rPr lang="ja-JP" altLang="en-US" sz="2400" dirty="0">
                <a:latin typeface="Gill Sans MT" panose="020B0502020104020203" pitchFamily="34" charset="0"/>
              </a:rPr>
              <a:t>“</a:t>
            </a:r>
            <a:r>
              <a:rPr lang="en-US" altLang="ja-JP" sz="2400" dirty="0">
                <a:latin typeface="Gill Sans MT" panose="020B0502020104020203" pitchFamily="34" charset="0"/>
              </a:rPr>
              <a:t>elastic apps</a:t>
            </a:r>
            <a:r>
              <a:rPr lang="ja-JP" altLang="en-US" sz="2400" dirty="0">
                <a:latin typeface="Gill Sans MT" panose="020B0502020104020203" pitchFamily="34" charset="0"/>
              </a:rPr>
              <a:t>”</a:t>
            </a:r>
            <a:r>
              <a:rPr lang="en-US" altLang="ja-JP" sz="2400" dirty="0">
                <a:latin typeface="Gill Sans MT" panose="020B0502020104020203" pitchFamily="34" charset="0"/>
              </a:rPr>
              <a:t>) make use of whatever throughput they get </a:t>
            </a:r>
            <a:endParaRPr lang="en-US" altLang="ja-JP" sz="2400" dirty="0" smtClean="0">
              <a:latin typeface="Gill Sans MT" panose="020B0502020104020203" pitchFamily="34" charset="0"/>
            </a:endParaRPr>
          </a:p>
          <a:p>
            <a:r>
              <a:rPr lang="en-US" altLang="en-US" sz="2400" dirty="0">
                <a:solidFill>
                  <a:srgbClr val="CC0000"/>
                </a:solidFill>
                <a:latin typeface="Gill Sans MT" panose="020B0502020104020203" pitchFamily="34" charset="0"/>
              </a:rPr>
              <a:t>security</a:t>
            </a:r>
          </a:p>
          <a:p>
            <a:pPr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Gill Sans MT" panose="020B0502020104020203" pitchFamily="34" charset="0"/>
              </a:rPr>
              <a:t>encryption, data integrity, </a:t>
            </a:r>
            <a:r>
              <a:rPr lang="en-US" altLang="en-US" sz="2400" dirty="0" smtClean="0">
                <a:latin typeface="Gill Sans MT" panose="020B0502020104020203" pitchFamily="34" charset="0"/>
              </a:rPr>
              <a:t>…</a:t>
            </a:r>
            <a:endParaRPr lang="en-US" altLang="en-US" dirty="0" smtClean="0"/>
          </a:p>
        </p:txBody>
      </p:sp>
      <p:sp>
        <p:nvSpPr>
          <p:cNvPr id="45063" name="Rectangle 5"/>
          <p:cNvSpPr>
            <a:spLocks noChangeArrowheads="1"/>
          </p:cNvSpPr>
          <p:nvPr/>
        </p:nvSpPr>
        <p:spPr bwMode="auto">
          <a:xfrm>
            <a:off x="6429376" y="1101726"/>
            <a:ext cx="3935413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400" dirty="0">
              <a:latin typeface="Gill Sans MT" panose="020B0502020104020203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0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1868488" y="268289"/>
            <a:ext cx="7772400" cy="858837"/>
          </a:xfrm>
        </p:spPr>
        <p:txBody>
          <a:bodyPr/>
          <a:lstStyle/>
          <a:p>
            <a:r>
              <a:rPr lang="en-US" altLang="en-US" sz="3600"/>
              <a:t>Internet transport protocols services</a:t>
            </a:r>
            <a:endParaRPr lang="en-US" altLang="en-US" smtClean="0"/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3718" y="1223682"/>
            <a:ext cx="9824757" cy="5132668"/>
          </a:xfrm>
        </p:spPr>
        <p:txBody>
          <a:bodyPr>
            <a:normAutofit/>
          </a:bodyPr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000099"/>
                </a:solidFill>
              </a:rPr>
              <a:t>TCP service:</a:t>
            </a:r>
          </a:p>
          <a:p>
            <a:pPr>
              <a:lnSpc>
                <a:spcPct val="75000"/>
              </a:lnSpc>
            </a:pPr>
            <a:r>
              <a:rPr lang="en-US" altLang="en-US" sz="2400" i="1" dirty="0">
                <a:solidFill>
                  <a:srgbClr val="CC0000"/>
                </a:solidFill>
              </a:rPr>
              <a:t>reliable transport</a:t>
            </a:r>
            <a:r>
              <a:rPr lang="en-US" altLang="en-US" sz="2400" i="1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between sending and receiving process</a:t>
            </a:r>
            <a:endParaRPr lang="en-US" altLang="en-US" sz="2400" dirty="0">
              <a:solidFill>
                <a:schemeClr val="accent2"/>
              </a:solidFill>
            </a:endParaRPr>
          </a:p>
          <a:p>
            <a:pPr>
              <a:lnSpc>
                <a:spcPct val="75000"/>
              </a:lnSpc>
            </a:pPr>
            <a:r>
              <a:rPr lang="en-US" altLang="en-US" sz="2400" i="1" dirty="0">
                <a:solidFill>
                  <a:srgbClr val="CC0000"/>
                </a:solidFill>
              </a:rPr>
              <a:t>flow control:</a:t>
            </a:r>
            <a:r>
              <a:rPr lang="en-US" altLang="en-US" sz="2400" dirty="0"/>
              <a:t> sender won</a:t>
            </a:r>
            <a:r>
              <a:rPr lang="ja-JP" altLang="en-US" sz="2400" dirty="0"/>
              <a:t>’</a:t>
            </a:r>
            <a:r>
              <a:rPr lang="en-US" altLang="ja-JP" sz="2400" dirty="0"/>
              <a:t>t overwhelm receiver </a:t>
            </a:r>
          </a:p>
          <a:p>
            <a:pPr>
              <a:lnSpc>
                <a:spcPct val="75000"/>
              </a:lnSpc>
            </a:pPr>
            <a:r>
              <a:rPr lang="en-US" altLang="en-US" sz="2400" i="1" dirty="0">
                <a:solidFill>
                  <a:srgbClr val="CC0000"/>
                </a:solidFill>
              </a:rPr>
              <a:t>congestion control:</a:t>
            </a:r>
            <a:r>
              <a:rPr lang="en-US" altLang="en-US" sz="2400" dirty="0"/>
              <a:t> throttle sender when network overloaded</a:t>
            </a:r>
          </a:p>
          <a:p>
            <a:pPr>
              <a:lnSpc>
                <a:spcPct val="75000"/>
              </a:lnSpc>
            </a:pPr>
            <a:r>
              <a:rPr lang="en-US" altLang="en-US" sz="2400" i="1" dirty="0">
                <a:solidFill>
                  <a:srgbClr val="CC0000"/>
                </a:solidFill>
              </a:rPr>
              <a:t>does not provide:</a:t>
            </a:r>
            <a:r>
              <a:rPr lang="en-US" altLang="en-US" sz="2400" dirty="0"/>
              <a:t> timing, minimum throughput guarantee, security</a:t>
            </a:r>
          </a:p>
          <a:p>
            <a:pPr>
              <a:lnSpc>
                <a:spcPct val="75000"/>
              </a:lnSpc>
            </a:pPr>
            <a:r>
              <a:rPr lang="en-US" altLang="en-US" sz="2400" i="1" dirty="0">
                <a:solidFill>
                  <a:srgbClr val="CC0000"/>
                </a:solidFill>
              </a:rPr>
              <a:t>connection-oriented:</a:t>
            </a:r>
            <a:r>
              <a:rPr lang="en-US" altLang="en-US" sz="2400" dirty="0"/>
              <a:t> setup required between client and server </a:t>
            </a:r>
            <a:r>
              <a:rPr lang="en-US" altLang="en-US" sz="2400" dirty="0" smtClean="0"/>
              <a:t>processes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00099"/>
                </a:solidFill>
              </a:rPr>
              <a:t>UDP service:</a:t>
            </a:r>
          </a:p>
          <a:p>
            <a:r>
              <a:rPr lang="en-US" altLang="en-US" sz="2400" i="1" dirty="0">
                <a:solidFill>
                  <a:srgbClr val="CC0000"/>
                </a:solidFill>
              </a:rPr>
              <a:t>unreliable data transfer</a:t>
            </a:r>
            <a:r>
              <a:rPr lang="en-US" altLang="en-US" sz="2400" dirty="0"/>
              <a:t> between sending and receiving process</a:t>
            </a:r>
          </a:p>
          <a:p>
            <a:r>
              <a:rPr lang="en-US" altLang="en-US" sz="2400" i="1" dirty="0">
                <a:solidFill>
                  <a:srgbClr val="CC0000"/>
                </a:solidFill>
              </a:rPr>
              <a:t>does not provide:</a:t>
            </a:r>
            <a:r>
              <a:rPr lang="en-US" altLang="en-US" sz="2400" dirty="0"/>
              <a:t> reliability, flow control, congestion control, timing, throughput guarantee, security, </a:t>
            </a:r>
            <a:r>
              <a:rPr lang="en-US" altLang="en-US" sz="2400" dirty="0" smtClean="0"/>
              <a:t>or connection </a:t>
            </a:r>
            <a:r>
              <a:rPr lang="en-US" altLang="en-US" sz="2400" dirty="0"/>
              <a:t>setup, </a:t>
            </a: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5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8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A6D4BE35-C5AC-4E55-BD13-A2487B231989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1924050" y="201614"/>
            <a:ext cx="7772400" cy="892175"/>
          </a:xfrm>
        </p:spPr>
        <p:txBody>
          <a:bodyPr/>
          <a:lstStyle/>
          <a:p>
            <a:r>
              <a:rPr lang="en-US" altLang="en-US" smtClean="0"/>
              <a:t>Web and HTTP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612" y="1360488"/>
            <a:ext cx="8969188" cy="4648200"/>
          </a:xfrm>
        </p:spPr>
        <p:txBody>
          <a:bodyPr/>
          <a:lstStyle/>
          <a:p>
            <a:r>
              <a:rPr lang="en-US" altLang="en-US" i="1" dirty="0" smtClean="0">
                <a:solidFill>
                  <a:srgbClr val="CC0000"/>
                </a:solidFill>
              </a:rPr>
              <a:t>web </a:t>
            </a:r>
            <a:r>
              <a:rPr lang="en-US" altLang="en-US" i="1" dirty="0" smtClean="0">
                <a:solidFill>
                  <a:srgbClr val="CC0000"/>
                </a:solidFill>
              </a:rPr>
              <a:t>page</a:t>
            </a:r>
            <a:r>
              <a:rPr lang="en-US" altLang="en-US" dirty="0" smtClean="0"/>
              <a:t> consists of </a:t>
            </a:r>
            <a:r>
              <a:rPr lang="en-US" altLang="en-US" i="1" dirty="0" smtClean="0">
                <a:solidFill>
                  <a:srgbClr val="CC0000"/>
                </a:solidFill>
              </a:rPr>
              <a:t>objects</a:t>
            </a:r>
          </a:p>
          <a:p>
            <a:r>
              <a:rPr lang="en-US" altLang="en-US" dirty="0" smtClean="0"/>
              <a:t>object can be HTML file, JPEG image, Java applet, audio file,…</a:t>
            </a:r>
          </a:p>
          <a:p>
            <a:r>
              <a:rPr lang="en-US" altLang="en-US" dirty="0" smtClean="0"/>
              <a:t>web page consists of </a:t>
            </a:r>
            <a:r>
              <a:rPr lang="en-US" altLang="en-US" i="1" dirty="0" smtClean="0">
                <a:solidFill>
                  <a:srgbClr val="CC0000"/>
                </a:solidFill>
              </a:rPr>
              <a:t>base HTML-file</a:t>
            </a:r>
            <a:r>
              <a:rPr lang="en-US" altLang="en-US" dirty="0" smtClean="0"/>
              <a:t> which includes </a:t>
            </a:r>
            <a:r>
              <a:rPr lang="en-US" altLang="en-US" i="1" dirty="0" smtClean="0">
                <a:solidFill>
                  <a:srgbClr val="CC0000"/>
                </a:solidFill>
              </a:rPr>
              <a:t>several referenced objects</a:t>
            </a:r>
          </a:p>
          <a:p>
            <a:r>
              <a:rPr lang="en-US" altLang="en-US" dirty="0" smtClean="0"/>
              <a:t>each object is addressable by a </a:t>
            </a:r>
            <a:r>
              <a:rPr lang="en-US" altLang="en-US" i="1" dirty="0" smtClean="0">
                <a:solidFill>
                  <a:srgbClr val="CC0000"/>
                </a:solidFill>
              </a:rPr>
              <a:t>URL, </a:t>
            </a:r>
            <a:r>
              <a:rPr lang="en-US" altLang="en-US" dirty="0" smtClean="0"/>
              <a:t>e.g.,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  <p:grpSp>
        <p:nvGrpSpPr>
          <p:cNvPr id="53254" name="Group 10"/>
          <p:cNvGrpSpPr>
            <a:grpSpLocks/>
          </p:cNvGrpSpPr>
          <p:nvPr/>
        </p:nvGrpSpPr>
        <p:grpSpPr bwMode="auto">
          <a:xfrm>
            <a:off x="2725739" y="4486275"/>
            <a:ext cx="6835775" cy="1144588"/>
            <a:chOff x="788" y="2955"/>
            <a:chExt cx="4306" cy="721"/>
          </a:xfrm>
        </p:grpSpPr>
        <p:sp>
          <p:nvSpPr>
            <p:cNvPr id="53256" name="Text Box 5"/>
            <p:cNvSpPr txBox="1">
              <a:spLocks noChangeArrowheads="1"/>
            </p:cNvSpPr>
            <p:nvPr/>
          </p:nvSpPr>
          <p:spPr bwMode="auto">
            <a:xfrm>
              <a:off x="788" y="2955"/>
              <a:ext cx="41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Courier New" panose="02070309020205020404" pitchFamily="49" charset="0"/>
                </a:rPr>
                <a:t>www.someschool.edu/someDept/pic.gif</a:t>
              </a:r>
            </a:p>
          </p:txBody>
        </p:sp>
        <p:sp>
          <p:nvSpPr>
            <p:cNvPr id="53257" name="AutoShape 6"/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53258" name="AutoShape 7"/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53259" name="Text Box 8"/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host name</a:t>
              </a:r>
            </a:p>
          </p:txBody>
        </p:sp>
        <p:sp>
          <p:nvSpPr>
            <p:cNvPr id="53260" name="Text Box 9"/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Arial" panose="020B0604020202020204" pitchFamily="34" charset="0"/>
                </a:rPr>
                <a:t>path</a:t>
              </a:r>
              <a:r>
                <a:rPr lang="en-US" altLang="en-US" sz="2400">
                  <a:latin typeface="Comic Sans MS" panose="030F0702030302020204" pitchFamily="66" charset="0"/>
                </a:rPr>
                <a:t> </a:t>
              </a:r>
              <a:r>
                <a:rPr lang="en-US" altLang="en-US" sz="2400">
                  <a:latin typeface="Arial" panose="020B0604020202020204" pitchFamily="34" charset="0"/>
                </a:rPr>
                <a:t>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400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9564"/>
            <a:ext cx="7772400" cy="795337"/>
          </a:xfrm>
        </p:spPr>
        <p:txBody>
          <a:bodyPr/>
          <a:lstStyle/>
          <a:p>
            <a:r>
              <a:rPr lang="en-US" altLang="en-US" sz="4000"/>
              <a:t>HTTP overview</a:t>
            </a:r>
            <a:endParaRPr lang="en-US" altLang="en-US" smtClean="0"/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37129" y="1489075"/>
            <a:ext cx="4630271" cy="464820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dirty="0" smtClean="0">
                <a:solidFill>
                  <a:srgbClr val="CC0000"/>
                </a:solidFill>
              </a:rPr>
              <a:t>HTTP: hypertext transfer protocol</a:t>
            </a:r>
          </a:p>
          <a:p>
            <a:pPr>
              <a:lnSpc>
                <a:spcPct val="75000"/>
              </a:lnSpc>
            </a:pPr>
            <a:r>
              <a:rPr lang="en-US" altLang="en-US" sz="2400" dirty="0"/>
              <a:t>Web</a:t>
            </a:r>
            <a:r>
              <a:rPr lang="ja-JP" altLang="en-US" sz="2400" dirty="0"/>
              <a:t>’</a:t>
            </a:r>
            <a:r>
              <a:rPr lang="en-US" altLang="ja-JP" sz="2400" dirty="0"/>
              <a:t>s application layer protocol</a:t>
            </a:r>
          </a:p>
          <a:p>
            <a:pPr>
              <a:lnSpc>
                <a:spcPct val="75000"/>
              </a:lnSpc>
            </a:pPr>
            <a:r>
              <a:rPr lang="en-US" altLang="en-US" sz="2400" dirty="0"/>
              <a:t>client/server model</a:t>
            </a:r>
          </a:p>
          <a:p>
            <a:pPr lvl="1">
              <a:lnSpc>
                <a:spcPct val="75000"/>
              </a:lnSpc>
            </a:pPr>
            <a:r>
              <a:rPr lang="en-US" altLang="en-US" i="1" dirty="0" smtClean="0">
                <a:solidFill>
                  <a:srgbClr val="CC0000"/>
                </a:solidFill>
              </a:rPr>
              <a:t>client</a:t>
            </a:r>
            <a:r>
              <a:rPr lang="en-US" altLang="en-US" i="1" dirty="0" smtClean="0">
                <a:solidFill>
                  <a:srgbClr val="FF0000"/>
                </a:solidFill>
              </a:rPr>
              <a:t>:</a:t>
            </a:r>
            <a:r>
              <a:rPr lang="en-US" altLang="en-US" dirty="0" smtClean="0"/>
              <a:t> browser that requests, receives, (using HTTP protocol) and </a:t>
            </a:r>
            <a:r>
              <a:rPr lang="ja-JP" altLang="en-US" dirty="0" smtClean="0"/>
              <a:t>“</a:t>
            </a:r>
            <a:r>
              <a:rPr lang="en-US" altLang="ja-JP" dirty="0" smtClean="0"/>
              <a:t>displays</a:t>
            </a:r>
            <a:r>
              <a:rPr lang="ja-JP" altLang="en-US" dirty="0" smtClean="0"/>
              <a:t>”</a:t>
            </a:r>
            <a:r>
              <a:rPr lang="en-US" altLang="ja-JP" dirty="0" smtClean="0"/>
              <a:t> Web objects </a:t>
            </a:r>
          </a:p>
          <a:p>
            <a:pPr lvl="1">
              <a:lnSpc>
                <a:spcPct val="75000"/>
              </a:lnSpc>
            </a:pPr>
            <a:r>
              <a:rPr lang="en-US" altLang="en-US" i="1" dirty="0" smtClean="0">
                <a:solidFill>
                  <a:srgbClr val="CC0000"/>
                </a:solidFill>
              </a:rPr>
              <a:t>server:</a:t>
            </a:r>
            <a:r>
              <a:rPr lang="en-US" altLang="en-US" dirty="0" smtClean="0"/>
              <a:t> Web server sends (using HTTP protocol) objects in response to requests</a:t>
            </a:r>
          </a:p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55302" name="Text Box 7"/>
          <p:cNvSpPr txBox="1">
            <a:spLocks noChangeArrowheads="1"/>
          </p:cNvSpPr>
          <p:nvPr/>
        </p:nvSpPr>
        <p:spPr bwMode="auto">
          <a:xfrm>
            <a:off x="6089651" y="2455864"/>
            <a:ext cx="1584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PC running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Firefox browser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55303" name="Text Box 9"/>
          <p:cNvSpPr txBox="1">
            <a:spLocks noChangeArrowheads="1"/>
          </p:cNvSpPr>
          <p:nvPr/>
        </p:nvSpPr>
        <p:spPr bwMode="auto">
          <a:xfrm>
            <a:off x="9032875" y="3836989"/>
            <a:ext cx="13462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server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running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Apache Web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server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55304" name="Text Box 23"/>
          <p:cNvSpPr txBox="1">
            <a:spLocks noChangeArrowheads="1"/>
          </p:cNvSpPr>
          <p:nvPr/>
        </p:nvSpPr>
        <p:spPr bwMode="auto">
          <a:xfrm>
            <a:off x="6343650" y="5218114"/>
            <a:ext cx="1525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iphone running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Safari browser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7302500" y="2136775"/>
            <a:ext cx="2101850" cy="946150"/>
            <a:chOff x="3640" y="1346"/>
            <a:chExt cx="1324" cy="596"/>
          </a:xfrm>
        </p:grpSpPr>
        <p:sp>
          <p:nvSpPr>
            <p:cNvPr id="55353" name="Line 19"/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4" name="Text Box 24"/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7413626" y="2344739"/>
            <a:ext cx="1971675" cy="904875"/>
            <a:chOff x="4141" y="394"/>
            <a:chExt cx="1242" cy="570"/>
          </a:xfrm>
        </p:grpSpPr>
        <p:sp>
          <p:nvSpPr>
            <p:cNvPr id="55351" name="Line 20"/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2" name="Text Box 26"/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37"/>
          <p:cNvGrpSpPr>
            <a:grpSpLocks/>
          </p:cNvGrpSpPr>
          <p:nvPr/>
        </p:nvGrpSpPr>
        <p:grpSpPr bwMode="auto">
          <a:xfrm rot="18416944">
            <a:off x="7278688" y="3630613"/>
            <a:ext cx="2101850" cy="946150"/>
            <a:chOff x="3640" y="1346"/>
            <a:chExt cx="1324" cy="596"/>
          </a:xfrm>
        </p:grpSpPr>
        <p:sp>
          <p:nvSpPr>
            <p:cNvPr id="55349" name="Line 19"/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50" name="Text Box 24"/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request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 rot="18335063">
            <a:off x="7324726" y="3870326"/>
            <a:ext cx="1971675" cy="904875"/>
            <a:chOff x="4141" y="394"/>
            <a:chExt cx="1242" cy="570"/>
          </a:xfrm>
        </p:grpSpPr>
        <p:sp>
          <p:nvSpPr>
            <p:cNvPr id="55347" name="Line 20"/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48" name="Text Box 26"/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  <a:latin typeface="Arial" panose="020B0604020202020204" pitchFamily="34" charset="0"/>
                </a:rPr>
                <a:t>HTTP response</a:t>
              </a:r>
              <a:endParaRPr lang="en-US" altLang="en-US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55310" name="Picture 43" descr="iphone_stylized_sma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725" y="4286251"/>
            <a:ext cx="382588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5311" name="Group 44"/>
          <p:cNvGrpSpPr>
            <a:grpSpLocks/>
          </p:cNvGrpSpPr>
          <p:nvPr/>
        </p:nvGrpSpPr>
        <p:grpSpPr bwMode="auto">
          <a:xfrm>
            <a:off x="6281738" y="1468438"/>
            <a:ext cx="1066800" cy="1079500"/>
            <a:chOff x="-44" y="1473"/>
            <a:chExt cx="981" cy="1105"/>
          </a:xfrm>
        </p:grpSpPr>
        <p:pic>
          <p:nvPicPr>
            <p:cNvPr id="553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4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5312" name="Group 47"/>
          <p:cNvGrpSpPr>
            <a:grpSpLocks/>
          </p:cNvGrpSpPr>
          <p:nvPr/>
        </p:nvGrpSpPr>
        <p:grpSpPr bwMode="auto">
          <a:xfrm>
            <a:off x="9402764" y="2633663"/>
            <a:ext cx="695325" cy="1282700"/>
            <a:chOff x="4140" y="429"/>
            <a:chExt cx="1425" cy="2396"/>
          </a:xfrm>
        </p:grpSpPr>
        <p:sp>
          <p:nvSpPr>
            <p:cNvPr id="55313" name="Freeform 4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4" name="Rectangle 49"/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315" name="Freeform 5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6" name="Freeform 5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7" name="Rectangle 52"/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55318" name="Group 5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5343" name="AutoShape 54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5344" name="AutoShape 55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319" name="Rectangle 56"/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55320" name="Group 5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341" name="AutoShape 58"/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5342" name="AutoShape 59"/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321" name="Rectangle 60"/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322" name="Rectangle 61"/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55323" name="Group 6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5339" name="AutoShape 63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5340" name="AutoShape 64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324" name="Freeform 6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5325" name="Group 6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5337" name="AutoShape 67"/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5338" name="AutoShape 68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326" name="Rectangle 69"/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327" name="Freeform 7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8" name="Freeform 7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9" name="Oval 72"/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330" name="Freeform 7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1" name="AutoShape 74"/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332" name="AutoShape 75"/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333" name="Oval 76"/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334" name="Oval 77"/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35" name="Oval 78"/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336" name="Rectangle 79"/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8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9"/>
          <p:cNvSpPr>
            <a:spLocks noChangeArrowheads="1"/>
          </p:cNvSpPr>
          <p:nvPr/>
        </p:nvSpPr>
        <p:spPr bwMode="auto">
          <a:xfrm>
            <a:off x="9191626" y="3238501"/>
            <a:ext cx="828675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573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7863" y="347664"/>
            <a:ext cx="7772400" cy="795337"/>
          </a:xfrm>
        </p:spPr>
        <p:txBody>
          <a:bodyPr/>
          <a:lstStyle/>
          <a:p>
            <a:r>
              <a:rPr lang="en-US" altLang="en-US" smtClean="0"/>
              <a:t>HTTP overview (continued)</a:t>
            </a:r>
          </a:p>
        </p:txBody>
      </p:sp>
      <p:sp>
        <p:nvSpPr>
          <p:cNvPr id="573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2694" y="1511300"/>
            <a:ext cx="9587753" cy="46482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uses TCP:</a:t>
            </a:r>
          </a:p>
          <a:p>
            <a:r>
              <a:rPr lang="en-US" altLang="en-US" sz="2400" dirty="0"/>
              <a:t>client initiates TCP connection (creates socket) to server,  port 80</a:t>
            </a:r>
          </a:p>
          <a:p>
            <a:r>
              <a:rPr lang="en-US" altLang="en-US" sz="2400" dirty="0"/>
              <a:t>server accepts TCP connection from client</a:t>
            </a:r>
          </a:p>
          <a:p>
            <a:r>
              <a:rPr lang="en-US" altLang="en-US" sz="2400" dirty="0"/>
              <a:t>HTTP messages (application-layer protocol messages) exchanged between browser (HTTP client) and Web server (HTTP server)</a:t>
            </a:r>
          </a:p>
          <a:p>
            <a:r>
              <a:rPr lang="en-US" altLang="en-US" sz="2400" dirty="0"/>
              <a:t>TCP connection </a:t>
            </a:r>
            <a:r>
              <a:rPr lang="en-US" altLang="en-US" sz="2400" dirty="0" smtClean="0"/>
              <a:t>closed</a:t>
            </a:r>
          </a:p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endParaRPr lang="en-US" altLang="en-US" i="1" dirty="0" smtClean="0">
              <a:solidFill>
                <a:srgbClr val="CC0000"/>
              </a:solidFill>
            </a:endParaRPr>
          </a:p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HTTP </a:t>
            </a:r>
            <a:r>
              <a:rPr lang="en-US" altLang="en-US" i="1" dirty="0">
                <a:solidFill>
                  <a:srgbClr val="CC0000"/>
                </a:solidFill>
              </a:rPr>
              <a:t>is </a:t>
            </a:r>
            <a:r>
              <a:rPr lang="ja-JP" altLang="en-US" i="1" dirty="0">
                <a:solidFill>
                  <a:srgbClr val="CC0000"/>
                </a:solidFill>
              </a:rPr>
              <a:t>“</a:t>
            </a:r>
            <a:r>
              <a:rPr lang="en-US" altLang="ja-JP" i="1" dirty="0">
                <a:solidFill>
                  <a:srgbClr val="CC0000"/>
                </a:solidFill>
              </a:rPr>
              <a:t>stateless</a:t>
            </a:r>
            <a:r>
              <a:rPr lang="ja-JP" altLang="en-US" i="1" dirty="0">
                <a:solidFill>
                  <a:srgbClr val="CC0000"/>
                </a:solidFill>
              </a:rPr>
              <a:t>”</a:t>
            </a:r>
            <a:endParaRPr lang="en-US" altLang="ja-JP" i="1" dirty="0">
              <a:solidFill>
                <a:srgbClr val="CC0000"/>
              </a:solidFill>
            </a:endParaRPr>
          </a:p>
          <a:p>
            <a:pPr>
              <a:lnSpc>
                <a:spcPct val="75000"/>
              </a:lnSpc>
            </a:pPr>
            <a:r>
              <a:rPr lang="en-US" altLang="en-US" dirty="0"/>
              <a:t>server maintains no information about past client requests</a:t>
            </a:r>
          </a:p>
          <a:p>
            <a:pPr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3200" dirty="0">
                <a:solidFill>
                  <a:srgbClr val="000099"/>
                </a:solidFill>
              </a:rPr>
              <a:t>protocols that maintain </a:t>
            </a:r>
            <a:r>
              <a:rPr lang="ja-JP" altLang="en-US" sz="3200" dirty="0">
                <a:solidFill>
                  <a:srgbClr val="000099"/>
                </a:solidFill>
              </a:rPr>
              <a:t>“</a:t>
            </a:r>
            <a:r>
              <a:rPr lang="en-US" altLang="ja-JP" sz="3200" dirty="0">
                <a:solidFill>
                  <a:srgbClr val="000099"/>
                </a:solidFill>
              </a:rPr>
              <a:t>state</a:t>
            </a:r>
            <a:r>
              <a:rPr lang="ja-JP" altLang="en-US" sz="3200" dirty="0">
                <a:solidFill>
                  <a:srgbClr val="000099"/>
                </a:solidFill>
              </a:rPr>
              <a:t>”</a:t>
            </a:r>
            <a:r>
              <a:rPr lang="en-US" altLang="ja-JP" sz="3200" dirty="0">
                <a:solidFill>
                  <a:srgbClr val="000099"/>
                </a:solidFill>
              </a:rPr>
              <a:t> are complex!</a:t>
            </a:r>
          </a:p>
          <a:p>
            <a:pPr>
              <a:buSzPct val="75000"/>
            </a:pPr>
            <a:r>
              <a:rPr lang="en-US" altLang="en-US" dirty="0"/>
              <a:t>past history (state) must be maintained</a:t>
            </a:r>
          </a:p>
          <a:p>
            <a:pPr>
              <a:buSzPct val="75000"/>
            </a:pPr>
            <a:r>
              <a:rPr lang="en-US" altLang="en-US" dirty="0"/>
              <a:t>if server/client crashes, their views of </a:t>
            </a:r>
            <a:r>
              <a:rPr lang="ja-JP" altLang="en-US" dirty="0"/>
              <a:t>“</a:t>
            </a:r>
            <a:r>
              <a:rPr lang="en-US" altLang="ja-JP" dirty="0"/>
              <a:t>state</a:t>
            </a:r>
            <a:r>
              <a:rPr lang="ja-JP" altLang="en-US" dirty="0"/>
              <a:t>”</a:t>
            </a:r>
            <a:r>
              <a:rPr lang="en-US" altLang="ja-JP" dirty="0"/>
              <a:t> may be inconsistent, must be reconciled</a:t>
            </a:r>
          </a:p>
          <a:p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2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HTTP connections</a:t>
            </a: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825625"/>
            <a:ext cx="10645588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non-persistent HTTP</a:t>
            </a:r>
          </a:p>
          <a:p>
            <a:r>
              <a:rPr lang="en-US" altLang="en-US" dirty="0" smtClean="0"/>
              <a:t>at most one object sent over TCP connection</a:t>
            </a:r>
          </a:p>
          <a:p>
            <a:pPr lvl="1"/>
            <a:r>
              <a:rPr lang="en-US" altLang="en-US" sz="2800" dirty="0"/>
              <a:t>connection then closed</a:t>
            </a:r>
          </a:p>
          <a:p>
            <a:r>
              <a:rPr lang="en-US" altLang="en-US" dirty="0" smtClean="0"/>
              <a:t>downloading multiple objects required multiple connections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</a:rPr>
              <a:t>persistent HTTP</a:t>
            </a:r>
          </a:p>
          <a:p>
            <a:r>
              <a:rPr lang="en-US" altLang="en-US" sz="2400" dirty="0"/>
              <a:t>multiple objects can be sent over single TCP connection between client, server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7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Line 11"/>
          <p:cNvSpPr>
            <a:spLocks noChangeShapeType="1"/>
          </p:cNvSpPr>
          <p:nvPr/>
        </p:nvSpPr>
        <p:spPr bwMode="auto">
          <a:xfrm>
            <a:off x="2000250" y="2095500"/>
            <a:ext cx="0" cy="449580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6" name="Rectangle 13"/>
          <p:cNvSpPr>
            <a:spLocks noChangeArrowheads="1"/>
          </p:cNvSpPr>
          <p:nvPr/>
        </p:nvSpPr>
        <p:spPr bwMode="auto">
          <a:xfrm>
            <a:off x="1762126" y="6019801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61447" name="Rectangle 2"/>
          <p:cNvSpPr>
            <a:spLocks noGrp="1" noChangeArrowheads="1"/>
          </p:cNvSpPr>
          <p:nvPr>
            <p:ph type="title"/>
          </p:nvPr>
        </p:nvSpPr>
        <p:spPr>
          <a:xfrm>
            <a:off x="2022475" y="190501"/>
            <a:ext cx="7772400" cy="866775"/>
          </a:xfrm>
        </p:spPr>
        <p:txBody>
          <a:bodyPr/>
          <a:lstStyle/>
          <a:p>
            <a:r>
              <a:rPr lang="en-US" altLang="en-US" sz="4000"/>
              <a:t>Non-persistent HTTP</a:t>
            </a:r>
            <a:endParaRPr lang="en-US" altLang="en-US" smtClean="0"/>
          </a:p>
        </p:txBody>
      </p:sp>
      <p:sp>
        <p:nvSpPr>
          <p:cNvPr id="614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25638" y="1114426"/>
            <a:ext cx="7942262" cy="466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/>
              <a:t>suppose user enters URL:</a:t>
            </a:r>
          </a:p>
        </p:txBody>
      </p:sp>
      <p:sp>
        <p:nvSpPr>
          <p:cNvPr id="5325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181225" y="2106613"/>
            <a:ext cx="3943350" cy="190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CC0000"/>
                </a:solidFill>
              </a:rPr>
              <a:t>1a</a:t>
            </a:r>
            <a:r>
              <a:rPr lang="en-US" altLang="en-US" sz="2000">
                <a:solidFill>
                  <a:srgbClr val="FF0000"/>
                </a:solidFill>
              </a:rPr>
              <a:t>.</a:t>
            </a:r>
            <a:r>
              <a:rPr lang="en-US" altLang="en-US" sz="2000"/>
              <a:t> HTTP client initiates TCP connection to HTTP server (process) at www.someSchool.edu on port 80</a:t>
            </a:r>
          </a:p>
        </p:txBody>
      </p:sp>
      <p:sp>
        <p:nvSpPr>
          <p:cNvPr id="53257" name="Rectangle 5"/>
          <p:cNvSpPr>
            <a:spLocks noChangeArrowheads="1"/>
          </p:cNvSpPr>
          <p:nvPr/>
        </p:nvSpPr>
        <p:spPr bwMode="auto">
          <a:xfrm>
            <a:off x="2228850" y="3829051"/>
            <a:ext cx="3810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 dirty="0">
                <a:solidFill>
                  <a:srgbClr val="CC0000"/>
                </a:solidFill>
              </a:rPr>
              <a:t>2</a:t>
            </a:r>
            <a:r>
              <a:rPr lang="en-US" altLang="en-US" sz="2000" dirty="0">
                <a:solidFill>
                  <a:srgbClr val="FF0000"/>
                </a:solidFill>
              </a:rPr>
              <a:t>.</a:t>
            </a:r>
            <a:r>
              <a:rPr lang="en-US" altLang="en-US" sz="2000" dirty="0"/>
              <a:t> HTTP client sends HTTP </a:t>
            </a:r>
            <a:r>
              <a:rPr lang="en-US" altLang="en-US" sz="2000" i="1" dirty="0">
                <a:solidFill>
                  <a:srgbClr val="000099"/>
                </a:solidFill>
              </a:rPr>
              <a:t>request message</a:t>
            </a:r>
            <a:r>
              <a:rPr lang="en-US" altLang="en-US" sz="2000" dirty="0"/>
              <a:t> (containing URL) into TCP connection socket. Message indicates that client wants object </a:t>
            </a:r>
            <a:r>
              <a:rPr lang="en-US" altLang="en-US" sz="2000" dirty="0" err="1"/>
              <a:t>someDepartment</a:t>
            </a:r>
            <a:r>
              <a:rPr lang="en-US" altLang="en-US" sz="2000" dirty="0"/>
              <a:t>/</a:t>
            </a:r>
            <a:r>
              <a:rPr lang="en-US" altLang="en-US" sz="2000" dirty="0" err="1"/>
              <a:t>home.index</a:t>
            </a:r>
            <a:endParaRPr lang="en-US" altLang="en-US" sz="2000" dirty="0"/>
          </a:p>
        </p:txBody>
      </p:sp>
      <p:sp>
        <p:nvSpPr>
          <p:cNvPr id="53258" name="Rectangle 6"/>
          <p:cNvSpPr>
            <a:spLocks noChangeArrowheads="1"/>
          </p:cNvSpPr>
          <p:nvPr/>
        </p:nvSpPr>
        <p:spPr bwMode="auto">
          <a:xfrm>
            <a:off x="6305550" y="2524125"/>
            <a:ext cx="38100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</a:rPr>
              <a:t>1b</a:t>
            </a:r>
            <a:r>
              <a:rPr lang="en-US" altLang="en-US" sz="2000">
                <a:solidFill>
                  <a:srgbClr val="FF0000"/>
                </a:solidFill>
              </a:rPr>
              <a:t>.</a:t>
            </a:r>
            <a:r>
              <a:rPr lang="en-US" altLang="en-US" sz="2000"/>
              <a:t> HTTP server at host www.someSchool.edu waiting for TCP connection at port 80.  </a:t>
            </a:r>
            <a:r>
              <a:rPr lang="ja-JP" altLang="en-US" sz="2000"/>
              <a:t>“</a:t>
            </a:r>
            <a:r>
              <a:rPr lang="en-US" altLang="ja-JP" sz="2000"/>
              <a:t>accepts</a:t>
            </a:r>
            <a:r>
              <a:rPr lang="ja-JP" altLang="en-US" sz="2000"/>
              <a:t>”</a:t>
            </a:r>
            <a:r>
              <a:rPr lang="en-US" altLang="ja-JP" sz="2000"/>
              <a:t> connection, notifying client</a:t>
            </a:r>
            <a:endParaRPr lang="en-US" altLang="en-US" sz="2000"/>
          </a:p>
        </p:txBody>
      </p:sp>
      <p:sp>
        <p:nvSpPr>
          <p:cNvPr id="53259" name="Rectangle 7"/>
          <p:cNvSpPr>
            <a:spLocks noChangeArrowheads="1"/>
          </p:cNvSpPr>
          <p:nvPr/>
        </p:nvSpPr>
        <p:spPr bwMode="auto">
          <a:xfrm>
            <a:off x="6248400" y="4381501"/>
            <a:ext cx="3810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</a:rPr>
              <a:t>3</a:t>
            </a:r>
            <a:r>
              <a:rPr lang="en-US" altLang="en-US" sz="2000">
                <a:solidFill>
                  <a:srgbClr val="FF0000"/>
                </a:solidFill>
              </a:rPr>
              <a:t>.</a:t>
            </a:r>
            <a:r>
              <a:rPr lang="en-US" altLang="en-US" sz="2000"/>
              <a:t> HTTP server receives request message, forms </a:t>
            </a:r>
            <a:r>
              <a:rPr lang="en-US" altLang="en-US" sz="2000" i="1">
                <a:solidFill>
                  <a:srgbClr val="000099"/>
                </a:solidFill>
              </a:rPr>
              <a:t>response message</a:t>
            </a:r>
            <a:r>
              <a:rPr lang="en-US" altLang="en-US" sz="2000"/>
              <a:t> containing requested object, and sends message into its socket</a:t>
            </a:r>
          </a:p>
        </p:txBody>
      </p:sp>
      <p:sp>
        <p:nvSpPr>
          <p:cNvPr id="53261" name="Line 9"/>
          <p:cNvSpPr>
            <a:spLocks noChangeShapeType="1"/>
          </p:cNvSpPr>
          <p:nvPr/>
        </p:nvSpPr>
        <p:spPr bwMode="auto">
          <a:xfrm>
            <a:off x="5419726" y="4591051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2" name="Line 10"/>
          <p:cNvSpPr>
            <a:spLocks noChangeShapeType="1"/>
          </p:cNvSpPr>
          <p:nvPr/>
        </p:nvSpPr>
        <p:spPr bwMode="auto">
          <a:xfrm flipH="1">
            <a:off x="5467351" y="5200651"/>
            <a:ext cx="1008063" cy="1025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5" name="Text Box 12"/>
          <p:cNvSpPr txBox="1">
            <a:spLocks noChangeArrowheads="1"/>
          </p:cNvSpPr>
          <p:nvPr/>
        </p:nvSpPr>
        <p:spPr bwMode="auto">
          <a:xfrm>
            <a:off x="1771650" y="5942013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bg2"/>
                </a:solidFill>
                <a:latin typeface="Arial" panose="020B0604020202020204" pitchFamily="34" charset="0"/>
              </a:rPr>
              <a:t>time</a:t>
            </a:r>
          </a:p>
        </p:txBody>
      </p:sp>
      <p:sp>
        <p:nvSpPr>
          <p:cNvPr id="53260" name="Line 8"/>
          <p:cNvSpPr>
            <a:spLocks noChangeShapeType="1"/>
          </p:cNvSpPr>
          <p:nvPr/>
        </p:nvSpPr>
        <p:spPr bwMode="auto">
          <a:xfrm>
            <a:off x="5572126" y="2647951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4" name="Line 14"/>
          <p:cNvSpPr>
            <a:spLocks noChangeShapeType="1"/>
          </p:cNvSpPr>
          <p:nvPr/>
        </p:nvSpPr>
        <p:spPr bwMode="auto">
          <a:xfrm flipH="1">
            <a:off x="5478464" y="3259139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8" name="Text Box 15"/>
          <p:cNvSpPr txBox="1">
            <a:spLocks noChangeArrowheads="1"/>
          </p:cNvSpPr>
          <p:nvPr/>
        </p:nvSpPr>
        <p:spPr bwMode="auto">
          <a:xfrm>
            <a:off x="8204200" y="1123950"/>
            <a:ext cx="1898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(contains text,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references to 10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jpeg images)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1459" name="Rectangle 3"/>
          <p:cNvSpPr>
            <a:spLocks noChangeArrowheads="1"/>
          </p:cNvSpPr>
          <p:nvPr/>
        </p:nvSpPr>
        <p:spPr bwMode="auto">
          <a:xfrm>
            <a:off x="1933576" y="1450976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www.someSchool.edu/someDepartment/home.index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3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 build="p"/>
      <p:bldP spid="53257" grpId="0"/>
      <p:bldP spid="53258" grpId="0"/>
      <p:bldP spid="532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4"/>
          <p:cNvSpPr>
            <a:spLocks noGrp="1" noChangeArrowheads="1"/>
          </p:cNvSpPr>
          <p:nvPr>
            <p:ph type="title"/>
          </p:nvPr>
        </p:nvSpPr>
        <p:spPr>
          <a:xfrm>
            <a:off x="2066925" y="257176"/>
            <a:ext cx="7772400" cy="866775"/>
          </a:xfrm>
        </p:spPr>
        <p:txBody>
          <a:bodyPr/>
          <a:lstStyle/>
          <a:p>
            <a:r>
              <a:rPr lang="en-US" altLang="en-US" sz="4000"/>
              <a:t>Non-persistent HTTP (cont.)</a:t>
            </a:r>
            <a:endParaRPr lang="en-US" altLang="en-US" smtClean="0"/>
          </a:p>
        </p:txBody>
      </p:sp>
      <p:sp>
        <p:nvSpPr>
          <p:cNvPr id="54277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2619375" y="2058989"/>
            <a:ext cx="3810000" cy="15335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CC0000"/>
                </a:solidFill>
              </a:rPr>
              <a:t>5</a:t>
            </a:r>
            <a:r>
              <a:rPr lang="en-US" altLang="en-US" sz="1800">
                <a:solidFill>
                  <a:srgbClr val="CC0000"/>
                </a:solidFill>
              </a:rPr>
              <a:t>.</a:t>
            </a:r>
            <a:r>
              <a:rPr lang="en-US" altLang="en-US" sz="1800"/>
              <a:t> HTTP client receives response message containing html file, displays html.  Parsing html file, finds 10 referenced jpeg  objects</a:t>
            </a:r>
            <a:endParaRPr lang="en-US" altLang="en-US" sz="2000"/>
          </a:p>
        </p:txBody>
      </p:sp>
      <p:sp>
        <p:nvSpPr>
          <p:cNvPr id="54278" name="Rectangle 7"/>
          <p:cNvSpPr>
            <a:spLocks noChangeArrowheads="1"/>
          </p:cNvSpPr>
          <p:nvPr/>
        </p:nvSpPr>
        <p:spPr bwMode="auto">
          <a:xfrm>
            <a:off x="2609850" y="356870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</a:rPr>
              <a:t>6.</a:t>
            </a:r>
            <a:r>
              <a:rPr lang="en-US" altLang="en-US" sz="2000"/>
              <a:t> Steps 1-5 repeated for each of 10 jpeg objects</a:t>
            </a:r>
          </a:p>
        </p:txBody>
      </p:sp>
      <p:sp>
        <p:nvSpPr>
          <p:cNvPr id="54279" name="Rectangle 8"/>
          <p:cNvSpPr>
            <a:spLocks noChangeArrowheads="1"/>
          </p:cNvSpPr>
          <p:nvPr/>
        </p:nvSpPr>
        <p:spPr bwMode="auto">
          <a:xfrm>
            <a:off x="6556375" y="1492251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000">
                <a:solidFill>
                  <a:srgbClr val="CC0000"/>
                </a:solidFill>
              </a:rPr>
              <a:t>4.</a:t>
            </a:r>
            <a:r>
              <a:rPr lang="en-US" altLang="en-US" sz="2000"/>
              <a:t> HTTP server closes TCP connection. </a:t>
            </a:r>
          </a:p>
        </p:txBody>
      </p:sp>
      <p:sp>
        <p:nvSpPr>
          <p:cNvPr id="63497" name="Line 2"/>
          <p:cNvSpPr>
            <a:spLocks noChangeShapeType="1"/>
          </p:cNvSpPr>
          <p:nvPr/>
        </p:nvSpPr>
        <p:spPr bwMode="auto">
          <a:xfrm>
            <a:off x="2066925" y="1519238"/>
            <a:ext cx="0" cy="2571750"/>
          </a:xfrm>
          <a:prstGeom prst="line">
            <a:avLst/>
          </a:prstGeom>
          <a:noFill/>
          <a:ln w="19050">
            <a:solidFill>
              <a:srgbClr val="96969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8" name="Rectangle 3"/>
          <p:cNvSpPr>
            <a:spLocks noChangeArrowheads="1"/>
          </p:cNvSpPr>
          <p:nvPr/>
        </p:nvSpPr>
        <p:spPr bwMode="auto">
          <a:xfrm>
            <a:off x="1828800" y="3519489"/>
            <a:ext cx="342900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63499" name="Text Box 13"/>
          <p:cNvSpPr txBox="1">
            <a:spLocks noChangeArrowheads="1"/>
          </p:cNvSpPr>
          <p:nvPr/>
        </p:nvSpPr>
        <p:spPr bwMode="auto">
          <a:xfrm>
            <a:off x="1760538" y="3382964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bg2"/>
                </a:solidFill>
              </a:rPr>
              <a:t>time</a:t>
            </a:r>
          </a:p>
        </p:txBody>
      </p:sp>
      <p:sp>
        <p:nvSpPr>
          <p:cNvPr id="54283" name="Line 17"/>
          <p:cNvSpPr>
            <a:spLocks noChangeShapeType="1"/>
          </p:cNvSpPr>
          <p:nvPr/>
        </p:nvSpPr>
        <p:spPr bwMode="auto">
          <a:xfrm flipH="1">
            <a:off x="5286376" y="1449389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6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build="p"/>
      <p:bldP spid="5427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1976438" y="173038"/>
            <a:ext cx="7772400" cy="838200"/>
          </a:xfrm>
        </p:spPr>
        <p:txBody>
          <a:bodyPr/>
          <a:lstStyle/>
          <a:p>
            <a:r>
              <a:rPr lang="en-US" altLang="en-US" sz="3600"/>
              <a:t>Persistent HTTP</a:t>
            </a:r>
            <a:endParaRPr lang="en-US" altLang="en-US" smtClean="0"/>
          </a:p>
        </p:txBody>
      </p:sp>
      <p:sp>
        <p:nvSpPr>
          <p:cNvPr id="67590" name="Rectangle 10"/>
          <p:cNvSpPr>
            <a:spLocks noGrp="1" noChangeArrowheads="1"/>
          </p:cNvSpPr>
          <p:nvPr>
            <p:ph type="body" sz="half" idx="2"/>
          </p:nvPr>
        </p:nvSpPr>
        <p:spPr>
          <a:xfrm>
            <a:off x="833718" y="1438275"/>
            <a:ext cx="9843247" cy="4648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persistent  HTTP:</a:t>
            </a:r>
          </a:p>
          <a:p>
            <a:r>
              <a:rPr lang="en-US" altLang="en-US" sz="2400" dirty="0"/>
              <a:t>server leaves connection open after sending response</a:t>
            </a:r>
          </a:p>
          <a:p>
            <a:r>
              <a:rPr lang="en-US" altLang="en-US" sz="2400" dirty="0"/>
              <a:t>subsequent HTTP messages  between same client/server sent over open connection</a:t>
            </a:r>
          </a:p>
          <a:p>
            <a:r>
              <a:rPr lang="en-US" altLang="en-US" sz="2400" dirty="0"/>
              <a:t>client sends requests as soon as it encounters a referenced object</a:t>
            </a:r>
          </a:p>
          <a:p>
            <a:r>
              <a:rPr lang="en-US" altLang="en-US" sz="2400" dirty="0"/>
              <a:t>as little as one RTT for all the referenced objects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5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1838" y="234950"/>
            <a:ext cx="7772400" cy="914400"/>
          </a:xfrm>
        </p:spPr>
        <p:txBody>
          <a:bodyPr/>
          <a:lstStyle/>
          <a:p>
            <a:r>
              <a:rPr lang="en-US" altLang="en-US" sz="4000"/>
              <a:t>HTTP request message</a:t>
            </a:r>
            <a:endParaRPr lang="en-US" altLang="en-US" smtClean="0"/>
          </a:p>
        </p:txBody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two types of HTTP messages: </a:t>
            </a:r>
            <a:r>
              <a:rPr lang="en-US" altLang="en-US" sz="2400" i="1">
                <a:solidFill>
                  <a:srgbClr val="CC0000"/>
                </a:solidFill>
              </a:rPr>
              <a:t>request</a:t>
            </a:r>
            <a:r>
              <a:rPr lang="en-US" altLang="en-US" sz="2400">
                <a:solidFill>
                  <a:srgbClr val="CC0000"/>
                </a:solidFill>
              </a:rPr>
              <a:t>, </a:t>
            </a:r>
            <a:r>
              <a:rPr lang="en-US" altLang="en-US" sz="2400" i="1">
                <a:solidFill>
                  <a:srgbClr val="CC0000"/>
                </a:solidFill>
              </a:rPr>
              <a:t>response</a:t>
            </a:r>
          </a:p>
          <a:p>
            <a:r>
              <a:rPr lang="en-US" altLang="en-US" sz="2400">
                <a:solidFill>
                  <a:srgbClr val="CC0000"/>
                </a:solidFill>
              </a:rPr>
              <a:t>HTTP request message:</a:t>
            </a:r>
          </a:p>
          <a:p>
            <a:pPr lvl="1"/>
            <a:r>
              <a:rPr lang="en-US" altLang="en-US" sz="2000"/>
              <a:t>ASCII (human-readable format)</a:t>
            </a:r>
            <a:endParaRPr lang="en-US" altLang="en-US" smtClean="0">
              <a:solidFill>
                <a:schemeClr val="accent2"/>
              </a:solidFill>
            </a:endParaRPr>
          </a:p>
        </p:txBody>
      </p:sp>
      <p:sp>
        <p:nvSpPr>
          <p:cNvPr id="69639" name="Text Box 5"/>
          <p:cNvSpPr txBox="1">
            <a:spLocks noChangeArrowheads="1"/>
          </p:cNvSpPr>
          <p:nvPr/>
        </p:nvSpPr>
        <p:spPr bwMode="auto">
          <a:xfrm>
            <a:off x="1746250" y="3036889"/>
            <a:ext cx="2286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request line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(GET, POST,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HEAD commands</a:t>
            </a:r>
            <a:r>
              <a:rPr lang="en-US" altLang="en-US" sz="2000">
                <a:solidFill>
                  <a:srgbClr val="000099"/>
                </a:solidFill>
              </a:rPr>
              <a:t>)</a:t>
            </a:r>
            <a:endParaRPr lang="en-US" altLang="en-US" sz="2400">
              <a:solidFill>
                <a:srgbClr val="000099"/>
              </a:solidFill>
            </a:endParaRPr>
          </a:p>
        </p:txBody>
      </p:sp>
      <p:sp>
        <p:nvSpPr>
          <p:cNvPr id="69640" name="Line 6"/>
          <p:cNvSpPr>
            <a:spLocks noChangeShapeType="1"/>
          </p:cNvSpPr>
          <p:nvPr/>
        </p:nvSpPr>
        <p:spPr bwMode="auto">
          <a:xfrm>
            <a:off x="3449638" y="3368675"/>
            <a:ext cx="868362" cy="14605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Freeform 7"/>
          <p:cNvSpPr>
            <a:spLocks/>
          </p:cNvSpPr>
          <p:nvPr/>
        </p:nvSpPr>
        <p:spPr bwMode="auto">
          <a:xfrm>
            <a:off x="4300539" y="3705225"/>
            <a:ext cx="149225" cy="1957388"/>
          </a:xfrm>
          <a:custGeom>
            <a:avLst/>
            <a:gdLst>
              <a:gd name="T0" fmla="*/ 2147483646 w 150"/>
              <a:gd name="T1" fmla="*/ 2147483646 h 924"/>
              <a:gd name="T2" fmla="*/ 0 w 150"/>
              <a:gd name="T3" fmla="*/ 0 h 924"/>
              <a:gd name="T4" fmla="*/ 0 w 150"/>
              <a:gd name="T5" fmla="*/ 2147483646 h 924"/>
              <a:gd name="T6" fmla="*/ 2147483646 w 150"/>
              <a:gd name="T7" fmla="*/ 2147483646 h 924"/>
              <a:gd name="T8" fmla="*/ 0 60000 65536"/>
              <a:gd name="T9" fmla="*/ 0 60000 65536"/>
              <a:gd name="T10" fmla="*/ 0 60000 65536"/>
              <a:gd name="T11" fmla="*/ 0 60000 65536"/>
              <a:gd name="T12" fmla="*/ 0 w 150"/>
              <a:gd name="T13" fmla="*/ 0 h 924"/>
              <a:gd name="T14" fmla="*/ 150 w 150"/>
              <a:gd name="T15" fmla="*/ 924 h 9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Text Box 8"/>
          <p:cNvSpPr txBox="1">
            <a:spLocks noChangeArrowheads="1"/>
          </p:cNvSpPr>
          <p:nvPr/>
        </p:nvSpPr>
        <p:spPr bwMode="auto">
          <a:xfrm>
            <a:off x="3263901" y="4222751"/>
            <a:ext cx="974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header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 lines</a:t>
            </a:r>
            <a:endParaRPr lang="en-US" altLang="en-US" sz="240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69643" name="Line 10"/>
          <p:cNvSpPr>
            <a:spLocks noChangeShapeType="1"/>
          </p:cNvSpPr>
          <p:nvPr/>
        </p:nvSpPr>
        <p:spPr bwMode="auto">
          <a:xfrm>
            <a:off x="3833814" y="5789613"/>
            <a:ext cx="51117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4" name="Text Box 11"/>
          <p:cNvSpPr txBox="1">
            <a:spLocks noChangeArrowheads="1"/>
          </p:cNvSpPr>
          <p:nvPr/>
        </p:nvSpPr>
        <p:spPr bwMode="auto">
          <a:xfrm>
            <a:off x="1712913" y="5121276"/>
            <a:ext cx="23431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carriage return,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line feed at start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of line indicates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99"/>
                </a:solidFill>
                <a:latin typeface="Arial" panose="020B0604020202020204" pitchFamily="34" charset="0"/>
              </a:rPr>
              <a:t>end of header lines</a:t>
            </a:r>
            <a:endParaRPr lang="en-US" altLang="en-US" sz="240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  <p:sp>
        <p:nvSpPr>
          <p:cNvPr id="69645" name="Text Box 16"/>
          <p:cNvSpPr txBox="1">
            <a:spLocks noChangeArrowheads="1"/>
          </p:cNvSpPr>
          <p:nvPr/>
        </p:nvSpPr>
        <p:spPr bwMode="auto">
          <a:xfrm>
            <a:off x="4333876" y="3403601"/>
            <a:ext cx="6054725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GET /index.html HTTP/1.1\r\n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Host: www-net.cs.umass.edu\r\n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User-Agent: Firefox/3.6.10\r\n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Accept: text/html,application/xhtml+xml\r\n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Accept-Language: en-us,en;q=0.5\r\n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Accept-Encoding: gzip,deflate\r\n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Accept-Charset: ISO-8859-1,utf-8;q=0.7\r\n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Keep-Alive: 115\r\n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Connection: keep-alive\r\n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\r\n</a:t>
            </a:r>
          </a:p>
        </p:txBody>
      </p:sp>
      <p:sp>
        <p:nvSpPr>
          <p:cNvPr id="69646" name="Line 17"/>
          <p:cNvSpPr>
            <a:spLocks noChangeShapeType="1"/>
          </p:cNvSpPr>
          <p:nvPr/>
        </p:nvSpPr>
        <p:spPr bwMode="auto">
          <a:xfrm flipH="1">
            <a:off x="7858125" y="2921000"/>
            <a:ext cx="166688" cy="51435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7" name="Text Box 18"/>
          <p:cNvSpPr txBox="1">
            <a:spLocks noChangeArrowheads="1"/>
          </p:cNvSpPr>
          <p:nvPr/>
        </p:nvSpPr>
        <p:spPr bwMode="auto">
          <a:xfrm>
            <a:off x="7908926" y="2633663"/>
            <a:ext cx="2411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carriage return character</a:t>
            </a:r>
          </a:p>
        </p:txBody>
      </p:sp>
      <p:sp>
        <p:nvSpPr>
          <p:cNvPr id="69648" name="Text Box 19"/>
          <p:cNvSpPr txBox="1">
            <a:spLocks noChangeArrowheads="1"/>
          </p:cNvSpPr>
          <p:nvPr/>
        </p:nvSpPr>
        <p:spPr bwMode="auto">
          <a:xfrm>
            <a:off x="8061325" y="2930525"/>
            <a:ext cx="1866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>
                <a:latin typeface="Arial" panose="020B0604020202020204" pitchFamily="34" charset="0"/>
              </a:rPr>
              <a:t>line-feed character</a:t>
            </a:r>
          </a:p>
        </p:txBody>
      </p:sp>
      <p:sp>
        <p:nvSpPr>
          <p:cNvPr id="69649" name="Line 20"/>
          <p:cNvSpPr>
            <a:spLocks noChangeShapeType="1"/>
          </p:cNvSpPr>
          <p:nvPr/>
        </p:nvSpPr>
        <p:spPr bwMode="auto">
          <a:xfrm flipH="1">
            <a:off x="8139113" y="3230563"/>
            <a:ext cx="80962" cy="252412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4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58750"/>
            <a:ext cx="7772400" cy="979488"/>
          </a:xfrm>
        </p:spPr>
        <p:txBody>
          <a:bodyPr/>
          <a:lstStyle/>
          <a:p>
            <a:r>
              <a:rPr lang="en-US" altLang="en-US" sz="4000"/>
              <a:t>HTTP response message</a:t>
            </a:r>
            <a:endParaRPr lang="en-US" altLang="en-US" smtClean="0"/>
          </a:p>
        </p:txBody>
      </p:sp>
      <p:sp>
        <p:nvSpPr>
          <p:cNvPr id="77830" name="Text Box 5"/>
          <p:cNvSpPr txBox="1">
            <a:spLocks noChangeArrowheads="1"/>
          </p:cNvSpPr>
          <p:nvPr/>
        </p:nvSpPr>
        <p:spPr bwMode="auto">
          <a:xfrm>
            <a:off x="1663700" y="1397001"/>
            <a:ext cx="17907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status line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(protocol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status code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status phrase)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77831" name="Line 6"/>
          <p:cNvSpPr>
            <a:spLocks noChangeShapeType="1"/>
          </p:cNvSpPr>
          <p:nvPr/>
        </p:nvSpPr>
        <p:spPr bwMode="auto">
          <a:xfrm>
            <a:off x="2882901" y="1914526"/>
            <a:ext cx="923925" cy="2571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2" name="Freeform 7"/>
          <p:cNvSpPr>
            <a:spLocks/>
          </p:cNvSpPr>
          <p:nvPr/>
        </p:nvSpPr>
        <p:spPr bwMode="auto">
          <a:xfrm>
            <a:off x="3581401" y="2305050"/>
            <a:ext cx="257175" cy="2941638"/>
          </a:xfrm>
          <a:custGeom>
            <a:avLst/>
            <a:gdLst>
              <a:gd name="T0" fmla="*/ 2147483646 w 162"/>
              <a:gd name="T1" fmla="*/ 2147483646 h 1428"/>
              <a:gd name="T2" fmla="*/ 0 w 162"/>
              <a:gd name="T3" fmla="*/ 0 h 1428"/>
              <a:gd name="T4" fmla="*/ 0 w 162"/>
              <a:gd name="T5" fmla="*/ 2147483646 h 1428"/>
              <a:gd name="T6" fmla="*/ 2147483646 w 162"/>
              <a:gd name="T7" fmla="*/ 2147483646 h 1428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1428"/>
              <a:gd name="T14" fmla="*/ 162 w 162"/>
              <a:gd name="T15" fmla="*/ 1428 h 14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1428">
                <a:moveTo>
                  <a:pt x="132" y="9"/>
                </a:moveTo>
                <a:lnTo>
                  <a:pt x="0" y="0"/>
                </a:lnTo>
                <a:lnTo>
                  <a:pt x="0" y="1428"/>
                </a:lnTo>
                <a:lnTo>
                  <a:pt x="162" y="1425"/>
                </a:ln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3" name="Text Box 8"/>
          <p:cNvSpPr txBox="1">
            <a:spLocks noChangeArrowheads="1"/>
          </p:cNvSpPr>
          <p:nvPr/>
        </p:nvSpPr>
        <p:spPr bwMode="auto">
          <a:xfrm>
            <a:off x="2417764" y="3286126"/>
            <a:ext cx="974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header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 lines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77834" name="Line 9"/>
          <p:cNvSpPr>
            <a:spLocks noChangeShapeType="1"/>
          </p:cNvSpPr>
          <p:nvPr/>
        </p:nvSpPr>
        <p:spPr bwMode="auto">
          <a:xfrm flipV="1">
            <a:off x="3067050" y="5418139"/>
            <a:ext cx="757238" cy="21272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5" name="Text Box 10"/>
          <p:cNvSpPr txBox="1">
            <a:spLocks noChangeArrowheads="1"/>
          </p:cNvSpPr>
          <p:nvPr/>
        </p:nvSpPr>
        <p:spPr bwMode="auto">
          <a:xfrm>
            <a:off x="1817689" y="5297489"/>
            <a:ext cx="13795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data, e.g.,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requested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latin typeface="Arial" panose="020B0604020202020204" pitchFamily="34" charset="0"/>
              </a:rPr>
              <a:t>HTML file</a:t>
            </a:r>
            <a:endParaRPr lang="en-US" altLang="en-US" sz="24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77836" name="Rectangle 15"/>
          <p:cNvSpPr>
            <a:spLocks noChangeArrowheads="1"/>
          </p:cNvSpPr>
          <p:nvPr/>
        </p:nvSpPr>
        <p:spPr bwMode="auto">
          <a:xfrm>
            <a:off x="3767138" y="2044701"/>
            <a:ext cx="6311900" cy="355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HTTP/1.1 200 OK\r\n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Date: Sun, 26 Sep 2010 20:09:20 GMT\r\n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Server: Apache/2.0.52 (CentOS)\r\n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Last-Modified: Tue, 30 Oct 2007 17:00:02 GMT\r\n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ETag: "17dc6-a5c-bf716880"\r\n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Accept-Ranges: bytes\r\n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Content-Length: 2652\r\n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Keep-Alive: timeout=10, max=100\r\n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Connection: Keep-Alive\r\n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Content-Type: text/html; charset=ISO-8859-1\r\n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\r\n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it-IT" altLang="en-US" sz="1800" b="1">
                <a:latin typeface="Courier New" panose="02070309020205020404" pitchFamily="49" charset="0"/>
              </a:rPr>
              <a:t>data data data data data ... 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7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521880"/>
            <a:ext cx="10515600" cy="365127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Cookies</a:t>
            </a:r>
          </a:p>
        </p:txBody>
      </p:sp>
      <p:sp>
        <p:nvSpPr>
          <p:cNvPr id="1146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01783" y="1284742"/>
            <a:ext cx="9582758" cy="488791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/>
              <a:t>many Web sites use </a:t>
            </a:r>
            <a:r>
              <a:rPr lang="en-US" altLang="en-US" sz="2400" dirty="0" smtClean="0"/>
              <a:t>cookies</a:t>
            </a:r>
          </a:p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</a:rPr>
              <a:t>what cookies can be used for:</a:t>
            </a:r>
          </a:p>
          <a:p>
            <a:pPr>
              <a:lnSpc>
                <a:spcPct val="75000"/>
              </a:lnSpc>
            </a:pPr>
            <a:r>
              <a:rPr lang="en-US" altLang="en-US" sz="2400" dirty="0"/>
              <a:t>authorization</a:t>
            </a:r>
          </a:p>
          <a:p>
            <a:pPr>
              <a:lnSpc>
                <a:spcPct val="75000"/>
              </a:lnSpc>
            </a:pPr>
            <a:r>
              <a:rPr lang="en-US" altLang="en-US" sz="2400" dirty="0"/>
              <a:t>shopping carts</a:t>
            </a:r>
          </a:p>
          <a:p>
            <a:pPr>
              <a:lnSpc>
                <a:spcPct val="75000"/>
              </a:lnSpc>
            </a:pPr>
            <a:r>
              <a:rPr lang="en-US" altLang="en-US" sz="2400" dirty="0"/>
              <a:t>recommendations</a:t>
            </a:r>
          </a:p>
          <a:p>
            <a:pPr>
              <a:lnSpc>
                <a:spcPct val="75000"/>
              </a:lnSpc>
            </a:pPr>
            <a:r>
              <a:rPr lang="en-US" altLang="en-US" sz="2400" dirty="0"/>
              <a:t>user session state (Web e-mail)</a:t>
            </a:r>
          </a:p>
          <a:p>
            <a:pPr marL="0" indent="0">
              <a:buNone/>
            </a:pPr>
            <a:r>
              <a:rPr lang="en-US" altLang="en-US" sz="2400" dirty="0">
                <a:latin typeface="Gill Sans MT" panose="020B0502020104020203" pitchFamily="34" charset="0"/>
              </a:rPr>
              <a:t>Cookies permit sites to learn a lot about you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dirty="0" smtClean="0">
                <a:solidFill>
                  <a:srgbClr val="CC0000"/>
                </a:solidFill>
              </a:rPr>
              <a:t>example</a:t>
            </a:r>
            <a:r>
              <a:rPr lang="en-US" altLang="en-US" sz="2400" dirty="0" smtClean="0">
                <a:solidFill>
                  <a:srgbClr val="CC0000"/>
                </a:solidFill>
              </a:rPr>
              <a:t>:</a:t>
            </a:r>
          </a:p>
          <a:p>
            <a:r>
              <a:rPr lang="en-US" altLang="en-US" sz="2400" dirty="0" smtClean="0"/>
              <a:t>Susan always access Internet from PC</a:t>
            </a:r>
          </a:p>
          <a:p>
            <a:r>
              <a:rPr lang="en-US" altLang="en-US" sz="2400" dirty="0" smtClean="0"/>
              <a:t>visits specific e-commerce site for first time</a:t>
            </a:r>
          </a:p>
          <a:p>
            <a:r>
              <a:rPr lang="en-US" altLang="en-US" sz="2400" dirty="0" smtClean="0"/>
              <a:t>when initial HTTP requests arrives at site, site creates: </a:t>
            </a:r>
          </a:p>
          <a:p>
            <a:pPr lvl="1"/>
            <a:r>
              <a:rPr lang="en-US" altLang="en-US" dirty="0" smtClean="0"/>
              <a:t>unique ID</a:t>
            </a:r>
          </a:p>
          <a:p>
            <a:pPr lvl="1"/>
            <a:r>
              <a:rPr lang="en-US" altLang="en-US" dirty="0" smtClean="0"/>
              <a:t>entry in backend database for ID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6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35" name="Group 171"/>
          <p:cNvGrpSpPr>
            <a:grpSpLocks/>
          </p:cNvGrpSpPr>
          <p:nvPr/>
        </p:nvGrpSpPr>
        <p:grpSpPr bwMode="auto">
          <a:xfrm>
            <a:off x="5551489" y="2695575"/>
            <a:ext cx="687387" cy="763588"/>
            <a:chOff x="-44" y="1473"/>
            <a:chExt cx="981" cy="1105"/>
          </a:xfrm>
        </p:grpSpPr>
        <p:pic>
          <p:nvPicPr>
            <p:cNvPr id="120966" name="Picture 172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967" name="Freeform 17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0836" name="Group 102"/>
          <p:cNvGrpSpPr>
            <a:grpSpLocks/>
          </p:cNvGrpSpPr>
          <p:nvPr/>
        </p:nvGrpSpPr>
        <p:grpSpPr bwMode="auto">
          <a:xfrm>
            <a:off x="5616575" y="4568825"/>
            <a:ext cx="687388" cy="763588"/>
            <a:chOff x="-44" y="1473"/>
            <a:chExt cx="981" cy="1105"/>
          </a:xfrm>
        </p:grpSpPr>
        <p:pic>
          <p:nvPicPr>
            <p:cNvPr id="120964" name="Picture 10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965" name="Freeform 104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20837" name="Group 138"/>
          <p:cNvGrpSpPr>
            <a:grpSpLocks/>
          </p:cNvGrpSpPr>
          <p:nvPr/>
        </p:nvGrpSpPr>
        <p:grpSpPr bwMode="auto">
          <a:xfrm>
            <a:off x="7754938" y="3457576"/>
            <a:ext cx="400050" cy="715963"/>
            <a:chOff x="4140" y="429"/>
            <a:chExt cx="1425" cy="2396"/>
          </a:xfrm>
        </p:grpSpPr>
        <p:sp>
          <p:nvSpPr>
            <p:cNvPr id="120932" name="Freeform 13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3" name="Rectangle 140"/>
            <p:cNvSpPr>
              <a:spLocks noChangeArrowheads="1"/>
            </p:cNvSpPr>
            <p:nvPr/>
          </p:nvSpPr>
          <p:spPr bwMode="auto">
            <a:xfrm>
              <a:off x="4208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34" name="Freeform 14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" name="Freeform 14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6" name="Rectangle 143"/>
            <p:cNvSpPr>
              <a:spLocks noChangeArrowheads="1"/>
            </p:cNvSpPr>
            <p:nvPr/>
          </p:nvSpPr>
          <p:spPr bwMode="auto">
            <a:xfrm>
              <a:off x="4214" y="695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937" name="Group 14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0962" name="AutoShape 145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963" name="AutoShape 146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7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938" name="Rectangle 147"/>
            <p:cNvSpPr>
              <a:spLocks noChangeArrowheads="1"/>
            </p:cNvSpPr>
            <p:nvPr/>
          </p:nvSpPr>
          <p:spPr bwMode="auto">
            <a:xfrm>
              <a:off x="4225" y="101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939" name="Group 14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0960" name="AutoShape 149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961" name="AutoShape 150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2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940" name="Rectangle 151"/>
            <p:cNvSpPr>
              <a:spLocks noChangeArrowheads="1"/>
            </p:cNvSpPr>
            <p:nvPr/>
          </p:nvSpPr>
          <p:spPr bwMode="auto">
            <a:xfrm>
              <a:off x="4219" y="135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41" name="Rectangle 152"/>
            <p:cNvSpPr>
              <a:spLocks noChangeArrowheads="1"/>
            </p:cNvSpPr>
            <p:nvPr/>
          </p:nvSpPr>
          <p:spPr bwMode="auto">
            <a:xfrm>
              <a:off x="4230" y="1656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942" name="Group 15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0958" name="AutoShape 154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6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959" name="AutoShape 155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943" name="Freeform 15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0944" name="Group 15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0956" name="AutoShape 158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957" name="AutoShape 159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945" name="Rectangle 160"/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46" name="Freeform 16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47" name="Freeform 16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48" name="Oval 163"/>
            <p:cNvSpPr>
              <a:spLocks noChangeArrowheads="1"/>
            </p:cNvSpPr>
            <p:nvPr/>
          </p:nvSpPr>
          <p:spPr bwMode="auto">
            <a:xfrm>
              <a:off x="5520" y="2612"/>
              <a:ext cx="45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49" name="Freeform 16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50" name="AutoShape 165"/>
            <p:cNvSpPr>
              <a:spLocks noChangeArrowheads="1"/>
            </p:cNvSpPr>
            <p:nvPr/>
          </p:nvSpPr>
          <p:spPr bwMode="auto">
            <a:xfrm>
              <a:off x="4140" y="2676"/>
              <a:ext cx="1199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51" name="AutoShape 166"/>
            <p:cNvSpPr>
              <a:spLocks noChangeArrowheads="1"/>
            </p:cNvSpPr>
            <p:nvPr/>
          </p:nvSpPr>
          <p:spPr bwMode="auto">
            <a:xfrm>
              <a:off x="4208" y="2713"/>
              <a:ext cx="1069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52" name="Oval 167"/>
            <p:cNvSpPr>
              <a:spLocks noChangeArrowheads="1"/>
            </p:cNvSpPr>
            <p:nvPr/>
          </p:nvSpPr>
          <p:spPr bwMode="auto">
            <a:xfrm>
              <a:off x="4310" y="2384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53" name="Oval 168"/>
            <p:cNvSpPr>
              <a:spLocks noChangeArrowheads="1"/>
            </p:cNvSpPr>
            <p:nvPr/>
          </p:nvSpPr>
          <p:spPr bwMode="auto">
            <a:xfrm>
              <a:off x="4485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0954" name="Oval 169"/>
            <p:cNvSpPr>
              <a:spLocks noChangeArrowheads="1"/>
            </p:cNvSpPr>
            <p:nvPr/>
          </p:nvSpPr>
          <p:spPr bwMode="auto">
            <a:xfrm>
              <a:off x="4660" y="2379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55" name="Rectangle 170"/>
            <p:cNvSpPr>
              <a:spLocks noChangeArrowheads="1"/>
            </p:cNvSpPr>
            <p:nvPr/>
          </p:nvSpPr>
          <p:spPr bwMode="auto">
            <a:xfrm>
              <a:off x="5062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20838" name="Group 105"/>
          <p:cNvGrpSpPr>
            <a:grpSpLocks/>
          </p:cNvGrpSpPr>
          <p:nvPr/>
        </p:nvGrpSpPr>
        <p:grpSpPr bwMode="auto">
          <a:xfrm>
            <a:off x="9702800" y="2836863"/>
            <a:ext cx="433388" cy="715962"/>
            <a:chOff x="4140" y="429"/>
            <a:chExt cx="1425" cy="2396"/>
          </a:xfrm>
        </p:grpSpPr>
        <p:sp>
          <p:nvSpPr>
            <p:cNvPr id="120900" name="Freeform 10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01" name="Rectangle 107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02" name="Freeform 10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03" name="Freeform 10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04" name="Rectangle 110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905" name="Group 11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0930" name="AutoShape 11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931" name="AutoShape 113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906" name="Rectangle 114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907" name="Group 11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0928" name="AutoShape 116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929" name="AutoShape 117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908" name="Rectangle 118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09" name="Rectangle 119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910" name="Group 12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0926" name="AutoShape 121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927" name="AutoShape 122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911" name="Freeform 12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0912" name="Group 12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0924" name="AutoShape 125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925" name="AutoShape 126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913" name="Rectangle 127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14" name="Freeform 12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15" name="Freeform 12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16" name="Oval 130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17" name="Freeform 13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18" name="AutoShape 132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19" name="AutoShape 133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20" name="Oval 134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21" name="Oval 135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0922" name="Oval 136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23" name="Rectangle 137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2084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75" y="234951"/>
            <a:ext cx="7772400" cy="892175"/>
          </a:xfrm>
        </p:spPr>
        <p:txBody>
          <a:bodyPr/>
          <a:lstStyle/>
          <a:p>
            <a:r>
              <a:rPr lang="en-US" altLang="en-US" sz="4000"/>
              <a:t>Web caches (proxy server)</a:t>
            </a:r>
            <a:endParaRPr lang="en-US" altLang="en-US" smtClean="0"/>
          </a:p>
        </p:txBody>
      </p:sp>
      <p:sp>
        <p:nvSpPr>
          <p:cNvPr id="12084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094" y="1957389"/>
            <a:ext cx="5086444" cy="3762375"/>
          </a:xfrm>
        </p:spPr>
        <p:txBody>
          <a:bodyPr/>
          <a:lstStyle/>
          <a:p>
            <a:r>
              <a:rPr lang="en-US" altLang="en-US" sz="2400" dirty="0"/>
              <a:t>user sets browser: Web accesses via  cache</a:t>
            </a:r>
          </a:p>
          <a:p>
            <a:r>
              <a:rPr lang="en-US" altLang="en-US" sz="2400" dirty="0"/>
              <a:t>browser sends all HTTP requests to cache</a:t>
            </a:r>
          </a:p>
          <a:p>
            <a:pPr lvl="1"/>
            <a:r>
              <a:rPr lang="en-US" altLang="en-US" dirty="0" smtClean="0"/>
              <a:t>object in cache: cache returns object </a:t>
            </a:r>
          </a:p>
          <a:p>
            <a:pPr lvl="1"/>
            <a:r>
              <a:rPr lang="en-US" altLang="en-US" dirty="0" smtClean="0"/>
              <a:t>else cache requests object from origin server, then returns object to client</a:t>
            </a:r>
          </a:p>
        </p:txBody>
      </p:sp>
      <p:sp>
        <p:nvSpPr>
          <p:cNvPr id="120842" name="Rectangle 4"/>
          <p:cNvSpPr>
            <a:spLocks noChangeArrowheads="1"/>
          </p:cNvSpPr>
          <p:nvPr/>
        </p:nvSpPr>
        <p:spPr bwMode="auto">
          <a:xfrm>
            <a:off x="1917700" y="1265238"/>
            <a:ext cx="87503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</a:rPr>
              <a:t>goal:</a:t>
            </a:r>
            <a:r>
              <a:rPr lang="en-US" altLang="en-US" sz="2800">
                <a:latin typeface="Gill Sans MT" panose="020B0502020104020203" pitchFamily="34" charset="0"/>
              </a:rPr>
              <a:t> satisfy client request without involving origin server</a:t>
            </a:r>
          </a:p>
        </p:txBody>
      </p:sp>
      <p:sp>
        <p:nvSpPr>
          <p:cNvPr id="120843" name="Text Box 6"/>
          <p:cNvSpPr txBox="1">
            <a:spLocks noChangeArrowheads="1"/>
          </p:cNvSpPr>
          <p:nvPr/>
        </p:nvSpPr>
        <p:spPr bwMode="auto">
          <a:xfrm>
            <a:off x="5695951" y="3368675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client</a:t>
            </a:r>
            <a:endParaRPr lang="en-US" altLang="en-US" sz="2400"/>
          </a:p>
        </p:txBody>
      </p:sp>
      <p:sp>
        <p:nvSpPr>
          <p:cNvPr id="120844" name="Text Box 8"/>
          <p:cNvSpPr txBox="1">
            <a:spLocks noChangeArrowheads="1"/>
          </p:cNvSpPr>
          <p:nvPr/>
        </p:nvSpPr>
        <p:spPr bwMode="auto">
          <a:xfrm>
            <a:off x="7481888" y="2774951"/>
            <a:ext cx="88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proxy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server</a:t>
            </a:r>
            <a:endParaRPr lang="en-US" altLang="en-US" sz="2400"/>
          </a:p>
        </p:txBody>
      </p:sp>
      <p:sp>
        <p:nvSpPr>
          <p:cNvPr id="120845" name="Text Box 21"/>
          <p:cNvSpPr txBox="1">
            <a:spLocks noChangeArrowheads="1"/>
          </p:cNvSpPr>
          <p:nvPr/>
        </p:nvSpPr>
        <p:spPr bwMode="auto">
          <a:xfrm>
            <a:off x="5818189" y="5340350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client</a:t>
            </a:r>
            <a:endParaRPr lang="en-US" altLang="en-US" sz="2400"/>
          </a:p>
        </p:txBody>
      </p:sp>
      <p:grpSp>
        <p:nvGrpSpPr>
          <p:cNvPr id="14" name="Group 53"/>
          <p:cNvGrpSpPr>
            <a:grpSpLocks/>
          </p:cNvGrpSpPr>
          <p:nvPr/>
        </p:nvGrpSpPr>
        <p:grpSpPr bwMode="auto">
          <a:xfrm>
            <a:off x="6121400" y="4095751"/>
            <a:ext cx="1563688" cy="760413"/>
            <a:chOff x="2896" y="2580"/>
            <a:chExt cx="985" cy="479"/>
          </a:xfrm>
        </p:grpSpPr>
        <p:sp>
          <p:nvSpPr>
            <p:cNvPr id="120898" name="Line 19"/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9" name="Text Box 23"/>
            <p:cNvSpPr txBox="1">
              <a:spLocks noChangeArrowheads="1"/>
            </p:cNvSpPr>
            <p:nvPr/>
          </p:nvSpPr>
          <p:spPr bwMode="auto">
            <a:xfrm rot="-1692639">
              <a:off x="2896" y="264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</a:rPr>
                <a:t>HTTP request</a:t>
              </a:r>
              <a:endParaRPr lang="en-US" altLang="en-US" sz="2400">
                <a:solidFill>
                  <a:srgbClr val="CC0000"/>
                </a:solidFill>
              </a:endParaRPr>
            </a:p>
          </p:txBody>
        </p:sp>
      </p:grpSp>
      <p:grpSp>
        <p:nvGrpSpPr>
          <p:cNvPr id="15" name="Group 54"/>
          <p:cNvGrpSpPr>
            <a:grpSpLocks/>
          </p:cNvGrpSpPr>
          <p:nvPr/>
        </p:nvGrpSpPr>
        <p:grpSpPr bwMode="auto">
          <a:xfrm>
            <a:off x="6305551" y="4183063"/>
            <a:ext cx="1604963" cy="785812"/>
            <a:chOff x="3012" y="2635"/>
            <a:chExt cx="1011" cy="495"/>
          </a:xfrm>
        </p:grpSpPr>
        <p:sp>
          <p:nvSpPr>
            <p:cNvPr id="120896" name="Line 20"/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7" name="Text Box 25"/>
            <p:cNvSpPr txBox="1">
              <a:spLocks noChangeArrowheads="1"/>
            </p:cNvSpPr>
            <p:nvPr/>
          </p:nvSpPr>
          <p:spPr bwMode="auto">
            <a:xfrm rot="-1737783">
              <a:off x="3012" y="2847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</a:rPr>
                <a:t>HTTP response</a:t>
              </a:r>
              <a:endParaRPr lang="en-US" altLang="en-US" sz="2400">
                <a:solidFill>
                  <a:srgbClr val="CC0000"/>
                </a:solidFill>
              </a:endParaRPr>
            </a:p>
          </p:txBody>
        </p:sp>
      </p:grpSp>
      <p:grpSp>
        <p:nvGrpSpPr>
          <p:cNvPr id="16" name="Group 49"/>
          <p:cNvGrpSpPr>
            <a:grpSpLocks/>
          </p:cNvGrpSpPr>
          <p:nvPr/>
        </p:nvGrpSpPr>
        <p:grpSpPr bwMode="auto">
          <a:xfrm>
            <a:off x="6289675" y="3124200"/>
            <a:ext cx="3251200" cy="730250"/>
            <a:chOff x="3002" y="1979"/>
            <a:chExt cx="2048" cy="460"/>
          </a:xfrm>
        </p:grpSpPr>
        <p:sp>
          <p:nvSpPr>
            <p:cNvPr id="120893" name="Freeform 18"/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94" name="Text Box 22"/>
            <p:cNvSpPr txBox="1">
              <a:spLocks noChangeArrowheads="1"/>
            </p:cNvSpPr>
            <p:nvPr/>
          </p:nvSpPr>
          <p:spPr bwMode="auto">
            <a:xfrm rot="1422049">
              <a:off x="3083" y="200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</a:rPr>
                <a:t>HTTP request</a:t>
              </a:r>
              <a:endParaRPr lang="en-US" altLang="en-US" sz="2400">
                <a:solidFill>
                  <a:srgbClr val="CC0000"/>
                </a:solidFill>
              </a:endParaRPr>
            </a:p>
          </p:txBody>
        </p:sp>
        <p:sp>
          <p:nvSpPr>
            <p:cNvPr id="120895" name="Text Box 45"/>
            <p:cNvSpPr txBox="1">
              <a:spLocks noChangeArrowheads="1"/>
            </p:cNvSpPr>
            <p:nvPr/>
          </p:nvSpPr>
          <p:spPr bwMode="auto">
            <a:xfrm rot="-1419968">
              <a:off x="4114" y="2016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</a:rPr>
                <a:t>HTTP request</a:t>
              </a:r>
              <a:endParaRPr lang="en-US" altLang="en-US" sz="2400">
                <a:solidFill>
                  <a:srgbClr val="CC0000"/>
                </a:solidFill>
              </a:endParaRPr>
            </a:p>
          </p:txBody>
        </p:sp>
      </p:grpSp>
      <p:sp>
        <p:nvSpPr>
          <p:cNvPr id="120849" name="Text Box 47"/>
          <p:cNvSpPr txBox="1">
            <a:spLocks noChangeArrowheads="1"/>
          </p:cNvSpPr>
          <p:nvPr/>
        </p:nvSpPr>
        <p:spPr bwMode="auto">
          <a:xfrm>
            <a:off x="9523413" y="5421314"/>
            <a:ext cx="7493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origin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server</a:t>
            </a:r>
            <a:endParaRPr lang="en-US" altLang="en-US" sz="2400"/>
          </a:p>
        </p:txBody>
      </p:sp>
      <p:sp>
        <p:nvSpPr>
          <p:cNvPr id="120850" name="Text Box 48"/>
          <p:cNvSpPr txBox="1">
            <a:spLocks noChangeArrowheads="1"/>
          </p:cNvSpPr>
          <p:nvPr/>
        </p:nvSpPr>
        <p:spPr bwMode="auto">
          <a:xfrm>
            <a:off x="9540875" y="3484564"/>
            <a:ext cx="7493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origin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server</a:t>
            </a:r>
            <a:endParaRPr lang="en-US" altLang="en-US" sz="2400"/>
          </a:p>
        </p:txBody>
      </p:sp>
      <p:sp>
        <p:nvSpPr>
          <p:cNvPr id="120851" name="Rectangle 55"/>
          <p:cNvSpPr>
            <a:spLocks noChangeArrowheads="1"/>
          </p:cNvSpPr>
          <p:nvPr/>
        </p:nvSpPr>
        <p:spPr bwMode="auto">
          <a:xfrm>
            <a:off x="8470900" y="4349750"/>
            <a:ext cx="4064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400">
              <a:latin typeface="Comic Sans MS" panose="030F0702030302020204" pitchFamily="66" charset="0"/>
            </a:endParaRPr>
          </a:p>
        </p:txBody>
      </p:sp>
      <p:pic>
        <p:nvPicPr>
          <p:cNvPr id="120852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1863" y="2632075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60"/>
          <p:cNvGrpSpPr>
            <a:grpSpLocks/>
          </p:cNvGrpSpPr>
          <p:nvPr/>
        </p:nvGrpSpPr>
        <p:grpSpPr bwMode="auto">
          <a:xfrm>
            <a:off x="5516563" y="2671763"/>
            <a:ext cx="4178300" cy="1814512"/>
            <a:chOff x="2515" y="1687"/>
            <a:chExt cx="2632" cy="1143"/>
          </a:xfrm>
        </p:grpSpPr>
        <p:sp>
          <p:nvSpPr>
            <p:cNvPr id="120888" name="Freeform 44"/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89" name="Text Box 24"/>
            <p:cNvSpPr txBox="1">
              <a:spLocks noChangeArrowheads="1"/>
            </p:cNvSpPr>
            <p:nvPr/>
          </p:nvSpPr>
          <p:spPr bwMode="auto">
            <a:xfrm rot="1411598">
              <a:off x="2906" y="2244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</a:rPr>
                <a:t>HTTP response</a:t>
              </a:r>
              <a:endParaRPr lang="en-US" altLang="en-US" sz="2400">
                <a:solidFill>
                  <a:srgbClr val="CC0000"/>
                </a:solidFill>
              </a:endParaRPr>
            </a:p>
          </p:txBody>
        </p:sp>
        <p:sp>
          <p:nvSpPr>
            <p:cNvPr id="120890" name="Text Box 46"/>
            <p:cNvSpPr txBox="1">
              <a:spLocks noChangeArrowheads="1"/>
            </p:cNvSpPr>
            <p:nvPr/>
          </p:nvSpPr>
          <p:spPr bwMode="auto">
            <a:xfrm rot="-1415789">
              <a:off x="4136" y="2232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</a:rPr>
                <a:t>HTTP response</a:t>
              </a:r>
              <a:endParaRPr lang="en-US" altLang="en-US" sz="2400">
                <a:solidFill>
                  <a:srgbClr val="CC0000"/>
                </a:solidFill>
              </a:endParaRPr>
            </a:p>
          </p:txBody>
        </p:sp>
        <p:pic>
          <p:nvPicPr>
            <p:cNvPr id="120891" name="Picture 5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0892" name="Picture 5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1069" name="Picture 6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188" y="4613275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0855" name="Group 69"/>
          <p:cNvGrpSpPr>
            <a:grpSpLocks/>
          </p:cNvGrpSpPr>
          <p:nvPr/>
        </p:nvGrpSpPr>
        <p:grpSpPr bwMode="auto">
          <a:xfrm>
            <a:off x="9636125" y="4764088"/>
            <a:ext cx="433388" cy="715962"/>
            <a:chOff x="4140" y="429"/>
            <a:chExt cx="1425" cy="2396"/>
          </a:xfrm>
        </p:grpSpPr>
        <p:sp>
          <p:nvSpPr>
            <p:cNvPr id="120856" name="Freeform 70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57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58" name="Freeform 72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59" name="Freeform 73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60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861" name="Group 75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0886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887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862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863" name="Group 79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0884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885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864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65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0866" name="Group 84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0882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883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867" name="Freeform 87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0868" name="Group 88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0880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0881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20869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70" name="Freeform 92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71" name="Freeform 93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72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73" name="Freeform 95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74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75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76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77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20878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79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5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7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Rectangle 2"/>
          <p:cNvSpPr>
            <a:spLocks noGrp="1" noChangeArrowheads="1"/>
          </p:cNvSpPr>
          <p:nvPr>
            <p:ph type="title"/>
          </p:nvPr>
        </p:nvSpPr>
        <p:spPr>
          <a:xfrm>
            <a:off x="2001838" y="234950"/>
            <a:ext cx="7772400" cy="947738"/>
          </a:xfrm>
        </p:spPr>
        <p:txBody>
          <a:bodyPr/>
          <a:lstStyle/>
          <a:p>
            <a:r>
              <a:rPr lang="en-US" altLang="en-US" smtClean="0"/>
              <a:t>More about Web caching</a:t>
            </a:r>
          </a:p>
        </p:txBody>
      </p:sp>
      <p:sp>
        <p:nvSpPr>
          <p:cNvPr id="12288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97726" y="1611313"/>
            <a:ext cx="8674121" cy="46482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cache acts as both client and server</a:t>
            </a:r>
          </a:p>
          <a:p>
            <a:pPr lvl="1"/>
            <a:r>
              <a:rPr lang="en-US" altLang="en-US" sz="2000" dirty="0"/>
              <a:t>server for original requesting client</a:t>
            </a:r>
          </a:p>
          <a:p>
            <a:pPr lvl="1"/>
            <a:r>
              <a:rPr lang="en-US" altLang="en-US" sz="2000" dirty="0"/>
              <a:t>client to origin server</a:t>
            </a:r>
          </a:p>
          <a:p>
            <a:r>
              <a:rPr lang="en-US" altLang="en-US" dirty="0" smtClean="0"/>
              <a:t>typically cache is installed by ISP (university, company, residential ISP)</a:t>
            </a:r>
          </a:p>
          <a:p>
            <a:pPr marL="0" indent="0">
              <a:buNone/>
            </a:pPr>
            <a:endParaRPr lang="en-US" altLang="en-US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why Web caching?</a:t>
            </a:r>
          </a:p>
          <a:p>
            <a:r>
              <a:rPr lang="en-US" altLang="en-US" dirty="0" smtClean="0"/>
              <a:t>reduce response time for client request</a:t>
            </a:r>
          </a:p>
          <a:p>
            <a:r>
              <a:rPr lang="en-US" altLang="en-US" dirty="0" smtClean="0"/>
              <a:t>reduce traffic on an institution</a:t>
            </a:r>
            <a:r>
              <a:rPr lang="ja-JP" altLang="en-US" dirty="0" smtClean="0"/>
              <a:t>’</a:t>
            </a:r>
            <a:r>
              <a:rPr lang="en-US" altLang="ja-JP" dirty="0" smtClean="0"/>
              <a:t>s access link</a:t>
            </a:r>
          </a:p>
          <a:p>
            <a:r>
              <a:rPr lang="en-US" altLang="en-US" dirty="0" smtClean="0"/>
              <a:t>Internet dense with caches: enables </a:t>
            </a:r>
            <a:r>
              <a:rPr lang="ja-JP" altLang="en-US" dirty="0" smtClean="0"/>
              <a:t>“</a:t>
            </a:r>
            <a:r>
              <a:rPr lang="en-US" altLang="ja-JP" dirty="0" smtClean="0"/>
              <a:t>poor</a:t>
            </a:r>
            <a:r>
              <a:rPr lang="ja-JP" altLang="en-US" dirty="0" smtClean="0"/>
              <a:t>”</a:t>
            </a:r>
            <a:r>
              <a:rPr lang="en-US" altLang="ja-JP" dirty="0" smtClean="0"/>
              <a:t> content providers to effectively deliver content (so too does P2P file sharing)</a:t>
            </a: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9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0" name="Freeform 46"/>
          <p:cNvSpPr>
            <a:spLocks/>
          </p:cNvSpPr>
          <p:nvPr/>
        </p:nvSpPr>
        <p:spPr bwMode="auto">
          <a:xfrm>
            <a:off x="7685089" y="2220914"/>
            <a:ext cx="1100137" cy="282575"/>
          </a:xfrm>
          <a:custGeom>
            <a:avLst/>
            <a:gdLst>
              <a:gd name="T0" fmla="*/ 0 w 693"/>
              <a:gd name="T1" fmla="*/ 2147483647 h 178"/>
              <a:gd name="T2" fmla="*/ 2147483647 w 693"/>
              <a:gd name="T3" fmla="*/ 0 h 178"/>
              <a:gd name="T4" fmla="*/ 2147483647 w 693"/>
              <a:gd name="T5" fmla="*/ 0 h 178"/>
              <a:gd name="T6" fmla="*/ 2147483647 w 693"/>
              <a:gd name="T7" fmla="*/ 2147483647 h 178"/>
              <a:gd name="T8" fmla="*/ 0 w 693"/>
              <a:gd name="T9" fmla="*/ 2147483647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3"/>
              <a:gd name="T16" fmla="*/ 0 h 178"/>
              <a:gd name="T17" fmla="*/ 693 w 693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3" h="178">
                <a:moveTo>
                  <a:pt x="0" y="116"/>
                </a:moveTo>
                <a:lnTo>
                  <a:pt x="247" y="0"/>
                </a:lnTo>
                <a:lnTo>
                  <a:pt x="693" y="0"/>
                </a:lnTo>
                <a:lnTo>
                  <a:pt x="137" y="178"/>
                </a:lnTo>
                <a:lnTo>
                  <a:pt x="0" y="116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1" name="Freeform 43"/>
          <p:cNvSpPr>
            <a:spLocks/>
          </p:cNvSpPr>
          <p:nvPr/>
        </p:nvSpPr>
        <p:spPr bwMode="auto">
          <a:xfrm>
            <a:off x="4125913" y="2220914"/>
            <a:ext cx="1784350" cy="282575"/>
          </a:xfrm>
          <a:custGeom>
            <a:avLst/>
            <a:gdLst>
              <a:gd name="T0" fmla="*/ 0 w 1124"/>
              <a:gd name="T1" fmla="*/ 2147483647 h 178"/>
              <a:gd name="T2" fmla="*/ 2147483647 w 1124"/>
              <a:gd name="T3" fmla="*/ 2147483647 h 178"/>
              <a:gd name="T4" fmla="*/ 2147483647 w 1124"/>
              <a:gd name="T5" fmla="*/ 0 h 178"/>
              <a:gd name="T6" fmla="*/ 2147483647 w 1124"/>
              <a:gd name="T7" fmla="*/ 2147483647 h 178"/>
              <a:gd name="T8" fmla="*/ 0 w 1124"/>
              <a:gd name="T9" fmla="*/ 2147483647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4"/>
              <a:gd name="T16" fmla="*/ 0 h 178"/>
              <a:gd name="T17" fmla="*/ 1124 w 1124"/>
              <a:gd name="T18" fmla="*/ 178 h 1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4" h="178">
                <a:moveTo>
                  <a:pt x="0" y="178"/>
                </a:moveTo>
                <a:lnTo>
                  <a:pt x="41" y="7"/>
                </a:lnTo>
                <a:lnTo>
                  <a:pt x="1124" y="0"/>
                </a:lnTo>
                <a:lnTo>
                  <a:pt x="247" y="171"/>
                </a:lnTo>
                <a:lnTo>
                  <a:pt x="0" y="178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2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06376"/>
            <a:ext cx="7772400" cy="860425"/>
          </a:xfrm>
        </p:spPr>
        <p:txBody>
          <a:bodyPr/>
          <a:lstStyle/>
          <a:p>
            <a:r>
              <a:rPr lang="en-US" altLang="en-US" sz="4000"/>
              <a:t>FTP: the file transfer protocol</a:t>
            </a:r>
            <a:endParaRPr lang="en-US" altLang="en-US" smtClean="0"/>
          </a:p>
        </p:txBody>
      </p:sp>
      <p:sp>
        <p:nvSpPr>
          <p:cNvPr id="137223" name="Text Box 16"/>
          <p:cNvSpPr txBox="1">
            <a:spLocks noChangeArrowheads="1"/>
          </p:cNvSpPr>
          <p:nvPr/>
        </p:nvSpPr>
        <p:spPr bwMode="auto">
          <a:xfrm>
            <a:off x="6169026" y="1255713"/>
            <a:ext cx="17129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file transfer</a:t>
            </a:r>
          </a:p>
        </p:txBody>
      </p:sp>
      <p:grpSp>
        <p:nvGrpSpPr>
          <p:cNvPr id="137224" name="Group 17"/>
          <p:cNvGrpSpPr>
            <a:grpSpLocks/>
          </p:cNvGrpSpPr>
          <p:nvPr/>
        </p:nvGrpSpPr>
        <p:grpSpPr bwMode="auto">
          <a:xfrm>
            <a:off x="8061325" y="1411289"/>
            <a:ext cx="749300" cy="828675"/>
            <a:chOff x="3914" y="1386"/>
            <a:chExt cx="472" cy="522"/>
          </a:xfrm>
        </p:grpSpPr>
        <p:sp>
          <p:nvSpPr>
            <p:cNvPr id="137278" name="Rectangle 18"/>
            <p:cNvSpPr>
              <a:spLocks noChangeArrowheads="1"/>
            </p:cNvSpPr>
            <p:nvPr/>
          </p:nvSpPr>
          <p:spPr bwMode="auto">
            <a:xfrm>
              <a:off x="3930" y="138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37279" name="Text Box 19"/>
            <p:cNvSpPr txBox="1">
              <a:spLocks noChangeArrowheads="1"/>
            </p:cNvSpPr>
            <p:nvPr/>
          </p:nvSpPr>
          <p:spPr bwMode="auto">
            <a:xfrm>
              <a:off x="3914" y="1463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FTP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server</a:t>
              </a:r>
              <a:endParaRPr lang="en-US" altLang="en-US" sz="2400"/>
            </a:p>
          </p:txBody>
        </p:sp>
      </p:grpSp>
      <p:grpSp>
        <p:nvGrpSpPr>
          <p:cNvPr id="137225" name="Group 20"/>
          <p:cNvGrpSpPr>
            <a:grpSpLocks/>
          </p:cNvGrpSpPr>
          <p:nvPr/>
        </p:nvGrpSpPr>
        <p:grpSpPr bwMode="auto">
          <a:xfrm>
            <a:off x="4106863" y="1401764"/>
            <a:ext cx="1789112" cy="852487"/>
            <a:chOff x="1645" y="1326"/>
            <a:chExt cx="1127" cy="537"/>
          </a:xfrm>
        </p:grpSpPr>
        <p:sp>
          <p:nvSpPr>
            <p:cNvPr id="137274" name="Rectangle 21"/>
            <p:cNvSpPr>
              <a:spLocks noChangeArrowheads="1"/>
            </p:cNvSpPr>
            <p:nvPr/>
          </p:nvSpPr>
          <p:spPr bwMode="auto">
            <a:xfrm>
              <a:off x="2328" y="1326"/>
              <a:ext cx="444" cy="52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37275" name="Rectangle 22"/>
            <p:cNvSpPr>
              <a:spLocks noChangeArrowheads="1"/>
            </p:cNvSpPr>
            <p:nvPr/>
          </p:nvSpPr>
          <p:spPr bwMode="auto"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37276" name="Text Box 23"/>
            <p:cNvSpPr txBox="1">
              <a:spLocks noChangeArrowheads="1"/>
            </p:cNvSpPr>
            <p:nvPr/>
          </p:nvSpPr>
          <p:spPr bwMode="auto">
            <a:xfrm>
              <a:off x="1645" y="1343"/>
              <a:ext cx="738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FTP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interface</a:t>
              </a:r>
              <a:endParaRPr lang="en-US" altLang="en-US" sz="2400"/>
            </a:p>
          </p:txBody>
        </p:sp>
        <p:sp>
          <p:nvSpPr>
            <p:cNvPr id="137277" name="Text Box 24"/>
            <p:cNvSpPr txBox="1">
              <a:spLocks noChangeArrowheads="1"/>
            </p:cNvSpPr>
            <p:nvPr/>
          </p:nvSpPr>
          <p:spPr bwMode="auto">
            <a:xfrm>
              <a:off x="2341" y="1403"/>
              <a:ext cx="41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FTP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client</a:t>
              </a:r>
              <a:endParaRPr lang="en-US" altLang="en-US" sz="2400"/>
            </a:p>
          </p:txBody>
        </p:sp>
      </p:grpSp>
      <p:sp>
        <p:nvSpPr>
          <p:cNvPr id="137226" name="Text Box 32"/>
          <p:cNvSpPr txBox="1">
            <a:spLocks noChangeArrowheads="1"/>
          </p:cNvSpPr>
          <p:nvPr/>
        </p:nvSpPr>
        <p:spPr bwMode="auto">
          <a:xfrm>
            <a:off x="5405439" y="2522539"/>
            <a:ext cx="1076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local file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system</a:t>
            </a:r>
            <a:endParaRPr lang="en-US" altLang="en-US" sz="2400"/>
          </a:p>
        </p:txBody>
      </p:sp>
      <p:sp>
        <p:nvSpPr>
          <p:cNvPr id="137227" name="Line 33"/>
          <p:cNvSpPr>
            <a:spLocks noChangeShapeType="1"/>
          </p:cNvSpPr>
          <p:nvPr/>
        </p:nvSpPr>
        <p:spPr bwMode="auto">
          <a:xfrm>
            <a:off x="4743450" y="2239963"/>
            <a:ext cx="32385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228" name="Line 34"/>
          <p:cNvSpPr>
            <a:spLocks noChangeShapeType="1"/>
          </p:cNvSpPr>
          <p:nvPr/>
        </p:nvSpPr>
        <p:spPr bwMode="auto">
          <a:xfrm flipH="1">
            <a:off x="5238751" y="2230438"/>
            <a:ext cx="333375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229" name="Text Box 41"/>
          <p:cNvSpPr txBox="1">
            <a:spLocks noChangeArrowheads="1"/>
          </p:cNvSpPr>
          <p:nvPr/>
        </p:nvSpPr>
        <p:spPr bwMode="auto">
          <a:xfrm>
            <a:off x="8685214" y="2333626"/>
            <a:ext cx="1457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remote file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system</a:t>
            </a:r>
            <a:endParaRPr lang="en-US" altLang="en-US" sz="2400"/>
          </a:p>
        </p:txBody>
      </p:sp>
      <p:sp>
        <p:nvSpPr>
          <p:cNvPr id="137230" name="Line 42"/>
          <p:cNvSpPr>
            <a:spLocks noChangeShapeType="1"/>
          </p:cNvSpPr>
          <p:nvPr/>
        </p:nvSpPr>
        <p:spPr bwMode="auto">
          <a:xfrm>
            <a:off x="8439150" y="2239964"/>
            <a:ext cx="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37231" name="Picture 43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4" y="1454150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232" name="Text Box 44"/>
          <p:cNvSpPr txBox="1">
            <a:spLocks noChangeArrowheads="1"/>
          </p:cNvSpPr>
          <p:nvPr/>
        </p:nvSpPr>
        <p:spPr bwMode="auto">
          <a:xfrm>
            <a:off x="2903538" y="2162176"/>
            <a:ext cx="9715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user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at host</a:t>
            </a:r>
            <a:endParaRPr lang="en-US" altLang="en-US" sz="2400"/>
          </a:p>
        </p:txBody>
      </p:sp>
      <p:sp>
        <p:nvSpPr>
          <p:cNvPr id="137233" name="Line 45"/>
          <p:cNvSpPr>
            <a:spLocks noChangeShapeType="1"/>
          </p:cNvSpPr>
          <p:nvPr/>
        </p:nvSpPr>
        <p:spPr bwMode="auto">
          <a:xfrm>
            <a:off x="3552826" y="1849438"/>
            <a:ext cx="581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234" name="AutoShape 327"/>
          <p:cNvSpPr>
            <a:spLocks noChangeArrowheads="1"/>
          </p:cNvSpPr>
          <p:nvPr/>
        </p:nvSpPr>
        <p:spPr bwMode="auto">
          <a:xfrm>
            <a:off x="4857751" y="2673351"/>
            <a:ext cx="569913" cy="4286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7235" name="AutoShape 327"/>
          <p:cNvSpPr>
            <a:spLocks noChangeArrowheads="1"/>
          </p:cNvSpPr>
          <p:nvPr/>
        </p:nvSpPr>
        <p:spPr bwMode="auto">
          <a:xfrm>
            <a:off x="8189913" y="2628901"/>
            <a:ext cx="569912" cy="4286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7236" name="Rectangle 3"/>
          <p:cNvSpPr>
            <a:spLocks noChangeArrowheads="1"/>
          </p:cNvSpPr>
          <p:nvPr/>
        </p:nvSpPr>
        <p:spPr bwMode="auto">
          <a:xfrm>
            <a:off x="2268538" y="3751264"/>
            <a:ext cx="801370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75000"/>
              </a:lnSpc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Gill Sans MT" panose="020B0502020104020203" pitchFamily="34" charset="0"/>
              </a:rPr>
              <a:t>transfer file to/from remote host</a:t>
            </a:r>
          </a:p>
          <a:p>
            <a:pPr>
              <a:lnSpc>
                <a:spcPct val="75000"/>
              </a:lnSpc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Gill Sans MT" panose="020B0502020104020203" pitchFamily="34" charset="0"/>
              </a:rPr>
              <a:t>client/server model</a:t>
            </a:r>
          </a:p>
          <a:p>
            <a:pPr lvl="1">
              <a:lnSpc>
                <a:spcPct val="90000"/>
              </a:lnSpc>
              <a:buClr>
                <a:srgbClr val="000099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sz="2400" i="1" dirty="0">
                <a:solidFill>
                  <a:srgbClr val="CC0000"/>
                </a:solidFill>
                <a:latin typeface="Gill Sans MT" panose="020B0502020104020203" pitchFamily="34" charset="0"/>
              </a:rPr>
              <a:t>client:</a:t>
            </a:r>
            <a:r>
              <a:rPr lang="en-US" altLang="en-US" sz="2400" dirty="0">
                <a:latin typeface="Gill Sans MT" panose="020B0502020104020203" pitchFamily="34" charset="0"/>
              </a:rPr>
              <a:t> side that initiates transfer (either to/from remote)</a:t>
            </a:r>
          </a:p>
          <a:p>
            <a:pPr lvl="1">
              <a:lnSpc>
                <a:spcPct val="90000"/>
              </a:lnSpc>
              <a:buClr>
                <a:srgbClr val="000099"/>
              </a:buClr>
              <a:buSzTx/>
              <a:buFont typeface="Wingdings" panose="05000000000000000000" pitchFamily="2" charset="2"/>
              <a:buChar char="§"/>
            </a:pPr>
            <a:r>
              <a:rPr lang="en-US" altLang="en-US" sz="2400" i="1" dirty="0">
                <a:solidFill>
                  <a:srgbClr val="CC0000"/>
                </a:solidFill>
                <a:latin typeface="Gill Sans MT" panose="020B0502020104020203" pitchFamily="34" charset="0"/>
              </a:rPr>
              <a:t>server:</a:t>
            </a:r>
            <a:r>
              <a:rPr lang="en-US" altLang="en-US" sz="2400" dirty="0">
                <a:latin typeface="Gill Sans MT" panose="020B0502020104020203" pitchFamily="34" charset="0"/>
              </a:rPr>
              <a:t> remote host</a:t>
            </a:r>
          </a:p>
          <a:p>
            <a:pPr>
              <a:lnSpc>
                <a:spcPct val="75000"/>
              </a:lnSpc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en-US" sz="2800" dirty="0" smtClean="0">
                <a:latin typeface="Gill Sans MT" panose="020B0502020104020203" pitchFamily="34" charset="0"/>
              </a:rPr>
              <a:t>ftp </a:t>
            </a:r>
            <a:r>
              <a:rPr lang="en-US" altLang="en-US" sz="2800" dirty="0">
                <a:latin typeface="Gill Sans MT" panose="020B0502020104020203" pitchFamily="34" charset="0"/>
              </a:rPr>
              <a:t>server: port 21</a:t>
            </a:r>
          </a:p>
        </p:txBody>
      </p:sp>
      <p:sp>
        <p:nvSpPr>
          <p:cNvPr id="137237" name="Line 49"/>
          <p:cNvSpPr>
            <a:spLocks noChangeShapeType="1"/>
          </p:cNvSpPr>
          <p:nvPr/>
        </p:nvSpPr>
        <p:spPr bwMode="auto">
          <a:xfrm>
            <a:off x="5889626" y="1714500"/>
            <a:ext cx="21875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7238" name="Group 51"/>
          <p:cNvGrpSpPr>
            <a:grpSpLocks/>
          </p:cNvGrpSpPr>
          <p:nvPr/>
        </p:nvGrpSpPr>
        <p:grpSpPr bwMode="auto">
          <a:xfrm>
            <a:off x="7532688" y="2327275"/>
            <a:ext cx="476250" cy="749300"/>
            <a:chOff x="4140" y="429"/>
            <a:chExt cx="1425" cy="2396"/>
          </a:xfrm>
        </p:grpSpPr>
        <p:sp>
          <p:nvSpPr>
            <p:cNvPr id="137242" name="Freeform 5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43" name="Rectangle 53"/>
            <p:cNvSpPr>
              <a:spLocks noChangeArrowheads="1"/>
            </p:cNvSpPr>
            <p:nvPr/>
          </p:nvSpPr>
          <p:spPr bwMode="auto">
            <a:xfrm>
              <a:off x="4207" y="429"/>
              <a:ext cx="1045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7244" name="Freeform 5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45" name="Freeform 5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46" name="Rectangle 56"/>
            <p:cNvSpPr>
              <a:spLocks noChangeArrowheads="1"/>
            </p:cNvSpPr>
            <p:nvPr/>
          </p:nvSpPr>
          <p:spPr bwMode="auto">
            <a:xfrm>
              <a:off x="4211" y="693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37247" name="Group 5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7272" name="AutoShape 5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4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7273" name="AutoShape 59"/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7248" name="Rectangle 60"/>
            <p:cNvSpPr>
              <a:spLocks noChangeArrowheads="1"/>
            </p:cNvSpPr>
            <p:nvPr/>
          </p:nvSpPr>
          <p:spPr bwMode="auto">
            <a:xfrm>
              <a:off x="4226" y="1018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37249" name="Group 6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7270" name="AutoShape 62"/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7271" name="AutoShape 63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88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7250" name="Rectangle 64"/>
            <p:cNvSpPr>
              <a:spLocks noChangeArrowheads="1"/>
            </p:cNvSpPr>
            <p:nvPr/>
          </p:nvSpPr>
          <p:spPr bwMode="auto">
            <a:xfrm>
              <a:off x="4216" y="1358"/>
              <a:ext cx="599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7251" name="Rectangle 65"/>
            <p:cNvSpPr>
              <a:spLocks noChangeArrowheads="1"/>
            </p:cNvSpPr>
            <p:nvPr/>
          </p:nvSpPr>
          <p:spPr bwMode="auto">
            <a:xfrm>
              <a:off x="4230" y="1657"/>
              <a:ext cx="594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37252" name="Group 6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7268" name="AutoShape 67"/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8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7269" name="AutoShape 68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7253" name="Freeform 6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7254" name="Group 7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7266" name="AutoShape 71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7267" name="AutoShape 72"/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37255" name="Rectangle 73"/>
            <p:cNvSpPr>
              <a:spLocks noChangeArrowheads="1"/>
            </p:cNvSpPr>
            <p:nvPr/>
          </p:nvSpPr>
          <p:spPr bwMode="auto">
            <a:xfrm>
              <a:off x="5252" y="429"/>
              <a:ext cx="67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7256" name="Freeform 7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57" name="Freeform 7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58" name="Oval 76"/>
            <p:cNvSpPr>
              <a:spLocks noChangeArrowheads="1"/>
            </p:cNvSpPr>
            <p:nvPr/>
          </p:nvSpPr>
          <p:spPr bwMode="auto">
            <a:xfrm>
              <a:off x="5518" y="2612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7259" name="Freeform 7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60" name="AutoShape 78"/>
            <p:cNvSpPr>
              <a:spLocks noChangeArrowheads="1"/>
            </p:cNvSpPr>
            <p:nvPr/>
          </p:nvSpPr>
          <p:spPr bwMode="auto">
            <a:xfrm>
              <a:off x="4140" y="2678"/>
              <a:ext cx="1197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7261" name="AutoShape 79"/>
            <p:cNvSpPr>
              <a:spLocks noChangeArrowheads="1"/>
            </p:cNvSpPr>
            <p:nvPr/>
          </p:nvSpPr>
          <p:spPr bwMode="auto">
            <a:xfrm>
              <a:off x="4207" y="2713"/>
              <a:ext cx="1069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7262" name="Oval 80"/>
            <p:cNvSpPr>
              <a:spLocks noChangeArrowheads="1"/>
            </p:cNvSpPr>
            <p:nvPr/>
          </p:nvSpPr>
          <p:spPr bwMode="auto">
            <a:xfrm>
              <a:off x="4306" y="2383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7263" name="Oval 81"/>
            <p:cNvSpPr>
              <a:spLocks noChangeArrowheads="1"/>
            </p:cNvSpPr>
            <p:nvPr/>
          </p:nvSpPr>
          <p:spPr bwMode="auto">
            <a:xfrm>
              <a:off x="4487" y="2383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7264" name="Oval 82"/>
            <p:cNvSpPr>
              <a:spLocks noChangeArrowheads="1"/>
            </p:cNvSpPr>
            <p:nvPr/>
          </p:nvSpPr>
          <p:spPr bwMode="auto">
            <a:xfrm>
              <a:off x="4663" y="2383"/>
              <a:ext cx="157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7265" name="Rectangle 83"/>
            <p:cNvSpPr>
              <a:spLocks noChangeArrowheads="1"/>
            </p:cNvSpPr>
            <p:nvPr/>
          </p:nvSpPr>
          <p:spPr bwMode="auto">
            <a:xfrm>
              <a:off x="5062" y="1835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37239" name="Group 84"/>
          <p:cNvGrpSpPr>
            <a:grpSpLocks/>
          </p:cNvGrpSpPr>
          <p:nvPr/>
        </p:nvGrpSpPr>
        <p:grpSpPr bwMode="auto">
          <a:xfrm>
            <a:off x="3744913" y="2352676"/>
            <a:ext cx="830262" cy="849313"/>
            <a:chOff x="-44" y="1473"/>
            <a:chExt cx="981" cy="1105"/>
          </a:xfrm>
        </p:grpSpPr>
        <p:pic>
          <p:nvPicPr>
            <p:cNvPr id="137240" name="Picture 85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7241" name="Freeform 8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0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5" y="301625"/>
            <a:ext cx="7772400" cy="869950"/>
          </a:xfrm>
        </p:spPr>
        <p:txBody>
          <a:bodyPr/>
          <a:lstStyle/>
          <a:p>
            <a:r>
              <a:rPr lang="en-US" altLang="en-US" sz="4000"/>
              <a:t>Electronic mail</a:t>
            </a:r>
            <a:endParaRPr lang="en-US" altLang="en-US" smtClean="0"/>
          </a:p>
        </p:txBody>
      </p:sp>
      <p:sp>
        <p:nvSpPr>
          <p:cNvPr id="14541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68514" y="1366838"/>
            <a:ext cx="3933825" cy="4876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Three major components:</a:t>
            </a:r>
            <a:r>
              <a:rPr lang="en-US" altLang="en-US" dirty="0" smtClean="0">
                <a:solidFill>
                  <a:srgbClr val="CC0000"/>
                </a:solidFill>
              </a:rPr>
              <a:t> </a:t>
            </a:r>
          </a:p>
          <a:p>
            <a:r>
              <a:rPr lang="en-US" altLang="en-US" sz="2400" dirty="0"/>
              <a:t>user agents </a:t>
            </a:r>
          </a:p>
          <a:p>
            <a:r>
              <a:rPr lang="en-US" altLang="en-US" sz="2400" dirty="0"/>
              <a:t>mail servers </a:t>
            </a:r>
          </a:p>
          <a:p>
            <a:pPr>
              <a:spcAft>
                <a:spcPct val="75000"/>
              </a:spcAft>
            </a:pPr>
            <a:r>
              <a:rPr lang="en-US" altLang="en-US" sz="2400" dirty="0"/>
              <a:t>simple mail transfer protocol: SMTP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</a:rPr>
              <a:t>User Agent</a:t>
            </a:r>
          </a:p>
          <a:p>
            <a:r>
              <a:rPr lang="en-US" altLang="en-US" sz="2400" dirty="0"/>
              <a:t>a.k.a. </a:t>
            </a:r>
            <a:r>
              <a:rPr lang="ja-JP" altLang="en-US" sz="2400" dirty="0"/>
              <a:t>“</a:t>
            </a:r>
            <a:r>
              <a:rPr lang="en-US" altLang="ja-JP" sz="2400" dirty="0"/>
              <a:t>mail reader</a:t>
            </a:r>
            <a:r>
              <a:rPr lang="ja-JP" altLang="en-US" sz="2400" dirty="0"/>
              <a:t>”</a:t>
            </a:r>
            <a:endParaRPr lang="en-US" altLang="ja-JP" sz="2400" dirty="0"/>
          </a:p>
          <a:p>
            <a:r>
              <a:rPr lang="en-US" altLang="en-US" sz="2400" dirty="0"/>
              <a:t>composing, editing, reading mail messages</a:t>
            </a:r>
          </a:p>
          <a:p>
            <a:r>
              <a:rPr lang="en-US" altLang="en-US" sz="2400" dirty="0"/>
              <a:t>e.g., Outlook, </a:t>
            </a:r>
            <a:r>
              <a:rPr lang="en-US" altLang="en-US" sz="2400" dirty="0" smtClean="0"/>
              <a:t>iPhone </a:t>
            </a:r>
            <a:r>
              <a:rPr lang="en-US" altLang="en-US" sz="2400" dirty="0"/>
              <a:t>mail client</a:t>
            </a:r>
          </a:p>
          <a:p>
            <a:r>
              <a:rPr lang="en-US" altLang="en-US" sz="2400" dirty="0"/>
              <a:t>outgoing, incoming messages stored on server</a:t>
            </a:r>
          </a:p>
        </p:txBody>
      </p:sp>
      <p:sp>
        <p:nvSpPr>
          <p:cNvPr id="145413" name="Rectangle 280"/>
          <p:cNvSpPr>
            <a:spLocks noChangeArrowheads="1"/>
          </p:cNvSpPr>
          <p:nvPr/>
        </p:nvSpPr>
        <p:spPr bwMode="auto">
          <a:xfrm>
            <a:off x="8486775" y="628651"/>
            <a:ext cx="1828800" cy="98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400"/>
          </a:p>
        </p:txBody>
      </p:sp>
      <p:grpSp>
        <p:nvGrpSpPr>
          <p:cNvPr id="145414" name="Group 279"/>
          <p:cNvGrpSpPr>
            <a:grpSpLocks/>
          </p:cNvGrpSpPr>
          <p:nvPr/>
        </p:nvGrpSpPr>
        <p:grpSpPr bwMode="auto">
          <a:xfrm>
            <a:off x="8583614" y="576264"/>
            <a:ext cx="1736725" cy="955675"/>
            <a:chOff x="4458" y="3335"/>
            <a:chExt cx="1094" cy="602"/>
          </a:xfrm>
        </p:grpSpPr>
        <p:sp>
          <p:nvSpPr>
            <p:cNvPr id="145612" name="Text Box 263"/>
            <p:cNvSpPr txBox="1">
              <a:spLocks noChangeArrowheads="1"/>
            </p:cNvSpPr>
            <p:nvPr/>
          </p:nvSpPr>
          <p:spPr bwMode="auto">
            <a:xfrm>
              <a:off x="4680" y="3725"/>
              <a:ext cx="84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 mailbox</a:t>
              </a:r>
              <a:endParaRPr lang="en-US" altLang="en-US" sz="2400"/>
            </a:p>
          </p:txBody>
        </p:sp>
        <p:grpSp>
          <p:nvGrpSpPr>
            <p:cNvPr id="145613" name="Group 278"/>
            <p:cNvGrpSpPr>
              <a:grpSpLocks/>
            </p:cNvGrpSpPr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145616" name="Rectangle 264"/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617" name="Line 265"/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618" name="Line 266"/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619" name="Line 267"/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620" name="Line 268"/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621" name="Line 269"/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622" name="Line 270"/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623" name="Line 271"/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5614" name="Rectangle 272"/>
            <p:cNvSpPr>
              <a:spLocks noChangeArrowheads="1"/>
            </p:cNvSpPr>
            <p:nvPr/>
          </p:nvSpPr>
          <p:spPr bwMode="auto"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5615" name="Text Box 277"/>
            <p:cNvSpPr txBox="1">
              <a:spLocks noChangeArrowheads="1"/>
            </p:cNvSpPr>
            <p:nvPr/>
          </p:nvSpPr>
          <p:spPr bwMode="auto">
            <a:xfrm>
              <a:off x="4526" y="3335"/>
              <a:ext cx="10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outgoing 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message queue</a:t>
              </a:r>
              <a:endParaRPr lang="en-US" altLang="en-US" sz="2400"/>
            </a:p>
          </p:txBody>
        </p:sp>
      </p:grpSp>
      <p:grpSp>
        <p:nvGrpSpPr>
          <p:cNvPr id="145416" name="Group 454"/>
          <p:cNvGrpSpPr>
            <a:grpSpLocks/>
          </p:cNvGrpSpPr>
          <p:nvPr/>
        </p:nvGrpSpPr>
        <p:grpSpPr bwMode="auto">
          <a:xfrm>
            <a:off x="6186488" y="1406525"/>
            <a:ext cx="4318000" cy="5118100"/>
            <a:chOff x="2937" y="886"/>
            <a:chExt cx="2720" cy="3224"/>
          </a:xfrm>
        </p:grpSpPr>
        <p:grpSp>
          <p:nvGrpSpPr>
            <p:cNvPr id="145417" name="Group 389"/>
            <p:cNvGrpSpPr>
              <a:grpSpLocks/>
            </p:cNvGrpSpPr>
            <p:nvPr/>
          </p:nvGrpSpPr>
          <p:grpSpPr bwMode="auto"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145580" name="Freeform 390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81" name="Rectangle 391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82" name="Freeform 392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83" name="Freeform 393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84" name="Rectangle 394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85" name="Group 395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5610" name="AutoShape 39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611" name="AutoShape 397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86" name="Rectangle 398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87" name="Group 399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5608" name="AutoShape 40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609" name="AutoShape 401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88" name="Rectangle 402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89" name="Rectangle 403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90" name="Group 404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606" name="AutoShape 405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607" name="AutoShape 406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91" name="Freeform 407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5592" name="Group 408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5604" name="AutoShape 409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605" name="AutoShape 410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93" name="Rectangle 411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94" name="Freeform 412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95" name="Freeform 413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96" name="Oval 41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97" name="Freeform 415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98" name="AutoShape 41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99" name="AutoShape 417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600" name="Oval 418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601" name="Oval 419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45602" name="Oval 420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603" name="Rectangle 421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145418" name="Group 356"/>
            <p:cNvGrpSpPr>
              <a:grpSpLocks/>
            </p:cNvGrpSpPr>
            <p:nvPr/>
          </p:nvGrpSpPr>
          <p:grpSpPr bwMode="auto"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145548" name="Freeform 357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49" name="Rectangle 358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50" name="Freeform 359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51" name="Freeform 360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52" name="Rectangle 361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53" name="Group 362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5578" name="AutoShape 363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579" name="AutoShape 364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54" name="Rectangle 365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55" name="Group 366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5576" name="AutoShape 36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577" name="AutoShape 368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56" name="Rectangle 369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57" name="Rectangle 370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58" name="Group 371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574" name="AutoShape 372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575" name="AutoShape 373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59" name="Freeform 374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5560" name="Group 375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5572" name="AutoShape 376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573" name="AutoShape 377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61" name="Rectangle 378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62" name="Freeform 379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63" name="Freeform 380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64" name="Oval 381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65" name="Freeform 382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66" name="AutoShape 383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67" name="AutoShape 384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68" name="Oval 385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69" name="Oval 386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45570" name="Oval 387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71" name="Rectangle 388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145419" name="Group 320"/>
            <p:cNvGrpSpPr>
              <a:grpSpLocks/>
            </p:cNvGrpSpPr>
            <p:nvPr/>
          </p:nvGrpSpPr>
          <p:grpSpPr bwMode="auto"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145516" name="Freeform 32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4 w 354"/>
                  <a:gd name="T1" fmla="*/ 0 h 2742"/>
                  <a:gd name="T2" fmla="*/ 19 w 354"/>
                  <a:gd name="T3" fmla="*/ 32 h 2742"/>
                  <a:gd name="T4" fmla="*/ 19 w 354"/>
                  <a:gd name="T5" fmla="*/ 246 h 2742"/>
                  <a:gd name="T6" fmla="*/ 0 w 354"/>
                  <a:gd name="T7" fmla="*/ 258 h 2742"/>
                  <a:gd name="T8" fmla="*/ 4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17" name="Rectangle 322"/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18" name="Freeform 32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1 w 211"/>
                  <a:gd name="T3" fmla="*/ 21 h 2537"/>
                  <a:gd name="T4" fmla="*/ 2 w 211"/>
                  <a:gd name="T5" fmla="*/ 23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19" name="Freeform 32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3 h 226"/>
                  <a:gd name="T4" fmla="*/ 18 w 328"/>
                  <a:gd name="T5" fmla="*/ 23 h 226"/>
                  <a:gd name="T6" fmla="*/ 0 w 328"/>
                  <a:gd name="T7" fmla="*/ 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20" name="Rectangle 325"/>
              <p:cNvSpPr>
                <a:spLocks noChangeArrowheads="1"/>
              </p:cNvSpPr>
              <p:nvPr/>
            </p:nvSpPr>
            <p:spPr bwMode="auto"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21" name="Group 32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5546" name="AutoShape 327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547" name="AutoShape 328"/>
                <p:cNvSpPr>
                  <a:spLocks noChangeArrowheads="1"/>
                </p:cNvSpPr>
                <p:nvPr/>
              </p:nvSpPr>
              <p:spPr bwMode="auto">
                <a:xfrm>
                  <a:off x="634" y="2583"/>
                  <a:ext cx="685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22" name="Rectangle 329"/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23" name="Group 33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5544" name="AutoShape 331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545" name="AutoShape 332"/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24" name="Rectangle 333"/>
              <p:cNvSpPr>
                <a:spLocks noChangeArrowheads="1"/>
              </p:cNvSpPr>
              <p:nvPr/>
            </p:nvSpPr>
            <p:spPr bwMode="auto"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25" name="Rectangle 334"/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45526" name="Group 33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542" name="AutoShape 336"/>
                <p:cNvSpPr>
                  <a:spLocks noChangeArrowheads="1"/>
                </p:cNvSpPr>
                <p:nvPr/>
              </p:nvSpPr>
              <p:spPr bwMode="auto">
                <a:xfrm>
                  <a:off x="616" y="2570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543" name="AutoShape 337"/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27" name="Freeform 33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8 w 328"/>
                  <a:gd name="T3" fmla="*/ 12 h 226"/>
                  <a:gd name="T4" fmla="*/ 18 w 328"/>
                  <a:gd name="T5" fmla="*/ 21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5528" name="Group 33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5540" name="AutoShape 340"/>
                <p:cNvSpPr>
                  <a:spLocks noChangeArrowheads="1"/>
                </p:cNvSpPr>
                <p:nvPr/>
              </p:nvSpPr>
              <p:spPr bwMode="auto">
                <a:xfrm>
                  <a:off x="629" y="2568"/>
                  <a:ext cx="70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45541" name="AutoShape 341"/>
                <p:cNvSpPr>
                  <a:spLocks noChangeArrowheads="1"/>
                </p:cNvSpPr>
                <p:nvPr/>
              </p:nvSpPr>
              <p:spPr bwMode="auto">
                <a:xfrm>
                  <a:off x="634" y="2584"/>
                  <a:ext cx="67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45529" name="Rectangle 342"/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30" name="Freeform 34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7 w 296"/>
                  <a:gd name="T3" fmla="*/ 12 h 256"/>
                  <a:gd name="T4" fmla="*/ 17 w 296"/>
                  <a:gd name="T5" fmla="*/ 23 h 256"/>
                  <a:gd name="T6" fmla="*/ 0 w 296"/>
                  <a:gd name="T7" fmla="*/ 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1" name="Freeform 34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8 w 304"/>
                  <a:gd name="T3" fmla="*/ 16 h 288"/>
                  <a:gd name="T4" fmla="*/ 16 w 304"/>
                  <a:gd name="T5" fmla="*/ 28 h 288"/>
                  <a:gd name="T6" fmla="*/ 2 w 304"/>
                  <a:gd name="T7" fmla="*/ 1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2" name="Oval 345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33" name="Freeform 34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1 h 240"/>
                  <a:gd name="T2" fmla="*/ 2 w 306"/>
                  <a:gd name="T3" fmla="*/ 23 h 240"/>
                  <a:gd name="T4" fmla="*/ 18 w 306"/>
                  <a:gd name="T5" fmla="*/ 11 h 240"/>
                  <a:gd name="T6" fmla="*/ 17 w 306"/>
                  <a:gd name="T7" fmla="*/ 0 h 240"/>
                  <a:gd name="T8" fmla="*/ 0 w 306"/>
                  <a:gd name="T9" fmla="*/ 1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534" name="AutoShape 347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8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35" name="AutoShape 348"/>
              <p:cNvSpPr>
                <a:spLocks noChangeArrowheads="1"/>
              </p:cNvSpPr>
              <p:nvPr/>
            </p:nvSpPr>
            <p:spPr bwMode="auto">
              <a:xfrm>
                <a:off x="4206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36" name="Oval 349"/>
              <p:cNvSpPr>
                <a:spLocks noChangeArrowheads="1"/>
              </p:cNvSpPr>
              <p:nvPr/>
            </p:nvSpPr>
            <p:spPr bwMode="auto"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37" name="Oval 350"/>
              <p:cNvSpPr>
                <a:spLocks noChangeArrowheads="1"/>
              </p:cNvSpPr>
              <p:nvPr/>
            </p:nvSpPr>
            <p:spPr bwMode="auto"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45538" name="Oval 351"/>
              <p:cNvSpPr>
                <a:spLocks noChangeArrowheads="1"/>
              </p:cNvSpPr>
              <p:nvPr/>
            </p:nvSpPr>
            <p:spPr bwMode="auto"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5539" name="Rectangle 352"/>
              <p:cNvSpPr>
                <a:spLocks noChangeArrowheads="1"/>
              </p:cNvSpPr>
              <p:nvPr/>
            </p:nvSpPr>
            <p:spPr bwMode="auto"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5420" name="Line 9"/>
            <p:cNvSpPr>
              <a:spLocks noChangeShapeType="1"/>
            </p:cNvSpPr>
            <p:nvPr/>
          </p:nvSpPr>
          <p:spPr bwMode="auto">
            <a:xfrm>
              <a:off x="3734" y="1642"/>
              <a:ext cx="708" cy="49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5421" name="Group 19"/>
            <p:cNvGrpSpPr>
              <a:grpSpLocks/>
            </p:cNvGrpSpPr>
            <p:nvPr/>
          </p:nvGrpSpPr>
          <p:grpSpPr bwMode="auto"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145501" name="Rectangle 20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502" name="Text Box 21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server</a:t>
                </a:r>
                <a:endParaRPr lang="en-US" altLang="en-US" sz="2400"/>
              </a:p>
            </p:txBody>
          </p:sp>
          <p:sp>
            <p:nvSpPr>
              <p:cNvPr id="145503" name="Rectangle 22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504" name="Line 23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05" name="Line 24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06" name="Line 25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07" name="Line 26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08" name="Line 27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09" name="Line 28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0" name="Line 29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511" name="Rectangle 30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512" name="Rectangle 31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513" name="Rectangle 32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514" name="Rectangle 33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515" name="Rectangle 34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grpSp>
          <p:nvGrpSpPr>
            <p:cNvPr id="145422" name="Group 60"/>
            <p:cNvGrpSpPr>
              <a:grpSpLocks/>
            </p:cNvGrpSpPr>
            <p:nvPr/>
          </p:nvGrpSpPr>
          <p:grpSpPr bwMode="auto"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145486" name="Rectangle 61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87" name="Text Box 62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server</a:t>
                </a:r>
                <a:endParaRPr lang="en-US" altLang="en-US" sz="2400"/>
              </a:p>
            </p:txBody>
          </p:sp>
          <p:sp>
            <p:nvSpPr>
              <p:cNvPr id="145488" name="Rectangle 63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89" name="Line 64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0" name="Line 65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1" name="Line 66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2" name="Line 67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3" name="Line 68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4" name="Line 69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5" name="Line 70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96" name="Rectangle 71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97" name="Rectangle 72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98" name="Rectangle 73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99" name="Rectangle 74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500" name="Rectangle 75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grpSp>
          <p:nvGrpSpPr>
            <p:cNvPr id="145423" name="Group 96"/>
            <p:cNvGrpSpPr>
              <a:grpSpLocks/>
            </p:cNvGrpSpPr>
            <p:nvPr/>
          </p:nvGrpSpPr>
          <p:grpSpPr bwMode="auto"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145471" name="Rectangle 97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72" name="Text Box 98"/>
              <p:cNvSpPr txBox="1">
                <a:spLocks noChangeArrowheads="1"/>
              </p:cNvSpPr>
              <p:nvPr/>
            </p:nvSpPr>
            <p:spPr bwMode="auto"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mail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server</a:t>
                </a:r>
                <a:endParaRPr lang="en-US" altLang="en-US" sz="2400"/>
              </a:p>
            </p:txBody>
          </p:sp>
          <p:sp>
            <p:nvSpPr>
              <p:cNvPr id="145473" name="Rectangle 99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74" name="Line 100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75" name="Line 101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76" name="Line 102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77" name="Line 103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78" name="Line 104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79" name="Line 105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80" name="Line 106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5481" name="Rectangle 107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82" name="Rectangle 108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83" name="Rectangle 109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84" name="Rectangle 110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85" name="Rectangle 111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</p:grpSp>
        <p:sp>
          <p:nvSpPr>
            <p:cNvPr id="145424" name="Line 117"/>
            <p:cNvSpPr>
              <a:spLocks noChangeShapeType="1"/>
            </p:cNvSpPr>
            <p:nvPr/>
          </p:nvSpPr>
          <p:spPr bwMode="auto">
            <a:xfrm flipV="1">
              <a:off x="3734" y="2350"/>
              <a:ext cx="708" cy="684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425" name="Line 118"/>
            <p:cNvSpPr>
              <a:spLocks noChangeShapeType="1"/>
            </p:cNvSpPr>
            <p:nvPr/>
          </p:nvSpPr>
          <p:spPr bwMode="auto">
            <a:xfrm flipH="1" flipV="1">
              <a:off x="3266" y="2020"/>
              <a:ext cx="0" cy="78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45426" name="Group 119"/>
            <p:cNvGrpSpPr>
              <a:grpSpLocks/>
            </p:cNvGrpSpPr>
            <p:nvPr/>
          </p:nvGrpSpPr>
          <p:grpSpPr bwMode="auto">
            <a:xfrm>
              <a:off x="3795" y="2535"/>
              <a:ext cx="650" cy="288"/>
              <a:chOff x="3745" y="2537"/>
              <a:chExt cx="650" cy="288"/>
            </a:xfrm>
          </p:grpSpPr>
          <p:sp>
            <p:nvSpPr>
              <p:cNvPr id="145469" name="Rectangle 120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70" name="Text Box 121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145427" name="Group 122"/>
            <p:cNvGrpSpPr>
              <a:grpSpLocks/>
            </p:cNvGrpSpPr>
            <p:nvPr/>
          </p:nvGrpSpPr>
          <p:grpSpPr bwMode="auto">
            <a:xfrm>
              <a:off x="3771" y="1743"/>
              <a:ext cx="650" cy="288"/>
              <a:chOff x="3745" y="2537"/>
              <a:chExt cx="650" cy="288"/>
            </a:xfrm>
          </p:grpSpPr>
          <p:sp>
            <p:nvSpPr>
              <p:cNvPr id="145467" name="Rectangle 123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68" name="Text Box 124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145428" name="Group 125"/>
            <p:cNvGrpSpPr>
              <a:grpSpLocks/>
            </p:cNvGrpSpPr>
            <p:nvPr/>
          </p:nvGrpSpPr>
          <p:grpSpPr bwMode="auto">
            <a:xfrm>
              <a:off x="2937" y="2193"/>
              <a:ext cx="650" cy="288"/>
              <a:chOff x="3745" y="2537"/>
              <a:chExt cx="650" cy="288"/>
            </a:xfrm>
          </p:grpSpPr>
          <p:sp>
            <p:nvSpPr>
              <p:cNvPr id="145465" name="Rectangle 126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66" name="Text Box 127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rgbClr val="CC0000"/>
                    </a:solidFill>
                  </a:rPr>
                  <a:t>SMTP</a:t>
                </a:r>
              </a:p>
            </p:txBody>
          </p:sp>
        </p:grpSp>
        <p:grpSp>
          <p:nvGrpSpPr>
            <p:cNvPr id="145429" name="Group 423"/>
            <p:cNvGrpSpPr>
              <a:grpSpLocks/>
            </p:cNvGrpSpPr>
            <p:nvPr/>
          </p:nvGrpSpPr>
          <p:grpSpPr bwMode="auto">
            <a:xfrm>
              <a:off x="3587" y="886"/>
              <a:ext cx="575" cy="664"/>
              <a:chOff x="3574" y="550"/>
              <a:chExt cx="575" cy="664"/>
            </a:xfrm>
          </p:grpSpPr>
          <p:grpSp>
            <p:nvGrpSpPr>
              <p:cNvPr id="145460" name="Group 35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45463" name="Picture 35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5464" name="Freeform 35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3459 w 356"/>
                    <a:gd name="T3" fmla="*/ 887 h 368"/>
                    <a:gd name="T4" fmla="*/ 15967 w 356"/>
                    <a:gd name="T5" fmla="*/ 18491 h 368"/>
                    <a:gd name="T6" fmla="*/ 3519 w 356"/>
                    <a:gd name="T7" fmla="*/ 2312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45461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62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agent</a:t>
                </a:r>
                <a:endParaRPr lang="en-US" altLang="en-US" sz="2400"/>
              </a:p>
            </p:txBody>
          </p:sp>
        </p:grpSp>
        <p:grpSp>
          <p:nvGrpSpPr>
            <p:cNvPr id="145430" name="Group 424"/>
            <p:cNvGrpSpPr>
              <a:grpSpLocks/>
            </p:cNvGrpSpPr>
            <p:nvPr/>
          </p:nvGrpSpPr>
          <p:grpSpPr bwMode="auto">
            <a:xfrm>
              <a:off x="4870" y="1400"/>
              <a:ext cx="575" cy="664"/>
              <a:chOff x="3574" y="550"/>
              <a:chExt cx="575" cy="664"/>
            </a:xfrm>
          </p:grpSpPr>
          <p:grpSp>
            <p:nvGrpSpPr>
              <p:cNvPr id="145455" name="Group 425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45458" name="Picture 426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5459" name="Freeform 427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3459 w 356"/>
                    <a:gd name="T3" fmla="*/ 887 h 368"/>
                    <a:gd name="T4" fmla="*/ 15967 w 356"/>
                    <a:gd name="T5" fmla="*/ 18491 h 368"/>
                    <a:gd name="T6" fmla="*/ 3519 w 356"/>
                    <a:gd name="T7" fmla="*/ 2312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45456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57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agent</a:t>
                </a:r>
                <a:endParaRPr lang="en-US" altLang="en-US" sz="2400"/>
              </a:p>
            </p:txBody>
          </p:sp>
        </p:grpSp>
        <p:grpSp>
          <p:nvGrpSpPr>
            <p:cNvPr id="145431" name="Group 430"/>
            <p:cNvGrpSpPr>
              <a:grpSpLocks/>
            </p:cNvGrpSpPr>
            <p:nvPr/>
          </p:nvGrpSpPr>
          <p:grpSpPr bwMode="auto">
            <a:xfrm>
              <a:off x="5082" y="1880"/>
              <a:ext cx="575" cy="664"/>
              <a:chOff x="3574" y="550"/>
              <a:chExt cx="575" cy="664"/>
            </a:xfrm>
          </p:grpSpPr>
          <p:grpSp>
            <p:nvGrpSpPr>
              <p:cNvPr id="145450" name="Group 431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45453" name="Picture 432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5454" name="Freeform 433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3459 w 356"/>
                    <a:gd name="T3" fmla="*/ 887 h 368"/>
                    <a:gd name="T4" fmla="*/ 15967 w 356"/>
                    <a:gd name="T5" fmla="*/ 18491 h 368"/>
                    <a:gd name="T6" fmla="*/ 3519 w 356"/>
                    <a:gd name="T7" fmla="*/ 2312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45451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52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agent</a:t>
                </a:r>
                <a:endParaRPr lang="en-US" altLang="en-US" sz="2400"/>
              </a:p>
            </p:txBody>
          </p:sp>
        </p:grpSp>
        <p:grpSp>
          <p:nvGrpSpPr>
            <p:cNvPr id="145432" name="Group 436"/>
            <p:cNvGrpSpPr>
              <a:grpSpLocks/>
            </p:cNvGrpSpPr>
            <p:nvPr/>
          </p:nvGrpSpPr>
          <p:grpSpPr bwMode="auto">
            <a:xfrm>
              <a:off x="4999" y="2540"/>
              <a:ext cx="575" cy="664"/>
              <a:chOff x="3574" y="550"/>
              <a:chExt cx="575" cy="664"/>
            </a:xfrm>
          </p:grpSpPr>
          <p:grpSp>
            <p:nvGrpSpPr>
              <p:cNvPr id="145445" name="Group 437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45448" name="Picture 438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5449" name="Freeform 439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3459 w 356"/>
                    <a:gd name="T3" fmla="*/ 887 h 368"/>
                    <a:gd name="T4" fmla="*/ 15967 w 356"/>
                    <a:gd name="T5" fmla="*/ 18491 h 368"/>
                    <a:gd name="T6" fmla="*/ 3519 w 356"/>
                    <a:gd name="T7" fmla="*/ 2312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45446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47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agent</a:t>
                </a:r>
                <a:endParaRPr lang="en-US" altLang="en-US" sz="2400"/>
              </a:p>
            </p:txBody>
          </p:sp>
        </p:grpSp>
        <p:grpSp>
          <p:nvGrpSpPr>
            <p:cNvPr id="145433" name="Group 442"/>
            <p:cNvGrpSpPr>
              <a:grpSpLocks/>
            </p:cNvGrpSpPr>
            <p:nvPr/>
          </p:nvGrpSpPr>
          <p:grpSpPr bwMode="auto">
            <a:xfrm>
              <a:off x="3354" y="3446"/>
              <a:ext cx="575" cy="664"/>
              <a:chOff x="3574" y="550"/>
              <a:chExt cx="575" cy="664"/>
            </a:xfrm>
          </p:grpSpPr>
          <p:grpSp>
            <p:nvGrpSpPr>
              <p:cNvPr id="145440" name="Group 443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45443" name="Picture 444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5444" name="Freeform 445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3459 w 356"/>
                    <a:gd name="T3" fmla="*/ 887 h 368"/>
                    <a:gd name="T4" fmla="*/ 15967 w 356"/>
                    <a:gd name="T5" fmla="*/ 18491 h 368"/>
                    <a:gd name="T6" fmla="*/ 3519 w 356"/>
                    <a:gd name="T7" fmla="*/ 2312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45441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42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agent</a:t>
                </a:r>
                <a:endParaRPr lang="en-US" altLang="en-US" sz="2400"/>
              </a:p>
            </p:txBody>
          </p:sp>
        </p:grpSp>
        <p:grpSp>
          <p:nvGrpSpPr>
            <p:cNvPr id="145434" name="Group 448"/>
            <p:cNvGrpSpPr>
              <a:grpSpLocks/>
            </p:cNvGrpSpPr>
            <p:nvPr/>
          </p:nvGrpSpPr>
          <p:grpSpPr bwMode="auto">
            <a:xfrm>
              <a:off x="3813" y="3056"/>
              <a:ext cx="575" cy="664"/>
              <a:chOff x="3574" y="550"/>
              <a:chExt cx="575" cy="664"/>
            </a:xfrm>
          </p:grpSpPr>
          <p:grpSp>
            <p:nvGrpSpPr>
              <p:cNvPr id="145435" name="Group 449"/>
              <p:cNvGrpSpPr>
                <a:grpSpLocks/>
              </p:cNvGrpSpPr>
              <p:nvPr/>
            </p:nvGrpSpPr>
            <p:grpSpPr bwMode="auto"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145438" name="Picture 4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5439" name="Freeform 451"/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3459 w 356"/>
                    <a:gd name="T3" fmla="*/ 887 h 368"/>
                    <a:gd name="T4" fmla="*/ 15967 w 356"/>
                    <a:gd name="T5" fmla="*/ 18491 h 368"/>
                    <a:gd name="T6" fmla="*/ 3519 w 356"/>
                    <a:gd name="T7" fmla="*/ 23125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45436" name="Rectangle 115"/>
              <p:cNvSpPr>
                <a:spLocks noChangeArrowheads="1"/>
              </p:cNvSpPr>
              <p:nvPr/>
            </p:nvSpPr>
            <p:spPr bwMode="auto"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/>
              </a:p>
            </p:txBody>
          </p:sp>
          <p:sp>
            <p:nvSpPr>
              <p:cNvPr id="145437" name="Text Box 116"/>
              <p:cNvSpPr txBox="1">
                <a:spLocks noChangeArrowheads="1"/>
              </p:cNvSpPr>
              <p:nvPr/>
            </p:nvSpPr>
            <p:spPr bwMode="auto"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user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600"/>
                  <a:t>agent</a:t>
                </a:r>
                <a:endParaRPr lang="en-US" altLang="en-US" sz="2400"/>
              </a:p>
            </p:txBody>
          </p:sp>
        </p:grp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3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900238" y="222250"/>
            <a:ext cx="7772400" cy="882650"/>
          </a:xfrm>
        </p:spPr>
        <p:txBody>
          <a:bodyPr/>
          <a:lstStyle/>
          <a:p>
            <a:r>
              <a:rPr lang="en-US" altLang="en-US" sz="4000"/>
              <a:t>Electronic mail: mail servers</a:t>
            </a:r>
            <a:endParaRPr lang="en-US" altLang="en-US" smtClean="0"/>
          </a:p>
        </p:txBody>
      </p:sp>
      <p:sp>
        <p:nvSpPr>
          <p:cNvPr id="147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02659" y="1398588"/>
            <a:ext cx="4812367" cy="46482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 smtClean="0">
                <a:solidFill>
                  <a:srgbClr val="CC0000"/>
                </a:solidFill>
              </a:rPr>
              <a:t>mail servers:</a:t>
            </a:r>
          </a:p>
          <a:p>
            <a:r>
              <a:rPr lang="en-US" altLang="en-US" sz="2400" i="1" dirty="0">
                <a:solidFill>
                  <a:srgbClr val="CC0000"/>
                </a:solidFill>
              </a:rPr>
              <a:t>mailbox</a:t>
            </a:r>
            <a:r>
              <a:rPr lang="en-US" altLang="en-US" sz="2400" dirty="0"/>
              <a:t> contains incoming messages for user</a:t>
            </a:r>
          </a:p>
          <a:p>
            <a:r>
              <a:rPr lang="en-US" altLang="en-US" sz="2400" i="1" dirty="0">
                <a:solidFill>
                  <a:srgbClr val="CC0000"/>
                </a:solidFill>
              </a:rPr>
              <a:t>message queue</a:t>
            </a:r>
            <a:r>
              <a:rPr lang="en-US" altLang="en-US" sz="2400" dirty="0"/>
              <a:t> of outgoing (to be sent) mail messages</a:t>
            </a:r>
          </a:p>
          <a:p>
            <a:r>
              <a:rPr lang="en-US" altLang="en-US" sz="2400" i="1" dirty="0">
                <a:solidFill>
                  <a:srgbClr val="CC0000"/>
                </a:solidFill>
              </a:rPr>
              <a:t>SMTP protocol</a:t>
            </a:r>
            <a:r>
              <a:rPr lang="en-US" altLang="en-US" sz="2400" dirty="0"/>
              <a:t> between mail servers to send email messages</a:t>
            </a:r>
          </a:p>
          <a:p>
            <a:pPr lvl="1"/>
            <a:r>
              <a:rPr lang="en-US" altLang="en-US" dirty="0" smtClean="0"/>
              <a:t>client: sending mail server</a:t>
            </a:r>
          </a:p>
          <a:p>
            <a:pPr lvl="1"/>
            <a:r>
              <a:rPr lang="ja-JP" altLang="en-US" dirty="0" smtClean="0"/>
              <a:t>“</a:t>
            </a:r>
            <a:r>
              <a:rPr lang="en-US" altLang="ja-JP" dirty="0" smtClean="0"/>
              <a:t>server</a:t>
            </a:r>
            <a:r>
              <a:rPr lang="ja-JP" altLang="en-US" dirty="0" smtClean="0"/>
              <a:t>”</a:t>
            </a:r>
            <a:r>
              <a:rPr lang="en-US" altLang="ja-JP" dirty="0" smtClean="0"/>
              <a:t>: receiving mail </a:t>
            </a:r>
            <a:r>
              <a:rPr lang="en-US" altLang="ja-JP" dirty="0" smtClean="0"/>
              <a:t>server</a:t>
            </a:r>
          </a:p>
          <a:p>
            <a:pPr lvl="1"/>
            <a:r>
              <a:rPr lang="en-US" altLang="en-US" dirty="0"/>
              <a:t>uses TCP to reliably transfer email message from client to server, port 25</a:t>
            </a:r>
          </a:p>
          <a:p>
            <a:pPr lvl="1"/>
            <a:endParaRPr lang="en-US" altLang="en-US" dirty="0" smtClean="0"/>
          </a:p>
        </p:txBody>
      </p:sp>
      <p:grpSp>
        <p:nvGrpSpPr>
          <p:cNvPr id="147462" name="Group 271"/>
          <p:cNvGrpSpPr>
            <a:grpSpLocks/>
          </p:cNvGrpSpPr>
          <p:nvPr/>
        </p:nvGrpSpPr>
        <p:grpSpPr bwMode="auto">
          <a:xfrm>
            <a:off x="8423275" y="2787651"/>
            <a:ext cx="477838" cy="715963"/>
            <a:chOff x="4140" y="429"/>
            <a:chExt cx="1425" cy="2396"/>
          </a:xfrm>
        </p:grpSpPr>
        <p:sp>
          <p:nvSpPr>
            <p:cNvPr id="147625" name="Freeform 272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26" name="Rectangle 273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27" name="Freeform 274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28" name="Freeform 275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29" name="Rectangle 276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630" name="Group 277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7655" name="AutoShape 278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656" name="AutoShape 279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631" name="Rectangle 280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632" name="Group 281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7653" name="AutoShape 28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654" name="AutoShape 283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633" name="Rectangle 284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34" name="Rectangle 285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635" name="Group 286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7651" name="AutoShape 28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652" name="AutoShape 288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636" name="Freeform 289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7637" name="Group 290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7649" name="AutoShape 291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650" name="AutoShape 292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638" name="Rectangle 293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39" name="Freeform 294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40" name="Freeform 295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41" name="Oval 296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42" name="Freeform 297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43" name="AutoShape 298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44" name="AutoShape 299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45" name="Oval 300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46" name="Oval 301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7647" name="Oval 302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48" name="Rectangle 303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47463" name="Group 304"/>
          <p:cNvGrpSpPr>
            <a:grpSpLocks/>
          </p:cNvGrpSpPr>
          <p:nvPr/>
        </p:nvGrpSpPr>
        <p:grpSpPr bwMode="auto">
          <a:xfrm>
            <a:off x="6430964" y="4181476"/>
            <a:ext cx="477837" cy="715963"/>
            <a:chOff x="4140" y="429"/>
            <a:chExt cx="1425" cy="2396"/>
          </a:xfrm>
        </p:grpSpPr>
        <p:sp>
          <p:nvSpPr>
            <p:cNvPr id="147593" name="Freeform 30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94" name="Rectangle 306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95" name="Freeform 30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96" name="Freeform 30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97" name="Rectangle 309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598" name="Group 31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7623" name="AutoShape 31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624" name="AutoShape 312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599" name="Rectangle 313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600" name="Group 31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7621" name="AutoShape 31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622" name="AutoShape 316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601" name="Rectangle 317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02" name="Rectangle 318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603" name="Group 31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7619" name="AutoShape 320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620" name="AutoShape 321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604" name="Freeform 32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7605" name="Group 32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7617" name="AutoShape 324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618" name="AutoShape 325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606" name="Rectangle 326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07" name="Freeform 32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08" name="Freeform 32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09" name="Oval 329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10" name="Freeform 33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11" name="AutoShape 331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12" name="AutoShape 332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13" name="Oval 333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14" name="Oval 334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7615" name="Oval 335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616" name="Rectangle 336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47464" name="Group 337"/>
          <p:cNvGrpSpPr>
            <a:grpSpLocks/>
          </p:cNvGrpSpPr>
          <p:nvPr/>
        </p:nvGrpSpPr>
        <p:grpSpPr bwMode="auto">
          <a:xfrm>
            <a:off x="6453189" y="1839913"/>
            <a:ext cx="477837" cy="715962"/>
            <a:chOff x="4140" y="429"/>
            <a:chExt cx="1425" cy="2396"/>
          </a:xfrm>
        </p:grpSpPr>
        <p:sp>
          <p:nvSpPr>
            <p:cNvPr id="147561" name="Freeform 33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62" name="Rectangle 339"/>
            <p:cNvSpPr>
              <a:spLocks noChangeArrowheads="1"/>
            </p:cNvSpPr>
            <p:nvPr/>
          </p:nvSpPr>
          <p:spPr bwMode="auto">
            <a:xfrm>
              <a:off x="4206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63" name="Freeform 34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64" name="Freeform 34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65" name="Rectangle 342"/>
            <p:cNvSpPr>
              <a:spLocks noChangeArrowheads="1"/>
            </p:cNvSpPr>
            <p:nvPr/>
          </p:nvSpPr>
          <p:spPr bwMode="auto">
            <a:xfrm>
              <a:off x="4211" y="695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566" name="Group 34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47591" name="AutoShape 34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1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592" name="AutoShape 345"/>
              <p:cNvSpPr>
                <a:spLocks noChangeArrowheads="1"/>
              </p:cNvSpPr>
              <p:nvPr/>
            </p:nvSpPr>
            <p:spPr bwMode="auto">
              <a:xfrm>
                <a:off x="634" y="2583"/>
                <a:ext cx="68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567" name="Rectangle 346"/>
            <p:cNvSpPr>
              <a:spLocks noChangeArrowheads="1"/>
            </p:cNvSpPr>
            <p:nvPr/>
          </p:nvSpPr>
          <p:spPr bwMode="auto">
            <a:xfrm>
              <a:off x="4225" y="101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568" name="Group 34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47589" name="AutoShape 348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590" name="AutoShape 349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569" name="Rectangle 350"/>
            <p:cNvSpPr>
              <a:spLocks noChangeArrowheads="1"/>
            </p:cNvSpPr>
            <p:nvPr/>
          </p:nvSpPr>
          <p:spPr bwMode="auto">
            <a:xfrm>
              <a:off x="4216" y="1359"/>
              <a:ext cx="597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70" name="Rectangle 351"/>
            <p:cNvSpPr>
              <a:spLocks noChangeArrowheads="1"/>
            </p:cNvSpPr>
            <p:nvPr/>
          </p:nvSpPr>
          <p:spPr bwMode="auto">
            <a:xfrm>
              <a:off x="4230" y="1656"/>
              <a:ext cx="592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47571" name="Group 35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47587" name="AutoShape 353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588" name="AutoShape 354"/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572" name="Freeform 35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47573" name="Group 35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47585" name="AutoShape 357"/>
              <p:cNvSpPr>
                <a:spLocks noChangeArrowheads="1"/>
              </p:cNvSpPr>
              <p:nvPr/>
            </p:nvSpPr>
            <p:spPr bwMode="auto">
              <a:xfrm>
                <a:off x="629" y="2568"/>
                <a:ext cx="70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47586" name="AutoShape 358"/>
              <p:cNvSpPr>
                <a:spLocks noChangeArrowheads="1"/>
              </p:cNvSpPr>
              <p:nvPr/>
            </p:nvSpPr>
            <p:spPr bwMode="auto">
              <a:xfrm>
                <a:off x="634" y="2584"/>
                <a:ext cx="67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47574" name="Rectangle 359"/>
            <p:cNvSpPr>
              <a:spLocks noChangeArrowheads="1"/>
            </p:cNvSpPr>
            <p:nvPr/>
          </p:nvSpPr>
          <p:spPr bwMode="auto">
            <a:xfrm>
              <a:off x="5248" y="429"/>
              <a:ext cx="71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75" name="Freeform 36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76" name="Freeform 36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77" name="Oval 362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78" name="Freeform 36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579" name="AutoShape 364"/>
            <p:cNvSpPr>
              <a:spLocks noChangeArrowheads="1"/>
            </p:cNvSpPr>
            <p:nvPr/>
          </p:nvSpPr>
          <p:spPr bwMode="auto">
            <a:xfrm>
              <a:off x="4140" y="2676"/>
              <a:ext cx="1198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80" name="AutoShape 365"/>
            <p:cNvSpPr>
              <a:spLocks noChangeArrowheads="1"/>
            </p:cNvSpPr>
            <p:nvPr/>
          </p:nvSpPr>
          <p:spPr bwMode="auto">
            <a:xfrm>
              <a:off x="4206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81" name="Oval 366"/>
            <p:cNvSpPr>
              <a:spLocks noChangeArrowheads="1"/>
            </p:cNvSpPr>
            <p:nvPr/>
          </p:nvSpPr>
          <p:spPr bwMode="auto"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82" name="Oval 367"/>
            <p:cNvSpPr>
              <a:spLocks noChangeArrowheads="1"/>
            </p:cNvSpPr>
            <p:nvPr/>
          </p:nvSpPr>
          <p:spPr bwMode="auto"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7583" name="Oval 368"/>
            <p:cNvSpPr>
              <a:spLocks noChangeArrowheads="1"/>
            </p:cNvSpPr>
            <p:nvPr/>
          </p:nvSpPr>
          <p:spPr bwMode="auto"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7584" name="Rectangle 369"/>
            <p:cNvSpPr>
              <a:spLocks noChangeArrowheads="1"/>
            </p:cNvSpPr>
            <p:nvPr/>
          </p:nvSpPr>
          <p:spPr bwMode="auto"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47465" name="Line 9"/>
          <p:cNvSpPr>
            <a:spLocks noChangeShapeType="1"/>
          </p:cNvSpPr>
          <p:nvPr/>
        </p:nvSpPr>
        <p:spPr bwMode="auto">
          <a:xfrm>
            <a:off x="7451725" y="2606676"/>
            <a:ext cx="1123950" cy="7905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7466" name="Group 19"/>
          <p:cNvGrpSpPr>
            <a:grpSpLocks/>
          </p:cNvGrpSpPr>
          <p:nvPr/>
        </p:nvGrpSpPr>
        <p:grpSpPr bwMode="auto">
          <a:xfrm>
            <a:off x="8613776" y="2986089"/>
            <a:ext cx="809625" cy="1049337"/>
            <a:chOff x="4296" y="2627"/>
            <a:chExt cx="510" cy="661"/>
          </a:xfrm>
        </p:grpSpPr>
        <p:sp>
          <p:nvSpPr>
            <p:cNvPr id="147546" name="Rectangle 20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47" name="Text Box 21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mail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server</a:t>
              </a:r>
              <a:endParaRPr lang="en-US" altLang="en-US" sz="2400"/>
            </a:p>
          </p:txBody>
        </p:sp>
        <p:sp>
          <p:nvSpPr>
            <p:cNvPr id="147548" name="Rectangle 22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49" name="Line 23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50" name="Line 24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51" name="Line 25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52" name="Line 26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53" name="Line 27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54" name="Line 28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55" name="Line 29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56" name="Rectangle 30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57" name="Rectangle 31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58" name="Rectangle 32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59" name="Rectangle 33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60" name="Rectangle 34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grpSp>
        <p:nvGrpSpPr>
          <p:cNvPr id="147467" name="Group 60"/>
          <p:cNvGrpSpPr>
            <a:grpSpLocks/>
          </p:cNvGrpSpPr>
          <p:nvPr/>
        </p:nvGrpSpPr>
        <p:grpSpPr bwMode="auto">
          <a:xfrm>
            <a:off x="6613526" y="4386264"/>
            <a:ext cx="809625" cy="1049337"/>
            <a:chOff x="4296" y="2627"/>
            <a:chExt cx="510" cy="661"/>
          </a:xfrm>
        </p:grpSpPr>
        <p:sp>
          <p:nvSpPr>
            <p:cNvPr id="147531" name="Rectangle 6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32" name="Text Box 62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mail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server</a:t>
              </a:r>
              <a:endParaRPr lang="en-US" altLang="en-US" sz="2400"/>
            </a:p>
          </p:txBody>
        </p:sp>
        <p:sp>
          <p:nvSpPr>
            <p:cNvPr id="147533" name="Rectangle 6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34" name="Line 6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35" name="Line 6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36" name="Line 6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37" name="Line 6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38" name="Line 6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39" name="Line 6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40" name="Line 7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41" name="Rectangle 7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42" name="Rectangle 7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43" name="Rectangle 7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44" name="Rectangle 7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45" name="Rectangle 7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grpSp>
        <p:nvGrpSpPr>
          <p:cNvPr id="147468" name="Group 96"/>
          <p:cNvGrpSpPr>
            <a:grpSpLocks/>
          </p:cNvGrpSpPr>
          <p:nvPr/>
        </p:nvGrpSpPr>
        <p:grpSpPr bwMode="auto">
          <a:xfrm>
            <a:off x="6613526" y="2138364"/>
            <a:ext cx="809625" cy="1049337"/>
            <a:chOff x="4296" y="2627"/>
            <a:chExt cx="510" cy="661"/>
          </a:xfrm>
        </p:grpSpPr>
        <p:sp>
          <p:nvSpPr>
            <p:cNvPr id="147516" name="Rectangle 97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17" name="Text Box 98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mail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server</a:t>
              </a:r>
              <a:endParaRPr lang="en-US" altLang="en-US" sz="2400"/>
            </a:p>
          </p:txBody>
        </p:sp>
        <p:sp>
          <p:nvSpPr>
            <p:cNvPr id="147518" name="Rectangle 99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19" name="Line 100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20" name="Line 101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21" name="Line 102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22" name="Line 103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23" name="Line 104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24" name="Line 105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25" name="Line 106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526" name="Rectangle 107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27" name="Rectangle 108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28" name="Rectangle 109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29" name="Rectangle 110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30" name="Rectangle 111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147469" name="Line 117"/>
          <p:cNvSpPr>
            <a:spLocks noChangeShapeType="1"/>
          </p:cNvSpPr>
          <p:nvPr/>
        </p:nvSpPr>
        <p:spPr bwMode="auto">
          <a:xfrm flipV="1">
            <a:off x="7451725" y="3730625"/>
            <a:ext cx="1123950" cy="10858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7470" name="Line 118"/>
          <p:cNvSpPr>
            <a:spLocks noChangeShapeType="1"/>
          </p:cNvSpPr>
          <p:nvPr/>
        </p:nvSpPr>
        <p:spPr bwMode="auto">
          <a:xfrm flipH="1" flipV="1">
            <a:off x="6708775" y="3206751"/>
            <a:ext cx="0" cy="12477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7471" name="Group 119"/>
          <p:cNvGrpSpPr>
            <a:grpSpLocks/>
          </p:cNvGrpSpPr>
          <p:nvPr/>
        </p:nvGrpSpPr>
        <p:grpSpPr bwMode="auto">
          <a:xfrm>
            <a:off x="7548564" y="4024313"/>
            <a:ext cx="1031875" cy="457200"/>
            <a:chOff x="3745" y="2537"/>
            <a:chExt cx="650" cy="288"/>
          </a:xfrm>
        </p:grpSpPr>
        <p:sp>
          <p:nvSpPr>
            <p:cNvPr id="147514" name="Rectangle 120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15" name="Text Box 121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CC0000"/>
                  </a:solidFill>
                </a:rPr>
                <a:t>SMTP</a:t>
              </a:r>
            </a:p>
          </p:txBody>
        </p:sp>
      </p:grpSp>
      <p:grpSp>
        <p:nvGrpSpPr>
          <p:cNvPr id="147472" name="Group 122"/>
          <p:cNvGrpSpPr>
            <a:grpSpLocks/>
          </p:cNvGrpSpPr>
          <p:nvPr/>
        </p:nvGrpSpPr>
        <p:grpSpPr bwMode="auto">
          <a:xfrm>
            <a:off x="7510464" y="2767013"/>
            <a:ext cx="1031875" cy="457200"/>
            <a:chOff x="3745" y="2537"/>
            <a:chExt cx="650" cy="288"/>
          </a:xfrm>
        </p:grpSpPr>
        <p:sp>
          <p:nvSpPr>
            <p:cNvPr id="147512" name="Rectangle 123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13" name="Text Box 124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CC0000"/>
                  </a:solidFill>
                </a:rPr>
                <a:t>SMTP</a:t>
              </a:r>
            </a:p>
          </p:txBody>
        </p:sp>
      </p:grpSp>
      <p:grpSp>
        <p:nvGrpSpPr>
          <p:cNvPr id="147473" name="Group 125"/>
          <p:cNvGrpSpPr>
            <a:grpSpLocks/>
          </p:cNvGrpSpPr>
          <p:nvPr/>
        </p:nvGrpSpPr>
        <p:grpSpPr bwMode="auto">
          <a:xfrm>
            <a:off x="6186489" y="3481388"/>
            <a:ext cx="1031875" cy="457200"/>
            <a:chOff x="3745" y="2537"/>
            <a:chExt cx="650" cy="288"/>
          </a:xfrm>
        </p:grpSpPr>
        <p:sp>
          <p:nvSpPr>
            <p:cNvPr id="147510" name="Rectangle 126"/>
            <p:cNvSpPr>
              <a:spLocks noChangeArrowheads="1"/>
            </p:cNvSpPr>
            <p:nvPr/>
          </p:nvSpPr>
          <p:spPr bwMode="auto"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11" name="Text Box 127"/>
            <p:cNvSpPr txBox="1">
              <a:spLocks noChangeArrowheads="1"/>
            </p:cNvSpPr>
            <p:nvPr/>
          </p:nvSpPr>
          <p:spPr bwMode="auto"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CC0000"/>
                  </a:solidFill>
                </a:rPr>
                <a:t>SMTP</a:t>
              </a:r>
            </a:p>
          </p:txBody>
        </p:sp>
      </p:grpSp>
      <p:grpSp>
        <p:nvGrpSpPr>
          <p:cNvPr id="147474" name="Group 430"/>
          <p:cNvGrpSpPr>
            <a:grpSpLocks/>
          </p:cNvGrpSpPr>
          <p:nvPr/>
        </p:nvGrpSpPr>
        <p:grpSpPr bwMode="auto">
          <a:xfrm>
            <a:off x="7218363" y="1406525"/>
            <a:ext cx="912812" cy="1054100"/>
            <a:chOff x="3574" y="550"/>
            <a:chExt cx="575" cy="664"/>
          </a:xfrm>
        </p:grpSpPr>
        <p:grpSp>
          <p:nvGrpSpPr>
            <p:cNvPr id="147505" name="Group 431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47508" name="Picture 43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509" name="Freeform 43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47506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07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grpSp>
        <p:nvGrpSpPr>
          <p:cNvPr id="147475" name="Group 436"/>
          <p:cNvGrpSpPr>
            <a:grpSpLocks/>
          </p:cNvGrpSpPr>
          <p:nvPr/>
        </p:nvGrpSpPr>
        <p:grpSpPr bwMode="auto">
          <a:xfrm>
            <a:off x="9255126" y="2222500"/>
            <a:ext cx="912813" cy="1054100"/>
            <a:chOff x="3574" y="550"/>
            <a:chExt cx="575" cy="664"/>
          </a:xfrm>
        </p:grpSpPr>
        <p:grpSp>
          <p:nvGrpSpPr>
            <p:cNvPr id="147500" name="Group 437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47503" name="Picture 43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504" name="Freeform 43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47501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502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grpSp>
        <p:nvGrpSpPr>
          <p:cNvPr id="147476" name="Group 442"/>
          <p:cNvGrpSpPr>
            <a:grpSpLocks/>
          </p:cNvGrpSpPr>
          <p:nvPr/>
        </p:nvGrpSpPr>
        <p:grpSpPr bwMode="auto">
          <a:xfrm>
            <a:off x="9591676" y="2984500"/>
            <a:ext cx="912813" cy="1054100"/>
            <a:chOff x="3574" y="550"/>
            <a:chExt cx="575" cy="664"/>
          </a:xfrm>
        </p:grpSpPr>
        <p:grpSp>
          <p:nvGrpSpPr>
            <p:cNvPr id="147495" name="Group 443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47498" name="Picture 44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499" name="Freeform 44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47496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497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grpSp>
        <p:nvGrpSpPr>
          <p:cNvPr id="147477" name="Group 448"/>
          <p:cNvGrpSpPr>
            <a:grpSpLocks/>
          </p:cNvGrpSpPr>
          <p:nvPr/>
        </p:nvGrpSpPr>
        <p:grpSpPr bwMode="auto">
          <a:xfrm>
            <a:off x="9459913" y="4032250"/>
            <a:ext cx="912812" cy="1054100"/>
            <a:chOff x="3574" y="550"/>
            <a:chExt cx="575" cy="664"/>
          </a:xfrm>
        </p:grpSpPr>
        <p:grpSp>
          <p:nvGrpSpPr>
            <p:cNvPr id="147490" name="Group 449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47493" name="Picture 4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494" name="Freeform 451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47491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492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grpSp>
        <p:nvGrpSpPr>
          <p:cNvPr id="147478" name="Group 454"/>
          <p:cNvGrpSpPr>
            <a:grpSpLocks/>
          </p:cNvGrpSpPr>
          <p:nvPr/>
        </p:nvGrpSpPr>
        <p:grpSpPr bwMode="auto">
          <a:xfrm>
            <a:off x="6848476" y="5470525"/>
            <a:ext cx="912813" cy="1054100"/>
            <a:chOff x="3574" y="550"/>
            <a:chExt cx="575" cy="664"/>
          </a:xfrm>
        </p:grpSpPr>
        <p:grpSp>
          <p:nvGrpSpPr>
            <p:cNvPr id="147485" name="Group 455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47488" name="Picture 45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489" name="Freeform 457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47486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487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grpSp>
        <p:nvGrpSpPr>
          <p:cNvPr id="147479" name="Group 460"/>
          <p:cNvGrpSpPr>
            <a:grpSpLocks/>
          </p:cNvGrpSpPr>
          <p:nvPr/>
        </p:nvGrpSpPr>
        <p:grpSpPr bwMode="auto">
          <a:xfrm>
            <a:off x="7577138" y="4851400"/>
            <a:ext cx="912812" cy="1054100"/>
            <a:chOff x="3574" y="550"/>
            <a:chExt cx="575" cy="664"/>
          </a:xfrm>
        </p:grpSpPr>
        <p:grpSp>
          <p:nvGrpSpPr>
            <p:cNvPr id="147480" name="Group 461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47483" name="Picture 46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7484" name="Freeform 46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47481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47482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0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555" name="Group 163"/>
          <p:cNvGrpSpPr>
            <a:grpSpLocks/>
          </p:cNvGrpSpPr>
          <p:nvPr/>
        </p:nvGrpSpPr>
        <p:grpSpPr bwMode="auto">
          <a:xfrm>
            <a:off x="2667001" y="4881563"/>
            <a:ext cx="912813" cy="1054100"/>
            <a:chOff x="3574" y="550"/>
            <a:chExt cx="575" cy="664"/>
          </a:xfrm>
        </p:grpSpPr>
        <p:grpSp>
          <p:nvGrpSpPr>
            <p:cNvPr id="151677" name="Group 164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51680" name="Picture 16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681" name="Freeform 166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51678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679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grpSp>
        <p:nvGrpSpPr>
          <p:cNvPr id="151556" name="Group 130"/>
          <p:cNvGrpSpPr>
            <a:grpSpLocks/>
          </p:cNvGrpSpPr>
          <p:nvPr/>
        </p:nvGrpSpPr>
        <p:grpSpPr bwMode="auto">
          <a:xfrm>
            <a:off x="6376989" y="4613275"/>
            <a:ext cx="511175" cy="693738"/>
            <a:chOff x="4140" y="429"/>
            <a:chExt cx="1425" cy="2396"/>
          </a:xfrm>
        </p:grpSpPr>
        <p:sp>
          <p:nvSpPr>
            <p:cNvPr id="151645" name="Freeform 13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46" name="Rectangle 132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47" name="Freeform 13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48" name="Freeform 13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49" name="Rectangle 135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51650" name="Group 13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1675" name="AutoShape 13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676" name="AutoShape 138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1651" name="Rectangle 139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51652" name="Group 14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1673" name="AutoShape 14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674" name="AutoShape 142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1653" name="Rectangle 143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54" name="Rectangle 144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51655" name="Group 14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1671" name="AutoShape 146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672" name="AutoShape 14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1656" name="Freeform 14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1657" name="Group 14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1669" name="AutoShape 150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670" name="AutoShape 151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1658" name="Rectangle 152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59" name="Freeform 15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60" name="Freeform 15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61" name="Oval 155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62" name="Freeform 15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63" name="AutoShape 157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64" name="AutoShape 158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65" name="Oval 159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66" name="Oval 160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1667" name="Oval 161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68" name="Rectangle 162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51557" name="Group 97"/>
          <p:cNvGrpSpPr>
            <a:grpSpLocks/>
          </p:cNvGrpSpPr>
          <p:nvPr/>
        </p:nvGrpSpPr>
        <p:grpSpPr bwMode="auto">
          <a:xfrm>
            <a:off x="4198939" y="4668839"/>
            <a:ext cx="511175" cy="693737"/>
            <a:chOff x="4140" y="429"/>
            <a:chExt cx="1425" cy="2396"/>
          </a:xfrm>
        </p:grpSpPr>
        <p:sp>
          <p:nvSpPr>
            <p:cNvPr id="151613" name="Freeform 9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14" name="Rectangle 99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15" name="Freeform 10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16" name="Freeform 10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17" name="Rectangle 102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51618" name="Group 10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51643" name="AutoShape 10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644" name="AutoShape 105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1619" name="Rectangle 106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51620" name="Group 10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1641" name="AutoShape 108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642" name="AutoShape 10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1621" name="Rectangle 110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22" name="Rectangle 111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51623" name="Group 11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1639" name="AutoShape 113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640" name="AutoShape 11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1624" name="Freeform 11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1625" name="Group 11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1637" name="AutoShape 117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1638" name="AutoShape 118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51626" name="Rectangle 119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27" name="Freeform 12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28" name="Freeform 12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29" name="Oval 122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30" name="Freeform 12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631" name="AutoShape 12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32" name="AutoShape 125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33" name="Oval 126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34" name="Oval 127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1635" name="Oval 128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1636" name="Rectangle 129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51559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0" y="22225"/>
            <a:ext cx="8235950" cy="1143000"/>
          </a:xfrm>
        </p:spPr>
        <p:txBody>
          <a:bodyPr/>
          <a:lstStyle/>
          <a:p>
            <a:r>
              <a:rPr lang="en-US" altLang="en-US" sz="4000"/>
              <a:t>Scenario: Alice sends message to Bob</a:t>
            </a:r>
            <a:endParaRPr lang="en-US" altLang="en-US" smtClean="0"/>
          </a:p>
        </p:txBody>
      </p:sp>
      <p:sp>
        <p:nvSpPr>
          <p:cNvPr id="1515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371600"/>
            <a:ext cx="3810000" cy="32194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200"/>
              <a:t>1) Alice uses UA to compose message </a:t>
            </a:r>
            <a:r>
              <a:rPr lang="ja-JP" altLang="en-US" sz="2200"/>
              <a:t>“</a:t>
            </a:r>
            <a:r>
              <a:rPr lang="en-US" altLang="ja-JP" sz="2200"/>
              <a:t>to</a:t>
            </a:r>
            <a:r>
              <a:rPr lang="ja-JP" altLang="en-US" sz="2200"/>
              <a:t>”</a:t>
            </a:r>
            <a:r>
              <a:rPr lang="en-US" altLang="ja-JP" sz="2200"/>
              <a:t> </a:t>
            </a:r>
            <a:r>
              <a:rPr lang="en-US" altLang="ja-JP" sz="2200">
                <a:latin typeface="Courier New" panose="02070309020205020404" pitchFamily="49" charset="0"/>
              </a:rPr>
              <a:t>bob@someschool.edu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/>
              <a:t>2) Alice</a:t>
            </a:r>
            <a:r>
              <a:rPr lang="ja-JP" altLang="en-US" sz="2200"/>
              <a:t>’</a:t>
            </a:r>
            <a:r>
              <a:rPr lang="en-US" altLang="ja-JP" sz="2200"/>
              <a:t>s UA sends message to her mail server; message placed in message queue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/>
              <a:t>3) client side of SMTP opens TCP connection with Bob</a:t>
            </a:r>
            <a:r>
              <a:rPr lang="ja-JP" altLang="en-US" sz="2200"/>
              <a:t>’</a:t>
            </a:r>
            <a:r>
              <a:rPr lang="en-US" altLang="ja-JP" sz="2200"/>
              <a:t>s mail server</a:t>
            </a:r>
            <a:endParaRPr lang="en-US" altLang="en-US" sz="2200"/>
          </a:p>
        </p:txBody>
      </p:sp>
      <p:sp>
        <p:nvSpPr>
          <p:cNvPr id="15156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32500" y="1335088"/>
            <a:ext cx="3810000" cy="32686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200"/>
              <a:t>4) SMTP client sends Alice</a:t>
            </a:r>
            <a:r>
              <a:rPr lang="ja-JP" altLang="en-US" sz="2200"/>
              <a:t>’</a:t>
            </a:r>
            <a:r>
              <a:rPr lang="en-US" altLang="ja-JP" sz="2200"/>
              <a:t>s message over the TCP connection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/>
              <a:t>5) Bob</a:t>
            </a:r>
            <a:r>
              <a:rPr lang="ja-JP" altLang="en-US" sz="2200"/>
              <a:t>’</a:t>
            </a:r>
            <a:r>
              <a:rPr lang="en-US" altLang="ja-JP" sz="2200"/>
              <a:t>s mail server places the message in Bob</a:t>
            </a:r>
            <a:r>
              <a:rPr lang="ja-JP" altLang="en-US" sz="2200"/>
              <a:t>’</a:t>
            </a:r>
            <a:r>
              <a:rPr lang="en-US" altLang="ja-JP" sz="2200"/>
              <a:t>s mailbox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200"/>
              <a:t>6) Bob invokes his user agent to read message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200"/>
          </a:p>
        </p:txBody>
      </p:sp>
      <p:grpSp>
        <p:nvGrpSpPr>
          <p:cNvPr id="151562" name="Group 20"/>
          <p:cNvGrpSpPr>
            <a:grpSpLocks/>
          </p:cNvGrpSpPr>
          <p:nvPr/>
        </p:nvGrpSpPr>
        <p:grpSpPr bwMode="auto">
          <a:xfrm>
            <a:off x="4332289" y="4956175"/>
            <a:ext cx="809625" cy="1049338"/>
            <a:chOff x="4296" y="2627"/>
            <a:chExt cx="510" cy="661"/>
          </a:xfrm>
        </p:grpSpPr>
        <p:sp>
          <p:nvSpPr>
            <p:cNvPr id="151598" name="Rectangle 21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599" name="Text Box 22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mail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server</a:t>
              </a:r>
              <a:endParaRPr lang="en-US" altLang="en-US" sz="2400"/>
            </a:p>
          </p:txBody>
        </p:sp>
        <p:sp>
          <p:nvSpPr>
            <p:cNvPr id="151600" name="Rectangle 23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601" name="Line 24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602" name="Line 25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603" name="Line 26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604" name="Line 27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605" name="Line 28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606" name="Line 29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607" name="Line 30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608" name="Rectangle 31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609" name="Rectangle 32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610" name="Rectangle 33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611" name="Rectangle 34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612" name="Rectangle 35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pic>
        <p:nvPicPr>
          <p:cNvPr id="151563" name="Picture 36" descr="Ali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6" y="512127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564" name="Picture 37" descr="Bob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039" y="5026026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1565" name="Group 48"/>
          <p:cNvGrpSpPr>
            <a:grpSpLocks/>
          </p:cNvGrpSpPr>
          <p:nvPr/>
        </p:nvGrpSpPr>
        <p:grpSpPr bwMode="auto">
          <a:xfrm>
            <a:off x="6523039" y="4902200"/>
            <a:ext cx="809625" cy="1049338"/>
            <a:chOff x="4296" y="2627"/>
            <a:chExt cx="510" cy="661"/>
          </a:xfrm>
        </p:grpSpPr>
        <p:sp>
          <p:nvSpPr>
            <p:cNvPr id="151583" name="Rectangle 49"/>
            <p:cNvSpPr>
              <a:spLocks noChangeArrowheads="1"/>
            </p:cNvSpPr>
            <p:nvPr/>
          </p:nvSpPr>
          <p:spPr bwMode="auto"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584" name="Text Box 50"/>
            <p:cNvSpPr txBox="1">
              <a:spLocks noChangeArrowheads="1"/>
            </p:cNvSpPr>
            <p:nvPr/>
          </p:nvSpPr>
          <p:spPr bwMode="auto"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mail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server</a:t>
              </a:r>
              <a:endParaRPr lang="en-US" altLang="en-US" sz="2400"/>
            </a:p>
          </p:txBody>
        </p:sp>
        <p:sp>
          <p:nvSpPr>
            <p:cNvPr id="151585" name="Rectangle 51"/>
            <p:cNvSpPr>
              <a:spLocks noChangeArrowheads="1"/>
            </p:cNvSpPr>
            <p:nvPr/>
          </p:nvSpPr>
          <p:spPr bwMode="auto"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586" name="Line 52"/>
            <p:cNvSpPr>
              <a:spLocks noChangeShapeType="1"/>
            </p:cNvSpPr>
            <p:nvPr/>
          </p:nvSpPr>
          <p:spPr bwMode="auto">
            <a:xfrm>
              <a:off x="4369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87" name="Line 53"/>
            <p:cNvSpPr>
              <a:spLocks noChangeShapeType="1"/>
            </p:cNvSpPr>
            <p:nvPr/>
          </p:nvSpPr>
          <p:spPr bwMode="auto">
            <a:xfrm>
              <a:off x="4478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88" name="Line 54"/>
            <p:cNvSpPr>
              <a:spLocks noChangeShapeType="1"/>
            </p:cNvSpPr>
            <p:nvPr/>
          </p:nvSpPr>
          <p:spPr bwMode="auto">
            <a:xfrm>
              <a:off x="4533" y="303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89" name="Line 55"/>
            <p:cNvSpPr>
              <a:spLocks noChangeShapeType="1"/>
            </p:cNvSpPr>
            <p:nvPr/>
          </p:nvSpPr>
          <p:spPr bwMode="auto">
            <a:xfrm>
              <a:off x="4590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90" name="Line 56"/>
            <p:cNvSpPr>
              <a:spLocks noChangeShapeType="1"/>
            </p:cNvSpPr>
            <p:nvPr/>
          </p:nvSpPr>
          <p:spPr bwMode="auto">
            <a:xfrm>
              <a:off x="4651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91" name="Line 57"/>
            <p:cNvSpPr>
              <a:spLocks noChangeShapeType="1"/>
            </p:cNvSpPr>
            <p:nvPr/>
          </p:nvSpPr>
          <p:spPr bwMode="auto">
            <a:xfrm>
              <a:off x="4707" y="303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92" name="Line 58"/>
            <p:cNvSpPr>
              <a:spLocks noChangeShapeType="1"/>
            </p:cNvSpPr>
            <p:nvPr/>
          </p:nvSpPr>
          <p:spPr bwMode="auto">
            <a:xfrm>
              <a:off x="4422" y="303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93" name="Rectangle 59"/>
            <p:cNvSpPr>
              <a:spLocks noChangeArrowheads="1"/>
            </p:cNvSpPr>
            <p:nvPr/>
          </p:nvSpPr>
          <p:spPr bwMode="auto"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594" name="Rectangle 60"/>
            <p:cNvSpPr>
              <a:spLocks noChangeArrowheads="1"/>
            </p:cNvSpPr>
            <p:nvPr/>
          </p:nvSpPr>
          <p:spPr bwMode="auto"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595" name="Rectangle 61"/>
            <p:cNvSpPr>
              <a:spLocks noChangeArrowheads="1"/>
            </p:cNvSpPr>
            <p:nvPr/>
          </p:nvSpPr>
          <p:spPr bwMode="auto"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596" name="Rectangle 62"/>
            <p:cNvSpPr>
              <a:spLocks noChangeArrowheads="1"/>
            </p:cNvSpPr>
            <p:nvPr/>
          </p:nvSpPr>
          <p:spPr bwMode="auto"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597" name="Rectangle 63"/>
            <p:cNvSpPr>
              <a:spLocks noChangeArrowheads="1"/>
            </p:cNvSpPr>
            <p:nvPr/>
          </p:nvSpPr>
          <p:spPr bwMode="auto"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</p:grpSp>
      <p:sp>
        <p:nvSpPr>
          <p:cNvPr id="151566" name="Line 69"/>
          <p:cNvSpPr>
            <a:spLocks noChangeShapeType="1"/>
          </p:cNvSpPr>
          <p:nvPr/>
        </p:nvSpPr>
        <p:spPr bwMode="auto">
          <a:xfrm>
            <a:off x="3452814" y="5494338"/>
            <a:ext cx="892175" cy="14605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567" name="Line 70"/>
          <p:cNvSpPr>
            <a:spLocks noChangeShapeType="1"/>
          </p:cNvSpPr>
          <p:nvPr/>
        </p:nvSpPr>
        <p:spPr bwMode="auto">
          <a:xfrm>
            <a:off x="5138739" y="5629276"/>
            <a:ext cx="1379537" cy="21907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568" name="Line 71"/>
          <p:cNvSpPr>
            <a:spLocks noChangeShapeType="1"/>
          </p:cNvSpPr>
          <p:nvPr/>
        </p:nvSpPr>
        <p:spPr bwMode="auto">
          <a:xfrm flipV="1">
            <a:off x="7369176" y="5408614"/>
            <a:ext cx="1027113" cy="427037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569" name="Oval 72"/>
          <p:cNvSpPr>
            <a:spLocks noChangeArrowheads="1"/>
          </p:cNvSpPr>
          <p:nvPr/>
        </p:nvSpPr>
        <p:spPr bwMode="auto">
          <a:xfrm>
            <a:off x="2582863" y="49434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1</a:t>
            </a:r>
            <a:endParaRPr lang="en-US" altLang="en-US" sz="2400"/>
          </a:p>
        </p:txBody>
      </p:sp>
      <p:sp>
        <p:nvSpPr>
          <p:cNvPr id="151570" name="Oval 74"/>
          <p:cNvSpPr>
            <a:spLocks noChangeArrowheads="1"/>
          </p:cNvSpPr>
          <p:nvPr/>
        </p:nvSpPr>
        <p:spPr bwMode="auto">
          <a:xfrm>
            <a:off x="3692525" y="54387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2</a:t>
            </a:r>
            <a:endParaRPr lang="en-US" altLang="en-US" sz="2400"/>
          </a:p>
        </p:txBody>
      </p:sp>
      <p:sp>
        <p:nvSpPr>
          <p:cNvPr id="151571" name="Oval 75"/>
          <p:cNvSpPr>
            <a:spLocks noChangeArrowheads="1"/>
          </p:cNvSpPr>
          <p:nvPr/>
        </p:nvSpPr>
        <p:spPr bwMode="auto">
          <a:xfrm>
            <a:off x="4564063" y="5518151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3</a:t>
            </a:r>
            <a:endParaRPr lang="en-US" altLang="en-US" sz="2400"/>
          </a:p>
        </p:txBody>
      </p:sp>
      <p:sp>
        <p:nvSpPr>
          <p:cNvPr id="151572" name="Oval 76"/>
          <p:cNvSpPr>
            <a:spLocks noChangeArrowheads="1"/>
          </p:cNvSpPr>
          <p:nvPr/>
        </p:nvSpPr>
        <p:spPr bwMode="auto">
          <a:xfrm>
            <a:off x="5675313" y="5603876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4</a:t>
            </a:r>
            <a:endParaRPr lang="en-US" altLang="en-US" sz="2400"/>
          </a:p>
        </p:txBody>
      </p:sp>
      <p:sp>
        <p:nvSpPr>
          <p:cNvPr id="151573" name="Oval 77"/>
          <p:cNvSpPr>
            <a:spLocks noChangeArrowheads="1"/>
          </p:cNvSpPr>
          <p:nvPr/>
        </p:nvSpPr>
        <p:spPr bwMode="auto">
          <a:xfrm>
            <a:off x="6780213" y="5935664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5</a:t>
            </a:r>
            <a:endParaRPr lang="en-US" altLang="en-US" sz="2400"/>
          </a:p>
        </p:txBody>
      </p:sp>
      <p:sp>
        <p:nvSpPr>
          <p:cNvPr id="151574" name="Oval 78"/>
          <p:cNvSpPr>
            <a:spLocks noChangeArrowheads="1"/>
          </p:cNvSpPr>
          <p:nvPr/>
        </p:nvSpPr>
        <p:spPr bwMode="auto">
          <a:xfrm>
            <a:off x="7702550" y="5505451"/>
            <a:ext cx="292100" cy="24447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/>
              <a:t>6</a:t>
            </a:r>
            <a:endParaRPr lang="en-US" altLang="en-US" sz="2400"/>
          </a:p>
        </p:txBody>
      </p:sp>
      <p:sp>
        <p:nvSpPr>
          <p:cNvPr id="151575" name="Text Box 95"/>
          <p:cNvSpPr txBox="1">
            <a:spLocks noChangeArrowheads="1"/>
          </p:cNvSpPr>
          <p:nvPr/>
        </p:nvSpPr>
        <p:spPr bwMode="auto">
          <a:xfrm>
            <a:off x="3848101" y="6069013"/>
            <a:ext cx="18934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/>
              <a:t>Alice</a:t>
            </a:r>
            <a:r>
              <a:rPr lang="ja-JP" altLang="en-US" sz="1600"/>
              <a:t>’</a:t>
            </a:r>
            <a:r>
              <a:rPr lang="en-US" altLang="ja-JP" sz="1600"/>
              <a:t>s mail server</a:t>
            </a:r>
            <a:endParaRPr lang="en-US" altLang="en-US" sz="1600"/>
          </a:p>
        </p:txBody>
      </p:sp>
      <p:sp>
        <p:nvSpPr>
          <p:cNvPr id="151576" name="Text Box 96"/>
          <p:cNvSpPr txBox="1">
            <a:spLocks noChangeArrowheads="1"/>
          </p:cNvSpPr>
          <p:nvPr/>
        </p:nvSpPr>
        <p:spPr bwMode="auto">
          <a:xfrm>
            <a:off x="6122988" y="6132513"/>
            <a:ext cx="18149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/>
              <a:t>Bob</a:t>
            </a:r>
            <a:r>
              <a:rPr lang="ja-JP" altLang="en-US" sz="1600"/>
              <a:t>’</a:t>
            </a:r>
            <a:r>
              <a:rPr lang="en-US" altLang="ja-JP" sz="1600"/>
              <a:t>s mail server</a:t>
            </a:r>
            <a:endParaRPr lang="en-US" altLang="en-US" sz="1600"/>
          </a:p>
        </p:txBody>
      </p:sp>
      <p:grpSp>
        <p:nvGrpSpPr>
          <p:cNvPr id="151577" name="Group 169"/>
          <p:cNvGrpSpPr>
            <a:grpSpLocks/>
          </p:cNvGrpSpPr>
          <p:nvPr/>
        </p:nvGrpSpPr>
        <p:grpSpPr bwMode="auto">
          <a:xfrm>
            <a:off x="8196263" y="4808538"/>
            <a:ext cx="912812" cy="1054100"/>
            <a:chOff x="3574" y="550"/>
            <a:chExt cx="575" cy="664"/>
          </a:xfrm>
        </p:grpSpPr>
        <p:grpSp>
          <p:nvGrpSpPr>
            <p:cNvPr id="151578" name="Group 170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51581" name="Picture 1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1582" name="Freeform 17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51579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51580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5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95" name="Group 133"/>
          <p:cNvGrpSpPr>
            <a:grpSpLocks/>
          </p:cNvGrpSpPr>
          <p:nvPr/>
        </p:nvGrpSpPr>
        <p:grpSpPr bwMode="auto">
          <a:xfrm>
            <a:off x="4486276" y="1577975"/>
            <a:ext cx="511175" cy="693738"/>
            <a:chOff x="4140" y="429"/>
            <a:chExt cx="1425" cy="2396"/>
          </a:xfrm>
        </p:grpSpPr>
        <p:sp>
          <p:nvSpPr>
            <p:cNvPr id="161887" name="Freeform 134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88" name="Rectangle 135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89" name="Freeform 136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90" name="Freeform 137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91" name="Rectangle 138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61892" name="Group 139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1917" name="AutoShape 140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1918" name="AutoShape 141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1893" name="Rectangle 142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61894" name="Group 143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1915" name="AutoShape 144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1916" name="AutoShape 145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1895" name="Rectangle 146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96" name="Rectangle 147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61897" name="Group 148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1913" name="AutoShape 149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1914" name="AutoShape 150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1898" name="Freeform 151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1899" name="Group 152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1911" name="AutoShape 153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1912" name="AutoShape 154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1900" name="Rectangle 155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901" name="Freeform 156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902" name="Freeform 157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903" name="Oval 158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904" name="Freeform 159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905" name="AutoShape 160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906" name="AutoShape 161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907" name="Oval 162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908" name="Oval 163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1909" name="Oval 164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910" name="Rectangle 165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61796" name="Group 100"/>
          <p:cNvGrpSpPr>
            <a:grpSpLocks/>
          </p:cNvGrpSpPr>
          <p:nvPr/>
        </p:nvGrpSpPr>
        <p:grpSpPr bwMode="auto">
          <a:xfrm>
            <a:off x="6172201" y="1587500"/>
            <a:ext cx="511175" cy="693738"/>
            <a:chOff x="4140" y="429"/>
            <a:chExt cx="1425" cy="2396"/>
          </a:xfrm>
        </p:grpSpPr>
        <p:sp>
          <p:nvSpPr>
            <p:cNvPr id="161855" name="Freeform 10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56" name="Rectangle 102"/>
            <p:cNvSpPr>
              <a:spLocks noChangeArrowheads="1"/>
            </p:cNvSpPr>
            <p:nvPr/>
          </p:nvSpPr>
          <p:spPr bwMode="auto">
            <a:xfrm>
              <a:off x="4206" y="429"/>
              <a:ext cx="1044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57" name="Freeform 10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58" name="Freeform 10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59" name="Rectangle 105"/>
            <p:cNvSpPr>
              <a:spLocks noChangeArrowheads="1"/>
            </p:cNvSpPr>
            <p:nvPr/>
          </p:nvSpPr>
          <p:spPr bwMode="auto">
            <a:xfrm>
              <a:off x="4211" y="692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61860" name="Group 10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1885" name="AutoShape 107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1886" name="AutoShape 108"/>
              <p:cNvSpPr>
                <a:spLocks noChangeArrowheads="1"/>
              </p:cNvSpPr>
              <p:nvPr/>
            </p:nvSpPr>
            <p:spPr bwMode="auto">
              <a:xfrm>
                <a:off x="633" y="2586"/>
                <a:ext cx="690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1861" name="Rectangle 109"/>
            <p:cNvSpPr>
              <a:spLocks noChangeArrowheads="1"/>
            </p:cNvSpPr>
            <p:nvPr/>
          </p:nvSpPr>
          <p:spPr bwMode="auto">
            <a:xfrm>
              <a:off x="4224" y="1021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61862" name="Group 11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1883" name="AutoShape 11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18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1884" name="AutoShape 112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1863" name="Rectangle 113"/>
            <p:cNvSpPr>
              <a:spLocks noChangeArrowheads="1"/>
            </p:cNvSpPr>
            <p:nvPr/>
          </p:nvSpPr>
          <p:spPr bwMode="auto">
            <a:xfrm>
              <a:off x="4215" y="1356"/>
              <a:ext cx="597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64" name="Rectangle 114"/>
            <p:cNvSpPr>
              <a:spLocks noChangeArrowheads="1"/>
            </p:cNvSpPr>
            <p:nvPr/>
          </p:nvSpPr>
          <p:spPr bwMode="auto">
            <a:xfrm>
              <a:off x="4229" y="1657"/>
              <a:ext cx="597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61865" name="Group 11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1881" name="AutoShape 116"/>
              <p:cNvSpPr>
                <a:spLocks noChangeArrowheads="1"/>
              </p:cNvSpPr>
              <p:nvPr/>
            </p:nvSpPr>
            <p:spPr bwMode="auto">
              <a:xfrm>
                <a:off x="612" y="2581"/>
                <a:ext cx="728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1882" name="AutoShape 117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1866" name="Freeform 11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1867" name="Group 11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1879" name="AutoShape 120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8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1880" name="AutoShape 121"/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61868" name="Rectangle 122"/>
            <p:cNvSpPr>
              <a:spLocks noChangeArrowheads="1"/>
            </p:cNvSpPr>
            <p:nvPr/>
          </p:nvSpPr>
          <p:spPr bwMode="auto">
            <a:xfrm>
              <a:off x="5251" y="429"/>
              <a:ext cx="66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69" name="Freeform 12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70" name="Freeform 12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71" name="Oval 125"/>
            <p:cNvSpPr>
              <a:spLocks noChangeArrowheads="1"/>
            </p:cNvSpPr>
            <p:nvPr/>
          </p:nvSpPr>
          <p:spPr bwMode="auto"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72" name="Freeform 12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873" name="AutoShape 127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74" name="AutoShape 128"/>
            <p:cNvSpPr>
              <a:spLocks noChangeArrowheads="1"/>
            </p:cNvSpPr>
            <p:nvPr/>
          </p:nvSpPr>
          <p:spPr bwMode="auto">
            <a:xfrm>
              <a:off x="4206" y="2710"/>
              <a:ext cx="1071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75" name="Oval 129"/>
            <p:cNvSpPr>
              <a:spLocks noChangeArrowheads="1"/>
            </p:cNvSpPr>
            <p:nvPr/>
          </p:nvSpPr>
          <p:spPr bwMode="auto"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76" name="Oval 130"/>
            <p:cNvSpPr>
              <a:spLocks noChangeArrowheads="1"/>
            </p:cNvSpPr>
            <p:nvPr/>
          </p:nvSpPr>
          <p:spPr bwMode="auto"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1877" name="Oval 131"/>
            <p:cNvSpPr>
              <a:spLocks noChangeArrowheads="1"/>
            </p:cNvSpPr>
            <p:nvPr/>
          </p:nvSpPr>
          <p:spPr bwMode="auto"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878" name="Rectangle 132"/>
            <p:cNvSpPr>
              <a:spLocks noChangeArrowheads="1"/>
            </p:cNvSpPr>
            <p:nvPr/>
          </p:nvSpPr>
          <p:spPr bwMode="auto"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617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24063" y="255588"/>
            <a:ext cx="7772400" cy="893762"/>
          </a:xfrm>
        </p:spPr>
        <p:txBody>
          <a:bodyPr/>
          <a:lstStyle/>
          <a:p>
            <a:r>
              <a:rPr lang="en-US" altLang="en-US" smtClean="0"/>
              <a:t>Mail access protocols</a:t>
            </a:r>
          </a:p>
        </p:txBody>
      </p:sp>
      <p:sp>
        <p:nvSpPr>
          <p:cNvPr id="1617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05026" y="3230563"/>
            <a:ext cx="7381875" cy="2209800"/>
          </a:xfrm>
        </p:spPr>
        <p:txBody>
          <a:bodyPr>
            <a:normAutofit fontScale="92500"/>
          </a:bodyPr>
          <a:lstStyle/>
          <a:p>
            <a:r>
              <a:rPr lang="en-US" altLang="en-US" sz="2400">
                <a:solidFill>
                  <a:srgbClr val="CC0000"/>
                </a:solidFill>
              </a:rPr>
              <a:t>SMTP:</a:t>
            </a:r>
            <a:r>
              <a:rPr lang="en-US" altLang="en-US" sz="2400"/>
              <a:t> delivery/storage to receiver</a:t>
            </a:r>
            <a:r>
              <a:rPr lang="ja-JP" altLang="en-US" sz="2400"/>
              <a:t>’</a:t>
            </a:r>
            <a:r>
              <a:rPr lang="en-US" altLang="ja-JP" sz="2400"/>
              <a:t>s server</a:t>
            </a:r>
          </a:p>
          <a:p>
            <a:r>
              <a:rPr lang="en-US" altLang="en-US" sz="2400"/>
              <a:t>mail access protocol: retrieval from server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</a:rPr>
              <a:t>POP:</a:t>
            </a:r>
            <a:r>
              <a:rPr lang="en-US" altLang="en-US" sz="2200"/>
              <a:t> Post Office Protocol [RFC 1939]: authorization, download 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</a:rPr>
              <a:t>IMAP:</a:t>
            </a:r>
            <a:r>
              <a:rPr lang="en-US" altLang="en-US" sz="2200"/>
              <a:t> Internet Mail Access Protocol [RFC 1730]: more features, including manipulation of stored msgs on server</a:t>
            </a:r>
          </a:p>
          <a:p>
            <a:pPr lvl="1"/>
            <a:r>
              <a:rPr lang="en-US" altLang="en-US" sz="2200">
                <a:solidFill>
                  <a:srgbClr val="CC0000"/>
                </a:solidFill>
              </a:rPr>
              <a:t>HTTP:</a:t>
            </a:r>
            <a:r>
              <a:rPr lang="en-US" altLang="en-US" sz="2200"/>
              <a:t> gmail, Hotmail, Yahoo! Mail, etc.</a:t>
            </a:r>
          </a:p>
          <a:p>
            <a:pPr lvl="1"/>
            <a:endParaRPr lang="en-US" altLang="en-US" sz="2200"/>
          </a:p>
        </p:txBody>
      </p:sp>
      <p:grpSp>
        <p:nvGrpSpPr>
          <p:cNvPr id="161800" name="Group 158"/>
          <p:cNvGrpSpPr>
            <a:grpSpLocks/>
          </p:cNvGrpSpPr>
          <p:nvPr/>
        </p:nvGrpSpPr>
        <p:grpSpPr bwMode="auto">
          <a:xfrm>
            <a:off x="4286250" y="1987551"/>
            <a:ext cx="1506538" cy="1133476"/>
            <a:chOff x="1774" y="1206"/>
            <a:chExt cx="949" cy="714"/>
          </a:xfrm>
        </p:grpSpPr>
        <p:sp>
          <p:nvSpPr>
            <p:cNvPr id="161839" name="Text Box 95"/>
            <p:cNvSpPr txBox="1">
              <a:spLocks noChangeArrowheads="1"/>
            </p:cNvSpPr>
            <p:nvPr/>
          </p:nvSpPr>
          <p:spPr bwMode="auto">
            <a:xfrm>
              <a:off x="1774" y="1583"/>
              <a:ext cx="949" cy="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sender</a:t>
              </a:r>
              <a:r>
                <a:rPr lang="ja-JP" altLang="en-US" sz="1600"/>
                <a:t>’</a:t>
              </a:r>
              <a:r>
                <a:rPr lang="en-US" altLang="ja-JP" sz="1600"/>
                <a:t>s mail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server</a:t>
              </a:r>
              <a:endParaRPr lang="en-US" altLang="en-US" sz="2400"/>
            </a:p>
          </p:txBody>
        </p:sp>
        <p:grpSp>
          <p:nvGrpSpPr>
            <p:cNvPr id="161840" name="Group 157"/>
            <p:cNvGrpSpPr>
              <a:grpSpLocks/>
            </p:cNvGrpSpPr>
            <p:nvPr/>
          </p:nvGrpSpPr>
          <p:grpSpPr bwMode="auto"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161841" name="Rectangle 94"/>
              <p:cNvSpPr>
                <a:spLocks noChangeArrowheads="1"/>
              </p:cNvSpPr>
              <p:nvPr/>
            </p:nvSpPr>
            <p:spPr bwMode="auto"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1842" name="Rectangle 96"/>
              <p:cNvSpPr>
                <a:spLocks noChangeArrowheads="1"/>
              </p:cNvSpPr>
              <p:nvPr/>
            </p:nvSpPr>
            <p:spPr bwMode="auto"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1843" name="Line 97"/>
              <p:cNvSpPr>
                <a:spLocks noChangeShapeType="1"/>
              </p:cNvSpPr>
              <p:nvPr/>
            </p:nvSpPr>
            <p:spPr bwMode="auto">
              <a:xfrm>
                <a:off x="2143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844" name="Line 98"/>
              <p:cNvSpPr>
                <a:spLocks noChangeShapeType="1"/>
              </p:cNvSpPr>
              <p:nvPr/>
            </p:nvSpPr>
            <p:spPr bwMode="auto">
              <a:xfrm>
                <a:off x="2252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845" name="Line 99"/>
              <p:cNvSpPr>
                <a:spLocks noChangeShapeType="1"/>
              </p:cNvSpPr>
              <p:nvPr/>
            </p:nvSpPr>
            <p:spPr bwMode="auto">
              <a:xfrm>
                <a:off x="2307" y="210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846" name="Line 100"/>
              <p:cNvSpPr>
                <a:spLocks noChangeShapeType="1"/>
              </p:cNvSpPr>
              <p:nvPr/>
            </p:nvSpPr>
            <p:spPr bwMode="auto">
              <a:xfrm>
                <a:off x="2364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847" name="Line 101"/>
              <p:cNvSpPr>
                <a:spLocks noChangeShapeType="1"/>
              </p:cNvSpPr>
              <p:nvPr/>
            </p:nvSpPr>
            <p:spPr bwMode="auto">
              <a:xfrm>
                <a:off x="2425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848" name="Line 102"/>
              <p:cNvSpPr>
                <a:spLocks noChangeShapeType="1"/>
              </p:cNvSpPr>
              <p:nvPr/>
            </p:nvSpPr>
            <p:spPr bwMode="auto">
              <a:xfrm>
                <a:off x="2481" y="210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849" name="Line 103"/>
              <p:cNvSpPr>
                <a:spLocks noChangeShapeType="1"/>
              </p:cNvSpPr>
              <p:nvPr/>
            </p:nvSpPr>
            <p:spPr bwMode="auto">
              <a:xfrm>
                <a:off x="2196" y="210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850" name="Rectangle 104"/>
              <p:cNvSpPr>
                <a:spLocks noChangeArrowheads="1"/>
              </p:cNvSpPr>
              <p:nvPr/>
            </p:nvSpPr>
            <p:spPr bwMode="auto"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1851" name="Rectangle 105"/>
              <p:cNvSpPr>
                <a:spLocks noChangeArrowheads="1"/>
              </p:cNvSpPr>
              <p:nvPr/>
            </p:nvSpPr>
            <p:spPr bwMode="auto"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1852" name="Rectangle 106"/>
              <p:cNvSpPr>
                <a:spLocks noChangeArrowheads="1"/>
              </p:cNvSpPr>
              <p:nvPr/>
            </p:nvSpPr>
            <p:spPr bwMode="auto"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1853" name="Rectangle 107"/>
              <p:cNvSpPr>
                <a:spLocks noChangeArrowheads="1"/>
              </p:cNvSpPr>
              <p:nvPr/>
            </p:nvSpPr>
            <p:spPr bwMode="auto"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1854" name="Rectangle 108"/>
              <p:cNvSpPr>
                <a:spLocks noChangeArrowheads="1"/>
              </p:cNvSpPr>
              <p:nvPr/>
            </p:nvSpPr>
            <p:spPr bwMode="auto"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61801" name="Text Box 121"/>
          <p:cNvSpPr txBox="1">
            <a:spLocks noChangeArrowheads="1"/>
          </p:cNvSpPr>
          <p:nvPr/>
        </p:nvSpPr>
        <p:spPr bwMode="auto">
          <a:xfrm>
            <a:off x="3544889" y="1466851"/>
            <a:ext cx="89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CC0000"/>
                </a:solidFill>
              </a:rPr>
              <a:t>SMTP</a:t>
            </a:r>
          </a:p>
        </p:txBody>
      </p:sp>
      <p:sp>
        <p:nvSpPr>
          <p:cNvPr id="161802" name="Rectangle 153"/>
          <p:cNvSpPr>
            <a:spLocks noChangeArrowheads="1"/>
          </p:cNvSpPr>
          <p:nvPr/>
        </p:nvSpPr>
        <p:spPr bwMode="auto">
          <a:xfrm>
            <a:off x="5305425" y="1457325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161803" name="Text Box 154"/>
          <p:cNvSpPr txBox="1">
            <a:spLocks noChangeArrowheads="1"/>
          </p:cNvSpPr>
          <p:nvPr/>
        </p:nvSpPr>
        <p:spPr bwMode="auto">
          <a:xfrm>
            <a:off x="5146675" y="1477964"/>
            <a:ext cx="890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CC0000"/>
                </a:solidFill>
              </a:rPr>
              <a:t>SMTP</a:t>
            </a:r>
          </a:p>
        </p:txBody>
      </p:sp>
      <p:sp>
        <p:nvSpPr>
          <p:cNvPr id="161804" name="Text Box 156"/>
          <p:cNvSpPr txBox="1">
            <a:spLocks noChangeArrowheads="1"/>
          </p:cNvSpPr>
          <p:nvPr/>
        </p:nvSpPr>
        <p:spPr bwMode="auto">
          <a:xfrm>
            <a:off x="7008813" y="1308100"/>
            <a:ext cx="1511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CC0000"/>
                </a:solidFill>
              </a:rPr>
              <a:t>mail access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CC0000"/>
                </a:solidFill>
              </a:rPr>
              <a:t>protocol</a:t>
            </a: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161805" name="Text Box 160"/>
          <p:cNvSpPr txBox="1">
            <a:spLocks noChangeArrowheads="1"/>
          </p:cNvSpPr>
          <p:nvPr/>
        </p:nvSpPr>
        <p:spPr bwMode="auto">
          <a:xfrm>
            <a:off x="5860251" y="2598739"/>
            <a:ext cx="160973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receiver</a:t>
            </a:r>
            <a:r>
              <a:rPr lang="ja-JP" altLang="en-US" sz="1600"/>
              <a:t>’</a:t>
            </a:r>
            <a:r>
              <a:rPr lang="en-US" altLang="ja-JP" sz="1600"/>
              <a:t>s mail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server</a:t>
            </a:r>
            <a:endParaRPr lang="en-US" altLang="en-US" sz="2400"/>
          </a:p>
        </p:txBody>
      </p:sp>
      <p:grpSp>
        <p:nvGrpSpPr>
          <p:cNvPr id="161806" name="Group 161"/>
          <p:cNvGrpSpPr>
            <a:grpSpLocks/>
          </p:cNvGrpSpPr>
          <p:nvPr/>
        </p:nvGrpSpPr>
        <p:grpSpPr bwMode="auto">
          <a:xfrm>
            <a:off x="6324601" y="2000251"/>
            <a:ext cx="809625" cy="561975"/>
            <a:chOff x="2070" y="2004"/>
            <a:chExt cx="510" cy="354"/>
          </a:xfrm>
        </p:grpSpPr>
        <p:sp>
          <p:nvSpPr>
            <p:cNvPr id="161825" name="Rectangle 162"/>
            <p:cNvSpPr>
              <a:spLocks noChangeArrowheads="1"/>
            </p:cNvSpPr>
            <p:nvPr/>
          </p:nvSpPr>
          <p:spPr bwMode="auto"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61826" name="Rectangle 163"/>
            <p:cNvSpPr>
              <a:spLocks noChangeArrowheads="1"/>
            </p:cNvSpPr>
            <p:nvPr/>
          </p:nvSpPr>
          <p:spPr bwMode="auto"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61827" name="Line 164"/>
            <p:cNvSpPr>
              <a:spLocks noChangeShapeType="1"/>
            </p:cNvSpPr>
            <p:nvPr/>
          </p:nvSpPr>
          <p:spPr bwMode="auto">
            <a:xfrm>
              <a:off x="2143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828" name="Line 165"/>
            <p:cNvSpPr>
              <a:spLocks noChangeShapeType="1"/>
            </p:cNvSpPr>
            <p:nvPr/>
          </p:nvSpPr>
          <p:spPr bwMode="auto">
            <a:xfrm>
              <a:off x="2252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829" name="Line 166"/>
            <p:cNvSpPr>
              <a:spLocks noChangeShapeType="1"/>
            </p:cNvSpPr>
            <p:nvPr/>
          </p:nvSpPr>
          <p:spPr bwMode="auto">
            <a:xfrm>
              <a:off x="2307" y="2105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830" name="Line 167"/>
            <p:cNvSpPr>
              <a:spLocks noChangeShapeType="1"/>
            </p:cNvSpPr>
            <p:nvPr/>
          </p:nvSpPr>
          <p:spPr bwMode="auto">
            <a:xfrm>
              <a:off x="2364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831" name="Line 168"/>
            <p:cNvSpPr>
              <a:spLocks noChangeShapeType="1"/>
            </p:cNvSpPr>
            <p:nvPr/>
          </p:nvSpPr>
          <p:spPr bwMode="auto">
            <a:xfrm>
              <a:off x="2425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832" name="Line 169"/>
            <p:cNvSpPr>
              <a:spLocks noChangeShapeType="1"/>
            </p:cNvSpPr>
            <p:nvPr/>
          </p:nvSpPr>
          <p:spPr bwMode="auto">
            <a:xfrm>
              <a:off x="2481" y="2103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833" name="Line 170"/>
            <p:cNvSpPr>
              <a:spLocks noChangeShapeType="1"/>
            </p:cNvSpPr>
            <p:nvPr/>
          </p:nvSpPr>
          <p:spPr bwMode="auto">
            <a:xfrm>
              <a:off x="2196" y="2104"/>
              <a:ext cx="0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834" name="Rectangle 171"/>
            <p:cNvSpPr>
              <a:spLocks noChangeArrowheads="1"/>
            </p:cNvSpPr>
            <p:nvPr/>
          </p:nvSpPr>
          <p:spPr bwMode="auto"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61835" name="Rectangle 172"/>
            <p:cNvSpPr>
              <a:spLocks noChangeArrowheads="1"/>
            </p:cNvSpPr>
            <p:nvPr/>
          </p:nvSpPr>
          <p:spPr bwMode="auto"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61836" name="Rectangle 173"/>
            <p:cNvSpPr>
              <a:spLocks noChangeArrowheads="1"/>
            </p:cNvSpPr>
            <p:nvPr/>
          </p:nvSpPr>
          <p:spPr bwMode="auto"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61837" name="Rectangle 174"/>
            <p:cNvSpPr>
              <a:spLocks noChangeArrowheads="1"/>
            </p:cNvSpPr>
            <p:nvPr/>
          </p:nvSpPr>
          <p:spPr bwMode="auto"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161838" name="Rectangle 175"/>
            <p:cNvSpPr>
              <a:spLocks noChangeArrowheads="1"/>
            </p:cNvSpPr>
            <p:nvPr/>
          </p:nvSpPr>
          <p:spPr bwMode="auto"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>
                <a:latin typeface="Comic Sans MS" panose="030F0702030302020204" pitchFamily="66" charset="0"/>
              </a:endParaRPr>
            </a:p>
          </p:txBody>
        </p:sp>
      </p:grpSp>
      <p:pic>
        <p:nvPicPr>
          <p:cNvPr id="161807" name="Picture 176" descr="Ali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1" y="1557339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1808" name="Picture 179" descr="Bo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7701" y="1571626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809" name="Line 94"/>
          <p:cNvSpPr>
            <a:spLocks noChangeShapeType="1"/>
          </p:cNvSpPr>
          <p:nvPr/>
        </p:nvSpPr>
        <p:spPr bwMode="auto">
          <a:xfrm>
            <a:off x="3527425" y="1905000"/>
            <a:ext cx="903288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10" name="Line 95"/>
          <p:cNvSpPr>
            <a:spLocks noChangeShapeType="1"/>
          </p:cNvSpPr>
          <p:nvPr/>
        </p:nvSpPr>
        <p:spPr bwMode="auto">
          <a:xfrm>
            <a:off x="5157789" y="1901825"/>
            <a:ext cx="903287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11" name="Line 96"/>
          <p:cNvSpPr>
            <a:spLocks noChangeShapeType="1"/>
          </p:cNvSpPr>
          <p:nvPr/>
        </p:nvSpPr>
        <p:spPr bwMode="auto">
          <a:xfrm>
            <a:off x="6777039" y="1898650"/>
            <a:ext cx="1697037" cy="158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1812" name="Text Box 156"/>
          <p:cNvSpPr txBox="1">
            <a:spLocks noChangeArrowheads="1"/>
          </p:cNvSpPr>
          <p:nvPr/>
        </p:nvSpPr>
        <p:spPr bwMode="auto">
          <a:xfrm>
            <a:off x="7234239" y="1927225"/>
            <a:ext cx="13112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CC0000"/>
                </a:solidFill>
              </a:rPr>
              <a:t>(e.g., </a:t>
            </a:r>
            <a:r>
              <a:rPr lang="en-US" altLang="en-US" sz="1600" i="1">
                <a:solidFill>
                  <a:srgbClr val="CC0000"/>
                </a:solidFill>
              </a:rPr>
              <a:t>POP, </a:t>
            </a:r>
          </a:p>
          <a:p>
            <a:pPr algn="ctr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solidFill>
                  <a:srgbClr val="CC0000"/>
                </a:solidFill>
              </a:rPr>
              <a:t>         IMAP</a:t>
            </a:r>
            <a:r>
              <a:rPr lang="en-US" altLang="en-US" sz="1800" i="1">
                <a:solidFill>
                  <a:srgbClr val="CC0000"/>
                </a:solidFill>
              </a:rPr>
              <a:t>)</a:t>
            </a:r>
          </a:p>
        </p:txBody>
      </p:sp>
      <p:grpSp>
        <p:nvGrpSpPr>
          <p:cNvPr id="161813" name="Group 166"/>
          <p:cNvGrpSpPr>
            <a:grpSpLocks/>
          </p:cNvGrpSpPr>
          <p:nvPr/>
        </p:nvGrpSpPr>
        <p:grpSpPr bwMode="auto">
          <a:xfrm>
            <a:off x="2590801" y="1419225"/>
            <a:ext cx="912813" cy="1054100"/>
            <a:chOff x="3574" y="550"/>
            <a:chExt cx="575" cy="664"/>
          </a:xfrm>
        </p:grpSpPr>
        <p:grpSp>
          <p:nvGrpSpPr>
            <p:cNvPr id="161820" name="Group 167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61823" name="Picture 1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1824" name="Freeform 16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61821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61822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grpSp>
        <p:nvGrpSpPr>
          <p:cNvPr id="161814" name="Group 172"/>
          <p:cNvGrpSpPr>
            <a:grpSpLocks/>
          </p:cNvGrpSpPr>
          <p:nvPr/>
        </p:nvGrpSpPr>
        <p:grpSpPr bwMode="auto">
          <a:xfrm>
            <a:off x="8491538" y="1422400"/>
            <a:ext cx="912812" cy="1054100"/>
            <a:chOff x="3574" y="550"/>
            <a:chExt cx="575" cy="664"/>
          </a:xfrm>
        </p:grpSpPr>
        <p:grpSp>
          <p:nvGrpSpPr>
            <p:cNvPr id="161815" name="Group 173"/>
            <p:cNvGrpSpPr>
              <a:grpSpLocks/>
            </p:cNvGrpSpPr>
            <p:nvPr/>
          </p:nvGrpSpPr>
          <p:grpSpPr bwMode="auto"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61818" name="Picture 1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1819" name="Freeform 175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3459 w 356"/>
                  <a:gd name="T3" fmla="*/ 887 h 368"/>
                  <a:gd name="T4" fmla="*/ 15967 w 356"/>
                  <a:gd name="T5" fmla="*/ 18491 h 368"/>
                  <a:gd name="T6" fmla="*/ 3519 w 356"/>
                  <a:gd name="T7" fmla="*/ 2312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61816" name="Rectangle 115"/>
            <p:cNvSpPr>
              <a:spLocks noChangeArrowheads="1"/>
            </p:cNvSpPr>
            <p:nvPr/>
          </p:nvSpPr>
          <p:spPr bwMode="auto"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61817" name="Text Box 116"/>
            <p:cNvSpPr txBox="1">
              <a:spLocks noChangeArrowheads="1"/>
            </p:cNvSpPr>
            <p:nvPr/>
          </p:nvSpPr>
          <p:spPr bwMode="auto"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user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agent</a:t>
              </a:r>
              <a:endParaRPr lang="en-US" altLang="en-US" sz="2400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01625"/>
            <a:ext cx="7772400" cy="688975"/>
          </a:xfrm>
        </p:spPr>
        <p:txBody>
          <a:bodyPr/>
          <a:lstStyle/>
          <a:p>
            <a:r>
              <a:rPr lang="en-US" altLang="en-US" sz="4000" dirty="0"/>
              <a:t>DNS: domain name system</a:t>
            </a:r>
            <a:endParaRPr lang="en-US" altLang="en-US" dirty="0" smtClean="0"/>
          </a:p>
        </p:txBody>
      </p:sp>
      <p:sp>
        <p:nvSpPr>
          <p:cNvPr id="1699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89212" y="1331259"/>
            <a:ext cx="10663517" cy="48282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00099"/>
                </a:solidFill>
              </a:rPr>
              <a:t>people:</a:t>
            </a:r>
            <a:r>
              <a:rPr lang="en-US" altLang="en-US" sz="2400" dirty="0"/>
              <a:t> many identifiers:</a:t>
            </a:r>
          </a:p>
          <a:p>
            <a:pPr lvl="1"/>
            <a:r>
              <a:rPr lang="en-US" altLang="en-US" dirty="0" smtClean="0"/>
              <a:t>SSN, name, passport #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000099"/>
                </a:solidFill>
              </a:rPr>
              <a:t>Internet hosts, routers:</a:t>
            </a:r>
          </a:p>
          <a:p>
            <a:pPr lvl="1"/>
            <a:r>
              <a:rPr lang="en-US" altLang="en-US" dirty="0" smtClean="0"/>
              <a:t>IP address (32 bit) - used for addressing datagrams</a:t>
            </a:r>
          </a:p>
          <a:p>
            <a:pPr lvl="1"/>
            <a:r>
              <a:rPr lang="ja-JP" altLang="en-US" dirty="0" smtClean="0"/>
              <a:t>“</a:t>
            </a:r>
            <a:r>
              <a:rPr lang="en-US" altLang="ja-JP" dirty="0" smtClean="0"/>
              <a:t>name</a:t>
            </a:r>
            <a:r>
              <a:rPr lang="ja-JP" altLang="en-US" dirty="0" smtClean="0"/>
              <a:t>”</a:t>
            </a:r>
            <a:r>
              <a:rPr lang="en-US" altLang="ja-JP" dirty="0" smtClean="0"/>
              <a:t>, e.g., www.yahoo.com - used by humans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i="1" u="sng" dirty="0">
                <a:solidFill>
                  <a:srgbClr val="CC0000"/>
                </a:solidFill>
              </a:rPr>
              <a:t>Q:</a:t>
            </a:r>
            <a:r>
              <a:rPr lang="en-US" altLang="en-US" sz="2400" dirty="0"/>
              <a:t> how to map between IP address and name, and vice versa </a:t>
            </a:r>
            <a:r>
              <a:rPr lang="en-US" altLang="en-US" sz="2400" dirty="0" smtClean="0"/>
              <a:t>?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</a:rPr>
              <a:t>Domain Name System:</a:t>
            </a:r>
          </a:p>
          <a:p>
            <a:r>
              <a:rPr lang="en-US" altLang="en-US" sz="2400" i="1" dirty="0">
                <a:solidFill>
                  <a:srgbClr val="000099"/>
                </a:solidFill>
              </a:rPr>
              <a:t>distributed database</a:t>
            </a:r>
            <a:r>
              <a:rPr lang="en-US" altLang="en-US" sz="2400" dirty="0"/>
              <a:t> implemented in hierarchy of many </a:t>
            </a:r>
            <a:r>
              <a:rPr lang="en-US" altLang="en-US" sz="2400" i="1" dirty="0">
                <a:solidFill>
                  <a:srgbClr val="000099"/>
                </a:solidFill>
              </a:rPr>
              <a:t>name servers</a:t>
            </a:r>
            <a:endParaRPr lang="en-US" altLang="en-US" sz="2400" dirty="0">
              <a:solidFill>
                <a:srgbClr val="000099"/>
              </a:solidFill>
            </a:endParaRPr>
          </a:p>
          <a:p>
            <a:r>
              <a:rPr lang="en-US" altLang="en-US" sz="2400" i="1" dirty="0">
                <a:solidFill>
                  <a:srgbClr val="000099"/>
                </a:solidFill>
              </a:rPr>
              <a:t>application-layer protocol:</a:t>
            </a:r>
            <a:r>
              <a:rPr lang="en-US" altLang="en-US" sz="2400" dirty="0"/>
              <a:t> hosts, name servers communicate to </a:t>
            </a:r>
            <a:r>
              <a:rPr lang="en-US" altLang="en-US" sz="2400" i="1" dirty="0">
                <a:solidFill>
                  <a:srgbClr val="000099"/>
                </a:solidFill>
              </a:rPr>
              <a:t>resolve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names (address/name translation)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7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17475"/>
            <a:ext cx="7772400" cy="1143000"/>
          </a:xfrm>
        </p:spPr>
        <p:txBody>
          <a:bodyPr/>
          <a:lstStyle/>
          <a:p>
            <a:r>
              <a:rPr lang="en-US" altLang="en-US" sz="4000"/>
              <a:t>DNS: services, structure </a:t>
            </a:r>
            <a:endParaRPr lang="en-US" altLang="en-US" smtClean="0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290918" y="1300163"/>
            <a:ext cx="10062882" cy="483169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 dirty="0" smtClean="0">
                <a:solidFill>
                  <a:srgbClr val="CC0000"/>
                </a:solidFill>
              </a:rPr>
              <a:t>DNS services</a:t>
            </a:r>
          </a:p>
          <a:p>
            <a:r>
              <a:rPr lang="en-US" altLang="en-US" sz="2400" dirty="0"/>
              <a:t>hostname to IP address translation</a:t>
            </a:r>
          </a:p>
          <a:p>
            <a:r>
              <a:rPr lang="en-US" altLang="en-US" sz="2400" dirty="0"/>
              <a:t>host aliasing</a:t>
            </a:r>
          </a:p>
          <a:p>
            <a:pPr lvl="1"/>
            <a:r>
              <a:rPr lang="en-US" altLang="en-US" sz="2000" dirty="0"/>
              <a:t>canonical, alias names</a:t>
            </a:r>
          </a:p>
          <a:p>
            <a:r>
              <a:rPr lang="en-US" altLang="en-US" sz="2400" dirty="0"/>
              <a:t>mail server aliasing</a:t>
            </a:r>
          </a:p>
          <a:p>
            <a:r>
              <a:rPr lang="en-US" altLang="en-US" sz="2400" dirty="0"/>
              <a:t>load distribution</a:t>
            </a:r>
          </a:p>
          <a:p>
            <a:pPr lvl="1"/>
            <a:r>
              <a:rPr lang="en-US" altLang="en-US" dirty="0" smtClean="0"/>
              <a:t>replicated Web servers: many IP addresses correspond to one </a:t>
            </a:r>
            <a:r>
              <a:rPr lang="en-US" altLang="en-US" dirty="0" smtClean="0"/>
              <a:t>name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i="1" dirty="0">
                <a:solidFill>
                  <a:srgbClr val="CC0000"/>
                </a:solidFill>
              </a:rPr>
              <a:t>why not centralize DNS?</a:t>
            </a:r>
          </a:p>
          <a:p>
            <a:r>
              <a:rPr lang="en-US" altLang="en-US" sz="2400" dirty="0"/>
              <a:t>single point of failure</a:t>
            </a:r>
          </a:p>
          <a:p>
            <a:r>
              <a:rPr lang="en-US" altLang="en-US" sz="2400" dirty="0"/>
              <a:t>traffic volume</a:t>
            </a:r>
          </a:p>
          <a:p>
            <a:r>
              <a:rPr lang="en-US" altLang="en-US" sz="2400" dirty="0"/>
              <a:t>distant centralized database</a:t>
            </a:r>
          </a:p>
          <a:p>
            <a:r>
              <a:rPr lang="en-US" altLang="en-US" sz="2400" dirty="0"/>
              <a:t>maintenance</a:t>
            </a:r>
          </a:p>
          <a:p>
            <a:pPr lvl="1"/>
            <a:endParaRPr lang="en-US" altLang="en-US" dirty="0" smtClean="0"/>
          </a:p>
          <a:p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3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3" name="Group 23"/>
          <p:cNvGrpSpPr>
            <a:grpSpLocks/>
          </p:cNvGrpSpPr>
          <p:nvPr/>
        </p:nvGrpSpPr>
        <p:grpSpPr bwMode="auto">
          <a:xfrm>
            <a:off x="1962150" y="1193800"/>
            <a:ext cx="8205788" cy="2444750"/>
            <a:chOff x="230" y="576"/>
            <a:chExt cx="5504" cy="1757"/>
          </a:xfrm>
        </p:grpSpPr>
        <p:sp>
          <p:nvSpPr>
            <p:cNvPr id="174089" name="Text Box 2"/>
            <p:cNvSpPr txBox="1">
              <a:spLocks noChangeArrowheads="1"/>
            </p:cNvSpPr>
            <p:nvPr/>
          </p:nvSpPr>
          <p:spPr bwMode="auto">
            <a:xfrm>
              <a:off x="2256" y="576"/>
              <a:ext cx="138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Root DNS Servers</a:t>
              </a:r>
            </a:p>
          </p:txBody>
        </p:sp>
        <p:sp>
          <p:nvSpPr>
            <p:cNvPr id="174090" name="Text Box 4"/>
            <p:cNvSpPr txBox="1">
              <a:spLocks noChangeArrowheads="1"/>
            </p:cNvSpPr>
            <p:nvPr/>
          </p:nvSpPr>
          <p:spPr bwMode="auto">
            <a:xfrm>
              <a:off x="528" y="1344"/>
              <a:ext cx="132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com DNS servers</a:t>
              </a:r>
            </a:p>
          </p:txBody>
        </p:sp>
        <p:sp>
          <p:nvSpPr>
            <p:cNvPr id="174091" name="Text Box 5"/>
            <p:cNvSpPr txBox="1">
              <a:spLocks noChangeArrowheads="1"/>
            </p:cNvSpPr>
            <p:nvPr/>
          </p:nvSpPr>
          <p:spPr bwMode="auto">
            <a:xfrm>
              <a:off x="2304" y="1296"/>
              <a:ext cx="125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org DNS servers</a:t>
              </a:r>
            </a:p>
          </p:txBody>
        </p:sp>
        <p:sp>
          <p:nvSpPr>
            <p:cNvPr id="174092" name="Text Box 6"/>
            <p:cNvSpPr txBox="1">
              <a:spLocks noChangeArrowheads="1"/>
            </p:cNvSpPr>
            <p:nvPr/>
          </p:nvSpPr>
          <p:spPr bwMode="auto">
            <a:xfrm>
              <a:off x="4032" y="1296"/>
              <a:ext cx="129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edu DNS servers</a:t>
              </a:r>
            </a:p>
          </p:txBody>
        </p:sp>
        <p:sp>
          <p:nvSpPr>
            <p:cNvPr id="174093" name="Line 7"/>
            <p:cNvSpPr>
              <a:spLocks noChangeShapeType="1"/>
            </p:cNvSpPr>
            <p:nvPr/>
          </p:nvSpPr>
          <p:spPr bwMode="auto">
            <a:xfrm flipH="1">
              <a:off x="1344" y="864"/>
              <a:ext cx="1392" cy="4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4" name="Line 8"/>
            <p:cNvSpPr>
              <a:spLocks noChangeShapeType="1"/>
            </p:cNvSpPr>
            <p:nvPr/>
          </p:nvSpPr>
          <p:spPr bwMode="auto">
            <a:xfrm>
              <a:off x="2928" y="816"/>
              <a:ext cx="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5" name="Line 9"/>
            <p:cNvSpPr>
              <a:spLocks noChangeShapeType="1"/>
            </p:cNvSpPr>
            <p:nvPr/>
          </p:nvSpPr>
          <p:spPr bwMode="auto">
            <a:xfrm>
              <a:off x="3168" y="864"/>
              <a:ext cx="144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6" name="Text Box 10"/>
            <p:cNvSpPr txBox="1">
              <a:spLocks noChangeArrowheads="1"/>
            </p:cNvSpPr>
            <p:nvPr/>
          </p:nvSpPr>
          <p:spPr bwMode="auto">
            <a:xfrm>
              <a:off x="3878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poly.edu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DNS servers</a:t>
              </a:r>
            </a:p>
          </p:txBody>
        </p:sp>
        <p:sp>
          <p:nvSpPr>
            <p:cNvPr id="174097" name="Text Box 11"/>
            <p:cNvSpPr txBox="1">
              <a:spLocks noChangeArrowheads="1"/>
            </p:cNvSpPr>
            <p:nvPr/>
          </p:nvSpPr>
          <p:spPr bwMode="auto">
            <a:xfrm>
              <a:off x="4742" y="1752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umass.edu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DNS servers</a:t>
              </a:r>
            </a:p>
          </p:txBody>
        </p:sp>
        <p:sp>
          <p:nvSpPr>
            <p:cNvPr id="174098" name="Line 12"/>
            <p:cNvSpPr>
              <a:spLocks noChangeShapeType="1"/>
            </p:cNvSpPr>
            <p:nvPr/>
          </p:nvSpPr>
          <p:spPr bwMode="auto">
            <a:xfrm flipH="1">
              <a:off x="4224" y="1536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9" name="Line 13"/>
            <p:cNvSpPr>
              <a:spLocks noChangeShapeType="1"/>
            </p:cNvSpPr>
            <p:nvPr/>
          </p:nvSpPr>
          <p:spPr bwMode="auto">
            <a:xfrm>
              <a:off x="4848" y="1536"/>
              <a:ext cx="288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00" name="Text Box 14"/>
            <p:cNvSpPr txBox="1">
              <a:spLocks noChangeArrowheads="1"/>
            </p:cNvSpPr>
            <p:nvPr/>
          </p:nvSpPr>
          <p:spPr bwMode="auto">
            <a:xfrm>
              <a:off x="230" y="1848"/>
              <a:ext cx="992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yahoo.com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DNS servers</a:t>
              </a:r>
            </a:p>
          </p:txBody>
        </p:sp>
        <p:sp>
          <p:nvSpPr>
            <p:cNvPr id="174101" name="Text Box 15"/>
            <p:cNvSpPr txBox="1">
              <a:spLocks noChangeArrowheads="1"/>
            </p:cNvSpPr>
            <p:nvPr/>
          </p:nvSpPr>
          <p:spPr bwMode="auto">
            <a:xfrm>
              <a:off x="1248" y="1872"/>
              <a:ext cx="100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amazon.com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DNS servers</a:t>
              </a:r>
            </a:p>
          </p:txBody>
        </p:sp>
        <p:sp>
          <p:nvSpPr>
            <p:cNvPr id="174102" name="Line 16"/>
            <p:cNvSpPr>
              <a:spLocks noChangeShapeType="1"/>
            </p:cNvSpPr>
            <p:nvPr/>
          </p:nvSpPr>
          <p:spPr bwMode="auto">
            <a:xfrm flipH="1">
              <a:off x="768" y="158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03" name="Line 17"/>
            <p:cNvSpPr>
              <a:spLocks noChangeShapeType="1"/>
            </p:cNvSpPr>
            <p:nvPr/>
          </p:nvSpPr>
          <p:spPr bwMode="auto">
            <a:xfrm>
              <a:off x="1392" y="158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04" name="Text Box 18"/>
            <p:cNvSpPr txBox="1">
              <a:spLocks noChangeArrowheads="1"/>
            </p:cNvSpPr>
            <p:nvPr/>
          </p:nvSpPr>
          <p:spPr bwMode="auto">
            <a:xfrm>
              <a:off x="2534" y="1799"/>
              <a:ext cx="993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pbs.org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DNS servers</a:t>
              </a:r>
            </a:p>
          </p:txBody>
        </p:sp>
        <p:sp>
          <p:nvSpPr>
            <p:cNvPr id="174105" name="Line 19"/>
            <p:cNvSpPr>
              <a:spLocks noChangeShapeType="1"/>
            </p:cNvSpPr>
            <p:nvPr/>
          </p:nvSpPr>
          <p:spPr bwMode="auto">
            <a:xfrm>
              <a:off x="2928" y="1536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084" name="Rectangle 20"/>
          <p:cNvSpPr>
            <a:spLocks noGrp="1" noChangeArrowheads="1"/>
          </p:cNvSpPr>
          <p:nvPr>
            <p:ph type="title"/>
          </p:nvPr>
        </p:nvSpPr>
        <p:spPr>
          <a:xfrm>
            <a:off x="1992314" y="161926"/>
            <a:ext cx="8023225" cy="936625"/>
          </a:xfrm>
        </p:spPr>
        <p:txBody>
          <a:bodyPr/>
          <a:lstStyle/>
          <a:p>
            <a:r>
              <a:rPr lang="en-US" altLang="en-US" sz="3600"/>
              <a:t>DNS: a distributed, hierarchical database</a:t>
            </a:r>
          </a:p>
        </p:txBody>
      </p:sp>
      <p:sp>
        <p:nvSpPr>
          <p:cNvPr id="174085" name="Rectangle 22"/>
          <p:cNvSpPr>
            <a:spLocks noGrp="1" noChangeArrowheads="1"/>
          </p:cNvSpPr>
          <p:nvPr>
            <p:ph type="body" sz="half" idx="2"/>
          </p:nvPr>
        </p:nvSpPr>
        <p:spPr>
          <a:xfrm>
            <a:off x="2044700" y="3971925"/>
            <a:ext cx="8172450" cy="2133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i="1">
                <a:solidFill>
                  <a:srgbClr val="000099"/>
                </a:solidFill>
              </a:rPr>
              <a:t>client wants IP for www.amazon.com; 1</a:t>
            </a:r>
            <a:r>
              <a:rPr lang="en-US" altLang="en-US" sz="2400" i="1" baseline="30000">
                <a:solidFill>
                  <a:srgbClr val="000099"/>
                </a:solidFill>
              </a:rPr>
              <a:t>st</a:t>
            </a:r>
            <a:r>
              <a:rPr lang="en-US" altLang="en-US" sz="2400" i="1">
                <a:solidFill>
                  <a:srgbClr val="000099"/>
                </a:solidFill>
              </a:rPr>
              <a:t> approx:</a:t>
            </a:r>
          </a:p>
          <a:p>
            <a:r>
              <a:rPr lang="en-US" altLang="en-US" sz="2200"/>
              <a:t>client queries root server to find com DNS server</a:t>
            </a:r>
          </a:p>
          <a:p>
            <a:r>
              <a:rPr lang="en-US" altLang="en-US" sz="2200"/>
              <a:t>client queries .com DNS server to get amazon.com DNS server</a:t>
            </a:r>
          </a:p>
          <a:p>
            <a:r>
              <a:rPr lang="en-US" altLang="en-US" sz="2200"/>
              <a:t>client queries amazon.com DNS server to get  IP address for www.amazon.com</a:t>
            </a:r>
          </a:p>
        </p:txBody>
      </p:sp>
      <p:sp>
        <p:nvSpPr>
          <p:cNvPr id="174087" name="Text Box 29"/>
          <p:cNvSpPr txBox="1">
            <a:spLocks noChangeArrowheads="1"/>
          </p:cNvSpPr>
          <p:nvPr/>
        </p:nvSpPr>
        <p:spPr bwMode="auto">
          <a:xfrm>
            <a:off x="5481638" y="1687514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…</a:t>
            </a:r>
          </a:p>
        </p:txBody>
      </p:sp>
      <p:sp>
        <p:nvSpPr>
          <p:cNvPr id="174088" name="Text Box 30"/>
          <p:cNvSpPr txBox="1">
            <a:spLocks noChangeArrowheads="1"/>
          </p:cNvSpPr>
          <p:nvPr/>
        </p:nvSpPr>
        <p:spPr bwMode="auto">
          <a:xfrm>
            <a:off x="6045200" y="1685926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/>
              <a:t>2-</a:t>
            </a:r>
            <a:fld id="{788C94AB-18AD-45EA-848D-2D33485A00C3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15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22250"/>
            <a:ext cx="7772400" cy="882650"/>
          </a:xfrm>
        </p:spPr>
        <p:txBody>
          <a:bodyPr/>
          <a:lstStyle/>
          <a:p>
            <a:r>
              <a:rPr lang="en-US" altLang="en-US" sz="4000"/>
              <a:t>DNS: root name servers</a:t>
            </a:r>
            <a:endParaRPr lang="en-US" altLang="en-US" smtClean="0"/>
          </a:p>
        </p:txBody>
      </p:sp>
      <p:sp>
        <p:nvSpPr>
          <p:cNvPr id="17613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008189" y="1362075"/>
            <a:ext cx="8478837" cy="4648200"/>
          </a:xfrm>
        </p:spPr>
        <p:txBody>
          <a:bodyPr/>
          <a:lstStyle/>
          <a:p>
            <a:r>
              <a:rPr lang="en-US" altLang="en-US" sz="2400"/>
              <a:t>contacted by local name server that can not resolve name</a:t>
            </a:r>
          </a:p>
          <a:p>
            <a:r>
              <a:rPr lang="en-US" altLang="en-US" sz="2400"/>
              <a:t>root name server:</a:t>
            </a:r>
          </a:p>
          <a:p>
            <a:pPr lvl="1"/>
            <a:r>
              <a:rPr lang="en-US" altLang="en-US" sz="2200"/>
              <a:t>contacts authoritative name server if name mapping not known</a:t>
            </a:r>
          </a:p>
          <a:p>
            <a:pPr lvl="1"/>
            <a:r>
              <a:rPr lang="en-US" altLang="en-US" sz="2200"/>
              <a:t>gets mapping</a:t>
            </a:r>
          </a:p>
          <a:p>
            <a:pPr lvl="1"/>
            <a:r>
              <a:rPr lang="en-US" altLang="en-US" sz="2200"/>
              <a:t>returns mapping to local name server</a:t>
            </a:r>
          </a:p>
        </p:txBody>
      </p:sp>
      <p:sp>
        <p:nvSpPr>
          <p:cNvPr id="176133" name="Rectangle 20"/>
          <p:cNvSpPr>
            <a:spLocks noChangeArrowheads="1"/>
          </p:cNvSpPr>
          <p:nvPr/>
        </p:nvSpPr>
        <p:spPr bwMode="auto">
          <a:xfrm>
            <a:off x="7710489" y="5022851"/>
            <a:ext cx="2681287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i="1"/>
              <a:t>    13 root name </a:t>
            </a:r>
            <a:r>
              <a:rPr lang="ja-JP" altLang="en-US" i="1"/>
              <a:t>“</a:t>
            </a:r>
            <a:r>
              <a:rPr lang="en-US" altLang="ja-JP" i="1"/>
              <a:t>servers</a:t>
            </a:r>
            <a:r>
              <a:rPr lang="ja-JP" altLang="en-US" i="1"/>
              <a:t>”</a:t>
            </a:r>
            <a:r>
              <a:rPr lang="en-US" altLang="ja-JP" i="1"/>
              <a:t> worldwide</a:t>
            </a:r>
            <a:endParaRPr lang="en-US" altLang="en-US" sz="2400" i="1"/>
          </a:p>
        </p:txBody>
      </p:sp>
      <p:sp>
        <p:nvSpPr>
          <p:cNvPr id="176134" name="AutoShape 22"/>
          <p:cNvSpPr>
            <a:spLocks noChangeAspect="1" noChangeArrowheads="1"/>
          </p:cNvSpPr>
          <p:nvPr/>
        </p:nvSpPr>
        <p:spPr bwMode="auto">
          <a:xfrm>
            <a:off x="2005013" y="3581401"/>
            <a:ext cx="5784850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400">
              <a:latin typeface="Comic Sans MS" panose="030F0702030302020204" pitchFamily="66" charset="0"/>
            </a:endParaRPr>
          </a:p>
        </p:txBody>
      </p:sp>
      <p:pic>
        <p:nvPicPr>
          <p:cNvPr id="176135" name="Picture 23" descr="world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814" y="4378325"/>
            <a:ext cx="4319587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136" name="Text Box 25"/>
          <p:cNvSpPr txBox="1">
            <a:spLocks noChangeArrowheads="1"/>
          </p:cNvSpPr>
          <p:nvPr/>
        </p:nvSpPr>
        <p:spPr bwMode="auto">
          <a:xfrm>
            <a:off x="1731964" y="5160964"/>
            <a:ext cx="2090737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a. Verisign, Los Angeles CA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    (5 other sites)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b. USC-ISI Marina del Rey, CA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l. ICANN Los Angeles, CA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   (41 other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6137" name="Freeform 26"/>
          <p:cNvSpPr>
            <a:spLocks/>
          </p:cNvSpPr>
          <p:nvPr/>
        </p:nvSpPr>
        <p:spPr bwMode="auto">
          <a:xfrm>
            <a:off x="3281363" y="5113338"/>
            <a:ext cx="531812" cy="341312"/>
          </a:xfrm>
          <a:custGeom>
            <a:avLst/>
            <a:gdLst>
              <a:gd name="T0" fmla="*/ 0 w 582"/>
              <a:gd name="T1" fmla="*/ 2147483647 h 426"/>
              <a:gd name="T2" fmla="*/ 2147483647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38" name="Text Box 27"/>
          <p:cNvSpPr txBox="1">
            <a:spLocks noChangeArrowheads="1"/>
          </p:cNvSpPr>
          <p:nvPr/>
        </p:nvSpPr>
        <p:spPr bwMode="auto">
          <a:xfrm>
            <a:off x="1728788" y="4333875"/>
            <a:ext cx="1949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e. NASA Mt View, CA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f. Internet Software C.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Palo Alto, CA (and 48 other  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6139" name="Freeform 28"/>
          <p:cNvSpPr>
            <a:spLocks/>
          </p:cNvSpPr>
          <p:nvPr/>
        </p:nvSpPr>
        <p:spPr bwMode="auto">
          <a:xfrm flipV="1">
            <a:off x="2947988" y="4868863"/>
            <a:ext cx="817562" cy="184150"/>
          </a:xfrm>
          <a:custGeom>
            <a:avLst/>
            <a:gdLst>
              <a:gd name="T0" fmla="*/ 0 w 582"/>
              <a:gd name="T1" fmla="*/ 2147483647 h 426"/>
              <a:gd name="T2" fmla="*/ 2147483647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0" name="Text Box 29"/>
          <p:cNvSpPr txBox="1">
            <a:spLocks noChangeArrowheads="1"/>
          </p:cNvSpPr>
          <p:nvPr/>
        </p:nvSpPr>
        <p:spPr bwMode="auto">
          <a:xfrm>
            <a:off x="5821363" y="3973514"/>
            <a:ext cx="2278062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i. Netnod, Stockholm (37 other sites)</a:t>
            </a:r>
          </a:p>
        </p:txBody>
      </p:sp>
      <p:sp>
        <p:nvSpPr>
          <p:cNvPr id="176141" name="Freeform 30"/>
          <p:cNvSpPr>
            <a:spLocks/>
          </p:cNvSpPr>
          <p:nvPr/>
        </p:nvSpPr>
        <p:spPr bwMode="auto">
          <a:xfrm>
            <a:off x="5456239" y="4068763"/>
            <a:ext cx="446087" cy="654050"/>
          </a:xfrm>
          <a:custGeom>
            <a:avLst/>
            <a:gdLst>
              <a:gd name="T0" fmla="*/ 2147483647 w 666"/>
              <a:gd name="T1" fmla="*/ 0 h 1005"/>
              <a:gd name="T2" fmla="*/ 0 w 666"/>
              <a:gd name="T3" fmla="*/ 2147483647 h 1005"/>
              <a:gd name="T4" fmla="*/ 0 60000 65536"/>
              <a:gd name="T5" fmla="*/ 0 60000 65536"/>
              <a:gd name="T6" fmla="*/ 0 w 666"/>
              <a:gd name="T7" fmla="*/ 0 h 1005"/>
              <a:gd name="T8" fmla="*/ 666 w 666"/>
              <a:gd name="T9" fmla="*/ 1005 h 100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6" h="1005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2" name="Text Box 31"/>
          <p:cNvSpPr txBox="1">
            <a:spLocks noChangeArrowheads="1"/>
          </p:cNvSpPr>
          <p:nvPr/>
        </p:nvSpPr>
        <p:spPr bwMode="auto">
          <a:xfrm>
            <a:off x="5857876" y="3684588"/>
            <a:ext cx="25193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k. RIPE London (17 other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6143" name="Freeform 32"/>
          <p:cNvSpPr>
            <a:spLocks/>
          </p:cNvSpPr>
          <p:nvPr/>
        </p:nvSpPr>
        <p:spPr bwMode="auto">
          <a:xfrm>
            <a:off x="5275263" y="3862388"/>
            <a:ext cx="615950" cy="946150"/>
          </a:xfrm>
          <a:custGeom>
            <a:avLst/>
            <a:gdLst>
              <a:gd name="T0" fmla="*/ 2147483647 w 922"/>
              <a:gd name="T1" fmla="*/ 0 h 1448"/>
              <a:gd name="T2" fmla="*/ 0 w 922"/>
              <a:gd name="T3" fmla="*/ 2147483647 h 1448"/>
              <a:gd name="T4" fmla="*/ 0 60000 65536"/>
              <a:gd name="T5" fmla="*/ 0 60000 65536"/>
              <a:gd name="T6" fmla="*/ 0 w 922"/>
              <a:gd name="T7" fmla="*/ 0 h 1448"/>
              <a:gd name="T8" fmla="*/ 922 w 922"/>
              <a:gd name="T9" fmla="*/ 1448 h 14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22" h="1448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4" name="Text Box 33"/>
          <p:cNvSpPr txBox="1">
            <a:spLocks noChangeArrowheads="1"/>
          </p:cNvSpPr>
          <p:nvPr/>
        </p:nvSpPr>
        <p:spPr bwMode="auto">
          <a:xfrm>
            <a:off x="7435850" y="4303713"/>
            <a:ext cx="1766888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m. WIDE Tokyo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(5 other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6145" name="Freeform 34"/>
          <p:cNvSpPr>
            <a:spLocks/>
          </p:cNvSpPr>
          <p:nvPr/>
        </p:nvSpPr>
        <p:spPr bwMode="auto">
          <a:xfrm>
            <a:off x="7099300" y="4598988"/>
            <a:ext cx="400050" cy="431800"/>
          </a:xfrm>
          <a:custGeom>
            <a:avLst/>
            <a:gdLst>
              <a:gd name="T0" fmla="*/ 2147483647 w 252"/>
              <a:gd name="T1" fmla="*/ 0 h 462"/>
              <a:gd name="T2" fmla="*/ 0 w 252"/>
              <a:gd name="T3" fmla="*/ 2147483647 h 462"/>
              <a:gd name="T4" fmla="*/ 0 60000 65536"/>
              <a:gd name="T5" fmla="*/ 0 60000 65536"/>
              <a:gd name="T6" fmla="*/ 0 w 252"/>
              <a:gd name="T7" fmla="*/ 0 h 462"/>
              <a:gd name="T8" fmla="*/ 252 w 252"/>
              <a:gd name="T9" fmla="*/ 462 h 4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46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146" name="Text Box 35"/>
          <p:cNvSpPr txBox="1">
            <a:spLocks noChangeArrowheads="1"/>
          </p:cNvSpPr>
          <p:nvPr/>
        </p:nvSpPr>
        <p:spPr bwMode="auto">
          <a:xfrm>
            <a:off x="3121025" y="3541714"/>
            <a:ext cx="259873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c. Cogent, Herndon, VA (5 other sites)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d. U Maryland College Park, MD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h. ARL Aberdeen, MD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j. Verisign, Dulles VA (69 other sites 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176148" name="Straight Arrow Connector 2"/>
          <p:cNvCxnSpPr>
            <a:cxnSpLocks noChangeShapeType="1"/>
          </p:cNvCxnSpPr>
          <p:nvPr/>
        </p:nvCxnSpPr>
        <p:spPr bwMode="auto">
          <a:xfrm flipH="1">
            <a:off x="4402139" y="4278313"/>
            <a:ext cx="7937" cy="690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6149" name="Text Box 35"/>
          <p:cNvSpPr txBox="1">
            <a:spLocks noChangeArrowheads="1"/>
          </p:cNvSpPr>
          <p:nvPr/>
        </p:nvSpPr>
        <p:spPr bwMode="auto">
          <a:xfrm>
            <a:off x="3074989" y="5889626"/>
            <a:ext cx="147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solidFill>
                  <a:srgbClr val="000000"/>
                </a:solidFill>
              </a:rPr>
              <a:t>g. US DoD Columbus, OH (5 other sites)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176150" name="Straight Arrow Connector 24"/>
          <p:cNvCxnSpPr>
            <a:cxnSpLocks noChangeShapeType="1"/>
            <a:stCxn id="176149" idx="0"/>
          </p:cNvCxnSpPr>
          <p:nvPr/>
        </p:nvCxnSpPr>
        <p:spPr bwMode="auto">
          <a:xfrm flipV="1">
            <a:off x="3810001" y="4945063"/>
            <a:ext cx="481013" cy="944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5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34950"/>
            <a:ext cx="7772400" cy="914400"/>
          </a:xfrm>
        </p:spPr>
        <p:txBody>
          <a:bodyPr/>
          <a:lstStyle/>
          <a:p>
            <a:r>
              <a:rPr lang="en-US" altLang="en-US" smtClean="0"/>
              <a:t>TLD, authoritative servers</a:t>
            </a:r>
          </a:p>
        </p:txBody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0"/>
            <a:ext cx="815975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000099"/>
                </a:solidFill>
              </a:rPr>
              <a:t>top-level domain (TLD) servers:</a:t>
            </a:r>
          </a:p>
          <a:p>
            <a:pPr lvl="1"/>
            <a:r>
              <a:rPr lang="en-US" altLang="en-US" smtClean="0"/>
              <a:t>responsible for com, org, net, edu, aero, jobs, museums, and all top-level country domains, e.g.: uk, fr, ca, jp</a:t>
            </a:r>
          </a:p>
          <a:p>
            <a:pPr lvl="1"/>
            <a:r>
              <a:rPr lang="en-US" altLang="en-US" smtClean="0"/>
              <a:t>Network Solutions maintains servers for .com TLD</a:t>
            </a:r>
          </a:p>
          <a:p>
            <a:pPr lvl="1"/>
            <a:r>
              <a:rPr lang="en-US" altLang="en-US" smtClean="0"/>
              <a:t>Educause for .edu TLD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solidFill>
                  <a:srgbClr val="000099"/>
                </a:solidFill>
              </a:rPr>
              <a:t>authoritative DNS servers: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organization</a:t>
            </a:r>
            <a:r>
              <a:rPr lang="ja-JP" altLang="en-US" smtClean="0"/>
              <a:t>’</a:t>
            </a:r>
            <a:r>
              <a:rPr lang="en-US" altLang="ja-JP" smtClean="0"/>
              <a:t>s own DNS server(s), providing authoritative hostname to IP mappings for organization</a:t>
            </a:r>
            <a:r>
              <a:rPr lang="ja-JP" altLang="en-US" smtClean="0"/>
              <a:t>’</a:t>
            </a:r>
            <a:r>
              <a:rPr lang="en-US" altLang="ja-JP" smtClean="0"/>
              <a:t>s named hosts </a:t>
            </a:r>
          </a:p>
          <a:p>
            <a:pPr lvl="1"/>
            <a:r>
              <a:rPr lang="en-US" altLang="en-US" smtClean="0"/>
              <a:t>can be maintained by organization or service provider</a:t>
            </a:r>
          </a:p>
          <a:p>
            <a:pPr lvl="1"/>
            <a:endParaRPr lang="en-US" alt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4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236538"/>
            <a:ext cx="7772400" cy="957262"/>
          </a:xfrm>
        </p:spPr>
        <p:txBody>
          <a:bodyPr/>
          <a:lstStyle/>
          <a:p>
            <a:r>
              <a:rPr lang="en-US" altLang="en-US" smtClean="0"/>
              <a:t>Local </a:t>
            </a:r>
            <a:r>
              <a:rPr lang="en-US" altLang="en-US" sz="4000"/>
              <a:t>DNS</a:t>
            </a:r>
            <a:r>
              <a:rPr lang="en-US" altLang="en-US" smtClean="0"/>
              <a:t> name server</a:t>
            </a:r>
          </a:p>
        </p:txBody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does not strictly belong to hierarchy</a:t>
            </a:r>
          </a:p>
          <a:p>
            <a:r>
              <a:rPr lang="en-US" altLang="en-US" smtClean="0"/>
              <a:t>each ISP (residential ISP, company, university) has one</a:t>
            </a:r>
          </a:p>
          <a:p>
            <a:pPr lvl="1"/>
            <a:r>
              <a:rPr lang="en-US" altLang="en-US" smtClean="0"/>
              <a:t>also called </a:t>
            </a:r>
            <a:r>
              <a:rPr lang="ja-JP" altLang="en-US" smtClean="0"/>
              <a:t>“</a:t>
            </a:r>
            <a:r>
              <a:rPr lang="en-US" altLang="ja-JP" smtClean="0"/>
              <a:t>default name server</a:t>
            </a:r>
            <a:r>
              <a:rPr lang="ja-JP" altLang="en-US" smtClean="0"/>
              <a:t>”</a:t>
            </a:r>
            <a:endParaRPr lang="en-US" altLang="ja-JP" smtClean="0"/>
          </a:p>
          <a:p>
            <a:r>
              <a:rPr lang="en-US" altLang="en-US" smtClean="0"/>
              <a:t>when host makes DNS query, query is sent to its local DNS server</a:t>
            </a:r>
          </a:p>
          <a:p>
            <a:pPr lvl="1"/>
            <a:r>
              <a:rPr lang="en-US" altLang="en-US" smtClean="0"/>
              <a:t>has local cache of recent name-to-address translation pairs (but may be out of date!)</a:t>
            </a:r>
          </a:p>
          <a:p>
            <a:pPr lvl="1"/>
            <a:r>
              <a:rPr lang="en-US" altLang="en-US" smtClean="0"/>
              <a:t>acts as proxy, forwards query into hierarchy</a:t>
            </a:r>
          </a:p>
          <a:p>
            <a:pPr lvl="1"/>
            <a:endParaRPr lang="en-US" alt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7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6" name="Text Box 5"/>
          <p:cNvSpPr txBox="1">
            <a:spLocks noChangeArrowheads="1"/>
          </p:cNvSpPr>
          <p:nvPr/>
        </p:nvSpPr>
        <p:spPr bwMode="auto">
          <a:xfrm>
            <a:off x="5730875" y="4881564"/>
            <a:ext cx="174625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requesting host</a:t>
            </a:r>
            <a:endParaRPr lang="en-US" altLang="en-US" sz="2400"/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>
                <a:solidFill>
                  <a:srgbClr val="000099"/>
                </a:solidFill>
              </a:rPr>
              <a:t>cis.poly.edu</a:t>
            </a:r>
          </a:p>
        </p:txBody>
      </p:sp>
      <p:sp>
        <p:nvSpPr>
          <p:cNvPr id="182277" name="Text Box 6"/>
          <p:cNvSpPr txBox="1">
            <a:spLocks noChangeArrowheads="1"/>
          </p:cNvSpPr>
          <p:nvPr/>
        </p:nvSpPr>
        <p:spPr bwMode="auto">
          <a:xfrm>
            <a:off x="8207376" y="577532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1"/>
              <a:t>gaia.cs.umass.edu</a:t>
            </a:r>
          </a:p>
        </p:txBody>
      </p:sp>
      <p:sp>
        <p:nvSpPr>
          <p:cNvPr id="182278" name="Text Box 17"/>
          <p:cNvSpPr txBox="1">
            <a:spLocks noChangeArrowheads="1"/>
          </p:cNvSpPr>
          <p:nvPr/>
        </p:nvSpPr>
        <p:spPr bwMode="auto">
          <a:xfrm>
            <a:off x="7315201" y="481013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root DNS server</a:t>
            </a:r>
            <a:endParaRPr lang="en-US" altLang="en-US" sz="1600"/>
          </a:p>
        </p:txBody>
      </p:sp>
      <p:sp>
        <p:nvSpPr>
          <p:cNvPr id="202770" name="Line 18"/>
          <p:cNvSpPr>
            <a:spLocks noChangeShapeType="1"/>
          </p:cNvSpPr>
          <p:nvPr/>
        </p:nvSpPr>
        <p:spPr bwMode="auto">
          <a:xfrm flipH="1" flipV="1">
            <a:off x="6810375" y="2916238"/>
            <a:ext cx="0" cy="13144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1" name="Line 19"/>
          <p:cNvSpPr>
            <a:spLocks noChangeShapeType="1"/>
          </p:cNvSpPr>
          <p:nvPr/>
        </p:nvSpPr>
        <p:spPr bwMode="auto">
          <a:xfrm flipV="1">
            <a:off x="6924675" y="1220788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2" name="Line 20"/>
          <p:cNvSpPr>
            <a:spLocks noChangeShapeType="1"/>
          </p:cNvSpPr>
          <p:nvPr/>
        </p:nvSpPr>
        <p:spPr bwMode="auto">
          <a:xfrm flipV="1">
            <a:off x="7210425" y="2382839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3" name="Line 21"/>
          <p:cNvSpPr>
            <a:spLocks noChangeShapeType="1"/>
          </p:cNvSpPr>
          <p:nvPr/>
        </p:nvSpPr>
        <p:spPr bwMode="auto">
          <a:xfrm flipH="1" flipV="1">
            <a:off x="7210426" y="2554288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4" name="Line 22"/>
          <p:cNvSpPr>
            <a:spLocks noChangeShapeType="1"/>
          </p:cNvSpPr>
          <p:nvPr/>
        </p:nvSpPr>
        <p:spPr bwMode="auto">
          <a:xfrm flipH="1">
            <a:off x="7134226" y="1449388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2775" name="Line 23"/>
          <p:cNvSpPr>
            <a:spLocks noChangeShapeType="1"/>
          </p:cNvSpPr>
          <p:nvPr/>
        </p:nvSpPr>
        <p:spPr bwMode="auto">
          <a:xfrm>
            <a:off x="7000876" y="2933701"/>
            <a:ext cx="9525" cy="1323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2285" name="Group 24"/>
          <p:cNvGrpSpPr>
            <a:grpSpLocks/>
          </p:cNvGrpSpPr>
          <p:nvPr/>
        </p:nvGrpSpPr>
        <p:grpSpPr bwMode="auto">
          <a:xfrm>
            <a:off x="5703888" y="3062289"/>
            <a:ext cx="1898650" cy="611187"/>
            <a:chOff x="2831" y="2132"/>
            <a:chExt cx="1196" cy="385"/>
          </a:xfrm>
        </p:grpSpPr>
        <p:sp>
          <p:nvSpPr>
            <p:cNvPr id="182439" name="Rectangle 25"/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400"/>
            </a:p>
          </p:txBody>
        </p:sp>
        <p:sp>
          <p:nvSpPr>
            <p:cNvPr id="182440" name="Text Box 26"/>
            <p:cNvSpPr txBox="1">
              <a:spLocks noChangeArrowheads="1"/>
            </p:cNvSpPr>
            <p:nvPr/>
          </p:nvSpPr>
          <p:spPr bwMode="auto">
            <a:xfrm>
              <a:off x="2831" y="2132"/>
              <a:ext cx="1196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local DNS server</a:t>
              </a:r>
              <a:endParaRPr lang="en-US" altLang="en-US" sz="2400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solidFill>
                    <a:srgbClr val="000099"/>
                  </a:solidFill>
                </a:rPr>
                <a:t>dns.poly.edu</a:t>
              </a:r>
            </a:p>
          </p:txBody>
        </p:sp>
      </p:grpSp>
      <p:sp>
        <p:nvSpPr>
          <p:cNvPr id="202779" name="Text Box 27"/>
          <p:cNvSpPr txBox="1">
            <a:spLocks noChangeArrowheads="1"/>
          </p:cNvSpPr>
          <p:nvPr/>
        </p:nvSpPr>
        <p:spPr bwMode="auto">
          <a:xfrm>
            <a:off x="6521450" y="37719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1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202780" name="Text Box 28"/>
          <p:cNvSpPr txBox="1">
            <a:spLocks noChangeArrowheads="1"/>
          </p:cNvSpPr>
          <p:nvPr/>
        </p:nvSpPr>
        <p:spPr bwMode="auto">
          <a:xfrm>
            <a:off x="7064375" y="14382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2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202781" name="Text Box 29"/>
          <p:cNvSpPr txBox="1">
            <a:spLocks noChangeArrowheads="1"/>
          </p:cNvSpPr>
          <p:nvPr/>
        </p:nvSpPr>
        <p:spPr bwMode="auto">
          <a:xfrm>
            <a:off x="7502525" y="16764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3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202782" name="Text Box 30"/>
          <p:cNvSpPr txBox="1">
            <a:spLocks noChangeArrowheads="1"/>
          </p:cNvSpPr>
          <p:nvPr/>
        </p:nvSpPr>
        <p:spPr bwMode="auto">
          <a:xfrm>
            <a:off x="7816850" y="2085976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4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7847013" y="25733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5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202784" name="Text Box 32"/>
          <p:cNvSpPr txBox="1">
            <a:spLocks noChangeArrowheads="1"/>
          </p:cNvSpPr>
          <p:nvPr/>
        </p:nvSpPr>
        <p:spPr bwMode="auto">
          <a:xfrm>
            <a:off x="8443913" y="36131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6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182292" name="Text Box 60"/>
          <p:cNvSpPr txBox="1">
            <a:spLocks noChangeArrowheads="1"/>
          </p:cNvSpPr>
          <p:nvPr/>
        </p:nvSpPr>
        <p:spPr bwMode="auto">
          <a:xfrm>
            <a:off x="7877176" y="4429126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authoritative DNS server</a:t>
            </a:r>
            <a:endParaRPr lang="en-US" altLang="en-US" sz="2400"/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dns.cs.umass.edu</a:t>
            </a:r>
            <a:endParaRPr lang="en-US" altLang="en-US" sz="1600"/>
          </a:p>
        </p:txBody>
      </p:sp>
      <p:sp>
        <p:nvSpPr>
          <p:cNvPr id="202813" name="Text Box 61"/>
          <p:cNvSpPr txBox="1">
            <a:spLocks noChangeArrowheads="1"/>
          </p:cNvSpPr>
          <p:nvPr/>
        </p:nvSpPr>
        <p:spPr bwMode="auto">
          <a:xfrm>
            <a:off x="7816850" y="36433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7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202814" name="Text Box 62"/>
          <p:cNvSpPr txBox="1">
            <a:spLocks noChangeArrowheads="1"/>
          </p:cNvSpPr>
          <p:nvPr/>
        </p:nvSpPr>
        <p:spPr bwMode="auto">
          <a:xfrm>
            <a:off x="7073900" y="379095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8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202815" name="Line 63"/>
          <p:cNvSpPr>
            <a:spLocks noChangeShapeType="1"/>
          </p:cNvSpPr>
          <p:nvPr/>
        </p:nvSpPr>
        <p:spPr bwMode="auto">
          <a:xfrm>
            <a:off x="7143750" y="2714625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816" name="Line 64"/>
          <p:cNvSpPr>
            <a:spLocks noChangeShapeType="1"/>
          </p:cNvSpPr>
          <p:nvPr/>
        </p:nvSpPr>
        <p:spPr bwMode="auto">
          <a:xfrm flipH="1" flipV="1">
            <a:off x="7104064" y="2840038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2297" name="Text Box 65"/>
          <p:cNvSpPr txBox="1">
            <a:spLocks noChangeArrowheads="1"/>
          </p:cNvSpPr>
          <p:nvPr/>
        </p:nvSpPr>
        <p:spPr bwMode="auto">
          <a:xfrm>
            <a:off x="8075613" y="1852613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TLD DNS server</a:t>
            </a:r>
            <a:endParaRPr lang="en-US" altLang="en-US" sz="1600"/>
          </a:p>
        </p:txBody>
      </p:sp>
      <p:sp>
        <p:nvSpPr>
          <p:cNvPr id="182298" name="Rectangle 66"/>
          <p:cNvSpPr>
            <a:spLocks noGrp="1" noChangeArrowheads="1"/>
          </p:cNvSpPr>
          <p:nvPr>
            <p:ph type="title"/>
          </p:nvPr>
        </p:nvSpPr>
        <p:spPr>
          <a:xfrm>
            <a:off x="2057400" y="217488"/>
            <a:ext cx="4910138" cy="11430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4000"/>
              <a:t>DNS name </a:t>
            </a:r>
            <a:br>
              <a:rPr lang="en-US" altLang="en-US" sz="4000"/>
            </a:br>
            <a:r>
              <a:rPr lang="en-US" altLang="en-US" sz="4000"/>
              <a:t>resolution example</a:t>
            </a:r>
          </a:p>
        </p:txBody>
      </p:sp>
      <p:sp>
        <p:nvSpPr>
          <p:cNvPr id="182299" name="Rectangle 67"/>
          <p:cNvSpPr>
            <a:spLocks noGrp="1" noChangeArrowheads="1"/>
          </p:cNvSpPr>
          <p:nvPr>
            <p:ph type="body" sz="half" idx="1"/>
          </p:nvPr>
        </p:nvSpPr>
        <p:spPr>
          <a:xfrm>
            <a:off x="1955801" y="1725613"/>
            <a:ext cx="3565525" cy="4648200"/>
          </a:xfrm>
        </p:spPr>
        <p:txBody>
          <a:bodyPr/>
          <a:lstStyle/>
          <a:p>
            <a:r>
              <a:rPr lang="en-US" altLang="en-US" sz="2400"/>
              <a:t>host at cis.poly.edu wants IP address for gaia.cs.umass.edu</a:t>
            </a:r>
          </a:p>
        </p:txBody>
      </p:sp>
      <p:sp>
        <p:nvSpPr>
          <p:cNvPr id="182300" name="Rectangle 69"/>
          <p:cNvSpPr>
            <a:spLocks noChangeArrowheads="1"/>
          </p:cNvSpPr>
          <p:nvPr/>
        </p:nvSpPr>
        <p:spPr bwMode="auto">
          <a:xfrm>
            <a:off x="2106613" y="3094039"/>
            <a:ext cx="3478212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800" i="1">
                <a:solidFill>
                  <a:srgbClr val="CC0000"/>
                </a:solidFill>
                <a:latin typeface="Gill Sans MT" panose="020B0502020104020203" pitchFamily="34" charset="0"/>
              </a:rPr>
              <a:t>iterated query:</a:t>
            </a:r>
          </a:p>
          <a:p>
            <a:pPr>
              <a:lnSpc>
                <a:spcPct val="85000"/>
              </a:lnSpc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400">
                <a:latin typeface="Gill Sans MT" panose="020B0502020104020203" pitchFamily="34" charset="0"/>
              </a:rPr>
              <a:t>contacted server replies with name of server to contact</a:t>
            </a:r>
          </a:p>
          <a:p>
            <a:pPr>
              <a:lnSpc>
                <a:spcPct val="85000"/>
              </a:lnSpc>
              <a:buClr>
                <a:srgbClr val="000099"/>
              </a:buClr>
              <a:buSzPct val="75000"/>
              <a:buFont typeface="Wingdings" panose="05000000000000000000" pitchFamily="2" charset="2"/>
              <a:buChar char="v"/>
            </a:pPr>
            <a:r>
              <a:rPr lang="ja-JP" altLang="en-US" sz="2400">
                <a:latin typeface="Gill Sans MT" panose="020B0502020104020203" pitchFamily="34" charset="0"/>
              </a:rPr>
              <a:t>“</a:t>
            </a:r>
            <a:r>
              <a:rPr lang="en-US" altLang="ja-JP" sz="2400">
                <a:latin typeface="Gill Sans MT" panose="020B0502020104020203" pitchFamily="34" charset="0"/>
              </a:rPr>
              <a:t>I don</a:t>
            </a:r>
            <a:r>
              <a:rPr lang="ja-JP" altLang="en-US" sz="2400">
                <a:latin typeface="Gill Sans MT" panose="020B0502020104020203" pitchFamily="34" charset="0"/>
              </a:rPr>
              <a:t>’</a:t>
            </a:r>
            <a:r>
              <a:rPr lang="en-US" altLang="ja-JP" sz="2400">
                <a:latin typeface="Gill Sans MT" panose="020B0502020104020203" pitchFamily="34" charset="0"/>
              </a:rPr>
              <a:t>t know this name, but ask this server</a:t>
            </a:r>
            <a:r>
              <a:rPr lang="ja-JP" altLang="en-US" sz="2400">
                <a:latin typeface="Gill Sans MT" panose="020B0502020104020203" pitchFamily="34" charset="0"/>
              </a:rPr>
              <a:t>”</a:t>
            </a:r>
            <a:endParaRPr lang="en-US" altLang="en-US" sz="2400">
              <a:latin typeface="Gill Sans MT" panose="020B0502020104020203" pitchFamily="34" charset="0"/>
            </a:endParaRPr>
          </a:p>
        </p:txBody>
      </p:sp>
      <p:grpSp>
        <p:nvGrpSpPr>
          <p:cNvPr id="182301" name="Group 86"/>
          <p:cNvGrpSpPr>
            <a:grpSpLocks/>
          </p:cNvGrpSpPr>
          <p:nvPr/>
        </p:nvGrpSpPr>
        <p:grpSpPr bwMode="auto">
          <a:xfrm flipH="1">
            <a:off x="8750301" y="5091114"/>
            <a:ext cx="925513" cy="795337"/>
            <a:chOff x="-44" y="1473"/>
            <a:chExt cx="981" cy="1105"/>
          </a:xfrm>
        </p:grpSpPr>
        <p:pic>
          <p:nvPicPr>
            <p:cNvPr id="182437" name="Picture 87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38" name="Freeform 88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2302" name="Group 89"/>
          <p:cNvGrpSpPr>
            <a:grpSpLocks/>
          </p:cNvGrpSpPr>
          <p:nvPr/>
        </p:nvGrpSpPr>
        <p:grpSpPr bwMode="auto">
          <a:xfrm>
            <a:off x="6289676" y="4244975"/>
            <a:ext cx="925513" cy="795338"/>
            <a:chOff x="-44" y="1473"/>
            <a:chExt cx="981" cy="1105"/>
          </a:xfrm>
        </p:grpSpPr>
        <p:pic>
          <p:nvPicPr>
            <p:cNvPr id="182435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2436" name="Freeform 91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3459 w 356"/>
                <a:gd name="T3" fmla="*/ 887 h 368"/>
                <a:gd name="T4" fmla="*/ 15967 w 356"/>
                <a:gd name="T5" fmla="*/ 18491 h 368"/>
                <a:gd name="T6" fmla="*/ 3519 w 356"/>
                <a:gd name="T7" fmla="*/ 2312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82303" name="Group 125"/>
          <p:cNvGrpSpPr>
            <a:grpSpLocks/>
          </p:cNvGrpSpPr>
          <p:nvPr/>
        </p:nvGrpSpPr>
        <p:grpSpPr bwMode="auto">
          <a:xfrm>
            <a:off x="8750301" y="3743325"/>
            <a:ext cx="390525" cy="641350"/>
            <a:chOff x="4140" y="429"/>
            <a:chExt cx="1425" cy="2396"/>
          </a:xfrm>
        </p:grpSpPr>
        <p:sp>
          <p:nvSpPr>
            <p:cNvPr id="182403" name="Freeform 126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404" name="Rectangle 127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405" name="Freeform 128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406" name="Freeform 129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407" name="Rectangle 130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408" name="Group 131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2433" name="AutoShape 132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434" name="AutoShape 133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409" name="Rectangle 134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410" name="Group 135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2431" name="AutoShape 136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432" name="AutoShape 137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411" name="Rectangle 138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412" name="Rectangle 139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413" name="Group 140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2429" name="AutoShape 141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430" name="AutoShape 1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414" name="Freeform 143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2415" name="Group 144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2427" name="AutoShape 145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428" name="AutoShape 146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416" name="Rectangle 147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417" name="Freeform 148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418" name="Freeform 149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419" name="Oval 150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420" name="Freeform 151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421" name="AutoShape 152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422" name="AutoShape 153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423" name="Oval 154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424" name="Oval 155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2425" name="Oval 156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426" name="Rectangle 157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82304" name="Group 158"/>
          <p:cNvGrpSpPr>
            <a:grpSpLocks/>
          </p:cNvGrpSpPr>
          <p:nvPr/>
        </p:nvGrpSpPr>
        <p:grpSpPr bwMode="auto">
          <a:xfrm>
            <a:off x="6746876" y="2230438"/>
            <a:ext cx="390525" cy="641350"/>
            <a:chOff x="4140" y="429"/>
            <a:chExt cx="1425" cy="2396"/>
          </a:xfrm>
        </p:grpSpPr>
        <p:sp>
          <p:nvSpPr>
            <p:cNvPr id="182371" name="Freeform 159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72" name="Rectangle 160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73" name="Freeform 161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74" name="Freeform 162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75" name="Rectangle 163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76" name="Group 164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2401" name="AutoShape 165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402" name="AutoShape 166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77" name="Rectangle 167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78" name="Group 168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2399" name="AutoShape 169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400" name="AutoShape 170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79" name="Rectangle 171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80" name="Rectangle 172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81" name="Group 173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2397" name="AutoShape 174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98" name="AutoShape 175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82" name="Freeform 176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2383" name="Group 177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2395" name="AutoShape 178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96" name="AutoShape 179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84" name="Rectangle 180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85" name="Freeform 181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86" name="Freeform 182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87" name="Oval 183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88" name="Freeform 184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89" name="AutoShape 185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90" name="AutoShape 186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91" name="Oval 187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92" name="Oval 188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2393" name="Oval 189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94" name="Rectangle 190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82305" name="Group 224"/>
          <p:cNvGrpSpPr>
            <a:grpSpLocks/>
          </p:cNvGrpSpPr>
          <p:nvPr/>
        </p:nvGrpSpPr>
        <p:grpSpPr bwMode="auto">
          <a:xfrm>
            <a:off x="7900989" y="968375"/>
            <a:ext cx="390525" cy="641350"/>
            <a:chOff x="4140" y="429"/>
            <a:chExt cx="1425" cy="2396"/>
          </a:xfrm>
        </p:grpSpPr>
        <p:sp>
          <p:nvSpPr>
            <p:cNvPr id="182339" name="Freeform 225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40" name="Rectangle 226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41" name="Freeform 227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42" name="Freeform 228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43" name="Rectangle 229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44" name="Group 230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2369" name="AutoShape 231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70" name="AutoShape 232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45" name="Rectangle 233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46" name="Group 234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2367" name="AutoShape 235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68" name="AutoShape 236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47" name="Rectangle 237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48" name="Rectangle 238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49" name="Group 239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2365" name="AutoShape 24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66" name="AutoShape 241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50" name="Freeform 242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2351" name="Group 243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2363" name="AutoShape 244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64" name="AutoShape 245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52" name="Rectangle 246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53" name="Freeform 247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54" name="Freeform 248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55" name="Oval 249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56" name="Freeform 250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57" name="AutoShape 251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58" name="AutoShape 252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59" name="Oval 253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60" name="Oval 254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2361" name="Oval 255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62" name="Rectangle 256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82306" name="Group 257"/>
          <p:cNvGrpSpPr>
            <a:grpSpLocks/>
          </p:cNvGrpSpPr>
          <p:nvPr/>
        </p:nvGrpSpPr>
        <p:grpSpPr bwMode="auto">
          <a:xfrm>
            <a:off x="8716964" y="2220913"/>
            <a:ext cx="390525" cy="641350"/>
            <a:chOff x="4140" y="429"/>
            <a:chExt cx="1425" cy="2396"/>
          </a:xfrm>
        </p:grpSpPr>
        <p:sp>
          <p:nvSpPr>
            <p:cNvPr id="182307" name="Freeform 258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08" name="Rectangle 259"/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09" name="Freeform 260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10" name="Freeform 261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11" name="Rectangle 262"/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12" name="Group 263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2337" name="AutoShape 264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38" name="AutoShape 265"/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13" name="Rectangle 266"/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14" name="Group 267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82335" name="AutoShape 268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36" name="AutoShape 269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15" name="Rectangle 270"/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16" name="Rectangle 271"/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82317" name="Group 272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82333" name="AutoShape 273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34" name="AutoShape 274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18" name="Freeform 275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2319" name="Group 276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82331" name="AutoShape 277"/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2332" name="AutoShape 278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82320" name="Rectangle 279"/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21" name="Freeform 280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22" name="Freeform 281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23" name="Oval 282"/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24" name="Freeform 283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325" name="AutoShape 284"/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26" name="AutoShape 285"/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27" name="Oval 286"/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28" name="Oval 287"/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82329" name="Oval 288"/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82330" name="Rectangle 289"/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C1D7E-1965-4E89-B22F-767A98A971D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8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79" grpId="0"/>
      <p:bldP spid="202780" grpId="0"/>
      <p:bldP spid="202781" grpId="0"/>
      <p:bldP spid="202782" grpId="0"/>
      <p:bldP spid="202783" grpId="0"/>
      <p:bldP spid="202784" grpId="0"/>
      <p:bldP spid="202813" grpId="0"/>
      <p:bldP spid="2028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2559</Words>
  <Application>Microsoft Office PowerPoint</Application>
  <PresentationFormat>Widescreen</PresentationFormat>
  <Paragraphs>607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MS PGothic</vt:lpstr>
      <vt:lpstr>游ゴシック</vt:lpstr>
      <vt:lpstr>Arial</vt:lpstr>
      <vt:lpstr>Calibri</vt:lpstr>
      <vt:lpstr>Calibri Light</vt:lpstr>
      <vt:lpstr>Comic Sans MS</vt:lpstr>
      <vt:lpstr>Courier New</vt:lpstr>
      <vt:lpstr>Gill Sans MT</vt:lpstr>
      <vt:lpstr>Tahoma</vt:lpstr>
      <vt:lpstr>Times New Roman</vt:lpstr>
      <vt:lpstr>Wingdings</vt:lpstr>
      <vt:lpstr>ZapfDingbats</vt:lpstr>
      <vt:lpstr>Office Theme</vt:lpstr>
      <vt:lpstr>The Application Layer</vt:lpstr>
      <vt:lpstr>Outline</vt:lpstr>
      <vt:lpstr>Some network apps</vt:lpstr>
      <vt:lpstr>Creating a network app</vt:lpstr>
      <vt:lpstr>Application architectures</vt:lpstr>
      <vt:lpstr>Client-server architecture</vt:lpstr>
      <vt:lpstr>P2P architecture</vt:lpstr>
      <vt:lpstr>Processes communicating</vt:lpstr>
      <vt:lpstr>Sockets</vt:lpstr>
      <vt:lpstr>Addressing processes</vt:lpstr>
      <vt:lpstr>App-layer protocol defines</vt:lpstr>
      <vt:lpstr>What transport service does an app need?</vt:lpstr>
      <vt:lpstr>Internet transport protocols services</vt:lpstr>
      <vt:lpstr>Web and HTTP</vt:lpstr>
      <vt:lpstr>HTTP overview</vt:lpstr>
      <vt:lpstr>HTTP overview (continued)</vt:lpstr>
      <vt:lpstr>HTTP connections</vt:lpstr>
      <vt:lpstr>Non-persistent HTTP</vt:lpstr>
      <vt:lpstr>Non-persistent HTTP (cont.)</vt:lpstr>
      <vt:lpstr>Persistent HTTP</vt:lpstr>
      <vt:lpstr>HTTP request message</vt:lpstr>
      <vt:lpstr>HTTP response message</vt:lpstr>
      <vt:lpstr>Cookies</vt:lpstr>
      <vt:lpstr>Web caches (proxy server)</vt:lpstr>
      <vt:lpstr>More about Web caching</vt:lpstr>
      <vt:lpstr>FTP: the file transfer protocol</vt:lpstr>
      <vt:lpstr>Electronic mail</vt:lpstr>
      <vt:lpstr>Electronic mail: mail servers</vt:lpstr>
      <vt:lpstr>Scenario: Alice sends message to Bob</vt:lpstr>
      <vt:lpstr>Mail access protocols</vt:lpstr>
      <vt:lpstr>DNS: domain name system</vt:lpstr>
      <vt:lpstr>DNS: services, structure </vt:lpstr>
      <vt:lpstr>DNS: a distributed, hierarchical database</vt:lpstr>
      <vt:lpstr>DNS: root name servers</vt:lpstr>
      <vt:lpstr>TLD, authoritative servers</vt:lpstr>
      <vt:lpstr>Local DNS name server</vt:lpstr>
      <vt:lpstr>DNS name  resolution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Application Layer</dc:title>
  <dc:creator>Windows User</dc:creator>
  <cp:lastModifiedBy>Windows User</cp:lastModifiedBy>
  <cp:revision>22</cp:revision>
  <dcterms:created xsi:type="dcterms:W3CDTF">2018-07-23T21:51:49Z</dcterms:created>
  <dcterms:modified xsi:type="dcterms:W3CDTF">2018-08-06T10:12:17Z</dcterms:modified>
</cp:coreProperties>
</file>