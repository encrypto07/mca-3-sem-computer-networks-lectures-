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73" r:id="rId9"/>
    <p:sldId id="266" r:id="rId10"/>
    <p:sldId id="267" r:id="rId11"/>
    <p:sldId id="258" r:id="rId12"/>
    <p:sldId id="257" r:id="rId13"/>
    <p:sldId id="259" r:id="rId14"/>
    <p:sldId id="269" r:id="rId15"/>
    <p:sldId id="270" r:id="rId16"/>
    <p:sldId id="275" r:id="rId17"/>
    <p:sldId id="276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4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34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084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45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5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03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75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3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90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82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5526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97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7539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155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79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59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5146D-6C79-429B-A6DF-F647EE7C39E9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69EB57-E2F3-4241-9A87-547AFD8A2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02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7520-32B9-49C7-AFE6-CDAB28989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82698"/>
            <a:ext cx="7766936" cy="1646302"/>
          </a:xfrm>
        </p:spPr>
        <p:txBody>
          <a:bodyPr/>
          <a:lstStyle/>
          <a:p>
            <a:r>
              <a:rPr lang="en-IN" sz="7200" dirty="0"/>
              <a:t>Creative Arts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05113-5622-4012-8E7F-943F9A1DA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555658"/>
            <a:ext cx="7766936" cy="1096899"/>
          </a:xfrm>
        </p:spPr>
        <p:txBody>
          <a:bodyPr>
            <a:noAutofit/>
          </a:bodyPr>
          <a:lstStyle/>
          <a:p>
            <a:r>
              <a:rPr lang="en-IN" sz="3200" dirty="0" err="1"/>
              <a:t>Dr.</a:t>
            </a:r>
            <a:r>
              <a:rPr lang="en-IN" sz="3200" dirty="0"/>
              <a:t> </a:t>
            </a:r>
            <a:r>
              <a:rPr lang="en-IN" sz="3200" dirty="0" err="1"/>
              <a:t>Tulika</a:t>
            </a:r>
            <a:endParaRPr lang="en-IN" sz="3200" dirty="0"/>
          </a:p>
          <a:p>
            <a:r>
              <a:rPr lang="en-IN" sz="3200" dirty="0"/>
              <a:t>Department of Computer Science and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14705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D6F6-EE34-4BB3-BF20-6A649894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creativity?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B139A-438B-4529-B695-79ADCFB58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666816" cy="3880773"/>
          </a:xfrm>
        </p:spPr>
        <p:txBody>
          <a:bodyPr>
            <a:normAutofit/>
          </a:bodyPr>
          <a:lstStyle/>
          <a:p>
            <a:r>
              <a:rPr lang="en-IN" sz="3200" dirty="0"/>
              <a:t>According to dictionary, the use of imagination or original ideas to create something</a:t>
            </a:r>
          </a:p>
          <a:p>
            <a:r>
              <a:rPr lang="en-IN" sz="3200" dirty="0"/>
              <a:t>To come up with a new, unique, original, surprising idea</a:t>
            </a:r>
          </a:p>
          <a:p>
            <a:r>
              <a:rPr lang="en-IN" sz="3200" dirty="0"/>
              <a:t>From an already existing thing</a:t>
            </a:r>
          </a:p>
          <a:p>
            <a:r>
              <a:rPr lang="en-IN" sz="3200" dirty="0"/>
              <a:t>Should prove itself that it is useful</a:t>
            </a:r>
          </a:p>
          <a:p>
            <a:endParaRPr lang="en-IN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E063F550-507B-4059-A932-054E314C9E0D}"/>
              </a:ext>
            </a:extLst>
          </p:cNvPr>
          <p:cNvSpPr/>
          <p:nvPr/>
        </p:nvSpPr>
        <p:spPr>
          <a:xfrm>
            <a:off x="10058400" y="4335978"/>
            <a:ext cx="1598676" cy="1758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783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26EF-FE6E-4443-980E-1AD5535D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55AE-3AEF-4A16-8E45-FF83ABA60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3600" dirty="0"/>
              <a:t>Research in the arts also demonstrates that when creativity is developed at an early age, its benefits are continual and are transferred to many intellectual tasks.</a:t>
            </a:r>
          </a:p>
          <a:p>
            <a:r>
              <a:rPr lang="en-IN" sz="3600" dirty="0"/>
              <a:t>Active involvement in creative arts stimulates brain connections that support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14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1E0B-23EA-427A-8DE7-EA0F3B47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Creativity and 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DD18D-EAEF-433B-AB01-4006FA9CB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914466" cy="3880773"/>
          </a:xfrm>
        </p:spPr>
        <p:txBody>
          <a:bodyPr>
            <a:normAutofit fontScale="92500" lnSpcReduction="10000"/>
          </a:bodyPr>
          <a:lstStyle/>
          <a:p>
            <a:r>
              <a:rPr lang="en-IN" sz="3200" dirty="0"/>
              <a:t>Creative ability is the skill and talent to use our imagination to create and solve</a:t>
            </a:r>
          </a:p>
          <a:p>
            <a:r>
              <a:rPr lang="en-IN" sz="3200" dirty="0"/>
              <a:t>Artistic ability includes skill and talent to create fine works of art</a:t>
            </a:r>
          </a:p>
          <a:p>
            <a:pPr lvl="1"/>
            <a:r>
              <a:rPr lang="en-IN" sz="2800" dirty="0"/>
              <a:t>Painting</a:t>
            </a:r>
          </a:p>
          <a:p>
            <a:pPr lvl="1"/>
            <a:r>
              <a:rPr lang="en-IN" sz="2800" dirty="0"/>
              <a:t>Drawing</a:t>
            </a:r>
          </a:p>
          <a:p>
            <a:pPr lvl="1"/>
            <a:r>
              <a:rPr lang="en-IN" sz="2800" dirty="0"/>
              <a:t>Sculpting</a:t>
            </a:r>
          </a:p>
          <a:p>
            <a:pPr lvl="1"/>
            <a:r>
              <a:rPr lang="en-IN" sz="2800" dirty="0"/>
              <a:t>Musical composition etc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52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A843-4416-49A1-801F-1DF12603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Creativity 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F6B2C-FACA-4146-A66F-5A7DDB737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143066" cy="4087811"/>
          </a:xfrm>
        </p:spPr>
        <p:txBody>
          <a:bodyPr>
            <a:normAutofit/>
          </a:bodyPr>
          <a:lstStyle/>
          <a:p>
            <a:r>
              <a:rPr lang="en-IN" sz="3200" dirty="0"/>
              <a:t>We are all born creative and remain creative throughout life</a:t>
            </a:r>
          </a:p>
          <a:p>
            <a:r>
              <a:rPr lang="en-IN" sz="3200" dirty="0"/>
              <a:t>Creativity manifests itself in common day to day situations </a:t>
            </a:r>
            <a:r>
              <a:rPr lang="en-IN" sz="3200" dirty="0" err="1"/>
              <a:t>ehen</a:t>
            </a:r>
            <a:r>
              <a:rPr lang="en-IN" sz="3200" dirty="0"/>
              <a:t> we face mundane problems that require effective solutions</a:t>
            </a:r>
          </a:p>
          <a:p>
            <a:r>
              <a:rPr lang="en-IN" sz="3200" dirty="0"/>
              <a:t>Creativity is mental, it’s the way a person thinks solves and finds solutions to a problem or case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20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B3EF-6E41-4805-B9FE-87E1296F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Artistic 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D0F9B-EC7F-4ABF-8BEE-A238AF51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076391" cy="4230686"/>
          </a:xfrm>
        </p:spPr>
        <p:txBody>
          <a:bodyPr/>
          <a:lstStyle/>
          <a:p>
            <a:r>
              <a:rPr lang="en-IN" sz="3200" dirty="0"/>
              <a:t>Artistic skills are born with a person, as a talent and its mostly physically assessed</a:t>
            </a:r>
          </a:p>
          <a:p>
            <a:r>
              <a:rPr lang="en-IN" sz="3200" dirty="0"/>
              <a:t>These skills might be weak as start, but can be developed and practiced to perfection</a:t>
            </a:r>
          </a:p>
          <a:p>
            <a:pPr lvl="1"/>
            <a:r>
              <a:rPr lang="en-IN" sz="2800" dirty="0"/>
              <a:t>Example – drawing and illustration</a:t>
            </a:r>
          </a:p>
          <a:p>
            <a:r>
              <a:rPr lang="en-IN" sz="3200" dirty="0"/>
              <a:t>Artistic is basically being decorative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24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3232-7F1E-46CA-9A79-20383A42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1BC3A-E279-44C4-B672-6E8E67DC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Being creative – building a house</a:t>
            </a:r>
          </a:p>
          <a:p>
            <a:r>
              <a:rPr lang="en-IN" sz="3600" dirty="0"/>
              <a:t>Being artistic – decorating a house</a:t>
            </a:r>
          </a:p>
          <a:p>
            <a:r>
              <a:rPr lang="en-IN" sz="3600" dirty="0"/>
              <a:t>Being creative – baking a yummy cake</a:t>
            </a:r>
          </a:p>
          <a:p>
            <a:r>
              <a:rPr lang="en-IN" sz="3600" dirty="0"/>
              <a:t>Being artistic – baking a pretty cake</a:t>
            </a:r>
          </a:p>
        </p:txBody>
      </p:sp>
    </p:spTree>
    <p:extLst>
      <p:ext uri="{BB962C8B-B14F-4D97-AF65-F5344CB8AC3E}">
        <p14:creationId xmlns:p14="http://schemas.microsoft.com/office/powerpoint/2010/main" val="295683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0287" y="1260347"/>
            <a:ext cx="219075" cy="489584"/>
          </a:xfrm>
          <a:custGeom>
            <a:avLst/>
            <a:gdLst/>
            <a:ahLst/>
            <a:cxnLst/>
            <a:rect l="l" t="t" r="r" b="b"/>
            <a:pathLst>
              <a:path w="219075" h="489585">
                <a:moveTo>
                  <a:pt x="31877" y="0"/>
                </a:moveTo>
                <a:lnTo>
                  <a:pt x="19126" y="14350"/>
                </a:lnTo>
                <a:lnTo>
                  <a:pt x="12750" y="34925"/>
                </a:lnTo>
                <a:lnTo>
                  <a:pt x="12750" y="55625"/>
                </a:lnTo>
                <a:lnTo>
                  <a:pt x="6375" y="77850"/>
                </a:lnTo>
                <a:lnTo>
                  <a:pt x="0" y="96900"/>
                </a:lnTo>
                <a:lnTo>
                  <a:pt x="0" y="133350"/>
                </a:lnTo>
                <a:lnTo>
                  <a:pt x="6375" y="158750"/>
                </a:lnTo>
                <a:lnTo>
                  <a:pt x="12750" y="173100"/>
                </a:lnTo>
                <a:lnTo>
                  <a:pt x="25501" y="200151"/>
                </a:lnTo>
                <a:lnTo>
                  <a:pt x="50990" y="231901"/>
                </a:lnTo>
                <a:lnTo>
                  <a:pt x="61620" y="246125"/>
                </a:lnTo>
                <a:lnTo>
                  <a:pt x="87122" y="266826"/>
                </a:lnTo>
                <a:lnTo>
                  <a:pt x="118986" y="287400"/>
                </a:lnTo>
                <a:lnTo>
                  <a:pt x="144487" y="301751"/>
                </a:lnTo>
                <a:lnTo>
                  <a:pt x="157238" y="319150"/>
                </a:lnTo>
                <a:lnTo>
                  <a:pt x="161480" y="335152"/>
                </a:lnTo>
                <a:lnTo>
                  <a:pt x="176364" y="360552"/>
                </a:lnTo>
                <a:lnTo>
                  <a:pt x="176364" y="400176"/>
                </a:lnTo>
                <a:lnTo>
                  <a:pt x="169989" y="416051"/>
                </a:lnTo>
                <a:lnTo>
                  <a:pt x="161480" y="443102"/>
                </a:lnTo>
                <a:lnTo>
                  <a:pt x="150863" y="457326"/>
                </a:lnTo>
                <a:lnTo>
                  <a:pt x="193357" y="489076"/>
                </a:lnTo>
                <a:lnTo>
                  <a:pt x="206108" y="468502"/>
                </a:lnTo>
                <a:lnTo>
                  <a:pt x="212483" y="443102"/>
                </a:lnTo>
                <a:lnTo>
                  <a:pt x="218859" y="420877"/>
                </a:lnTo>
                <a:lnTo>
                  <a:pt x="218859" y="400176"/>
                </a:lnTo>
                <a:lnTo>
                  <a:pt x="212483" y="379602"/>
                </a:lnTo>
                <a:lnTo>
                  <a:pt x="206108" y="360552"/>
                </a:lnTo>
                <a:lnTo>
                  <a:pt x="193357" y="344677"/>
                </a:lnTo>
                <a:lnTo>
                  <a:pt x="169989" y="319150"/>
                </a:lnTo>
                <a:lnTo>
                  <a:pt x="125361" y="282701"/>
                </a:lnTo>
                <a:lnTo>
                  <a:pt x="99860" y="257301"/>
                </a:lnTo>
                <a:lnTo>
                  <a:pt x="82867" y="236600"/>
                </a:lnTo>
                <a:lnTo>
                  <a:pt x="61620" y="220725"/>
                </a:lnTo>
                <a:lnTo>
                  <a:pt x="57365" y="206501"/>
                </a:lnTo>
                <a:lnTo>
                  <a:pt x="50990" y="190626"/>
                </a:lnTo>
                <a:lnTo>
                  <a:pt x="50990" y="154050"/>
                </a:lnTo>
                <a:lnTo>
                  <a:pt x="57365" y="122300"/>
                </a:lnTo>
                <a:lnTo>
                  <a:pt x="61620" y="103250"/>
                </a:lnTo>
                <a:lnTo>
                  <a:pt x="82867" y="66675"/>
                </a:lnTo>
                <a:lnTo>
                  <a:pt x="93497" y="34925"/>
                </a:lnTo>
                <a:lnTo>
                  <a:pt x="99860" y="25400"/>
                </a:lnTo>
                <a:lnTo>
                  <a:pt x="108369" y="25400"/>
                </a:lnTo>
                <a:lnTo>
                  <a:pt x="112610" y="9525"/>
                </a:lnTo>
                <a:lnTo>
                  <a:pt x="31877" y="0"/>
                </a:lnTo>
                <a:close/>
              </a:path>
            </a:pathLst>
          </a:custGeom>
          <a:solidFill>
            <a:srgbClr val="FAF9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9339" y="394462"/>
            <a:ext cx="410082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73076"/>
              <a:buFont typeface="Wingdings 2"/>
              <a:buChar char=""/>
              <a:tabLst>
                <a:tab pos="287655" algn="l"/>
              </a:tabLst>
            </a:pP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an </a:t>
            </a:r>
            <a:r>
              <a:rPr sz="2600" spc="-5" dirty="0">
                <a:solidFill>
                  <a:srgbClr val="622D61"/>
                </a:solidFill>
                <a:latin typeface="Myanmar Text"/>
                <a:cs typeface="Myanmar Text"/>
              </a:rPr>
              <a:t>artistic person can</a:t>
            </a:r>
            <a:r>
              <a:rPr sz="2600" spc="-55" dirty="0">
                <a:solidFill>
                  <a:srgbClr val="622D61"/>
                </a:solidFill>
                <a:latin typeface="Myanmar Text"/>
                <a:cs typeface="Myanmar Text"/>
              </a:rPr>
              <a:t> </a:t>
            </a: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take</a:t>
            </a:r>
            <a:endParaRPr sz="2600">
              <a:latin typeface="Myanmar Text"/>
              <a:cs typeface="Myanmar Tex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913" y="790397"/>
            <a:ext cx="374459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the alphabet and </a:t>
            </a:r>
            <a:r>
              <a:rPr sz="2600" spc="-5" dirty="0">
                <a:solidFill>
                  <a:srgbClr val="622D61"/>
                </a:solidFill>
                <a:latin typeface="Myanmar Text"/>
                <a:cs typeface="Myanmar Text"/>
              </a:rPr>
              <a:t>create</a:t>
            </a:r>
            <a:r>
              <a:rPr sz="2600" spc="-105" dirty="0">
                <a:solidFill>
                  <a:srgbClr val="622D61"/>
                </a:solidFill>
                <a:latin typeface="Myanmar Text"/>
                <a:cs typeface="Myanmar Text"/>
              </a:rPr>
              <a:t> </a:t>
            </a: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a</a:t>
            </a:r>
            <a:endParaRPr sz="2600">
              <a:latin typeface="Myanmar Text"/>
              <a:cs typeface="Myanmar Tex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913" y="1187322"/>
            <a:ext cx="28416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new typeset for</a:t>
            </a:r>
            <a:r>
              <a:rPr sz="2600" spc="-110" dirty="0">
                <a:solidFill>
                  <a:srgbClr val="622D61"/>
                </a:solidFill>
                <a:latin typeface="Myanmar Text"/>
                <a:cs typeface="Myanmar Text"/>
              </a:rPr>
              <a:t> </a:t>
            </a: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the</a:t>
            </a:r>
            <a:endParaRPr sz="2600">
              <a:latin typeface="Myanmar Text"/>
              <a:cs typeface="Myanmar Tex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3913" y="1583563"/>
            <a:ext cx="15786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622D61"/>
                </a:solidFill>
                <a:latin typeface="Myanmar Text"/>
                <a:cs typeface="Myanmar Text"/>
              </a:rPr>
              <a:t>characters.</a:t>
            </a:r>
            <a:endParaRPr sz="2600">
              <a:latin typeface="Myanmar Text"/>
              <a:cs typeface="Myanmar Tex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14719" y="433957"/>
            <a:ext cx="4038600" cy="1693545"/>
          </a:xfrm>
          <a:custGeom>
            <a:avLst/>
            <a:gdLst/>
            <a:ahLst/>
            <a:cxnLst/>
            <a:rect l="l" t="t" r="r" b="b"/>
            <a:pathLst>
              <a:path w="4038600" h="1693545">
                <a:moveTo>
                  <a:pt x="0" y="1693164"/>
                </a:moveTo>
                <a:lnTo>
                  <a:pt x="4038600" y="1693164"/>
                </a:lnTo>
                <a:lnTo>
                  <a:pt x="4038600" y="0"/>
                </a:lnTo>
                <a:lnTo>
                  <a:pt x="0" y="0"/>
                </a:lnTo>
                <a:lnTo>
                  <a:pt x="0" y="1693164"/>
                </a:lnTo>
                <a:close/>
              </a:path>
            </a:pathLst>
          </a:custGeom>
          <a:ln w="9144">
            <a:solidFill>
              <a:srgbClr val="EAE4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96000" y="451485"/>
            <a:ext cx="332612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73076"/>
              <a:buFont typeface="Wingdings 2"/>
              <a:buChar char=""/>
              <a:tabLst>
                <a:tab pos="287020" algn="l"/>
              </a:tabLst>
            </a:pP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On the other hand,</a:t>
            </a:r>
            <a:r>
              <a:rPr sz="2600" spc="-100" dirty="0">
                <a:solidFill>
                  <a:srgbClr val="622D61"/>
                </a:solidFill>
                <a:latin typeface="Myanmar Text"/>
                <a:cs typeface="Myanmar Text"/>
              </a:rPr>
              <a:t> </a:t>
            </a: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a</a:t>
            </a:r>
            <a:endParaRPr sz="2600" dirty="0">
              <a:latin typeface="Myanmar Text"/>
              <a:cs typeface="Myanmar Tex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9349" y="799158"/>
            <a:ext cx="28454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622D61"/>
                </a:solidFill>
                <a:latin typeface="Myanmar Text"/>
                <a:cs typeface="Myanmar Text"/>
              </a:rPr>
              <a:t>creative person</a:t>
            </a:r>
            <a:r>
              <a:rPr sz="2600" spc="-40" dirty="0">
                <a:solidFill>
                  <a:srgbClr val="622D61"/>
                </a:solidFill>
                <a:latin typeface="Myanmar Text"/>
                <a:cs typeface="Myanmar Text"/>
              </a:rPr>
              <a:t> </a:t>
            </a:r>
            <a:r>
              <a:rPr sz="2600" spc="-5" dirty="0">
                <a:solidFill>
                  <a:srgbClr val="622D61"/>
                </a:solidFill>
                <a:latin typeface="Myanmar Text"/>
                <a:cs typeface="Myanmar Text"/>
              </a:rPr>
              <a:t>can</a:t>
            </a:r>
            <a:endParaRPr sz="2600" dirty="0">
              <a:latin typeface="Myanmar Text"/>
              <a:cs typeface="Myanmar Tex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9511" y="1195488"/>
            <a:ext cx="25057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design </a:t>
            </a:r>
            <a:r>
              <a:rPr sz="2600" spc="-5" dirty="0">
                <a:solidFill>
                  <a:srgbClr val="622D61"/>
                </a:solidFill>
                <a:latin typeface="Myanmar Text"/>
                <a:cs typeface="Myanmar Text"/>
              </a:rPr>
              <a:t>icons</a:t>
            </a:r>
            <a:r>
              <a:rPr sz="2600" spc="-110" dirty="0">
                <a:solidFill>
                  <a:srgbClr val="622D61"/>
                </a:solidFill>
                <a:latin typeface="Myanmar Text"/>
                <a:cs typeface="Myanmar Text"/>
              </a:rPr>
              <a:t> </a:t>
            </a: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that</a:t>
            </a:r>
            <a:endParaRPr sz="2600" dirty="0">
              <a:latin typeface="Myanmar Text"/>
              <a:cs typeface="Myanmar Tex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9349" y="1622934"/>
            <a:ext cx="30105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solidFill>
                  <a:srgbClr val="622D61"/>
                </a:solidFill>
                <a:latin typeface="Myanmar Text"/>
                <a:cs typeface="Myanmar Text"/>
              </a:rPr>
              <a:t>replace </a:t>
            </a: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the</a:t>
            </a:r>
            <a:r>
              <a:rPr sz="2600" spc="-65" dirty="0">
                <a:solidFill>
                  <a:srgbClr val="622D61"/>
                </a:solidFill>
                <a:latin typeface="Myanmar Text"/>
                <a:cs typeface="Myanmar Text"/>
              </a:rPr>
              <a:t> </a:t>
            </a:r>
            <a:r>
              <a:rPr sz="2600" dirty="0">
                <a:solidFill>
                  <a:srgbClr val="622D61"/>
                </a:solidFill>
                <a:latin typeface="Myanmar Text"/>
                <a:cs typeface="Myanmar Text"/>
              </a:rPr>
              <a:t>alphabet</a:t>
            </a:r>
            <a:endParaRPr sz="2600" dirty="0">
              <a:latin typeface="Myanmar Text"/>
              <a:cs typeface="Myanmar Tex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05600" y="2243327"/>
            <a:ext cx="4817363" cy="4113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6000" y="2385987"/>
            <a:ext cx="4229100" cy="3525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3127" y="2225039"/>
            <a:ext cx="4937760" cy="41315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8200" y="2420111"/>
            <a:ext cx="4349496" cy="3543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DB36-32AF-4143-8C86-F470E20D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1485A-A1BB-4055-8F4E-DD326F89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771591" cy="4087811"/>
          </a:xfrm>
        </p:spPr>
        <p:txBody>
          <a:bodyPr>
            <a:normAutofit lnSpcReduction="10000"/>
          </a:bodyPr>
          <a:lstStyle/>
          <a:p>
            <a:r>
              <a:rPr lang="en-IN" sz="4000" dirty="0"/>
              <a:t>Art is the expression of creativity</a:t>
            </a:r>
          </a:p>
          <a:p>
            <a:r>
              <a:rPr lang="en-IN" sz="4000" dirty="0"/>
              <a:t>Artists are conduits of creativity</a:t>
            </a:r>
          </a:p>
          <a:p>
            <a:r>
              <a:rPr lang="en-IN" sz="4000" dirty="0"/>
              <a:t>We need to find ways to open the door to express our emotions and ideas</a:t>
            </a:r>
          </a:p>
          <a:p>
            <a:r>
              <a:rPr lang="en-IN" sz="4000" dirty="0"/>
              <a:t>Arts are basis of our creative expression as human being</a:t>
            </a:r>
          </a:p>
        </p:txBody>
      </p:sp>
    </p:spTree>
    <p:extLst>
      <p:ext uri="{BB962C8B-B14F-4D97-AF65-F5344CB8AC3E}">
        <p14:creationId xmlns:p14="http://schemas.microsoft.com/office/powerpoint/2010/main" val="399489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53DD2-353C-4FEA-8343-DA3150F4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Creative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0B58-CDFD-4345-A00D-317E831A0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400" dirty="0"/>
              <a:t>Defining the problem</a:t>
            </a:r>
          </a:p>
          <a:p>
            <a:r>
              <a:rPr lang="en-IN" sz="4400" dirty="0"/>
              <a:t>Generating ideas</a:t>
            </a:r>
          </a:p>
          <a:p>
            <a:r>
              <a:rPr lang="en-IN" sz="4400" dirty="0"/>
              <a:t>Selecting the best idea</a:t>
            </a:r>
          </a:p>
          <a:p>
            <a:r>
              <a:rPr lang="en-IN" sz="4400" dirty="0"/>
              <a:t>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497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70BB-D603-4FA4-883B-1D0FE543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According to AICTE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2DA8D-D0E6-4098-96D6-6909F521F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4000" dirty="0"/>
              <a:t>Every student should choose one skill related to arts </a:t>
            </a:r>
          </a:p>
          <a:p>
            <a:pPr lvl="1"/>
            <a:r>
              <a:rPr lang="en-IN" sz="3600" dirty="0"/>
              <a:t>Visual art</a:t>
            </a:r>
          </a:p>
          <a:p>
            <a:pPr lvl="1"/>
            <a:r>
              <a:rPr lang="en-IN" sz="3600" dirty="0"/>
              <a:t>Performing art</a:t>
            </a:r>
          </a:p>
          <a:p>
            <a:r>
              <a:rPr lang="en-IN" sz="4000" dirty="0"/>
              <a:t>Pursue it everyday for the duration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225668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00E1-67BE-4386-8683-501F8111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Activities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A8408-1990-48AC-8D43-095696E2B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0200"/>
            <a:ext cx="8596668" cy="4791075"/>
          </a:xfrm>
        </p:spPr>
        <p:txBody>
          <a:bodyPr>
            <a:normAutofit fontScale="92500" lnSpcReduction="10000"/>
          </a:bodyPr>
          <a:lstStyle/>
          <a:p>
            <a:r>
              <a:rPr lang="en-IN" sz="3500" dirty="0"/>
              <a:t>Painting</a:t>
            </a:r>
          </a:p>
          <a:p>
            <a:r>
              <a:rPr lang="en-IN" sz="3500" dirty="0"/>
              <a:t>Sketching</a:t>
            </a:r>
          </a:p>
          <a:p>
            <a:r>
              <a:rPr lang="en-IN" sz="3500" dirty="0"/>
              <a:t>Rangoli</a:t>
            </a:r>
          </a:p>
          <a:p>
            <a:r>
              <a:rPr lang="en-IN" sz="3500" dirty="0"/>
              <a:t>Collage making</a:t>
            </a:r>
          </a:p>
          <a:p>
            <a:r>
              <a:rPr lang="en-IN" sz="3500" dirty="0"/>
              <a:t>crafts</a:t>
            </a:r>
          </a:p>
          <a:p>
            <a:r>
              <a:rPr lang="en-IN" sz="3500" dirty="0"/>
              <a:t>Music</a:t>
            </a:r>
          </a:p>
          <a:p>
            <a:r>
              <a:rPr lang="en-IN" sz="3500" dirty="0"/>
              <a:t>Dance</a:t>
            </a:r>
          </a:p>
          <a:p>
            <a:r>
              <a:rPr lang="en-IN" sz="3500" dirty="0"/>
              <a:t>Play etc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259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98CA-39DF-41E9-85F0-41A15D684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D653-4612-4F77-B3BD-D14E002B8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000" dirty="0"/>
              <a:t>These activities allow for Creative expression</a:t>
            </a:r>
          </a:p>
          <a:p>
            <a:r>
              <a:rPr lang="en-IN" sz="4000" dirty="0"/>
              <a:t>Develop a sense of aesthetics</a:t>
            </a:r>
          </a:p>
          <a:p>
            <a:r>
              <a:rPr lang="en-IN" sz="4000" dirty="0"/>
              <a:t>Enhance creativity which will flow into engineering design later</a:t>
            </a:r>
          </a:p>
          <a:p>
            <a:endParaRPr lang="en-IN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22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E76E-6452-4B6F-ABA4-6BEA08A4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Engineering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62077-BDDC-4129-89FA-2717F3CAC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dirty="0"/>
              <a:t>The National Academy of Engineers (NAE) suggests that the essence of engineering as the iterative process of Designing, predicting, performance, building and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42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64D72-0EBD-4ACC-853A-BA8F6C32D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19069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dirty="0"/>
              <a:t>“It would seem to be our responsibility to produce some creative engineers or at least not to extinguish the creative spark in the our students.”</a:t>
            </a:r>
          </a:p>
          <a:p>
            <a:pPr marL="0" indent="0">
              <a:buNone/>
            </a:pPr>
            <a:r>
              <a:rPr lang="en-IN" sz="3600" dirty="0"/>
              <a:t>															Richard Felder</a:t>
            </a:r>
          </a:p>
        </p:txBody>
      </p:sp>
    </p:spTree>
    <p:extLst>
      <p:ext uri="{BB962C8B-B14F-4D97-AF65-F5344CB8AC3E}">
        <p14:creationId xmlns:p14="http://schemas.microsoft.com/office/powerpoint/2010/main" val="259088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DE20-079D-4476-B28B-3B892602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develop Creativity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255D4-EA7C-4F7D-A4FE-A92A3B768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4975"/>
            <a:ext cx="8596668" cy="4972050"/>
          </a:xfrm>
        </p:spPr>
        <p:txBody>
          <a:bodyPr>
            <a:normAutofit/>
          </a:bodyPr>
          <a:lstStyle/>
          <a:p>
            <a:r>
              <a:rPr lang="en-IN" sz="3200" dirty="0"/>
              <a:t>Know yourself</a:t>
            </a:r>
          </a:p>
          <a:p>
            <a:r>
              <a:rPr lang="en-IN" sz="3200" dirty="0"/>
              <a:t>Stop trying to fool yourself and others</a:t>
            </a:r>
          </a:p>
          <a:p>
            <a:r>
              <a:rPr lang="en-IN" sz="3200" dirty="0"/>
              <a:t>Carry a notebook</a:t>
            </a:r>
          </a:p>
          <a:p>
            <a:r>
              <a:rPr lang="en-IN" sz="3200" dirty="0"/>
              <a:t>Ask yourself a new question daily</a:t>
            </a:r>
          </a:p>
          <a:p>
            <a:r>
              <a:rPr lang="en-IN" sz="3200" dirty="0"/>
              <a:t>Develop craftmanship in your field</a:t>
            </a:r>
          </a:p>
          <a:p>
            <a:r>
              <a:rPr lang="en-IN" sz="3200" dirty="0"/>
              <a:t>Read, broaden your interest</a:t>
            </a:r>
          </a:p>
          <a:p>
            <a:r>
              <a:rPr lang="en-IN" sz="3200" dirty="0"/>
              <a:t>develop a sense of </a:t>
            </a:r>
            <a:r>
              <a:rPr lang="en-IN" sz="3200" dirty="0" err="1"/>
              <a:t>humor</a:t>
            </a:r>
            <a:endParaRPr lang="en-IN" sz="3200" dirty="0"/>
          </a:p>
          <a:p>
            <a:r>
              <a:rPr lang="en-IN" sz="3200" dirty="0"/>
              <a:t>Speculate and daydream</a:t>
            </a:r>
          </a:p>
        </p:txBody>
      </p:sp>
    </p:spTree>
    <p:extLst>
      <p:ext uri="{BB962C8B-B14F-4D97-AF65-F5344CB8AC3E}">
        <p14:creationId xmlns:p14="http://schemas.microsoft.com/office/powerpoint/2010/main" val="3376691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294D-CEE2-4425-8478-60DE2B6C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get good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A816D-E42D-4992-A015-538EB70E3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95400"/>
            <a:ext cx="10362142" cy="5248275"/>
          </a:xfrm>
        </p:spPr>
        <p:txBody>
          <a:bodyPr>
            <a:normAutofit fontScale="92500"/>
          </a:bodyPr>
          <a:lstStyle/>
          <a:p>
            <a:r>
              <a:rPr lang="en-IN" sz="2400" dirty="0"/>
              <a:t>For every good idea, accept to have five or ten bad or wrong or useless ideas</a:t>
            </a:r>
          </a:p>
          <a:p>
            <a:r>
              <a:rPr lang="en-IN" sz="2400" dirty="0"/>
              <a:t>Creative engineers and scientists get bad ideas along with good idea</a:t>
            </a:r>
          </a:p>
          <a:p>
            <a:r>
              <a:rPr lang="en-IN" sz="2400" dirty="0"/>
              <a:t>Take account of your personality and temperament</a:t>
            </a:r>
          </a:p>
          <a:p>
            <a:r>
              <a:rPr lang="en-IN" sz="2400" dirty="0"/>
              <a:t>Mathematics and getting good idea</a:t>
            </a:r>
          </a:p>
          <a:p>
            <a:pPr lvl="1"/>
            <a:r>
              <a:rPr lang="en-IN" sz="2000" dirty="0"/>
              <a:t>You don’t have to be a mathematics genius</a:t>
            </a:r>
          </a:p>
          <a:p>
            <a:pPr lvl="1"/>
            <a:r>
              <a:rPr lang="en-IN" sz="2000" dirty="0"/>
              <a:t>But you should be competent in mathematics</a:t>
            </a:r>
          </a:p>
          <a:p>
            <a:r>
              <a:rPr lang="en-IN" sz="2400" dirty="0"/>
              <a:t>hand on skills, laboratory skills and getting good ideas</a:t>
            </a:r>
          </a:p>
          <a:p>
            <a:r>
              <a:rPr lang="en-IN" sz="2400" dirty="0"/>
              <a:t>Visualization and getting good idea</a:t>
            </a:r>
          </a:p>
          <a:p>
            <a:pPr lvl="1"/>
            <a:r>
              <a:rPr lang="en-IN" sz="2000" dirty="0"/>
              <a:t>In Engineering and scientific works it is very crucial to visualize how the work can be accomplished</a:t>
            </a:r>
          </a:p>
          <a:p>
            <a:r>
              <a:rPr lang="en-IN" sz="2400" dirty="0"/>
              <a:t>Imagination and getting good idea</a:t>
            </a:r>
          </a:p>
          <a:p>
            <a:pPr lvl="1"/>
            <a:r>
              <a:rPr lang="en-IN" sz="2000" dirty="0"/>
              <a:t>Second crucial ability</a:t>
            </a:r>
          </a:p>
        </p:txBody>
      </p:sp>
    </p:spTree>
    <p:extLst>
      <p:ext uri="{BB962C8B-B14F-4D97-AF65-F5344CB8AC3E}">
        <p14:creationId xmlns:p14="http://schemas.microsoft.com/office/powerpoint/2010/main" val="97951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2AA7AEF2-1D44-465A-B08F-DE958B552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350963"/>
            <a:ext cx="8596312" cy="38814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3198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254</TotalTime>
  <Words>586</Words>
  <Application>Microsoft Office PowerPoint</Application>
  <PresentationFormat>Widescreen</PresentationFormat>
  <Paragraphs>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Myanmar Text</vt:lpstr>
      <vt:lpstr>Trebuchet MS</vt:lpstr>
      <vt:lpstr>Wingdings 2</vt:lpstr>
      <vt:lpstr>Wingdings 3</vt:lpstr>
      <vt:lpstr>Facet</vt:lpstr>
      <vt:lpstr>Creative Arts</vt:lpstr>
      <vt:lpstr>What is creativity?</vt:lpstr>
      <vt:lpstr>Creativity</vt:lpstr>
      <vt:lpstr>Creativity and Arts</vt:lpstr>
      <vt:lpstr>Creativity ability</vt:lpstr>
      <vt:lpstr>Artistic ability</vt:lpstr>
      <vt:lpstr>Differences</vt:lpstr>
      <vt:lpstr>PowerPoint Presentation</vt:lpstr>
      <vt:lpstr>Creativity</vt:lpstr>
      <vt:lpstr>Creative process</vt:lpstr>
      <vt:lpstr>According to AICTE </vt:lpstr>
      <vt:lpstr>Activities Include</vt:lpstr>
      <vt:lpstr>Outcome</vt:lpstr>
      <vt:lpstr>Engineering Education</vt:lpstr>
      <vt:lpstr>PowerPoint Presentation</vt:lpstr>
      <vt:lpstr>To develop Creativity</vt:lpstr>
      <vt:lpstr>How to get good idea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Arts</dc:title>
  <dc:creator>DELL</dc:creator>
  <cp:lastModifiedBy>DELL</cp:lastModifiedBy>
  <cp:revision>10</cp:revision>
  <dcterms:created xsi:type="dcterms:W3CDTF">2019-07-24T04:32:57Z</dcterms:created>
  <dcterms:modified xsi:type="dcterms:W3CDTF">2019-07-24T08:47:20Z</dcterms:modified>
</cp:coreProperties>
</file>