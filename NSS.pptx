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63" r:id="rId5"/>
    <p:sldId id="262" r:id="rId6"/>
    <p:sldId id="259" r:id="rId7"/>
    <p:sldId id="276" r:id="rId8"/>
    <p:sldId id="260" r:id="rId9"/>
    <p:sldId id="265" r:id="rId10"/>
    <p:sldId id="266" r:id="rId11"/>
    <p:sldId id="267" r:id="rId12"/>
    <p:sldId id="268" r:id="rId13"/>
    <p:sldId id="269" r:id="rId14"/>
    <p:sldId id="264" r:id="rId15"/>
    <p:sldId id="277" r:id="rId16"/>
    <p:sldId id="278" r:id="rId17"/>
    <p:sldId id="279" r:id="rId18"/>
    <p:sldId id="273" r:id="rId19"/>
    <p:sldId id="271" r:id="rId20"/>
    <p:sldId id="274"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A04C5BC-898C-4D7C-A3E5-5DB284A302C4}" type="datetimeFigureOut">
              <a:rPr lang="en-IN" smtClean="0"/>
              <a:t>06-08-2019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428637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A04C5BC-898C-4D7C-A3E5-5DB284A302C4}" type="datetimeFigureOut">
              <a:rPr lang="en-IN" smtClean="0"/>
              <a:t>06-08-2019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3577886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04C5BC-898C-4D7C-A3E5-5DB284A302C4}" type="datetimeFigureOut">
              <a:rPr lang="en-IN" smtClean="0"/>
              <a:t>06-08-2019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3224646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A04C5BC-898C-4D7C-A3E5-5DB284A302C4}" type="datetimeFigureOut">
              <a:rPr lang="en-IN" smtClean="0"/>
              <a:t>06-08-2019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3776675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A04C5BC-898C-4D7C-A3E5-5DB284A302C4}" type="datetimeFigureOut">
              <a:rPr lang="en-IN" smtClean="0"/>
              <a:t>06-08-2019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478983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A04C5BC-898C-4D7C-A3E5-5DB284A302C4}" type="datetimeFigureOut">
              <a:rPr lang="en-IN" smtClean="0"/>
              <a:t>06-08-2019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938191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04C5BC-898C-4D7C-A3E5-5DB284A302C4}" type="datetimeFigureOut">
              <a:rPr lang="en-IN" smtClean="0"/>
              <a:t>06-08-2019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3582700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04C5BC-898C-4D7C-A3E5-5DB284A302C4}" type="datetimeFigureOut">
              <a:rPr lang="en-IN" smtClean="0"/>
              <a:t>06-08-2019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2093867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04C5BC-898C-4D7C-A3E5-5DB284A302C4}" type="datetimeFigureOut">
              <a:rPr lang="en-IN" smtClean="0"/>
              <a:t>06-08-2019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4056623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A04C5BC-898C-4D7C-A3E5-5DB284A302C4}" type="datetimeFigureOut">
              <a:rPr lang="en-IN" smtClean="0"/>
              <a:t>06-08-2019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569216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A04C5BC-898C-4D7C-A3E5-5DB284A302C4}" type="datetimeFigureOut">
              <a:rPr lang="en-IN" smtClean="0"/>
              <a:t>06-08-2019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CB8890-E078-4F83-B451-E5214E341BA0}" type="slidenum">
              <a:rPr lang="en-IN" smtClean="0"/>
              <a:t>‹#›</a:t>
            </a:fld>
            <a:endParaRPr lang="en-IN"/>
          </a:p>
        </p:txBody>
      </p:sp>
    </p:spTree>
    <p:extLst>
      <p:ext uri="{BB962C8B-B14F-4D97-AF65-F5344CB8AC3E}">
        <p14:creationId xmlns:p14="http://schemas.microsoft.com/office/powerpoint/2010/main" val="638161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04C5BC-898C-4D7C-A3E5-5DB284A302C4}" type="datetimeFigureOut">
              <a:rPr lang="en-IN" smtClean="0"/>
              <a:t>06-08-2019</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CB8890-E078-4F83-B451-E5214E341BA0}" type="slidenum">
              <a:rPr lang="en-IN" smtClean="0"/>
              <a:t>‹#›</a:t>
            </a:fld>
            <a:endParaRPr lang="en-IN"/>
          </a:p>
        </p:txBody>
      </p:sp>
    </p:spTree>
    <p:extLst>
      <p:ext uri="{BB962C8B-B14F-4D97-AF65-F5344CB8AC3E}">
        <p14:creationId xmlns:p14="http://schemas.microsoft.com/office/powerpoint/2010/main" val="2670028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yas.gov.in/"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nss.du.ac.in/pdf/NSS-song.pdf" TargetMode="External"/><Relationship Id="rId2" Type="http://schemas.openxmlformats.org/officeDocument/2006/relationships/hyperlink" Target="https://nss.gov.in/"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National Service Scheme</a:t>
            </a:r>
            <a:br>
              <a:rPr lang="en-IN" dirty="0"/>
            </a:br>
            <a:endParaRPr lang="en-IN" dirty="0"/>
          </a:p>
        </p:txBody>
      </p:sp>
      <p:sp>
        <p:nvSpPr>
          <p:cNvPr id="3" name="Subtitle 2"/>
          <p:cNvSpPr>
            <a:spLocks noGrp="1"/>
          </p:cNvSpPr>
          <p:nvPr>
            <p:ph type="subTitle" idx="1"/>
          </p:nvPr>
        </p:nvSpPr>
        <p:spPr/>
        <p:txBody>
          <a:bodyPr/>
          <a:lstStyle/>
          <a:p>
            <a:endParaRPr lang="en-IN" dirty="0"/>
          </a:p>
        </p:txBody>
      </p:sp>
      <p:pic>
        <p:nvPicPr>
          <p:cNvPr id="4" name="Picture 29" descr="Home">
            <a:hlinkClick r:id="rId2" tooltip="Ministry of Youth Affairs and Sports | GoI"/>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8267" y="3668294"/>
            <a:ext cx="7137399" cy="1589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National service Sche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962" y="2516188"/>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36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IN" b="1" dirty="0" smtClean="0"/>
              <a:t/>
            </a:r>
            <a:br>
              <a:rPr lang="en-IN" b="1" dirty="0" smtClean="0"/>
            </a:br>
            <a:r>
              <a:rPr lang="en-IN" b="1" dirty="0" smtClean="0"/>
              <a:t>Introduction</a:t>
            </a:r>
            <a:br>
              <a:rPr lang="en-IN" b="1" dirty="0" smtClean="0"/>
            </a:br>
            <a:endParaRPr lang="en-IN" dirty="0"/>
          </a:p>
        </p:txBody>
      </p:sp>
      <p:sp>
        <p:nvSpPr>
          <p:cNvPr id="3" name="Content Placeholder 2"/>
          <p:cNvSpPr>
            <a:spLocks noGrp="1"/>
          </p:cNvSpPr>
          <p:nvPr>
            <p:ph idx="1"/>
          </p:nvPr>
        </p:nvSpPr>
        <p:spPr/>
        <p:txBody>
          <a:bodyPr>
            <a:normAutofit lnSpcReduction="10000"/>
          </a:bodyPr>
          <a:lstStyle/>
          <a:p>
            <a:pPr algn="just"/>
            <a:endParaRPr lang="en-IN" dirty="0" smtClean="0"/>
          </a:p>
          <a:p>
            <a:pPr marL="0" indent="0" algn="just">
              <a:buNone/>
            </a:pPr>
            <a:r>
              <a:rPr lang="en-IN" dirty="0" smtClean="0"/>
              <a:t>National </a:t>
            </a:r>
            <a:r>
              <a:rPr lang="en-IN" dirty="0"/>
              <a:t>Service Scheme (NSS) was introduced in 1969 with the primary objective of developing the personality and character of the student youth through voluntary community service. </a:t>
            </a:r>
            <a:endParaRPr lang="en-IN" dirty="0" smtClean="0"/>
          </a:p>
          <a:p>
            <a:pPr marL="0" indent="0" algn="just">
              <a:buNone/>
            </a:pPr>
            <a:r>
              <a:rPr lang="en-IN" dirty="0" smtClean="0"/>
              <a:t>‘</a:t>
            </a:r>
            <a:r>
              <a:rPr lang="en-IN" b="1" dirty="0"/>
              <a:t>Education through Service</a:t>
            </a:r>
            <a:r>
              <a:rPr lang="en-IN" dirty="0"/>
              <a:t>’ is the purpose of the NSS</a:t>
            </a:r>
            <a:r>
              <a:rPr lang="en-IN" dirty="0" smtClean="0"/>
              <a:t>.</a:t>
            </a:r>
          </a:p>
          <a:p>
            <a:pPr marL="0" indent="0" algn="just">
              <a:buNone/>
            </a:pPr>
            <a:r>
              <a:rPr lang="en-IN" dirty="0" smtClean="0"/>
              <a:t> </a:t>
            </a:r>
            <a:r>
              <a:rPr lang="en-IN" dirty="0"/>
              <a:t>The ideological orientation of the NSS is inspired by the ideals of Mahatma Gandhi</a:t>
            </a:r>
            <a:r>
              <a:rPr lang="en-IN" dirty="0" smtClean="0"/>
              <a:t>.</a:t>
            </a:r>
            <a:r>
              <a:rPr lang="en-IN" dirty="0" smtClean="0"/>
              <a:t> NSS attempts to establish meaningful linkages between ‘Campus and Community’, ‘College and Village’ and ‘Knowledge and Action’.</a:t>
            </a:r>
          </a:p>
          <a:p>
            <a:pPr marL="0" indent="0" algn="just">
              <a:buNone/>
            </a:pPr>
            <a:r>
              <a:rPr lang="en-IN" dirty="0" smtClean="0"/>
              <a:t> </a:t>
            </a: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6715" y="604838"/>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0895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a:t>
            </a:r>
            <a:r>
              <a:rPr lang="en-IN" dirty="0" smtClean="0"/>
              <a:t>otto of NSS</a:t>
            </a:r>
            <a:endParaRPr lang="en-IN" dirty="0"/>
          </a:p>
        </p:txBody>
      </p:sp>
      <p:sp>
        <p:nvSpPr>
          <p:cNvPr id="3" name="Content Placeholder 2"/>
          <p:cNvSpPr>
            <a:spLocks noGrp="1"/>
          </p:cNvSpPr>
          <p:nvPr>
            <p:ph idx="1"/>
          </p:nvPr>
        </p:nvSpPr>
        <p:spPr/>
        <p:txBody>
          <a:bodyPr/>
          <a:lstStyle/>
          <a:p>
            <a:pPr marL="0" indent="0">
              <a:buNone/>
            </a:pPr>
            <a:endParaRPr lang="en-IN" dirty="0" smtClean="0"/>
          </a:p>
          <a:p>
            <a:pPr marL="0" indent="0">
              <a:buNone/>
            </a:pPr>
            <a:endParaRPr lang="en-IN" dirty="0" smtClean="0"/>
          </a:p>
          <a:p>
            <a:pPr marL="0" indent="0">
              <a:buNone/>
            </a:pPr>
            <a:r>
              <a:rPr lang="en-IN" dirty="0" smtClean="0"/>
              <a:t>Very appropriately, the motto of NSS is</a:t>
            </a:r>
          </a:p>
          <a:p>
            <a:pPr marL="0" indent="0" algn="ctr">
              <a:buNone/>
            </a:pPr>
            <a:r>
              <a:rPr lang="en-IN" dirty="0" smtClean="0"/>
              <a:t> </a:t>
            </a:r>
            <a:r>
              <a:rPr lang="en-IN" sz="4000" b="1" dirty="0" smtClean="0"/>
              <a:t>“NOT ME, BUT YOU”. </a:t>
            </a:r>
          </a:p>
          <a:p>
            <a:pPr marL="0" indent="0">
              <a:buNone/>
            </a:pPr>
            <a:endParaRPr lang="en-IN" dirty="0" smtClean="0"/>
          </a:p>
          <a:p>
            <a:pPr marL="0" indent="0">
              <a:buNone/>
            </a:pPr>
            <a:r>
              <a:rPr lang="en-IN" dirty="0" smtClean="0"/>
              <a:t>An NSS volunteer places the </a:t>
            </a:r>
            <a:r>
              <a:rPr lang="en-IN" b="1" dirty="0" smtClean="0"/>
              <a:t>‘community’</a:t>
            </a:r>
            <a:r>
              <a:rPr lang="en-IN" dirty="0" smtClean="0"/>
              <a:t> before </a:t>
            </a:r>
            <a:r>
              <a:rPr lang="en-IN" b="1" dirty="0" smtClean="0"/>
              <a:t>‘self’.</a:t>
            </a:r>
            <a:endParaRPr lang="en-IN" dirty="0" smtClean="0"/>
          </a:p>
          <a:p>
            <a:pPr marL="0" indent="0">
              <a:buNone/>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3835" y="484981"/>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1021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 NSS Badge Proud to Serve the Nation</a:t>
            </a:r>
            <a:r>
              <a:rPr lang="en-IN" dirty="0"/>
              <a:t>:</a:t>
            </a:r>
          </a:p>
        </p:txBody>
      </p:sp>
      <p:sp>
        <p:nvSpPr>
          <p:cNvPr id="3" name="Content Placeholder 2"/>
          <p:cNvSpPr>
            <a:spLocks noGrp="1"/>
          </p:cNvSpPr>
          <p:nvPr>
            <p:ph sz="half" idx="1"/>
          </p:nvPr>
        </p:nvSpPr>
        <p:spPr>
          <a:xfrm>
            <a:off x="1404851" y="2576945"/>
            <a:ext cx="4082934" cy="3600018"/>
          </a:xfrm>
        </p:spPr>
        <p:txBody>
          <a:bodyPr>
            <a:normAutofit fontScale="85000" lnSpcReduction="20000"/>
          </a:bodyPr>
          <a:lstStyle/>
          <a:p>
            <a:pPr marL="0" indent="0">
              <a:buNone/>
            </a:pPr>
            <a:endParaRPr lang="en-IN" dirty="0"/>
          </a:p>
        </p:txBody>
      </p:sp>
      <p:sp>
        <p:nvSpPr>
          <p:cNvPr id="4" name="Content Placeholder 3"/>
          <p:cNvSpPr>
            <a:spLocks noGrp="1"/>
          </p:cNvSpPr>
          <p:nvPr>
            <p:ph sz="half" idx="2"/>
          </p:nvPr>
        </p:nvSpPr>
        <p:spPr>
          <a:xfrm>
            <a:off x="4995949" y="1825625"/>
            <a:ext cx="6357851" cy="4351338"/>
          </a:xfrm>
        </p:spPr>
        <p:txBody>
          <a:bodyPr>
            <a:normAutofit fontScale="85000" lnSpcReduction="20000"/>
          </a:bodyPr>
          <a:lstStyle/>
          <a:p>
            <a:pPr algn="just">
              <a:buFont typeface="Wingdings" panose="05000000000000000000" pitchFamily="2" charset="2"/>
              <a:buChar char="Ø"/>
            </a:pPr>
            <a:r>
              <a:rPr lang="en-IN" dirty="0"/>
              <a:t>All the youth volunteers who opt to serve the nation through the NSS led community service wear the NSS badge with pride and a sense of responsibility towards helping needy.</a:t>
            </a:r>
          </a:p>
          <a:p>
            <a:pPr algn="just">
              <a:buFont typeface="Wingdings" panose="05000000000000000000" pitchFamily="2" charset="2"/>
              <a:buChar char="Ø"/>
            </a:pPr>
            <a:r>
              <a:rPr lang="en-IN" dirty="0"/>
              <a:t>The </a:t>
            </a:r>
            <a:r>
              <a:rPr lang="en-IN" dirty="0" err="1"/>
              <a:t>Konark</a:t>
            </a:r>
            <a:r>
              <a:rPr lang="en-IN" dirty="0"/>
              <a:t> wheel in the NSS badge having 8 bars signifies the 24 hours of a the day, reminding the wearer to be ready for the service of the nation round the clock i.e. for 24 hours.</a:t>
            </a:r>
          </a:p>
          <a:p>
            <a:pPr algn="just">
              <a:buFont typeface="Wingdings" panose="05000000000000000000" pitchFamily="2" charset="2"/>
              <a:buChar char="Ø"/>
            </a:pPr>
            <a:r>
              <a:rPr lang="en-IN" dirty="0"/>
              <a:t>Red colour in the badge signifies energy and spirit displayed by the NSS volunteers.</a:t>
            </a:r>
          </a:p>
          <a:p>
            <a:pPr algn="just">
              <a:buFont typeface="Wingdings" panose="05000000000000000000" pitchFamily="2" charset="2"/>
              <a:buChar char="Ø"/>
            </a:pPr>
            <a:r>
              <a:rPr lang="en-IN" dirty="0"/>
              <a:t>The Blue colour signifies the cosmos of which the NSS is a tiny part, ready to contribute its share for the welfare of the mankind.</a:t>
            </a:r>
          </a:p>
          <a:p>
            <a:pPr>
              <a:buFont typeface="Wingdings" panose="05000000000000000000" pitchFamily="2" charset="2"/>
              <a:buChar char="Ø"/>
            </a:pPr>
            <a:endParaRPr lang="en-IN" dirty="0"/>
          </a:p>
        </p:txBody>
      </p:sp>
      <p:pic>
        <p:nvPicPr>
          <p:cNvPr id="4098" name="Picture 2"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895" y="1825625"/>
            <a:ext cx="4071852" cy="3511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4001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0" i="0" dirty="0" smtClean="0">
                <a:effectLst/>
                <a:latin typeface="Open Sans"/>
              </a:rPr>
              <a:t>NSS Logo</a:t>
            </a:r>
            <a:br>
              <a:rPr lang="en-IN" b="0" i="0" dirty="0" smtClean="0">
                <a:effectLst/>
                <a:latin typeface="Open Sans"/>
              </a:rPr>
            </a:br>
            <a:endParaRPr lang="en-IN" dirty="0"/>
          </a:p>
        </p:txBody>
      </p:sp>
      <p:pic>
        <p:nvPicPr>
          <p:cNvPr id="2054" name="Picture 6" descr="National service Schem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28278"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39833" y="2516045"/>
            <a:ext cx="10750520" cy="2677656"/>
          </a:xfrm>
          <a:prstGeom prst="rect">
            <a:avLst/>
          </a:prstGeom>
        </p:spPr>
        <p:txBody>
          <a:bodyPr wrap="square">
            <a:spAutoFit/>
          </a:bodyPr>
          <a:lstStyle/>
          <a:p>
            <a:pPr algn="just"/>
            <a:r>
              <a:rPr lang="en-IN" sz="2400" b="0" i="0" dirty="0" smtClean="0">
                <a:solidFill>
                  <a:srgbClr val="000000"/>
                </a:solidFill>
                <a:effectLst/>
              </a:rPr>
              <a:t>The logo for the NSS has been based on the giant </a:t>
            </a:r>
            <a:r>
              <a:rPr lang="en-IN" sz="2400" b="0" i="0" dirty="0" err="1" smtClean="0">
                <a:solidFill>
                  <a:srgbClr val="000000"/>
                </a:solidFill>
                <a:effectLst/>
              </a:rPr>
              <a:t>Rath</a:t>
            </a:r>
            <a:r>
              <a:rPr lang="en-IN" sz="2400" b="0" i="0" dirty="0" smtClean="0">
                <a:solidFill>
                  <a:srgbClr val="000000"/>
                </a:solidFill>
                <a:effectLst/>
              </a:rPr>
              <a:t> Wheel of the world famous </a:t>
            </a:r>
            <a:r>
              <a:rPr lang="en-IN" sz="2400" b="0" i="0" dirty="0" err="1" smtClean="0">
                <a:solidFill>
                  <a:srgbClr val="000000"/>
                </a:solidFill>
                <a:effectLst/>
              </a:rPr>
              <a:t>Konark</a:t>
            </a:r>
            <a:r>
              <a:rPr lang="en-IN" sz="2400" b="0" i="0" dirty="0" smtClean="0">
                <a:solidFill>
                  <a:srgbClr val="000000"/>
                </a:solidFill>
                <a:effectLst/>
              </a:rPr>
              <a:t> Sun Temple (The Black Pagoda) situated in Orissa, India. The Red &amp; Blue </a:t>
            </a:r>
            <a:r>
              <a:rPr lang="en-IN" sz="2400" b="0" i="0" dirty="0" err="1" smtClean="0">
                <a:solidFill>
                  <a:srgbClr val="000000"/>
                </a:solidFill>
                <a:effectLst/>
              </a:rPr>
              <a:t>colors</a:t>
            </a:r>
            <a:r>
              <a:rPr lang="en-IN" sz="2400" b="0" i="0" dirty="0" smtClean="0">
                <a:solidFill>
                  <a:srgbClr val="000000"/>
                </a:solidFill>
                <a:effectLst/>
              </a:rPr>
              <a:t> contained in the logo motivate the NSS Volunteers to be active &amp; energetic for the nation-building social activities. The wheel portrays the cycle of creation, preservation and release and signifies the movement in life across time and space, The wheel thus stands for continuity as well as change and implies the continuous striving of NSS for social change.</a:t>
            </a:r>
            <a:endParaRPr lang="en-IN" sz="2400" b="0" i="0" dirty="0">
              <a:solidFill>
                <a:srgbClr val="000000"/>
              </a:solidFill>
              <a:effectLst/>
            </a:endParaRPr>
          </a:p>
        </p:txBody>
      </p:sp>
    </p:spTree>
    <p:extLst>
      <p:ext uri="{BB962C8B-B14F-4D97-AF65-F5344CB8AC3E}">
        <p14:creationId xmlns:p14="http://schemas.microsoft.com/office/powerpoint/2010/main" val="1369803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smtClean="0"/>
              <a:t/>
            </a:r>
            <a:br>
              <a:rPr lang="en-IN" b="1" dirty="0" smtClean="0"/>
            </a:br>
            <a:r>
              <a:rPr lang="en-IN" b="1" dirty="0"/>
              <a:t/>
            </a:r>
            <a:br>
              <a:rPr lang="en-IN" b="1" dirty="0"/>
            </a:br>
            <a:r>
              <a:rPr lang="en-IN" b="1" dirty="0" smtClean="0"/>
              <a:t>Objectives of NSS</a:t>
            </a:r>
            <a:r>
              <a:rPr lang="en-IN" dirty="0" smtClean="0"/>
              <a:t/>
            </a:r>
            <a:br>
              <a:rPr lang="en-IN" dirty="0" smtClean="0"/>
            </a:br>
            <a:r>
              <a:rPr lang="en-IN" dirty="0" smtClean="0"/>
              <a:t/>
            </a:r>
            <a:br>
              <a:rPr lang="en-IN" dirty="0" smtClean="0"/>
            </a:b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smtClean="0"/>
              <a:t>NSS </a:t>
            </a:r>
            <a:r>
              <a:rPr lang="en-IN" dirty="0"/>
              <a:t>aims at developing the following qualities/ competencies among the volunteers:</a:t>
            </a:r>
          </a:p>
          <a:p>
            <a:pPr>
              <a:buFont typeface="Wingdings" panose="05000000000000000000" pitchFamily="2" charset="2"/>
              <a:buChar char="Ø"/>
            </a:pPr>
            <a:r>
              <a:rPr lang="en-IN" dirty="0" smtClean="0"/>
              <a:t> </a:t>
            </a:r>
            <a:r>
              <a:rPr lang="en-IN" dirty="0"/>
              <a:t>To understand the community in which the NSS volunteers work and to understand themselves in relation to their community</a:t>
            </a:r>
            <a:r>
              <a:rPr lang="en-IN" dirty="0" smtClean="0"/>
              <a:t>;</a:t>
            </a:r>
          </a:p>
          <a:p>
            <a:pPr>
              <a:buFont typeface="Wingdings" panose="05000000000000000000" pitchFamily="2" charset="2"/>
              <a:buChar char="Ø"/>
            </a:pPr>
            <a:r>
              <a:rPr lang="en-IN" dirty="0" smtClean="0"/>
              <a:t>To </a:t>
            </a:r>
            <a:r>
              <a:rPr lang="en-IN" dirty="0"/>
              <a:t>identify the needs and problems of the community and involve themselves in problem-solving exercise</a:t>
            </a:r>
            <a:r>
              <a:rPr lang="en-IN" dirty="0" smtClean="0"/>
              <a:t>;</a:t>
            </a:r>
          </a:p>
          <a:p>
            <a:pPr>
              <a:buFont typeface="Wingdings" panose="05000000000000000000" pitchFamily="2" charset="2"/>
              <a:buChar char="Ø"/>
            </a:pPr>
            <a:r>
              <a:rPr lang="en-IN" dirty="0" smtClean="0"/>
              <a:t>To </a:t>
            </a:r>
            <a:r>
              <a:rPr lang="en-IN" dirty="0"/>
              <a:t>develop among themselves a sense of social and civic responsibility</a:t>
            </a:r>
            <a:r>
              <a:rPr lang="en-IN" dirty="0" smtClean="0"/>
              <a:t>;</a:t>
            </a:r>
          </a:p>
          <a:p>
            <a:pPr>
              <a:buFont typeface="Wingdings" panose="05000000000000000000" pitchFamily="2" charset="2"/>
              <a:buChar char="Ø"/>
            </a:pPr>
            <a:r>
              <a:rPr lang="en-IN" dirty="0" smtClean="0"/>
              <a:t>To </a:t>
            </a:r>
            <a:r>
              <a:rPr lang="en-IN" dirty="0"/>
              <a:t>utilize their knowledge in finding practical solutions to individual and community problems</a:t>
            </a:r>
            <a:r>
              <a:rPr lang="en-IN" dirty="0" smtClean="0"/>
              <a:t>;</a:t>
            </a:r>
          </a:p>
          <a:p>
            <a:pPr>
              <a:buFont typeface="Wingdings" panose="05000000000000000000" pitchFamily="2" charset="2"/>
              <a:buChar char="Ø"/>
            </a:pPr>
            <a:r>
              <a:rPr lang="en-IN" dirty="0" smtClean="0"/>
              <a:t>To </a:t>
            </a:r>
            <a:r>
              <a:rPr lang="en-IN" dirty="0"/>
              <a:t>gain skills in mobilizing community participation</a:t>
            </a:r>
            <a:r>
              <a:rPr lang="en-IN" dirty="0" smtClean="0"/>
              <a:t>;</a:t>
            </a:r>
          </a:p>
          <a:p>
            <a:pPr>
              <a:buFont typeface="Wingdings" panose="05000000000000000000" pitchFamily="2" charset="2"/>
              <a:buChar char="Ø"/>
            </a:pPr>
            <a:r>
              <a:rPr lang="en-IN" dirty="0" smtClean="0"/>
              <a:t>To </a:t>
            </a:r>
            <a:r>
              <a:rPr lang="en-IN" dirty="0"/>
              <a:t>acquire leadership qualities and democratic </a:t>
            </a:r>
            <a:r>
              <a:rPr lang="en-IN" dirty="0" smtClean="0"/>
              <a:t>values;</a:t>
            </a:r>
          </a:p>
          <a:p>
            <a:pPr>
              <a:buFont typeface="Wingdings" panose="05000000000000000000" pitchFamily="2" charset="2"/>
              <a:buChar char="Ø"/>
            </a:pPr>
            <a:r>
              <a:rPr lang="en-IN" dirty="0" smtClean="0"/>
              <a:t>To </a:t>
            </a:r>
            <a:r>
              <a:rPr lang="en-IN" dirty="0"/>
              <a:t>develop capacity to meet emergencies and natural disasters; </a:t>
            </a:r>
            <a:r>
              <a:rPr lang="en-IN" dirty="0" smtClean="0"/>
              <a:t>and</a:t>
            </a:r>
          </a:p>
          <a:p>
            <a:pPr>
              <a:buFont typeface="Wingdings" panose="05000000000000000000" pitchFamily="2" charset="2"/>
              <a:buChar char="Ø"/>
            </a:pPr>
            <a:r>
              <a:rPr lang="en-IN" dirty="0" smtClean="0"/>
              <a:t>To </a:t>
            </a:r>
            <a:r>
              <a:rPr lang="en-IN" dirty="0"/>
              <a:t>practice national integration and social harmony.</a:t>
            </a:r>
          </a:p>
          <a:p>
            <a:pPr>
              <a:buFont typeface="Wingdings" panose="05000000000000000000" pitchFamily="2" charset="2"/>
              <a:buChar char="Ø"/>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8155"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9566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NSS Day</a:t>
            </a:r>
            <a:endParaRPr lang="en-IN" dirty="0"/>
          </a:p>
        </p:txBody>
      </p:sp>
      <p:sp>
        <p:nvSpPr>
          <p:cNvPr id="3" name="Content Placeholder 2"/>
          <p:cNvSpPr>
            <a:spLocks noGrp="1"/>
          </p:cNvSpPr>
          <p:nvPr>
            <p:ph idx="1"/>
          </p:nvPr>
        </p:nvSpPr>
        <p:spPr/>
        <p:txBody>
          <a:bodyPr/>
          <a:lstStyle/>
          <a:p>
            <a:pPr marL="0" indent="0">
              <a:buNone/>
            </a:pPr>
            <a:r>
              <a:rPr lang="en-IN" dirty="0"/>
              <a:t/>
            </a:r>
            <a:br>
              <a:rPr lang="en-IN" dirty="0"/>
            </a:br>
            <a:endParaRPr lang="en-IN" dirty="0"/>
          </a:p>
          <a:p>
            <a:pPr marL="0" indent="0" algn="just">
              <a:buNone/>
            </a:pPr>
            <a:r>
              <a:rPr lang="en-IN" dirty="0"/>
              <a:t>NSS was formally launched on 24th September, 1969, the birth centenary year of the father of the Nation. Therefore , 24 September is celebrated every year as NSS Day with appropriate programmes and activities.</a:t>
            </a:r>
          </a:p>
          <a:p>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5027" y="484981"/>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6470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Benefits of Being a NSS Volunteer</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IN" dirty="0" smtClean="0"/>
              <a:t>A </a:t>
            </a:r>
            <a:r>
              <a:rPr lang="en-IN" dirty="0"/>
              <a:t>NSS volunteer who takes part in the community service programme would either be a college level or a senior secondary level student. Being an active member these student volunteers would have the exposure and experience to be the following:</a:t>
            </a:r>
          </a:p>
          <a:p>
            <a:pPr algn="just">
              <a:buFont typeface="Wingdings" panose="05000000000000000000" pitchFamily="2" charset="2"/>
              <a:buChar char="Ø"/>
            </a:pPr>
            <a:r>
              <a:rPr lang="en-IN" dirty="0"/>
              <a:t>an accomplished social leader</a:t>
            </a:r>
          </a:p>
          <a:p>
            <a:pPr algn="just">
              <a:buFont typeface="Wingdings" panose="05000000000000000000" pitchFamily="2" charset="2"/>
              <a:buChar char="Ø"/>
            </a:pPr>
            <a:r>
              <a:rPr lang="en-IN" dirty="0"/>
              <a:t>an efficient administrator</a:t>
            </a:r>
          </a:p>
          <a:p>
            <a:pPr algn="just">
              <a:buFont typeface="Wingdings" panose="05000000000000000000" pitchFamily="2" charset="2"/>
              <a:buChar char="Ø"/>
            </a:pPr>
            <a:r>
              <a:rPr lang="en-IN" dirty="0"/>
              <a:t>a person who understands human nature</a:t>
            </a:r>
          </a:p>
          <a:p>
            <a:pPr marL="0" indent="0">
              <a:buNone/>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8155" y="230188"/>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7213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Major </a:t>
            </a:r>
            <a:r>
              <a:rPr lang="en-IN" b="1" dirty="0" smtClean="0"/>
              <a:t>Activities</a:t>
            </a:r>
            <a:endParaRPr lang="en-IN" dirty="0"/>
          </a:p>
        </p:txBody>
      </p:sp>
      <p:sp>
        <p:nvSpPr>
          <p:cNvPr id="3" name="Content Placeholder 2"/>
          <p:cNvSpPr>
            <a:spLocks noGrp="1"/>
          </p:cNvSpPr>
          <p:nvPr>
            <p:ph idx="1"/>
          </p:nvPr>
        </p:nvSpPr>
        <p:spPr/>
        <p:txBody>
          <a:bodyPr/>
          <a:lstStyle/>
          <a:p>
            <a:endParaRPr lang="en-IN" b="1" dirty="0" smtClean="0"/>
          </a:p>
          <a:p>
            <a:endParaRPr lang="en-IN" b="1" dirty="0"/>
          </a:p>
          <a:p>
            <a:r>
              <a:rPr lang="en-IN" b="1" dirty="0" smtClean="0"/>
              <a:t>National </a:t>
            </a:r>
            <a:r>
              <a:rPr lang="en-IN" b="1" dirty="0"/>
              <a:t>Integration Camp (NIC</a:t>
            </a:r>
            <a:r>
              <a:rPr lang="en-IN" b="1" dirty="0" smtClean="0"/>
              <a:t>)</a:t>
            </a:r>
          </a:p>
          <a:p>
            <a:r>
              <a:rPr lang="en-IN" b="1" dirty="0"/>
              <a:t>Adventure </a:t>
            </a:r>
            <a:r>
              <a:rPr lang="en-IN" b="1" dirty="0" smtClean="0"/>
              <a:t>Program</a:t>
            </a:r>
          </a:p>
          <a:p>
            <a:r>
              <a:rPr lang="en-IN" b="1" dirty="0"/>
              <a:t>NSS Republic Day Parade </a:t>
            </a:r>
            <a:r>
              <a:rPr lang="en-IN" b="1" dirty="0" smtClean="0"/>
              <a:t>Camp</a:t>
            </a:r>
          </a:p>
          <a:p>
            <a:r>
              <a:rPr lang="en-IN" b="1" dirty="0"/>
              <a:t>National Youth </a:t>
            </a:r>
            <a:r>
              <a:rPr lang="en-IN" b="1" dirty="0" smtClean="0"/>
              <a:t>Festivals</a:t>
            </a:r>
          </a:p>
          <a:p>
            <a:r>
              <a:rPr lang="en-IN" b="1" dirty="0"/>
              <a:t>National Service Scheme Award</a:t>
            </a: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6714" y="484981"/>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5324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National Integration Camp (NIC</a:t>
            </a:r>
            <a:r>
              <a:rPr lang="en-IN" b="1" dirty="0" smtClean="0"/>
              <a:t>)</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a:t>The National Integration Camp (NIC) is organized every year and the duration of each camp is of 7 days with day-night boarding &amp; lodging. These camps are held in different parts of the country. Each camp involves 200 NSS volunteers to undertake the scheduled activities.</a:t>
            </a:r>
          </a:p>
          <a:p>
            <a:pPr marL="0" indent="0">
              <a:buNone/>
            </a:pPr>
            <a:r>
              <a:rPr lang="en-IN" b="1" dirty="0"/>
              <a:t>Objectives of the National Integration Camp</a:t>
            </a:r>
            <a:endParaRPr lang="en-IN" dirty="0"/>
          </a:p>
          <a:p>
            <a:pPr marL="0" indent="0">
              <a:buNone/>
            </a:pPr>
            <a:r>
              <a:rPr lang="en-IN" dirty="0"/>
              <a:t>Make the NSS volunteers aware of the following:</a:t>
            </a:r>
          </a:p>
          <a:p>
            <a:pPr>
              <a:buFont typeface="Wingdings" panose="05000000000000000000" pitchFamily="2" charset="2"/>
              <a:buChar char="Ø"/>
            </a:pPr>
            <a:r>
              <a:rPr lang="en-IN" dirty="0"/>
              <a:t>Rich cultural diversity of India</a:t>
            </a:r>
          </a:p>
          <a:p>
            <a:pPr>
              <a:buFont typeface="Wingdings" panose="05000000000000000000" pitchFamily="2" charset="2"/>
              <a:buChar char="Ø"/>
            </a:pPr>
            <a:r>
              <a:rPr lang="en-IN" dirty="0"/>
              <a:t>History of our diversified culture</a:t>
            </a:r>
          </a:p>
          <a:p>
            <a:pPr>
              <a:buFont typeface="Wingdings" panose="05000000000000000000" pitchFamily="2" charset="2"/>
              <a:buChar char="Ø"/>
            </a:pPr>
            <a:r>
              <a:rPr lang="en-IN" dirty="0"/>
              <a:t>National pride through knowledge about India</a:t>
            </a:r>
          </a:p>
          <a:p>
            <a:pPr>
              <a:buFont typeface="Wingdings" panose="05000000000000000000" pitchFamily="2" charset="2"/>
              <a:buChar char="Ø"/>
            </a:pPr>
            <a:r>
              <a:rPr lang="en-IN" dirty="0"/>
              <a:t>To integrate the nation through social service</a:t>
            </a:r>
          </a:p>
          <a:p>
            <a:pPr marL="0" indent="0">
              <a:buNone/>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2351" y="484981"/>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1035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Adventure </a:t>
            </a:r>
            <a:r>
              <a:rPr lang="en-IN" b="1" dirty="0" smtClean="0"/>
              <a:t>Program</a:t>
            </a:r>
            <a:endParaRPr lang="en-IN" dirty="0"/>
          </a:p>
        </p:txBody>
      </p:sp>
      <p:sp>
        <p:nvSpPr>
          <p:cNvPr id="3" name="Content Placeholder 2"/>
          <p:cNvSpPr>
            <a:spLocks noGrp="1"/>
          </p:cNvSpPr>
          <p:nvPr>
            <p:ph idx="1"/>
          </p:nvPr>
        </p:nvSpPr>
        <p:spPr/>
        <p:txBody>
          <a:bodyPr>
            <a:normAutofit fontScale="85000" lnSpcReduction="10000"/>
          </a:bodyPr>
          <a:lstStyle/>
          <a:p>
            <a:pPr marL="0" indent="0" algn="just">
              <a:buNone/>
            </a:pPr>
            <a:r>
              <a:rPr lang="en-IN" dirty="0"/>
              <a:t>The camps are held every year which are attended by approximately 1500 NSS volunteers with at least 50% of the volunteers being girl students. These camps are conducted in Himalayan Region in the North and Arunachal Pradesh in North East region. The adventure activities undertaken in these camps includes trekking of mountains, water rafting, Para-sailing and basic skiing.</a:t>
            </a:r>
          </a:p>
          <a:p>
            <a:pPr marL="0" indent="0">
              <a:buNone/>
            </a:pPr>
            <a:r>
              <a:rPr lang="en-IN" b="1" dirty="0"/>
              <a:t>Objectives of Adventure Program</a:t>
            </a:r>
            <a:endParaRPr lang="en-IN" dirty="0"/>
          </a:p>
          <a:p>
            <a:pPr>
              <a:buFont typeface="Wingdings" panose="05000000000000000000" pitchFamily="2" charset="2"/>
              <a:buChar char="Ø"/>
            </a:pPr>
            <a:r>
              <a:rPr lang="en-IN" dirty="0"/>
              <a:t>Promote various adventure activities among NSS volunteers</a:t>
            </a:r>
          </a:p>
          <a:p>
            <a:pPr>
              <a:buFont typeface="Wingdings" panose="05000000000000000000" pitchFamily="2" charset="2"/>
              <a:buChar char="Ø"/>
            </a:pPr>
            <a:r>
              <a:rPr lang="en-IN" dirty="0"/>
              <a:t>Infuse the sense of love towards the various regions of India</a:t>
            </a:r>
          </a:p>
          <a:p>
            <a:pPr>
              <a:buFont typeface="Wingdings" panose="05000000000000000000" pitchFamily="2" charset="2"/>
              <a:buChar char="Ø"/>
            </a:pPr>
            <a:r>
              <a:rPr lang="en-IN" dirty="0"/>
              <a:t>Enhance leadership qualities, fraternity, team spirit and risk taking capacity.</a:t>
            </a:r>
          </a:p>
          <a:p>
            <a:pPr>
              <a:buFont typeface="Wingdings" panose="05000000000000000000" pitchFamily="2" charset="2"/>
              <a:buChar char="Ø"/>
            </a:pPr>
            <a:r>
              <a:rPr lang="en-IN" dirty="0"/>
              <a:t>Improvement of physical and mental strength</a:t>
            </a:r>
          </a:p>
          <a:p>
            <a:pPr>
              <a:buFont typeface="Wingdings" panose="05000000000000000000" pitchFamily="2" charset="2"/>
              <a:buChar char="Ø"/>
            </a:pPr>
            <a:r>
              <a:rPr lang="en-IN" dirty="0"/>
              <a:t>Exposure to new vocational possibilities</a:t>
            </a:r>
          </a:p>
          <a:p>
            <a:pPr marL="0" indent="0">
              <a:buNone/>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2722" y="484981"/>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0747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NSS Republic Day Parade Camp</a:t>
            </a:r>
            <a:endParaRPr lang="en-IN"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IN" dirty="0"/>
              <a:t>The first Republic Day Camp of NSS Volunteers was held in 1988. The camp takes place in Delhi between 1st and 31st January every year with 200 NSS selected volunteers who are good in discipline, March-past and cultural activities.</a:t>
            </a:r>
            <a:br>
              <a:rPr lang="en-IN" dirty="0"/>
            </a:br>
            <a:r>
              <a:rPr lang="en-IN" dirty="0"/>
              <a:t>A Contingent of selected NSS volunteers participates in the Republic Day Parade at </a:t>
            </a:r>
            <a:r>
              <a:rPr lang="en-IN" dirty="0" err="1"/>
              <a:t>Rajpath</a:t>
            </a:r>
            <a:r>
              <a:rPr lang="en-IN" dirty="0"/>
              <a:t>, New Delhi on 26th of January every year in accordance with the guidelines and requisition of the Ministry of Defence.</a:t>
            </a:r>
          </a:p>
          <a:p>
            <a:pPr marL="0" indent="0">
              <a:buNone/>
            </a:pPr>
            <a:r>
              <a:rPr lang="en-IN" b="1" dirty="0"/>
              <a:t>Objectives of NSS Republic Day Parade Camp</a:t>
            </a:r>
            <a:endParaRPr lang="en-IN" dirty="0"/>
          </a:p>
          <a:p>
            <a:pPr>
              <a:buFont typeface="Wingdings" panose="05000000000000000000" pitchFamily="2" charset="2"/>
              <a:buChar char="Ø"/>
            </a:pPr>
            <a:r>
              <a:rPr lang="en-IN" dirty="0"/>
              <a:t>Enable the volunteers to interact with fellow members hailing from various parts of India.</a:t>
            </a:r>
          </a:p>
          <a:p>
            <a:pPr>
              <a:buFont typeface="Wingdings" panose="05000000000000000000" pitchFamily="2" charset="2"/>
              <a:buChar char="Ø"/>
            </a:pPr>
            <a:r>
              <a:rPr lang="en-IN" dirty="0"/>
              <a:t>Experience the tradition, custom, culture, language of all states of India.</a:t>
            </a:r>
          </a:p>
          <a:p>
            <a:pPr>
              <a:buFont typeface="Wingdings" panose="05000000000000000000" pitchFamily="2" charset="2"/>
              <a:buChar char="Ø"/>
            </a:pPr>
            <a:r>
              <a:rPr lang="en-IN" dirty="0"/>
              <a:t>Provide a chance to develop overall personality of the Student volunteers.</a:t>
            </a:r>
          </a:p>
          <a:p>
            <a:pPr>
              <a:buFont typeface="Wingdings" panose="05000000000000000000" pitchFamily="2" charset="2"/>
              <a:buChar char="Ø"/>
            </a:pPr>
            <a:r>
              <a:rPr lang="en-IN" dirty="0"/>
              <a:t>Constitute the bond of patriotism, national integration, brotherhood and communal harmony.</a:t>
            </a:r>
          </a:p>
          <a:p>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0540"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8057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National Youth Festivals</a:t>
            </a:r>
            <a:endParaRPr lang="en-IN"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IN" dirty="0"/>
              <a:t>National Youth Festivals are organized every year from 12</a:t>
            </a:r>
            <a:r>
              <a:rPr lang="en-IN" baseline="30000" dirty="0"/>
              <a:t>th</a:t>
            </a:r>
            <a:r>
              <a:rPr lang="en-IN" dirty="0"/>
              <a:t> to 16</a:t>
            </a:r>
            <a:r>
              <a:rPr lang="en-IN" baseline="30000" dirty="0"/>
              <a:t>th</a:t>
            </a:r>
            <a:r>
              <a:rPr lang="en-IN" dirty="0"/>
              <a:t> January by the Government of India, Ministry of Youth Affairs &amp; Sports in collaboration with the State Governments in different parts of the country. Eminent guests, speakers and youth icons are invited to address and interact with about 1500 participating NSS volunteers during the National Youth Festivals.</a:t>
            </a:r>
          </a:p>
          <a:p>
            <a:pPr marL="0" indent="0">
              <a:buNone/>
            </a:pPr>
            <a:r>
              <a:rPr lang="en-IN" b="1" dirty="0"/>
              <a:t>Objectives of National Youth Festivals</a:t>
            </a:r>
            <a:endParaRPr lang="en-IN" dirty="0"/>
          </a:p>
          <a:p>
            <a:pPr>
              <a:buFont typeface="Wingdings" panose="05000000000000000000" pitchFamily="2" charset="2"/>
              <a:buChar char="Ø"/>
            </a:pPr>
            <a:r>
              <a:rPr lang="en-IN" dirty="0"/>
              <a:t>Make the volunteers aware of the various festivals celebrated in the country</a:t>
            </a:r>
          </a:p>
          <a:p>
            <a:pPr>
              <a:buFont typeface="Wingdings" panose="05000000000000000000" pitchFamily="2" charset="2"/>
              <a:buChar char="Ø"/>
            </a:pPr>
            <a:r>
              <a:rPr lang="en-IN" dirty="0"/>
              <a:t>Remind the volunteers of the cultural importance of festivals celebrated in our country</a:t>
            </a:r>
          </a:p>
          <a:p>
            <a:pPr>
              <a:buFont typeface="Wingdings" panose="05000000000000000000" pitchFamily="2" charset="2"/>
              <a:buChar char="Ø"/>
            </a:pPr>
            <a:r>
              <a:rPr lang="en-IN" dirty="0"/>
              <a:t>Provide a chance to the NSS volunteers to interact with the resource person/speaker/youth icons</a:t>
            </a:r>
          </a:p>
          <a:p>
            <a:pPr marL="0" indent="0">
              <a:buNone/>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7907"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3277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National Service Scheme Award</a:t>
            </a:r>
            <a:endParaRPr lang="en-IN" dirty="0"/>
          </a:p>
        </p:txBody>
      </p:sp>
      <p:sp>
        <p:nvSpPr>
          <p:cNvPr id="3" name="Content Placeholder 2"/>
          <p:cNvSpPr>
            <a:spLocks noGrp="1"/>
          </p:cNvSpPr>
          <p:nvPr>
            <p:ph idx="1"/>
          </p:nvPr>
        </p:nvSpPr>
        <p:spPr>
          <a:xfrm>
            <a:off x="838200" y="1925378"/>
            <a:ext cx="10515600" cy="4351338"/>
          </a:xfrm>
        </p:spPr>
        <p:txBody>
          <a:bodyPr>
            <a:normAutofit fontScale="85000" lnSpcReduction="20000"/>
          </a:bodyPr>
          <a:lstStyle/>
          <a:p>
            <a:pPr marL="0" indent="0" algn="just">
              <a:buNone/>
            </a:pPr>
            <a:r>
              <a:rPr lang="en-IN" dirty="0"/>
              <a:t>The Ministry of Youth Affairs and Sports, Government of India had instituted the National Service Scheme Awards to recognize the voluntary service rendered by NSS volunteers, Programme Officers, N.S.S. units and the university/senior secondary council</a:t>
            </a:r>
            <a:r>
              <a:rPr lang="en-IN" dirty="0" smtClean="0"/>
              <a:t>.</a:t>
            </a:r>
          </a:p>
          <a:p>
            <a:pPr marL="0" indent="0">
              <a:buNone/>
            </a:pPr>
            <a:r>
              <a:rPr lang="en-IN" b="1" dirty="0"/>
              <a:t>Objectives of National Service Scheme Award</a:t>
            </a:r>
            <a:endParaRPr lang="en-IN" dirty="0"/>
          </a:p>
          <a:p>
            <a:pPr>
              <a:buFont typeface="Wingdings" panose="05000000000000000000" pitchFamily="2" charset="2"/>
              <a:buChar char="Ø"/>
            </a:pPr>
            <a:r>
              <a:rPr lang="en-IN" dirty="0"/>
              <a:t>To recognize outstanding contribution by NSS student volunteers, NSS Programme Officers and the Programme Coordinators in community service</a:t>
            </a:r>
          </a:p>
          <a:p>
            <a:pPr>
              <a:buFont typeface="Wingdings" panose="05000000000000000000" pitchFamily="2" charset="2"/>
              <a:buChar char="Ø"/>
            </a:pPr>
            <a:r>
              <a:rPr lang="en-IN" dirty="0"/>
              <a:t>To encourage young NSS student volunteers to develop their personality through community service.</a:t>
            </a:r>
          </a:p>
          <a:p>
            <a:pPr>
              <a:buFont typeface="Wingdings" panose="05000000000000000000" pitchFamily="2" charset="2"/>
              <a:buChar char="Ø"/>
            </a:pPr>
            <a:r>
              <a:rPr lang="en-IN" dirty="0"/>
              <a:t>To encourage the Programme Officers and the Programme Coordinators of NSS for catering the needs of National Service Scheme through the NSS volunteers.</a:t>
            </a:r>
          </a:p>
          <a:p>
            <a:pPr>
              <a:buFont typeface="Wingdings" panose="05000000000000000000" pitchFamily="2" charset="2"/>
              <a:buChar char="Ø"/>
            </a:pPr>
            <a:r>
              <a:rPr lang="en-IN" dirty="0"/>
              <a:t>To motivate NSS Volunteers for continuing their selfless service towards community work.</a:t>
            </a:r>
          </a:p>
          <a:p>
            <a:pPr>
              <a:buFont typeface="Wingdings" panose="05000000000000000000" pitchFamily="2" charset="2"/>
              <a:buChar char="Ø"/>
            </a:pP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2598" y="484981"/>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6474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t>LIST OF INTERNATIOAL AND NATIONAL </a:t>
            </a:r>
            <a:r>
              <a:rPr lang="en-IN" sz="3600" b="1" dirty="0" smtClean="0"/>
              <a:t>DAYS </a:t>
            </a:r>
            <a:r>
              <a:rPr lang="en-IN" sz="3600" b="1" dirty="0"/>
              <a:t>TO BE OBSERVED BY NATIONAL SERVICE </a:t>
            </a:r>
            <a:r>
              <a:rPr lang="en-IN" sz="3600" b="1" dirty="0" smtClean="0"/>
              <a:t>SCHEME</a:t>
            </a:r>
            <a:endParaRPr lang="en-IN" sz="3600" dirty="0"/>
          </a:p>
        </p:txBody>
      </p:sp>
      <p:sp>
        <p:nvSpPr>
          <p:cNvPr id="3" name="Content Placeholder 2"/>
          <p:cNvSpPr>
            <a:spLocks noGrp="1"/>
          </p:cNvSpPr>
          <p:nvPr>
            <p:ph idx="1"/>
          </p:nvPr>
        </p:nvSpPr>
        <p:spPr/>
        <p:txBody>
          <a:bodyPr>
            <a:normAutofit lnSpcReduction="10000"/>
          </a:bodyPr>
          <a:lstStyle/>
          <a:p>
            <a:pPr marL="0" indent="0">
              <a:buNone/>
            </a:pPr>
            <a:r>
              <a:rPr lang="en-IN" dirty="0" smtClean="0"/>
              <a:t>01.	National Youth Day		12th January</a:t>
            </a:r>
          </a:p>
          <a:p>
            <a:pPr marL="0" indent="0">
              <a:buNone/>
            </a:pPr>
            <a:r>
              <a:rPr lang="en-IN" dirty="0" smtClean="0"/>
              <a:t>02.	Republic Day			26th January</a:t>
            </a:r>
          </a:p>
          <a:p>
            <a:pPr marL="0" indent="0">
              <a:buNone/>
            </a:pPr>
            <a:r>
              <a:rPr lang="en-IN" dirty="0" smtClean="0"/>
              <a:t>03.	Martyr Day				30th January</a:t>
            </a:r>
          </a:p>
          <a:p>
            <a:pPr marL="0" indent="0">
              <a:buNone/>
            </a:pPr>
            <a:r>
              <a:rPr lang="en-IN" dirty="0" smtClean="0"/>
              <a:t>04.	International Women Day	8th March</a:t>
            </a:r>
          </a:p>
          <a:p>
            <a:pPr marL="0" indent="0">
              <a:buNone/>
            </a:pPr>
            <a:r>
              <a:rPr lang="en-IN" dirty="0" smtClean="0"/>
              <a:t>05.	World Health Day			7th April</a:t>
            </a:r>
          </a:p>
          <a:p>
            <a:pPr marL="0" indent="0">
              <a:buNone/>
            </a:pPr>
            <a:r>
              <a:rPr lang="en-IN" dirty="0" smtClean="0"/>
              <a:t>06.	Anti-Terrorism Day			21st May</a:t>
            </a:r>
          </a:p>
          <a:p>
            <a:pPr marL="0" indent="0">
              <a:buNone/>
            </a:pPr>
            <a:r>
              <a:rPr lang="en-IN" dirty="0" smtClean="0"/>
              <a:t>08.	World Environment Day		5th June</a:t>
            </a:r>
          </a:p>
          <a:p>
            <a:pPr marL="0" indent="0">
              <a:buNone/>
            </a:pPr>
            <a:r>
              <a:rPr lang="en-IN" dirty="0" smtClean="0"/>
              <a:t>09.	World Population Day		11th July</a:t>
            </a:r>
          </a:p>
          <a:p>
            <a:pPr marL="0" indent="0">
              <a:buNone/>
            </a:pPr>
            <a:r>
              <a:rPr lang="en-IN" dirty="0" smtClean="0"/>
              <a:t>10.	Independence Day			15th August</a:t>
            </a:r>
            <a:endParaRPr lang="en-IN" dirty="0"/>
          </a:p>
        </p:txBody>
      </p:sp>
      <p:pic>
        <p:nvPicPr>
          <p:cNvPr id="5"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0540"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7639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t>LIST OF INTERNATIOAL AND NATIONAL </a:t>
            </a:r>
            <a:r>
              <a:rPr lang="en-IN" sz="3600" b="1" dirty="0" smtClean="0"/>
              <a:t>DAYS </a:t>
            </a:r>
            <a:r>
              <a:rPr lang="en-IN" sz="3600" b="1" dirty="0"/>
              <a:t>TO BE OBSERVED BY NATIONAL SERVICE SCHEME</a:t>
            </a:r>
            <a:endParaRPr lang="en-IN" sz="3600" dirty="0"/>
          </a:p>
        </p:txBody>
      </p:sp>
      <p:sp>
        <p:nvSpPr>
          <p:cNvPr id="3" name="Content Placeholder 2"/>
          <p:cNvSpPr>
            <a:spLocks noGrp="1"/>
          </p:cNvSpPr>
          <p:nvPr>
            <p:ph idx="1"/>
          </p:nvPr>
        </p:nvSpPr>
        <p:spPr/>
        <p:txBody>
          <a:bodyPr>
            <a:normAutofit lnSpcReduction="10000"/>
          </a:bodyPr>
          <a:lstStyle/>
          <a:p>
            <a:pPr marL="0" indent="0">
              <a:buNone/>
            </a:pPr>
            <a:r>
              <a:rPr lang="en-IN" dirty="0" smtClean="0"/>
              <a:t>11.	</a:t>
            </a:r>
            <a:r>
              <a:rPr lang="en-IN" dirty="0" err="1" smtClean="0"/>
              <a:t>Sadbavana</a:t>
            </a:r>
            <a:r>
              <a:rPr lang="en-IN" dirty="0" smtClean="0"/>
              <a:t> Day			20th August</a:t>
            </a:r>
          </a:p>
          <a:p>
            <a:pPr marL="0" indent="0">
              <a:buNone/>
            </a:pPr>
            <a:r>
              <a:rPr lang="en-IN" dirty="0" smtClean="0"/>
              <a:t>12.	International Literacy Day	8th September</a:t>
            </a:r>
          </a:p>
          <a:p>
            <a:pPr marL="0" indent="0">
              <a:buNone/>
            </a:pPr>
            <a:r>
              <a:rPr lang="en-IN" dirty="0" smtClean="0"/>
              <a:t>13.	International Peace Day		15th September</a:t>
            </a:r>
          </a:p>
          <a:p>
            <a:pPr marL="0" indent="0">
              <a:buNone/>
            </a:pPr>
            <a:r>
              <a:rPr lang="en-IN" dirty="0" smtClean="0"/>
              <a:t>14	NSS Day				24th September</a:t>
            </a:r>
          </a:p>
          <a:p>
            <a:pPr marL="0" indent="0">
              <a:buNone/>
            </a:pPr>
            <a:r>
              <a:rPr lang="en-IN" dirty="0" smtClean="0"/>
              <a:t>15.	National Blood Donation Day	1st October</a:t>
            </a:r>
          </a:p>
          <a:p>
            <a:pPr marL="0" indent="0">
              <a:buNone/>
            </a:pPr>
            <a:r>
              <a:rPr lang="en-IN" dirty="0" smtClean="0"/>
              <a:t>16.	Communal Harmony Day		2nd October</a:t>
            </a:r>
          </a:p>
          <a:p>
            <a:pPr marL="0" indent="0">
              <a:buNone/>
            </a:pPr>
            <a:r>
              <a:rPr lang="en-IN" dirty="0" smtClean="0"/>
              <a:t>17.	National Integration Day		19th November</a:t>
            </a:r>
          </a:p>
          <a:p>
            <a:pPr marL="0" indent="0">
              <a:buNone/>
            </a:pPr>
            <a:r>
              <a:rPr lang="en-IN" dirty="0" smtClean="0"/>
              <a:t>18.	World AIDS Day			1st December</a:t>
            </a:r>
          </a:p>
          <a:p>
            <a:pPr marL="0" indent="0">
              <a:buNone/>
            </a:pPr>
            <a:r>
              <a:rPr lang="en-IN" dirty="0" smtClean="0"/>
              <a:t>19.	World Human Rights Day		10th December</a:t>
            </a: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0540"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5169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t>LIST OF </a:t>
            </a:r>
            <a:r>
              <a:rPr lang="en-IN" sz="3600" b="1" dirty="0" smtClean="0"/>
              <a:t>WEEKS </a:t>
            </a:r>
            <a:r>
              <a:rPr lang="en-IN" sz="3600" b="1" dirty="0"/>
              <a:t>TO BE OBSERVED BY NATIONAL SERVICE SCHEME</a:t>
            </a:r>
            <a:endParaRPr lang="en-IN" sz="3600" dirty="0"/>
          </a:p>
        </p:txBody>
      </p:sp>
      <p:sp>
        <p:nvSpPr>
          <p:cNvPr id="3" name="Content Placeholder 2"/>
          <p:cNvSpPr>
            <a:spLocks noGrp="1"/>
          </p:cNvSpPr>
          <p:nvPr>
            <p:ph idx="1"/>
          </p:nvPr>
        </p:nvSpPr>
        <p:spPr/>
        <p:txBody>
          <a:bodyPr/>
          <a:lstStyle/>
          <a:p>
            <a:pPr marL="0" indent="0">
              <a:buNone/>
            </a:pPr>
            <a:r>
              <a:rPr lang="en-IN" dirty="0" smtClean="0"/>
              <a:t>01.	National Youth Week		12-19 January</a:t>
            </a:r>
          </a:p>
          <a:p>
            <a:pPr marL="0" indent="0">
              <a:buNone/>
            </a:pPr>
            <a:r>
              <a:rPr lang="en-IN" dirty="0" smtClean="0"/>
              <a:t>02.	Van </a:t>
            </a:r>
            <a:r>
              <a:rPr lang="en-IN" dirty="0" err="1" smtClean="0"/>
              <a:t>Mahotsava</a:t>
            </a:r>
            <a:r>
              <a:rPr lang="en-IN" dirty="0" smtClean="0"/>
              <a:t> Week		1-7 July</a:t>
            </a:r>
          </a:p>
          <a:p>
            <a:pPr marL="0" indent="0">
              <a:buNone/>
            </a:pPr>
            <a:r>
              <a:rPr lang="en-IN" dirty="0" smtClean="0"/>
              <a:t>03.	International Literacy week	8-14 July</a:t>
            </a:r>
          </a:p>
          <a:p>
            <a:pPr marL="0" indent="0">
              <a:buNone/>
            </a:pPr>
            <a:r>
              <a:rPr lang="en-IN" dirty="0" smtClean="0"/>
              <a:t>04.	</a:t>
            </a:r>
            <a:r>
              <a:rPr lang="en-IN" dirty="0" err="1" smtClean="0"/>
              <a:t>Quami</a:t>
            </a:r>
            <a:r>
              <a:rPr lang="en-IN" dirty="0" smtClean="0"/>
              <a:t> </a:t>
            </a:r>
            <a:r>
              <a:rPr lang="en-IN" dirty="0" err="1" smtClean="0"/>
              <a:t>Ekta</a:t>
            </a:r>
            <a:r>
              <a:rPr lang="en-IN" dirty="0" smtClean="0"/>
              <a:t> Week			19-25 November</a:t>
            </a:r>
            <a:endParaRPr lang="en-IN" dirty="0"/>
          </a:p>
        </p:txBody>
      </p:sp>
      <p:pic>
        <p:nvPicPr>
          <p:cNvPr id="4"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3420"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1953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4771" y="889844"/>
            <a:ext cx="10316094" cy="5262979"/>
          </a:xfrm>
          <a:prstGeom prst="rect">
            <a:avLst/>
          </a:prstGeom>
        </p:spPr>
        <p:txBody>
          <a:bodyPr wrap="square">
            <a:spAutoFit/>
          </a:bodyPr>
          <a:lstStyle/>
          <a:p>
            <a:r>
              <a:rPr lang="en-IN" sz="2400" dirty="0" smtClean="0"/>
              <a:t>The work opportunities in the welfare institutions may be enumerated as under-</a:t>
            </a:r>
          </a:p>
          <a:p>
            <a:pPr algn="just">
              <a:buFont typeface="Wingdings" panose="05000000000000000000" pitchFamily="2" charset="2"/>
              <a:buChar char="Ø"/>
            </a:pPr>
            <a:r>
              <a:rPr lang="en-IN" sz="2400" dirty="0" smtClean="0"/>
              <a:t>Adoption of welfare institutions and helping the inmates and staff by arranging outings, fund collection drives, reading and writing letters for those who are unable to do so;</a:t>
            </a:r>
          </a:p>
          <a:p>
            <a:pPr algn="just">
              <a:buFont typeface="Wingdings" panose="05000000000000000000" pitchFamily="2" charset="2"/>
              <a:buChar char="Ø"/>
            </a:pPr>
            <a:r>
              <a:rPr lang="en-IN" sz="2400" dirty="0" smtClean="0"/>
              <a:t>Propagation of the message of </a:t>
            </a:r>
            <a:r>
              <a:rPr lang="en-IN" sz="2400" dirty="0" err="1" smtClean="0"/>
              <a:t>Swachchta</a:t>
            </a:r>
            <a:r>
              <a:rPr lang="en-IN" sz="2400" dirty="0" smtClean="0"/>
              <a:t>, Digital Literacy, renewable energy etc.</a:t>
            </a:r>
          </a:p>
          <a:p>
            <a:pPr algn="just">
              <a:buFont typeface="Wingdings" panose="05000000000000000000" pitchFamily="2" charset="2"/>
              <a:buChar char="Ø"/>
            </a:pPr>
            <a:r>
              <a:rPr lang="en-IN" sz="2400" dirty="0" smtClean="0"/>
              <a:t>Working for improvement of physical environment;</a:t>
            </a:r>
          </a:p>
          <a:p>
            <a:pPr algn="just">
              <a:buFont typeface="Wingdings" panose="05000000000000000000" pitchFamily="2" charset="2"/>
              <a:buChar char="Ø"/>
            </a:pPr>
            <a:r>
              <a:rPr lang="en-IN" sz="2400" dirty="0" smtClean="0"/>
              <a:t>Programme of non-formal education and general literacy classes;</a:t>
            </a:r>
          </a:p>
          <a:p>
            <a:pPr algn="just">
              <a:buFont typeface="Wingdings" panose="05000000000000000000" pitchFamily="2" charset="2"/>
              <a:buChar char="Ø"/>
            </a:pPr>
            <a:r>
              <a:rPr lang="en-IN" sz="2400" dirty="0" smtClean="0"/>
              <a:t>Organisation of economic development activities;</a:t>
            </a:r>
          </a:p>
          <a:p>
            <a:pPr algn="just">
              <a:buFont typeface="Wingdings" panose="05000000000000000000" pitchFamily="2" charset="2"/>
              <a:buChar char="Ø"/>
            </a:pPr>
            <a:r>
              <a:rPr lang="en-IN" sz="2400" dirty="0" smtClean="0"/>
              <a:t>Establishment of hobby centres and</a:t>
            </a:r>
          </a:p>
          <a:p>
            <a:pPr algn="just">
              <a:buFont typeface="Wingdings" panose="05000000000000000000" pitchFamily="2" charset="2"/>
              <a:buChar char="Ø"/>
            </a:pPr>
            <a:r>
              <a:rPr lang="en-IN" sz="2400" dirty="0" smtClean="0"/>
              <a:t>Assisting in the rehabilitation work of the disabled, destitute etc.</a:t>
            </a:r>
            <a:br>
              <a:rPr lang="en-IN" sz="2400" dirty="0" smtClean="0"/>
            </a:br>
            <a:r>
              <a:rPr lang="en-IN" sz="2400" dirty="0" smtClean="0"/>
              <a:t>In addition, NSS units and welfare agencies can take up joint community development projects and other programmes of community welfare land awareness depending on the local needs.</a:t>
            </a:r>
            <a:endParaRPr lang="en-IN" sz="2400" dirty="0"/>
          </a:p>
        </p:txBody>
      </p:sp>
      <p:pic>
        <p:nvPicPr>
          <p:cNvPr id="3"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7042" y="207183"/>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1406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smtClean="0">
              <a:hlinkClick r:id="rId2"/>
            </a:endParaRPr>
          </a:p>
          <a:p>
            <a:r>
              <a:rPr lang="en-IN" dirty="0" smtClean="0"/>
              <a:t>Song    </a:t>
            </a:r>
            <a:r>
              <a:rPr lang="en-IN" dirty="0" smtClean="0">
                <a:hlinkClick r:id="rId3"/>
              </a:rPr>
              <a:t>http://nss.du.ac.in/pdf/NSS-song.pdf</a:t>
            </a:r>
            <a:endParaRPr lang="en-IN" dirty="0" smtClean="0"/>
          </a:p>
          <a:p>
            <a:r>
              <a:rPr lang="en-IN" dirty="0" smtClean="0"/>
              <a:t>Website </a:t>
            </a:r>
            <a:r>
              <a:rPr lang="en-IN" dirty="0" smtClean="0">
                <a:hlinkClick r:id="rId2"/>
              </a:rPr>
              <a:t>https://nss.gov.in/</a:t>
            </a:r>
            <a:endParaRPr lang="en-IN" dirty="0"/>
          </a:p>
        </p:txBody>
      </p:sp>
      <p:pic>
        <p:nvPicPr>
          <p:cNvPr id="4" name="Picture 6" descr="National service Sche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8278"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2676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56116" y="995362"/>
            <a:ext cx="4447309" cy="5372187"/>
          </a:xfrm>
          <a:prstGeom prst="rect">
            <a:avLst/>
          </a:prstGeom>
        </p:spPr>
      </p:pic>
      <p:pic>
        <p:nvPicPr>
          <p:cNvPr id="5" name="Picture 6" descr="National service Sche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8278"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82336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254" y="3075074"/>
            <a:ext cx="10515600" cy="1325563"/>
          </a:xfrm>
        </p:spPr>
        <p:txBody>
          <a:bodyPr>
            <a:normAutofit/>
          </a:bodyPr>
          <a:lstStyle/>
          <a:p>
            <a:pPr algn="ctr"/>
            <a:r>
              <a:rPr lang="en-IN" sz="7200" dirty="0" smtClean="0"/>
              <a:t>Thank you</a:t>
            </a:r>
            <a:endParaRPr lang="en-IN" sz="7200" dirty="0"/>
          </a:p>
        </p:txBody>
      </p:sp>
      <p:pic>
        <p:nvPicPr>
          <p:cNvPr id="3" name="Picture 6" descr="National service Sch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28278" y="365125"/>
            <a:ext cx="1362075"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252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1047</Words>
  <Application>Microsoft Office PowerPoint</Application>
  <PresentationFormat>Widescreen</PresentationFormat>
  <Paragraphs>120</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Open Sans</vt:lpstr>
      <vt:lpstr>Wingdings</vt:lpstr>
      <vt:lpstr>Office Theme</vt:lpstr>
      <vt:lpstr>National Service Scheme </vt:lpstr>
      <vt:lpstr> Introduction </vt:lpstr>
      <vt:lpstr>Motto of NSS</vt:lpstr>
      <vt:lpstr>The NSS Badge Proud to Serve the Nation:</vt:lpstr>
      <vt:lpstr>NSS Logo </vt:lpstr>
      <vt:lpstr>  Objectives of NSS  </vt:lpstr>
      <vt:lpstr>NSS Day</vt:lpstr>
      <vt:lpstr>Benefits of Being a NSS Volunteer </vt:lpstr>
      <vt:lpstr>Major Activities</vt:lpstr>
      <vt:lpstr>National Integration Camp (NIC)</vt:lpstr>
      <vt:lpstr>Adventure Program</vt:lpstr>
      <vt:lpstr>NSS Republic Day Parade Camp</vt:lpstr>
      <vt:lpstr>National Youth Festivals</vt:lpstr>
      <vt:lpstr>National Service Scheme Award</vt:lpstr>
      <vt:lpstr>LIST OF INTERNATIOAL AND NATIONAL DAYS TO BE OBSERVED BY NATIONAL SERVICE SCHEME</vt:lpstr>
      <vt:lpstr>LIST OF INTERNATIOAL AND NATIONAL DAYS TO BE OBSERVED BY NATIONAL SERVICE SCHEME</vt:lpstr>
      <vt:lpstr>LIST OF WEEKS TO BE OBSERVED BY NATIONAL SERVICE SCHEME</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student</dc:creator>
  <cp:lastModifiedBy>student</cp:lastModifiedBy>
  <cp:revision>45</cp:revision>
  <dcterms:created xsi:type="dcterms:W3CDTF">2019-08-06T05:37:23Z</dcterms:created>
  <dcterms:modified xsi:type="dcterms:W3CDTF">2019-08-06T07:54:25Z</dcterms:modified>
</cp:coreProperties>
</file>