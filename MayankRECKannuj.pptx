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3">
  <p:sldMasterIdLst>
    <p:sldMasterId id="2147483648" r:id="rId1"/>
  </p:sldMasterIdLst>
  <p:notesMasterIdLst>
    <p:notesMasterId r:id="rId37"/>
  </p:notesMasterIdLst>
  <p:sldIdLst>
    <p:sldId id="256" r:id="rId2"/>
    <p:sldId id="505" r:id="rId3"/>
    <p:sldId id="507" r:id="rId4"/>
    <p:sldId id="506" r:id="rId5"/>
    <p:sldId id="321" r:id="rId6"/>
    <p:sldId id="322" r:id="rId7"/>
    <p:sldId id="478" r:id="rId8"/>
    <p:sldId id="326" r:id="rId9"/>
    <p:sldId id="327" r:id="rId10"/>
    <p:sldId id="477" r:id="rId11"/>
    <p:sldId id="320" r:id="rId12"/>
    <p:sldId id="479" r:id="rId13"/>
    <p:sldId id="332" r:id="rId14"/>
    <p:sldId id="333" r:id="rId15"/>
    <p:sldId id="258" r:id="rId16"/>
    <p:sldId id="484" r:id="rId17"/>
    <p:sldId id="485" r:id="rId18"/>
    <p:sldId id="486" r:id="rId19"/>
    <p:sldId id="487" r:id="rId20"/>
    <p:sldId id="489" r:id="rId21"/>
    <p:sldId id="490" r:id="rId22"/>
    <p:sldId id="491" r:id="rId23"/>
    <p:sldId id="492" r:id="rId24"/>
    <p:sldId id="493" r:id="rId25"/>
    <p:sldId id="494" r:id="rId26"/>
    <p:sldId id="495" r:id="rId27"/>
    <p:sldId id="496" r:id="rId28"/>
    <p:sldId id="497" r:id="rId29"/>
    <p:sldId id="498" r:id="rId30"/>
    <p:sldId id="499" r:id="rId31"/>
    <p:sldId id="502" r:id="rId32"/>
    <p:sldId id="503" r:id="rId33"/>
    <p:sldId id="500" r:id="rId34"/>
    <p:sldId id="504" r:id="rId35"/>
    <p:sldId id="501" r:id="rId3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619" autoAdjust="0"/>
    <p:restoredTop sz="94709" autoAdjust="0"/>
  </p:normalViewPr>
  <p:slideViewPr>
    <p:cSldViewPr>
      <p:cViewPr>
        <p:scale>
          <a:sx n="66" d="100"/>
          <a:sy n="66" d="100"/>
        </p:scale>
        <p:origin x="-1272" y="-1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67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9DEB3F7B-D41C-4C9D-A514-6E5B97F10D00}" type="datetimeFigureOut">
              <a:rPr lang="en-US"/>
              <a:pPr>
                <a:defRPr/>
              </a:pPr>
              <a:t>1/31/2019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FBAE4B7-8DA3-4DEE-9383-251B6AEC0DF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53050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58B96F0-1E36-4F9C-BF65-EC63A8A2315D}" type="slidenum">
              <a:rPr lang="en-US"/>
              <a:pPr/>
              <a:t>25</a:t>
            </a:fld>
            <a:endParaRPr lang="en-US"/>
          </a:p>
        </p:txBody>
      </p:sp>
      <p:sp>
        <p:nvSpPr>
          <p:cNvPr id="618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8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50B1E3D-BB6D-4F40-B500-476EA58C2187}" type="slidenum">
              <a:rPr lang="en-US"/>
              <a:pPr/>
              <a:t>26</a:t>
            </a:fld>
            <a:endParaRPr lang="en-US"/>
          </a:p>
        </p:txBody>
      </p:sp>
      <p:sp>
        <p:nvSpPr>
          <p:cNvPr id="619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9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B55E261-DF3D-403A-9A0B-4257FD2D90F0}" type="slidenum">
              <a:rPr lang="en-US"/>
              <a:pPr/>
              <a:t>27</a:t>
            </a:fld>
            <a:endParaRPr lang="en-US"/>
          </a:p>
        </p:txBody>
      </p:sp>
      <p:sp>
        <p:nvSpPr>
          <p:cNvPr id="68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13DB8DB3-1821-4761-82A9-CADB9AA5F6A6}" type="datetime1">
              <a:rPr lang="en-US" smtClean="0"/>
              <a:t>1/31/2019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Mayank Pandey, MNNIT Allahabad, Prayagraj, India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D425312B-3ABA-41ED-A781-224E3C877517}" type="datetime1">
              <a:rPr lang="en-US" smtClean="0"/>
              <a:t>1/31/2019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Mayank Pandey, MNNIT Allahabad, Prayagraj, India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01000" y="6356350"/>
            <a:ext cx="685800" cy="365125"/>
          </a:xfrm>
          <a:prstGeom prst="rect">
            <a:avLst/>
          </a:prstGeom>
        </p:spPr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C54A3ABE-7EE8-428A-9823-130E8679AB4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D08C057D-21F7-4E1A-A667-68DCDEFB926B}" type="datetime1">
              <a:rPr lang="en-US" smtClean="0"/>
              <a:t>1/31/2019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Mayank Pandey, MNNIT Allahabad, Prayagraj, India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BFA83D4B-0D85-4DEE-B0D9-20DFC9F1856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D72DA0BC-A3F9-4B2E-B434-A12F5500231C}" type="datetime1">
              <a:rPr lang="en-US" smtClean="0"/>
              <a:t>1/31/2019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Mayank Pandey, MNNIT Allahabad, Prayagraj, India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34278836-F49B-470B-BFB1-898E12B0021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AD731C80-D8A2-40B1-842A-3801805CFE78}" type="datetime1">
              <a:rPr lang="en-US" smtClean="0"/>
              <a:t>1/31/2019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Mayank Pandey, MNNIT Allahabad, Prayagraj, India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469E6981-811E-47B2-9046-C217D6C410A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1A0E760A-32D9-4596-B2AC-086ACC74D593}" type="datetime1">
              <a:rPr lang="en-US" smtClean="0"/>
              <a:t>1/31/2019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Mayank Pandey, MNNIT Allahabad, Prayagraj, India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CB326667-E6E6-4DE2-8E19-42096EDF669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E1206629-40CA-4098-8E06-440B3F118F8D}" type="datetime1">
              <a:rPr lang="en-US" smtClean="0"/>
              <a:t>1/31/2019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Mayank Pandey, MNNIT Allahabad, Prayagraj, India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423520D8-1D15-44DA-9B9B-C6653470A34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EE0FA190-5FA5-4D94-980C-734B6A2F6081}" type="datetime1">
              <a:rPr lang="en-US" smtClean="0"/>
              <a:t>1/31/2019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Mayank Pandey, MNNIT Allahabad, Prayagraj, India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BE8923A6-2C91-411D-9098-2017475A8ED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079A4630-BE11-4324-B1FA-76F5A55A7FEC}" type="datetime1">
              <a:rPr lang="en-US" smtClean="0"/>
              <a:t>1/31/2019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Mayank Pandey, MNNIT Allahabad, Prayagraj, India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7DACD366-71D5-4389-B748-80782993399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46136FEF-D6C7-47D2-94DC-711735F2EDF4}" type="datetime1">
              <a:rPr lang="en-US" smtClean="0"/>
              <a:t>1/31/2019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Mayank Pandey, MNNIT Allahabad, Prayagraj, India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0723250C-09C2-414F-90C5-9BE50CF0EDD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2417459E-A4EA-44EC-8C07-92FA7C1244AF}" type="datetime1">
              <a:rPr lang="en-US" smtClean="0"/>
              <a:t>1/31/2019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Mayank Pandey, MNNIT Allahabad, Prayagraj, India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CA6685EB-3D78-4579-94C3-EDBAD86D82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  <a:alpha val="3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15240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371600"/>
            <a:ext cx="8229600" cy="4754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smtClean="0"/>
              <a:t>Mayank Pandey, MNNIT Allahabad, Prayagraj, India</a:t>
            </a:r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533400" y="1295400"/>
            <a:ext cx="8153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7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notesSlide" Target="../notesSlides/notesSlide1.xml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2.wmf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1.bin"/><Relationship Id="rId9" Type="http://schemas.openxmlformats.org/officeDocument/2006/relationships/oleObject" Target="../embeddings/oleObject5.bin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notesSlide" Target="../notesSlides/notesSlide3.xml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22.wmf"/><Relationship Id="rId10" Type="http://schemas.openxmlformats.org/officeDocument/2006/relationships/oleObject" Target="../embeddings/oleObject12.bin"/><Relationship Id="rId4" Type="http://schemas.openxmlformats.org/officeDocument/2006/relationships/oleObject" Target="../embeddings/oleObject7.bin"/><Relationship Id="rId9" Type="http://schemas.openxmlformats.org/officeDocument/2006/relationships/oleObject" Target="../embeddings/oleObject11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mailto:mayankpandey@mnnit.ac.i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533400" y="1724799"/>
            <a:ext cx="8382000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3600" b="1" i="1" dirty="0" smtClean="0" bmk="OLE_LINK2">
                <a:solidFill>
                  <a:schemeClr val="tx2"/>
                </a:solidFill>
                <a:latin typeface="Garamond" pitchFamily="18" charset="0"/>
                <a:ea typeface="Calibri" pitchFamily="34" charset="0"/>
                <a:cs typeface="Times New Roman" pitchFamily="18" charset="0"/>
              </a:rPr>
              <a:t>Towards Seamless Mobility Solutions using  Software Defined Networks</a:t>
            </a:r>
            <a:endParaRPr kumimoji="0" lang="en-US" sz="3600" b="1" i="1" u="none" strike="noStrike" cap="none" normalizeH="0" dirty="0" smtClean="0" bmk="OLE_LINK2">
              <a:ln>
                <a:noFill/>
              </a:ln>
              <a:solidFill>
                <a:schemeClr val="tx2"/>
              </a:solidFill>
              <a:effectLst/>
              <a:latin typeface="Garamond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600" b="1" i="1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Garamond" pitchFamily="18" charset="0"/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>
                <a:solidFill>
                  <a:schemeClr val="tx2"/>
                </a:solidFill>
              </a:rPr>
              <a:t>Mayank</a:t>
            </a:r>
            <a:r>
              <a:rPr lang="en-US" dirty="0" smtClean="0">
                <a:solidFill>
                  <a:schemeClr val="tx2"/>
                </a:solidFill>
              </a:rPr>
              <a:t> </a:t>
            </a:r>
            <a:r>
              <a:rPr lang="en-US" dirty="0" err="1" smtClean="0">
                <a:solidFill>
                  <a:schemeClr val="tx2"/>
                </a:solidFill>
              </a:rPr>
              <a:t>Pandey</a:t>
            </a:r>
            <a:endParaRPr lang="en-US" dirty="0" smtClean="0">
              <a:solidFill>
                <a:schemeClr val="tx2"/>
              </a:solidFill>
            </a:endParaRPr>
          </a:p>
          <a:p>
            <a:r>
              <a:rPr lang="en-US" dirty="0" smtClean="0">
                <a:solidFill>
                  <a:schemeClr val="tx2"/>
                </a:solidFill>
              </a:rPr>
              <a:t>CSED, </a:t>
            </a:r>
            <a:r>
              <a:rPr lang="en-US" dirty="0" smtClean="0">
                <a:solidFill>
                  <a:schemeClr val="tx2"/>
                </a:solidFill>
              </a:rPr>
              <a:t>MNNIT Allahabad, </a:t>
            </a:r>
            <a:r>
              <a:rPr lang="en-US" dirty="0" err="1" smtClean="0">
                <a:solidFill>
                  <a:schemeClr val="tx2"/>
                </a:solidFill>
              </a:rPr>
              <a:t>Prayagraj</a:t>
            </a:r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Context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752600"/>
            <a:ext cx="5181600" cy="3810000"/>
          </a:xfrm>
        </p:spPr>
        <p:txBody>
          <a:bodyPr/>
          <a:lstStyle/>
          <a:p>
            <a:r>
              <a:rPr lang="en-IN" dirty="0"/>
              <a:t>Video Streaming/ Mobile end devices:</a:t>
            </a:r>
          </a:p>
          <a:p>
            <a:pPr lvl="1"/>
            <a:r>
              <a:rPr lang="en-IN" dirty="0"/>
              <a:t>According to the recent Cisco Survey:</a:t>
            </a:r>
          </a:p>
          <a:p>
            <a:pPr lvl="2"/>
            <a:r>
              <a:rPr lang="en-IN" dirty="0"/>
              <a:t>IP video </a:t>
            </a:r>
            <a:r>
              <a:rPr lang="en-IN" dirty="0" smtClean="0"/>
              <a:t>traffic </a:t>
            </a:r>
            <a:r>
              <a:rPr lang="en-IN" dirty="0"/>
              <a:t>- 82% of all consumer Internet </a:t>
            </a:r>
            <a:r>
              <a:rPr lang="en-IN" dirty="0" smtClean="0"/>
              <a:t>traffic </a:t>
            </a:r>
            <a:r>
              <a:rPr lang="en-IN" dirty="0"/>
              <a:t>by 2021,</a:t>
            </a:r>
          </a:p>
          <a:p>
            <a:pPr lvl="2"/>
            <a:r>
              <a:rPr lang="en-IN" dirty="0"/>
              <a:t>up from 73% in 2016</a:t>
            </a:r>
            <a:r>
              <a:rPr lang="en-IN" dirty="0" smtClean="0"/>
              <a:t>.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3BEF1ED-E78C-49A7-B089-19C42A01695A}" type="datetime1">
              <a:rPr lang="en-US" smtClean="0"/>
              <a:t>1/31/2019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 Allahabad, Prayagraj, India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4A3ABE-7EE8-428A-9823-130E8679AB4E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877945"/>
            <a:ext cx="1295400" cy="8629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7696" y="2698296"/>
            <a:ext cx="1111704" cy="1111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AutoShape 6" descr="Image result for flickr"/>
          <p:cNvSpPr>
            <a:spLocks noChangeAspect="1" noChangeArrowheads="1"/>
          </p:cNvSpPr>
          <p:nvPr/>
        </p:nvSpPr>
        <p:spPr bwMode="auto">
          <a:xfrm>
            <a:off x="155575" y="-1608138"/>
            <a:ext cx="5981700" cy="3362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1539875"/>
            <a:ext cx="1066800" cy="6761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787" y="2867025"/>
            <a:ext cx="1014413" cy="777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503488"/>
            <a:ext cx="857250" cy="60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2" name="Picture 1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4193" y="3962400"/>
            <a:ext cx="1181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3" name="Picture 1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0" y="3914775"/>
            <a:ext cx="1028700" cy="649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4" name="Picture 1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0725" y="5029200"/>
            <a:ext cx="2047875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99700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Context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4648200" cy="4754563"/>
          </a:xfrm>
        </p:spPr>
        <p:txBody>
          <a:bodyPr/>
          <a:lstStyle/>
          <a:p>
            <a:r>
              <a:rPr lang="en-IN" sz="2800" dirty="0"/>
              <a:t>Majority of the destination end hosts are</a:t>
            </a:r>
          </a:p>
          <a:p>
            <a:pPr lvl="1"/>
            <a:r>
              <a:rPr lang="en-IN" dirty="0"/>
              <a:t>mobile devices using</a:t>
            </a:r>
          </a:p>
          <a:p>
            <a:pPr lvl="2"/>
            <a:r>
              <a:rPr lang="en-IN" sz="2200" dirty="0"/>
              <a:t>WLAN </a:t>
            </a:r>
            <a:r>
              <a:rPr lang="en-IN" sz="2200" dirty="0" smtClean="0"/>
              <a:t>techniques </a:t>
            </a:r>
            <a:endParaRPr lang="en-IN" sz="2200" dirty="0"/>
          </a:p>
          <a:p>
            <a:pPr lvl="1"/>
            <a:r>
              <a:rPr lang="en-IN" dirty="0"/>
              <a:t>Connectivity during Mobility??</a:t>
            </a:r>
          </a:p>
          <a:p>
            <a:pPr lvl="2"/>
            <a:r>
              <a:rPr lang="en-IN" dirty="0"/>
              <a:t>Layer-2 mobility/Layer-3 mobility</a:t>
            </a: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3D76184-4F3E-460A-9ACD-4707C3055CC7}" type="datetime1">
              <a:rPr lang="en-US" smtClean="0"/>
              <a:t>1/31/2019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 Allahabad, Prayagraj, India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4A3ABE-7EE8-428A-9823-130E8679AB4E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825"/>
          <a:stretch/>
        </p:blipFill>
        <p:spPr>
          <a:xfrm>
            <a:off x="5340216" y="1600200"/>
            <a:ext cx="2895583" cy="1600200"/>
          </a:xfrm>
          <a:prstGeom prst="rect">
            <a:avLst/>
          </a:prstGeom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6502" y="3429001"/>
            <a:ext cx="1803517" cy="2590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5457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Context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71601"/>
            <a:ext cx="8763000" cy="2285999"/>
          </a:xfrm>
        </p:spPr>
        <p:txBody>
          <a:bodyPr/>
          <a:lstStyle/>
          <a:p>
            <a:r>
              <a:rPr lang="en-IN" sz="2800" dirty="0"/>
              <a:t>Video streaming over HTTP - The DASH protocol : </a:t>
            </a:r>
            <a:endParaRPr lang="en-IN" sz="2800" dirty="0" smtClean="0"/>
          </a:p>
          <a:p>
            <a:pPr lvl="1"/>
            <a:r>
              <a:rPr lang="en-IN" sz="2000" dirty="0" smtClean="0"/>
              <a:t>HTTP uses TCP as underlying Protocol</a:t>
            </a:r>
          </a:p>
          <a:p>
            <a:r>
              <a:rPr lang="en-IN" sz="2800" dirty="0"/>
              <a:t>Mobility of clients: TCP with all its problems</a:t>
            </a:r>
          </a:p>
          <a:p>
            <a:pPr lvl="1"/>
            <a:r>
              <a:rPr lang="en-IN" sz="2400" dirty="0"/>
              <a:t>Takes packet loss as a signal of congestion: throttles </a:t>
            </a:r>
            <a:r>
              <a:rPr lang="en-IN" sz="2400" dirty="0" smtClean="0"/>
              <a:t>the sender</a:t>
            </a:r>
            <a:endParaRPr lang="en-IN" sz="2400" dirty="0"/>
          </a:p>
          <a:p>
            <a:pPr lvl="1"/>
            <a:r>
              <a:rPr lang="en-IN" sz="2400" dirty="0"/>
              <a:t>Many proposals: no current standard.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9AA5F8-25D1-4FA2-A47D-D6E6264552C6}" type="datetime1">
              <a:rPr lang="en-US" smtClean="0"/>
              <a:t>1/31/2019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 Allahabad, Prayagraj, India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4A3ABE-7EE8-428A-9823-130E8679AB4E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137" y="3657600"/>
            <a:ext cx="6900863" cy="255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06983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Revisiting Network Protocol Stack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5410200" cy="4648199"/>
          </a:xfrm>
        </p:spPr>
        <p:txBody>
          <a:bodyPr/>
          <a:lstStyle/>
          <a:p>
            <a:r>
              <a:rPr lang="en-US" dirty="0" smtClean="0"/>
              <a:t>TCP/IP Reference Model</a:t>
            </a:r>
          </a:p>
          <a:p>
            <a:pPr lvl="1"/>
            <a:r>
              <a:rPr lang="en-US" dirty="0" smtClean="0"/>
              <a:t>Protocol stack</a:t>
            </a:r>
          </a:p>
          <a:p>
            <a:pPr lvl="1"/>
            <a:r>
              <a:rPr lang="en-US" dirty="0" smtClean="0"/>
              <a:t>Lower layers provide services to upper layers. For e.g.</a:t>
            </a:r>
          </a:p>
          <a:p>
            <a:pPr lvl="2"/>
            <a:r>
              <a:rPr lang="en-US" dirty="0" smtClean="0"/>
              <a:t>HTTP gets support of TCP which takes services from </a:t>
            </a:r>
          </a:p>
          <a:p>
            <a:pPr lvl="3"/>
            <a:r>
              <a:rPr lang="en-US" dirty="0" smtClean="0"/>
              <a:t>IP and IEEE 802.x</a:t>
            </a:r>
          </a:p>
          <a:p>
            <a:pPr lvl="2"/>
            <a:endParaRPr lang="en-US" dirty="0" smtClean="0"/>
          </a:p>
          <a:p>
            <a:pPr lvl="2"/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 Allahabad, Prayagraj, India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8179D52-5663-43DF-94C2-E4103ACCB21B}" type="datetime1">
              <a:rPr lang="en-US" smtClean="0"/>
              <a:t>1/31/2019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4A3ABE-7EE8-428A-9823-130E8679AB4E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41986" name="AutoShape 2" descr="Image result for TCP/IP reference model"/>
          <p:cNvSpPr>
            <a:spLocks noChangeAspect="1" noChangeArrowheads="1"/>
          </p:cNvSpPr>
          <p:nvPr/>
        </p:nvSpPr>
        <p:spPr bwMode="auto">
          <a:xfrm>
            <a:off x="155575" y="-1576388"/>
            <a:ext cx="3571875" cy="3286126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 descr="images.png"/>
          <p:cNvPicPr>
            <a:picLocks noChangeAspect="1"/>
          </p:cNvPicPr>
          <p:nvPr/>
        </p:nvPicPr>
        <p:blipFill>
          <a:blip r:embed="rId2" cstate="print"/>
          <a:srcRect l="54691"/>
          <a:stretch>
            <a:fillRect/>
          </a:stretch>
        </p:blipFill>
        <p:spPr>
          <a:xfrm>
            <a:off x="6477000" y="1820312"/>
            <a:ext cx="1883026" cy="38184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Network layer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/>
          <a:lstStyle/>
          <a:p>
            <a:r>
              <a:rPr lang="en-US" dirty="0" smtClean="0"/>
              <a:t>Forwards </a:t>
            </a:r>
            <a:r>
              <a:rPr lang="en-US" dirty="0" err="1" smtClean="0"/>
              <a:t>datagrams</a:t>
            </a:r>
            <a:r>
              <a:rPr lang="en-US" dirty="0" smtClean="0"/>
              <a:t> to next hop (Forwarding)</a:t>
            </a:r>
          </a:p>
          <a:p>
            <a:pPr lvl="1"/>
            <a:r>
              <a:rPr lang="en-US" dirty="0" smtClean="0"/>
              <a:t>On the path towards destination</a:t>
            </a:r>
          </a:p>
          <a:p>
            <a:pPr lvl="1"/>
            <a:r>
              <a:rPr lang="en-US" dirty="0" smtClean="0"/>
              <a:t>Uses routing table</a:t>
            </a:r>
          </a:p>
          <a:p>
            <a:r>
              <a:rPr lang="en-US" dirty="0" smtClean="0"/>
              <a:t>Finds out the best path (Routing)</a:t>
            </a:r>
          </a:p>
          <a:p>
            <a:pPr lvl="1"/>
            <a:r>
              <a:rPr lang="en-US" dirty="0" smtClean="0"/>
              <a:t>Routing process</a:t>
            </a:r>
          </a:p>
          <a:p>
            <a:pPr lvl="1"/>
            <a:r>
              <a:rPr lang="en-US" dirty="0" smtClean="0"/>
              <a:t>Distributed algorithm</a:t>
            </a:r>
          </a:p>
          <a:p>
            <a:pPr lvl="1">
              <a:buNone/>
            </a:pPr>
            <a:endParaRPr lang="en-US" dirty="0" smtClean="0"/>
          </a:p>
          <a:p>
            <a:pPr marL="914400" lvl="2" indent="0">
              <a:buNone/>
            </a:pPr>
            <a:endParaRPr lang="en-US" sz="2000" dirty="0" smtClean="0"/>
          </a:p>
          <a:p>
            <a:pPr marL="457200" lvl="1" indent="0">
              <a:buNone/>
            </a:pPr>
            <a:endParaRPr lang="en-US" sz="2400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 Allahabad, Prayagraj, India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4569449-0D60-4969-8E4E-EE7E424A2F0A}" type="datetime1">
              <a:rPr lang="en-US" smtClean="0"/>
              <a:t>1/31/2019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4A3ABE-7EE8-428A-9823-130E8679AB4E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The Perpetual Confusion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6019800" cy="4754563"/>
          </a:xfrm>
        </p:spPr>
        <p:txBody>
          <a:bodyPr/>
          <a:lstStyle/>
          <a:p>
            <a:r>
              <a:rPr lang="en-IN" dirty="0" smtClean="0"/>
              <a:t>Which layer device the router is?</a:t>
            </a:r>
          </a:p>
          <a:p>
            <a:pPr lvl="1"/>
            <a:r>
              <a:rPr lang="en-IN" dirty="0" smtClean="0"/>
              <a:t>Network Layer (a normal response)</a:t>
            </a:r>
          </a:p>
          <a:p>
            <a:r>
              <a:rPr lang="en-IN" dirty="0" smtClean="0"/>
              <a:t>Router searches for best path</a:t>
            </a:r>
          </a:p>
          <a:p>
            <a:pPr lvl="1"/>
            <a:r>
              <a:rPr lang="en-IN" dirty="0" smtClean="0"/>
              <a:t>Talk to other router</a:t>
            </a:r>
          </a:p>
          <a:p>
            <a:pPr lvl="2"/>
            <a:r>
              <a:rPr lang="en-US" dirty="0" smtClean="0"/>
              <a:t>RIP (Routing Information Protocol)</a:t>
            </a:r>
          </a:p>
          <a:p>
            <a:pPr lvl="2"/>
            <a:r>
              <a:rPr lang="en-US" dirty="0" smtClean="0"/>
              <a:t>BGP (Border Gateway Protocol)</a:t>
            </a:r>
          </a:p>
          <a:p>
            <a:r>
              <a:rPr lang="en-US" dirty="0" smtClean="0"/>
              <a:t>Here lies the confusion:</a:t>
            </a:r>
          </a:p>
          <a:p>
            <a:pPr lvl="1"/>
            <a:r>
              <a:rPr lang="en-US" dirty="0" smtClean="0"/>
              <a:t>RIP uses UDP </a:t>
            </a:r>
          </a:p>
          <a:p>
            <a:pPr lvl="1"/>
            <a:r>
              <a:rPr lang="en-US" dirty="0" smtClean="0"/>
              <a:t>BGP uses TCP</a:t>
            </a:r>
          </a:p>
          <a:p>
            <a:pPr lvl="2">
              <a:buNone/>
            </a:pPr>
            <a:endParaRPr lang="en-IN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6712596-B393-49AC-AD47-6008EFCD5A55}" type="datetime1">
              <a:rPr lang="en-US" smtClean="0"/>
              <a:t>1/31/2019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 Allahabad, Prayagraj, India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4A3ABE-7EE8-428A-9823-130E8679AB4E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pic>
        <p:nvPicPr>
          <p:cNvPr id="7" name="Picture 6" descr="questionmark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324600" y="3581400"/>
            <a:ext cx="2261152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987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Perpetual Confusion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953000"/>
          </a:xfrm>
        </p:spPr>
        <p:txBody>
          <a:bodyPr/>
          <a:lstStyle/>
          <a:p>
            <a:r>
              <a:rPr lang="en-IN" dirty="0" smtClean="0"/>
              <a:t>Actually:</a:t>
            </a:r>
          </a:p>
          <a:p>
            <a:pPr lvl="1"/>
            <a:r>
              <a:rPr lang="en-IN" dirty="0" smtClean="0"/>
              <a:t>Routers run a daemon (a process, an application)</a:t>
            </a:r>
          </a:p>
          <a:p>
            <a:pPr lvl="2"/>
            <a:r>
              <a:rPr lang="en-IN" i="1" dirty="0" smtClean="0"/>
              <a:t>routed (implementation of RIP or BGP)</a:t>
            </a:r>
          </a:p>
          <a:p>
            <a:pPr lvl="2"/>
            <a:r>
              <a:rPr lang="en-GB" i="1" dirty="0" smtClean="0"/>
              <a:t>And use underlying transport layer to talk to each other</a:t>
            </a:r>
          </a:p>
          <a:p>
            <a:r>
              <a:rPr lang="en-GB" dirty="0" smtClean="0"/>
              <a:t>So... Which layer device router is?</a:t>
            </a:r>
          </a:p>
          <a:p>
            <a:pPr lvl="1"/>
            <a:r>
              <a:rPr lang="en-GB" dirty="0" smtClean="0"/>
              <a:t>Application?</a:t>
            </a:r>
          </a:p>
          <a:p>
            <a:pPr lvl="1"/>
            <a:r>
              <a:rPr lang="en-GB" dirty="0" smtClean="0"/>
              <a:t>Transport?</a:t>
            </a:r>
          </a:p>
          <a:p>
            <a:pPr lvl="1"/>
            <a:r>
              <a:rPr lang="en-GB" dirty="0" smtClean="0"/>
              <a:t>Network?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 Allahabad, Prayagraj, India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AF6C4E-55AC-49EE-AE01-E62291D7FA09}" type="datetime1">
              <a:rPr lang="en-US" smtClean="0"/>
              <a:t>1/31/2019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4A3ABE-7EE8-428A-9823-130E8679AB4E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pic>
        <p:nvPicPr>
          <p:cNvPr id="7" name="Picture 6" descr="questionmark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657600" y="4038600"/>
            <a:ext cx="1524000" cy="20029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Confusion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Network management fellows can:</a:t>
            </a:r>
          </a:p>
          <a:p>
            <a:pPr lvl="1"/>
            <a:r>
              <a:rPr lang="en-GB" dirty="0" smtClean="0"/>
              <a:t>Ping a router </a:t>
            </a:r>
          </a:p>
          <a:p>
            <a:pPr lvl="2"/>
            <a:r>
              <a:rPr lang="en-GB" dirty="0" smtClean="0"/>
              <a:t>means echo server is running</a:t>
            </a:r>
          </a:p>
          <a:p>
            <a:pPr lvl="3"/>
            <a:r>
              <a:rPr lang="en-GB" dirty="0" smtClean="0"/>
              <a:t>May run over TCP or UDP</a:t>
            </a:r>
          </a:p>
          <a:p>
            <a:pPr lvl="1"/>
            <a:r>
              <a:rPr lang="en-GB" dirty="0" smtClean="0"/>
              <a:t>telnet a router </a:t>
            </a:r>
          </a:p>
          <a:p>
            <a:pPr lvl="2"/>
            <a:r>
              <a:rPr lang="en-GB" dirty="0" smtClean="0"/>
              <a:t>means telnet application is running</a:t>
            </a:r>
          </a:p>
          <a:p>
            <a:pPr lvl="3"/>
            <a:r>
              <a:rPr lang="en-GB" dirty="0" smtClean="0"/>
              <a:t>Runs over TCP</a:t>
            </a:r>
          </a:p>
          <a:p>
            <a:endParaRPr lang="en-GB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 Allahabad, Prayagraj, India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8627E49-21C6-4F5A-AD8D-7D0700E024B4}" type="datetime1">
              <a:rPr lang="en-US" smtClean="0"/>
              <a:t>1/31/2019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4A3ABE-7EE8-428A-9823-130E8679AB4E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Planes...Planes...Planes...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371600"/>
            <a:ext cx="4724400" cy="4800599"/>
          </a:xfrm>
        </p:spPr>
        <p:txBody>
          <a:bodyPr/>
          <a:lstStyle/>
          <a:p>
            <a:r>
              <a:rPr lang="en-IN" sz="2800" dirty="0" smtClean="0"/>
              <a:t>Three different planes:</a:t>
            </a:r>
          </a:p>
          <a:p>
            <a:pPr lvl="1"/>
            <a:r>
              <a:rPr lang="en-IN" sz="2400" dirty="0" smtClean="0"/>
              <a:t>Data plane</a:t>
            </a:r>
          </a:p>
          <a:p>
            <a:pPr lvl="1"/>
            <a:r>
              <a:rPr lang="en-IN" sz="2400" dirty="0" smtClean="0"/>
              <a:t>Control Plane</a:t>
            </a:r>
          </a:p>
          <a:p>
            <a:pPr lvl="1"/>
            <a:r>
              <a:rPr lang="en-IN" sz="2400" dirty="0" smtClean="0"/>
              <a:t>Management Plane </a:t>
            </a:r>
          </a:p>
          <a:p>
            <a:pPr lvl="2"/>
            <a:endParaRPr lang="en-IN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52A3532-F00A-4152-B13B-BD3AE925A618}" type="datetime1">
              <a:rPr lang="en-US" smtClean="0"/>
              <a:t>1/31/2019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 Allahabad, Prayagraj, India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4A3ABE-7EE8-428A-9823-130E8679AB4E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pic>
        <p:nvPicPr>
          <p:cNvPr id="33794" name="Picture 2" descr="Image result for control plane data plane management plane"/>
          <p:cNvPicPr>
            <a:picLocks noChangeAspect="1" noChangeArrowheads="1"/>
          </p:cNvPicPr>
          <p:nvPr/>
        </p:nvPicPr>
        <p:blipFill>
          <a:blip r:embed="rId2" cstate="print"/>
          <a:srcRect t="10152" b="10660"/>
          <a:stretch>
            <a:fillRect/>
          </a:stretch>
        </p:blipFill>
        <p:spPr bwMode="auto">
          <a:xfrm>
            <a:off x="2719754" y="3352800"/>
            <a:ext cx="5128846" cy="304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23599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Traditional Network Devices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All three planes are tightly coupled</a:t>
            </a:r>
          </a:p>
          <a:p>
            <a:pPr lvl="1"/>
            <a:r>
              <a:rPr lang="en-US" dirty="0" smtClean="0"/>
              <a:t>Standard protocol implementations</a:t>
            </a:r>
          </a:p>
          <a:p>
            <a:pPr lvl="1"/>
            <a:r>
              <a:rPr lang="en-US" dirty="0" smtClean="0"/>
              <a:t>Lots of vendor proprietary protocols</a:t>
            </a:r>
          </a:p>
          <a:p>
            <a:r>
              <a:rPr lang="en-IN" dirty="0" smtClean="0"/>
              <a:t>Devices configured by network administrators</a:t>
            </a:r>
          </a:p>
          <a:p>
            <a:pPr lvl="1"/>
            <a:r>
              <a:rPr lang="en-IN" dirty="0" smtClean="0"/>
              <a:t>routing and forwarding rules are configured once</a:t>
            </a:r>
          </a:p>
          <a:p>
            <a:pPr lvl="2"/>
            <a:r>
              <a:rPr lang="en-IN" dirty="0" smtClean="0"/>
              <a:t>utilized for their lifetime</a:t>
            </a:r>
          </a:p>
          <a:p>
            <a:pPr lvl="1"/>
            <a:r>
              <a:rPr lang="en-IN" dirty="0" smtClean="0"/>
              <a:t>behaviour remains almost same all the time.</a:t>
            </a:r>
            <a:endParaRPr lang="en-US" dirty="0" smtClean="0"/>
          </a:p>
          <a:p>
            <a:pPr lvl="2"/>
            <a:r>
              <a:rPr lang="en-US" dirty="0" smtClean="0"/>
              <a:t>reconfiguration is difficult and time consuming</a:t>
            </a:r>
          </a:p>
          <a:p>
            <a:pPr lvl="3"/>
            <a:r>
              <a:rPr lang="en-US" dirty="0" smtClean="0"/>
              <a:t>Even a minor modification requires substantial intervention</a:t>
            </a:r>
          </a:p>
          <a:p>
            <a:pPr lvl="2"/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 Allahabad, Prayagraj, India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0F01A7B-F047-4DEA-9CAD-F7011AE33DD1}" type="datetime1">
              <a:rPr lang="en-US" smtClean="0"/>
              <a:t>1/31/2019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4A3ABE-7EE8-428A-9823-130E8679AB4E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IN" dirty="0" smtClean="0"/>
              <a:t>Analogy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0FF2FC-117A-42C4-B774-C5CD43010A5B}" type="datetime1">
              <a:rPr lang="en-US" smtClean="0"/>
              <a:t>1/31/2019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 Allahabad, Prayagraj, India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4A3ABE-7EE8-428A-9823-130E8679AB4E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pic>
        <p:nvPicPr>
          <p:cNvPr id="9" name="Content Placeholder 8" descr="laptop-cartoon-character-waving-a-greeting-vector-936229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1447800"/>
            <a:ext cx="2743200" cy="2887579"/>
          </a:xfrm>
        </p:spPr>
      </p:pic>
      <p:sp>
        <p:nvSpPr>
          <p:cNvPr id="31746" name="AutoShape 2" descr="Image result for laptop cartoon"/>
          <p:cNvSpPr>
            <a:spLocks noChangeAspect="1" noChangeArrowheads="1"/>
          </p:cNvSpPr>
          <p:nvPr/>
        </p:nvSpPr>
        <p:spPr bwMode="auto">
          <a:xfrm>
            <a:off x="155575" y="-1881188"/>
            <a:ext cx="4695825" cy="39243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" name="Picture 9" descr="micro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867400" y="1828800"/>
            <a:ext cx="2647950" cy="1724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38600" y="2438400"/>
            <a:ext cx="106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 smtClean="0"/>
              <a:t>Vs</a:t>
            </a:r>
            <a:endParaRPr lang="en-IN" sz="4000" dirty="0"/>
          </a:p>
        </p:txBody>
      </p:sp>
      <p:sp>
        <p:nvSpPr>
          <p:cNvPr id="12" name="TextBox 11"/>
          <p:cNvSpPr txBox="1"/>
          <p:nvPr/>
        </p:nvSpPr>
        <p:spPr>
          <a:xfrm>
            <a:off x="533400" y="5105400"/>
            <a:ext cx="807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 smtClean="0"/>
              <a:t>Programmability       Vs       Configurability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774998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Programmable Networks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305800" cy="4754563"/>
          </a:xfrm>
        </p:spPr>
        <p:txBody>
          <a:bodyPr/>
          <a:lstStyle/>
          <a:p>
            <a:r>
              <a:rPr lang="en-US" dirty="0" smtClean="0"/>
              <a:t>Can Networks be programmed</a:t>
            </a:r>
          </a:p>
          <a:p>
            <a:pPr lvl="1"/>
            <a:r>
              <a:rPr lang="en-US" sz="2400" dirty="0" smtClean="0"/>
              <a:t>According to Context</a:t>
            </a:r>
          </a:p>
          <a:p>
            <a:pPr lvl="1"/>
            <a:r>
              <a:rPr lang="en-US" sz="2400" dirty="0" smtClean="0"/>
              <a:t>According to application</a:t>
            </a:r>
          </a:p>
          <a:p>
            <a:r>
              <a:rPr lang="en-US" dirty="0" smtClean="0"/>
              <a:t>Vision</a:t>
            </a:r>
          </a:p>
          <a:p>
            <a:pPr lvl="1"/>
            <a:r>
              <a:rPr lang="en-US" dirty="0" smtClean="0"/>
              <a:t>Behavior, Flavor and policies of Network can be adjusted dynamically</a:t>
            </a:r>
          </a:p>
          <a:p>
            <a:pPr lvl="2"/>
            <a:r>
              <a:rPr lang="en-US" dirty="0" smtClean="0"/>
              <a:t>Based on the needs of application</a:t>
            </a:r>
          </a:p>
          <a:p>
            <a:pPr lvl="2"/>
            <a:r>
              <a:rPr lang="en-US" dirty="0" smtClean="0"/>
              <a:t>Based on the Contextual changes</a:t>
            </a:r>
          </a:p>
          <a:p>
            <a:pPr lvl="3"/>
            <a:r>
              <a:rPr lang="en-US" dirty="0" smtClean="0"/>
              <a:t>Mobility of nodes</a:t>
            </a:r>
          </a:p>
          <a:p>
            <a:pPr lvl="3"/>
            <a:r>
              <a:rPr lang="en-US" dirty="0" smtClean="0"/>
              <a:t>Migration of VMs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 Allahabad, Prayagraj, India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84B587C-983B-41D6-B725-8FE6CD653CA8}" type="datetime1">
              <a:rPr lang="en-US" smtClean="0"/>
              <a:t>1/31/2019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4A3ABE-7EE8-428A-9823-130E8679AB4E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Early efforts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Active Networks</a:t>
            </a:r>
          </a:p>
          <a:p>
            <a:pPr lvl="1"/>
            <a:r>
              <a:rPr lang="en-US" dirty="0" smtClean="0"/>
              <a:t>Where switches can perform custom computations on packets</a:t>
            </a:r>
          </a:p>
          <a:p>
            <a:pPr lvl="2"/>
            <a:r>
              <a:rPr lang="en-US" dirty="0" smtClean="0"/>
              <a:t>Packets themselves carry procedure and data</a:t>
            </a:r>
          </a:p>
          <a:p>
            <a:r>
              <a:rPr lang="en-US" dirty="0" smtClean="0"/>
              <a:t>Network  Virtualization</a:t>
            </a:r>
          </a:p>
          <a:p>
            <a:pPr lvl="1"/>
            <a:r>
              <a:rPr lang="en-US" dirty="0" smtClean="0"/>
              <a:t>Virtual Switches (1990s, </a:t>
            </a:r>
            <a:r>
              <a:rPr lang="en-US" dirty="0" err="1" smtClean="0"/>
              <a:t>Switchlets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VINI (Virtual Network Infrastructure) (2006)</a:t>
            </a:r>
          </a:p>
          <a:p>
            <a:pPr lvl="1"/>
            <a:r>
              <a:rPr lang="en-US" dirty="0" smtClean="0"/>
              <a:t>Virtual Services (</a:t>
            </a:r>
            <a:r>
              <a:rPr lang="en-US" dirty="0" err="1" smtClean="0"/>
              <a:t>Cabo</a:t>
            </a:r>
            <a:r>
              <a:rPr lang="en-US" dirty="0" smtClean="0"/>
              <a:t>) (2007)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 Allahabad, Prayagraj, India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831E3B-EF1E-4247-982A-47CFD2834A65}" type="datetime1">
              <a:rPr lang="en-US" smtClean="0"/>
              <a:t>1/31/2019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4A3ABE-7EE8-428A-9823-130E8679AB4E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dirty="0" smtClean="0"/>
              <a:t>Adaptive Networks: Flow aware routing  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152400" y="1371600"/>
            <a:ext cx="4648200" cy="4754563"/>
          </a:xfrm>
        </p:spPr>
        <p:txBody>
          <a:bodyPr/>
          <a:lstStyle/>
          <a:p>
            <a:pPr eaLnBrk="1" hangingPunct="1"/>
            <a:r>
              <a:rPr lang="en-US" sz="2400" dirty="0" smtClean="0"/>
              <a:t>Traditionally Network layer is </a:t>
            </a:r>
          </a:p>
          <a:p>
            <a:pPr lvl="1" eaLnBrk="1" hangingPunct="1"/>
            <a:r>
              <a:rPr lang="en-US" sz="2000" dirty="0" smtClean="0"/>
              <a:t>Stateless</a:t>
            </a:r>
          </a:p>
          <a:p>
            <a:pPr lvl="1" eaLnBrk="1" hangingPunct="1"/>
            <a:r>
              <a:rPr lang="en-US" sz="2000" dirty="0" smtClean="0"/>
              <a:t>Treat every incoming packet similar</a:t>
            </a:r>
          </a:p>
          <a:p>
            <a:pPr eaLnBrk="1" hangingPunct="1"/>
            <a:r>
              <a:rPr lang="en-US" sz="2400" dirty="0" smtClean="0"/>
              <a:t>Modern Sophisticated routers can</a:t>
            </a:r>
          </a:p>
          <a:p>
            <a:pPr lvl="1" eaLnBrk="1" hangingPunct="1"/>
            <a:r>
              <a:rPr lang="en-US" sz="2000" dirty="0" smtClean="0"/>
              <a:t>Learn the flows going through them</a:t>
            </a:r>
          </a:p>
          <a:p>
            <a:pPr lvl="2" eaLnBrk="1" hangingPunct="1"/>
            <a:r>
              <a:rPr lang="en-US" sz="1800" dirty="0" smtClean="0"/>
              <a:t>Maintain per flow soft state</a:t>
            </a:r>
          </a:p>
          <a:p>
            <a:pPr lvl="1" eaLnBrk="1" hangingPunct="1"/>
            <a:r>
              <a:rPr lang="en-US" sz="2000" dirty="0" smtClean="0"/>
              <a:t>Helpful in providing</a:t>
            </a:r>
          </a:p>
          <a:p>
            <a:pPr lvl="2" eaLnBrk="1" hangingPunct="1"/>
            <a:r>
              <a:rPr lang="en-US" sz="1800" dirty="0" smtClean="0"/>
              <a:t>Line-rate processing speed</a:t>
            </a:r>
          </a:p>
          <a:p>
            <a:pPr lvl="2" eaLnBrk="1" hangingPunct="1"/>
            <a:r>
              <a:rPr lang="en-US" sz="1800" dirty="0" smtClean="0"/>
              <a:t>Differentiated </a:t>
            </a:r>
            <a:r>
              <a:rPr lang="en-US" sz="1800" dirty="0" err="1" smtClean="0"/>
              <a:t>QoS</a:t>
            </a:r>
            <a:r>
              <a:rPr lang="en-US" sz="1800" dirty="0" smtClean="0"/>
              <a:t> based on the requirement</a:t>
            </a:r>
          </a:p>
          <a:p>
            <a:pPr lvl="1" eaLnBrk="1" hangingPunct="1"/>
            <a:r>
              <a:rPr lang="en-US" sz="2200" dirty="0" smtClean="0"/>
              <a:t>Dynamic creation of flow rules and classifiers</a:t>
            </a:r>
          </a:p>
          <a:p>
            <a:pPr eaLnBrk="1" hangingPunct="1">
              <a:buFont typeface="Arial" charset="0"/>
              <a:buNone/>
            </a:pPr>
            <a:endParaRPr lang="en-US" sz="2800" dirty="0" smtClean="0"/>
          </a:p>
        </p:txBody>
      </p:sp>
      <p:sp>
        <p:nvSpPr>
          <p:cNvPr id="15364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mtClean="0"/>
              <a:t>Mayank Pandey, MNNIT Allahabad, Prayagraj, India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4F240BB-6E0F-4158-A15C-E711F6B264D9}" type="datetime1">
              <a:rPr lang="en-US" smtClean="0"/>
              <a:t>1/31/2019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4A3ABE-7EE8-428A-9823-130E8679AB4E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pic>
        <p:nvPicPr>
          <p:cNvPr id="7" name="Picture 2" descr="f06-02-9780123850591 copy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00600" y="2133600"/>
            <a:ext cx="4121150" cy="268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Defined Networks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Concept of Centralized Control</a:t>
            </a:r>
          </a:p>
          <a:p>
            <a:pPr lvl="1"/>
            <a:r>
              <a:rPr lang="en-US" dirty="0" smtClean="0"/>
              <a:t>Traditional Networks have Distributed Control</a:t>
            </a:r>
          </a:p>
          <a:p>
            <a:r>
              <a:rPr lang="en-US" dirty="0" smtClean="0"/>
              <a:t>Analogous to old times of computing</a:t>
            </a:r>
          </a:p>
          <a:p>
            <a:pPr lvl="1"/>
            <a:r>
              <a:rPr lang="en-US" dirty="0" smtClean="0"/>
              <a:t>Single Mainframe</a:t>
            </a:r>
          </a:p>
          <a:p>
            <a:pPr lvl="2"/>
            <a:r>
              <a:rPr lang="en-US" dirty="0" smtClean="0"/>
              <a:t>With lots of dumb terminals</a:t>
            </a:r>
          </a:p>
          <a:p>
            <a:r>
              <a:rPr lang="en-US" dirty="0" smtClean="0"/>
              <a:t>Similarly</a:t>
            </a:r>
          </a:p>
          <a:p>
            <a:pPr lvl="1"/>
            <a:r>
              <a:rPr lang="en-US" dirty="0" smtClean="0"/>
              <a:t>Logically centralized Control/Management plane </a:t>
            </a:r>
          </a:p>
          <a:p>
            <a:pPr lvl="1"/>
            <a:r>
              <a:rPr lang="en-US" dirty="0" smtClean="0"/>
              <a:t>With network of dumb switches running data-plane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 Allahabad, Prayagraj, India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FFE1995-E32F-409F-BFBF-2E5B9E9E8614}" type="datetime1">
              <a:rPr lang="en-US" smtClean="0"/>
              <a:t>1/31/2019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20000" y="6356350"/>
            <a:ext cx="1066800" cy="365125"/>
          </a:xfrm>
        </p:spPr>
        <p:txBody>
          <a:bodyPr/>
          <a:lstStyle/>
          <a:p>
            <a:pPr>
              <a:defRPr/>
            </a:pPr>
            <a:fld id="{C54A3ABE-7EE8-428A-9823-130E8679AB4E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SDN (Abstract View)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A8CC40-C0D2-448D-BF66-B66141FFD70C}" type="datetime1">
              <a:rPr lang="en-US" smtClean="0"/>
              <a:t>1/31/2019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 Allahabad, Prayagraj, India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B326667-E6E6-4DE2-8E19-42096EDF6697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2" cstate="print"/>
          <a:srcRect l="17570" t="32292" r="37335" b="5208"/>
          <a:stretch>
            <a:fillRect/>
          </a:stretch>
        </p:blipFill>
        <p:spPr bwMode="auto">
          <a:xfrm>
            <a:off x="1371600" y="1371600"/>
            <a:ext cx="6172200" cy="4809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SDN : Important Components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800" dirty="0" smtClean="0"/>
              <a:t>How Applications can talk to Controller</a:t>
            </a:r>
          </a:p>
          <a:p>
            <a:pPr lvl="1"/>
            <a:r>
              <a:rPr lang="en-IN" sz="2400" dirty="0" smtClean="0"/>
              <a:t>Northbound APIs (e.g. REST API)</a:t>
            </a:r>
          </a:p>
          <a:p>
            <a:r>
              <a:rPr lang="en-IN" sz="2800" dirty="0" smtClean="0"/>
              <a:t>How Controller can talk to Switches (Data Plane)</a:t>
            </a:r>
          </a:p>
          <a:p>
            <a:pPr lvl="1"/>
            <a:r>
              <a:rPr lang="en-IN" sz="2400" dirty="0" smtClean="0"/>
              <a:t>Southbound API (</a:t>
            </a:r>
            <a:r>
              <a:rPr lang="en-IN" sz="2400" dirty="0" err="1" smtClean="0"/>
              <a:t>Openflow</a:t>
            </a:r>
            <a:r>
              <a:rPr lang="en-IN" sz="2400" dirty="0" smtClean="0"/>
              <a:t>, </a:t>
            </a:r>
            <a:r>
              <a:rPr lang="en-IN" sz="2400" dirty="0" err="1" smtClean="0"/>
              <a:t>ForCES</a:t>
            </a:r>
            <a:r>
              <a:rPr lang="en-IN" sz="2400" dirty="0" smtClean="0"/>
              <a:t> etc.)</a:t>
            </a:r>
          </a:p>
          <a:p>
            <a:r>
              <a:rPr lang="en-IN" sz="2800" dirty="0" smtClean="0"/>
              <a:t>How Global Network Map can be formulated</a:t>
            </a:r>
          </a:p>
          <a:p>
            <a:pPr lvl="1"/>
            <a:r>
              <a:rPr lang="en-IN" sz="2400" dirty="0" smtClean="0"/>
              <a:t>Using popular LLDP (Link layer Discovery Protocol)</a:t>
            </a:r>
          </a:p>
          <a:p>
            <a:r>
              <a:rPr lang="en-IN" sz="2800" dirty="0" smtClean="0"/>
              <a:t>How Controller can talk to other controllers</a:t>
            </a:r>
          </a:p>
          <a:p>
            <a:pPr lvl="1"/>
            <a:r>
              <a:rPr lang="en-IN" sz="2400" dirty="0" smtClean="0"/>
              <a:t>West bound API (Not standardized, usually TCP)</a:t>
            </a:r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E27E616-09D7-4581-8309-81539DD5AC5B}" type="datetime1">
              <a:rPr lang="en-US" smtClean="0"/>
              <a:t>1/31/2019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 Allahabad, Prayagraj, India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4A3ABE-7EE8-428A-9823-130E8679AB4E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SDN: Basic Architecture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17E9DC0-915A-4D03-9E6B-4B539E720B23}" type="datetime1">
              <a:rPr lang="en-US" smtClean="0"/>
              <a:t>1/31/2019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 Allahabad, Prayagraj, India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B326667-E6E6-4DE2-8E19-42096EDF6697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pic>
        <p:nvPicPr>
          <p:cNvPr id="593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52525" y="1362075"/>
            <a:ext cx="6838950" cy="488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 usage: SDN and Mobility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Can these two concepts be correlated </a:t>
            </a:r>
          </a:p>
          <a:p>
            <a:pPr lvl="1"/>
            <a:r>
              <a:rPr lang="en-IN" dirty="0" smtClean="0"/>
              <a:t>Yes Obviously</a:t>
            </a:r>
          </a:p>
          <a:p>
            <a:pPr lvl="1"/>
            <a:r>
              <a:rPr lang="en-IN" dirty="0" smtClean="0"/>
              <a:t>How???</a:t>
            </a:r>
          </a:p>
          <a:p>
            <a:pPr lvl="2" algn="ctr">
              <a:buNone/>
            </a:pPr>
            <a:r>
              <a:rPr lang="en-IN" sz="4000" dirty="0" smtClean="0">
                <a:solidFill>
                  <a:srgbClr val="FF0000"/>
                </a:solidFill>
              </a:rPr>
              <a:t>Lets see whether Audience can tell after some time!!!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CC140C0-4F83-487E-9CFF-CB6D26AA04E6}" type="datetime1">
              <a:rPr lang="en-US" smtClean="0"/>
              <a:t>1/31/2019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 Allahabad, Prayagraj, India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4A3ABE-7EE8-428A-9823-130E8679AB4E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661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Typical layout of </a:t>
            </a:r>
            <a:r>
              <a:rPr lang="en-IN" dirty="0" err="1" smtClean="0"/>
              <a:t>WiFi</a:t>
            </a:r>
            <a:r>
              <a:rPr lang="en-IN" dirty="0" smtClean="0"/>
              <a:t> Network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D2A2035-0E47-4352-99AD-E41FF71AC64B}" type="datetime1">
              <a:rPr lang="en-US" smtClean="0"/>
              <a:t>1/31/2019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 Allahabad, Prayagraj, India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B326667-E6E6-4DE2-8E19-42096EDF6697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33525"/>
            <a:ext cx="7696200" cy="4869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96563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Mobility in IP Networks: Issues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Layer-2 Mobility</a:t>
            </a:r>
          </a:p>
          <a:p>
            <a:pPr lvl="1"/>
            <a:r>
              <a:rPr lang="en-IN" dirty="0"/>
              <a:t> </a:t>
            </a:r>
            <a:r>
              <a:rPr lang="en-IN" dirty="0" smtClean="0"/>
              <a:t>when a node moves within a subnet</a:t>
            </a:r>
          </a:p>
          <a:p>
            <a:pPr lvl="2"/>
            <a:r>
              <a:rPr lang="en-IN" dirty="0" smtClean="0"/>
              <a:t>From range of one WAP to another</a:t>
            </a:r>
          </a:p>
          <a:p>
            <a:pPr lvl="1"/>
            <a:r>
              <a:rPr lang="en-IN" dirty="0" smtClean="0"/>
              <a:t>Challenges: </a:t>
            </a:r>
          </a:p>
          <a:p>
            <a:pPr lvl="2"/>
            <a:r>
              <a:rPr lang="en-IN" dirty="0" smtClean="0"/>
              <a:t>Possibility of packet loss (IEEE 802.11 is “break before make”)</a:t>
            </a:r>
          </a:p>
          <a:p>
            <a:pPr lvl="2"/>
            <a:r>
              <a:rPr lang="en-IN" dirty="0" smtClean="0"/>
              <a:t>MAC tables of self-learning Infrastructure layer-2 switches are required to be modified 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EB3AE30-79F6-4664-AB1F-C21C3EEBBB65}" type="datetime1">
              <a:rPr lang="en-US" smtClean="0"/>
              <a:t>1/31/2019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 Allahabad, Prayagraj, India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4A3ABE-7EE8-428A-9823-130E8679AB4E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588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Mobility in IP Networks: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Layer-3 Mobility</a:t>
            </a:r>
          </a:p>
          <a:p>
            <a:pPr lvl="1"/>
            <a:r>
              <a:rPr lang="en-IN" dirty="0" smtClean="0"/>
              <a:t>When a node moves across different subnets</a:t>
            </a:r>
          </a:p>
          <a:p>
            <a:pPr lvl="1"/>
            <a:r>
              <a:rPr lang="en-IN" dirty="0" smtClean="0"/>
              <a:t>Challenges:</a:t>
            </a:r>
          </a:p>
          <a:p>
            <a:pPr lvl="2"/>
            <a:r>
              <a:rPr lang="en-IN" dirty="0" smtClean="0"/>
              <a:t>Network prefix changes </a:t>
            </a:r>
          </a:p>
          <a:p>
            <a:pPr lvl="2"/>
            <a:r>
              <a:rPr lang="en-IN" dirty="0" smtClean="0"/>
              <a:t>Mobile node needs to change its IP address</a:t>
            </a:r>
          </a:p>
          <a:p>
            <a:pPr lvl="3"/>
            <a:r>
              <a:rPr lang="en-IN" dirty="0" smtClean="0"/>
              <a:t>Results in termination of on-going sessions</a:t>
            </a:r>
          </a:p>
          <a:p>
            <a:pPr lvl="1"/>
            <a:r>
              <a:rPr lang="en-IN" dirty="0" smtClean="0"/>
              <a:t>Use Mobile IP concepts</a:t>
            </a:r>
          </a:p>
          <a:p>
            <a:pPr lvl="2"/>
            <a:r>
              <a:rPr lang="en-IN" dirty="0" smtClean="0"/>
              <a:t>Though promising but very few deployable products</a:t>
            </a:r>
          </a:p>
          <a:p>
            <a:pPr lvl="3"/>
            <a:r>
              <a:rPr lang="en-IN" dirty="0" smtClean="0"/>
              <a:t>Issues of triangular and sub-optimal routing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E3265B9-31B1-492C-836F-3EDC0522B118}" type="datetime1">
              <a:rPr lang="en-US" smtClean="0"/>
              <a:t>1/31/2019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 Allahabad, Prayagraj, India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4A3ABE-7EE8-428A-9823-130E8679AB4E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394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Mobility in IP Networks: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Effect on TCP</a:t>
            </a:r>
          </a:p>
          <a:p>
            <a:pPr lvl="1"/>
            <a:r>
              <a:rPr lang="en-IN" dirty="0" smtClean="0"/>
              <a:t>TCP takes loss of packet as implicit signal of Congestion</a:t>
            </a:r>
          </a:p>
          <a:p>
            <a:pPr lvl="2"/>
            <a:r>
              <a:rPr lang="en-IN" dirty="0" smtClean="0"/>
              <a:t>Enters into congestion control</a:t>
            </a:r>
          </a:p>
          <a:p>
            <a:pPr lvl="3"/>
            <a:r>
              <a:rPr lang="en-IN" dirty="0" smtClean="0"/>
              <a:t>Slows down transmission rate</a:t>
            </a:r>
          </a:p>
          <a:p>
            <a:pPr lvl="2"/>
            <a:r>
              <a:rPr lang="en-IN" dirty="0" smtClean="0"/>
              <a:t>Sender may remain idle even if receiver is re-associated</a:t>
            </a:r>
          </a:p>
          <a:p>
            <a:pPr lvl="3"/>
            <a:r>
              <a:rPr lang="en-IN" dirty="0" smtClean="0"/>
              <a:t>Due to doubling of RTO at each missed ACK.</a:t>
            </a:r>
          </a:p>
          <a:p>
            <a:pPr lvl="1"/>
            <a:r>
              <a:rPr lang="en-IN" dirty="0" smtClean="0"/>
              <a:t>True assumption for wired networks</a:t>
            </a:r>
          </a:p>
          <a:p>
            <a:pPr lvl="2"/>
            <a:r>
              <a:rPr lang="en-IN" dirty="0" smtClean="0"/>
              <a:t>Very unreal for wireless networks</a:t>
            </a:r>
          </a:p>
          <a:p>
            <a:pPr lvl="3"/>
            <a:r>
              <a:rPr lang="en-IN" dirty="0" smtClean="0"/>
              <a:t>Most of packet losses are mobility induced</a:t>
            </a:r>
          </a:p>
          <a:p>
            <a:pPr lvl="3"/>
            <a:r>
              <a:rPr lang="en-IN" dirty="0" smtClean="0"/>
              <a:t>During handover from one POA to another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ADA78A-46B4-4769-A778-94378183082D}" type="datetime1">
              <a:rPr lang="en-US" smtClean="0"/>
              <a:t>1/31/2019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 Allahabad, Prayagraj, India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4A3ABE-7EE8-428A-9823-130E8679AB4E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725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Layer-2 Switch</a:t>
            </a:r>
            <a:r>
              <a:rPr lang="en-US" dirty="0"/>
              <a:t>: self-learning</a:t>
            </a:r>
          </a:p>
        </p:txBody>
      </p:sp>
      <p:sp>
        <p:nvSpPr>
          <p:cNvPr id="420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0850" y="1547813"/>
            <a:ext cx="4202113" cy="4114800"/>
          </a:xfrm>
        </p:spPr>
        <p:txBody>
          <a:bodyPr/>
          <a:lstStyle/>
          <a:p>
            <a:r>
              <a:rPr lang="en-US" sz="2400"/>
              <a:t>switch</a:t>
            </a:r>
            <a:r>
              <a:rPr lang="en-US" sz="2400">
                <a:solidFill>
                  <a:srgbClr val="FF0000"/>
                </a:solidFill>
              </a:rPr>
              <a:t> </a:t>
            </a:r>
            <a:r>
              <a:rPr lang="en-US" sz="2400" i="1">
                <a:solidFill>
                  <a:srgbClr val="FF0000"/>
                </a:solidFill>
              </a:rPr>
              <a:t>learns</a:t>
            </a:r>
            <a:r>
              <a:rPr lang="en-US" sz="2400"/>
              <a:t> which hosts can be reached through which interfaces</a:t>
            </a:r>
          </a:p>
          <a:p>
            <a:pPr lvl="1"/>
            <a:r>
              <a:rPr lang="en-US" sz="2000"/>
              <a:t>when frame received, switch “learns”  location of sender: incoming LAN segment</a:t>
            </a:r>
          </a:p>
          <a:p>
            <a:pPr lvl="1"/>
            <a:r>
              <a:rPr lang="en-US" sz="2000"/>
              <a:t>records sender/location pair in switch table</a:t>
            </a:r>
          </a:p>
        </p:txBody>
      </p:sp>
      <p:graphicFrame>
        <p:nvGraphicFramePr>
          <p:cNvPr id="420868" name="Object 4"/>
          <p:cNvGraphicFramePr>
            <a:graphicFrameLocks noChangeAspect="1"/>
          </p:cNvGraphicFramePr>
          <p:nvPr/>
        </p:nvGraphicFramePr>
        <p:xfrm>
          <a:off x="5029200" y="2185988"/>
          <a:ext cx="611188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8" name="Clip" r:id="rId4" imgW="1305000" imgH="1085760" progId="MS_ClipArt_Gallery.2">
                  <p:embed/>
                </p:oleObj>
              </mc:Choice>
              <mc:Fallback>
                <p:oleObj name="Clip" r:id="rId4" imgW="1305000" imgH="108576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2185988"/>
                        <a:ext cx="611188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69" name="Object 5"/>
          <p:cNvGraphicFramePr>
            <a:graphicFrameLocks noChangeAspect="1"/>
          </p:cNvGraphicFramePr>
          <p:nvPr/>
        </p:nvGraphicFramePr>
        <p:xfrm>
          <a:off x="7686675" y="3311525"/>
          <a:ext cx="611188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" name="Clip" r:id="rId6" imgW="1305000" imgH="1085760" progId="MS_ClipArt_Gallery.2">
                  <p:embed/>
                </p:oleObj>
              </mc:Choice>
              <mc:Fallback>
                <p:oleObj name="Clip" r:id="rId6" imgW="1305000" imgH="108576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6675" y="3311525"/>
                        <a:ext cx="611188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870" name="Line 6"/>
          <p:cNvSpPr>
            <a:spLocks noChangeShapeType="1"/>
          </p:cNvSpPr>
          <p:nvPr/>
        </p:nvSpPr>
        <p:spPr bwMode="auto">
          <a:xfrm>
            <a:off x="5575300" y="2582863"/>
            <a:ext cx="754063" cy="4333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20871" name="Line 7"/>
          <p:cNvSpPr>
            <a:spLocks noChangeShapeType="1"/>
          </p:cNvSpPr>
          <p:nvPr/>
        </p:nvSpPr>
        <p:spPr bwMode="auto">
          <a:xfrm flipV="1">
            <a:off x="5637213" y="3200400"/>
            <a:ext cx="679450" cy="655638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20872" name="Line 8"/>
          <p:cNvSpPr>
            <a:spLocks noChangeShapeType="1"/>
          </p:cNvSpPr>
          <p:nvPr/>
        </p:nvSpPr>
        <p:spPr bwMode="auto">
          <a:xfrm flipV="1">
            <a:off x="6761163" y="2533650"/>
            <a:ext cx="593725" cy="4079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20873" name="Line 9"/>
          <p:cNvSpPr>
            <a:spLocks noChangeShapeType="1"/>
          </p:cNvSpPr>
          <p:nvPr/>
        </p:nvSpPr>
        <p:spPr bwMode="auto">
          <a:xfrm>
            <a:off x="6835775" y="3016250"/>
            <a:ext cx="939800" cy="3952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420874" name="Object 10"/>
          <p:cNvGraphicFramePr>
            <a:graphicFrameLocks noChangeAspect="1"/>
          </p:cNvGraphicFramePr>
          <p:nvPr/>
        </p:nvGraphicFramePr>
        <p:xfrm>
          <a:off x="5365750" y="3836988"/>
          <a:ext cx="611188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" name="Clip" r:id="rId7" imgW="1305000" imgH="1085760" progId="MS_ClipArt_Gallery.2">
                  <p:embed/>
                </p:oleObj>
              </mc:Choice>
              <mc:Fallback>
                <p:oleObj name="Clip" r:id="rId7" imgW="1305000" imgH="108576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5750" y="3836988"/>
                        <a:ext cx="611188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75" name="Object 11"/>
          <p:cNvGraphicFramePr>
            <a:graphicFrameLocks noChangeAspect="1"/>
          </p:cNvGraphicFramePr>
          <p:nvPr/>
        </p:nvGraphicFramePr>
        <p:xfrm>
          <a:off x="7297738" y="2201863"/>
          <a:ext cx="611187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" name="Clip" r:id="rId8" imgW="1305000" imgH="1085760" progId="MS_ClipArt_Gallery.2">
                  <p:embed/>
                </p:oleObj>
              </mc:Choice>
              <mc:Fallback>
                <p:oleObj name="Clip" r:id="rId8" imgW="1305000" imgH="108576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7738" y="2201863"/>
                        <a:ext cx="611187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76" name="Object 12"/>
          <p:cNvGraphicFramePr>
            <a:graphicFrameLocks noChangeAspect="1"/>
          </p:cNvGraphicFramePr>
          <p:nvPr/>
        </p:nvGraphicFramePr>
        <p:xfrm>
          <a:off x="6203950" y="1622425"/>
          <a:ext cx="611188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2" name="Clip" r:id="rId9" imgW="1305000" imgH="1085760" progId="MS_ClipArt_Gallery.2">
                  <p:embed/>
                </p:oleObj>
              </mc:Choice>
              <mc:Fallback>
                <p:oleObj name="Clip" r:id="rId9" imgW="1305000" imgH="108576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3950" y="1622425"/>
                        <a:ext cx="611188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877" name="Line 13"/>
          <p:cNvSpPr>
            <a:spLocks noChangeShapeType="1"/>
          </p:cNvSpPr>
          <p:nvPr/>
        </p:nvSpPr>
        <p:spPr bwMode="auto">
          <a:xfrm flipH="1" flipV="1">
            <a:off x="6529388" y="2132013"/>
            <a:ext cx="11112" cy="7810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420878" name="Object 14"/>
          <p:cNvGraphicFramePr>
            <a:graphicFrameLocks noChangeAspect="1"/>
          </p:cNvGraphicFramePr>
          <p:nvPr/>
        </p:nvGraphicFramePr>
        <p:xfrm>
          <a:off x="6523038" y="3951288"/>
          <a:ext cx="611187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3" name="Clip" r:id="rId10" imgW="1305000" imgH="1085760" progId="MS_ClipArt_Gallery.2">
                  <p:embed/>
                </p:oleObj>
              </mc:Choice>
              <mc:Fallback>
                <p:oleObj name="Clip" r:id="rId10" imgW="1305000" imgH="108576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3038" y="3951288"/>
                        <a:ext cx="611187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879" name="Line 15"/>
          <p:cNvSpPr>
            <a:spLocks noChangeShapeType="1"/>
          </p:cNvSpPr>
          <p:nvPr/>
        </p:nvSpPr>
        <p:spPr bwMode="auto">
          <a:xfrm flipH="1" flipV="1">
            <a:off x="6538913" y="3159125"/>
            <a:ext cx="204787" cy="8080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20880" name="Text Box 16"/>
          <p:cNvSpPr txBox="1">
            <a:spLocks noChangeArrowheads="1"/>
          </p:cNvSpPr>
          <p:nvPr/>
        </p:nvSpPr>
        <p:spPr bwMode="auto">
          <a:xfrm>
            <a:off x="6411913" y="1243013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i="0"/>
              <a:t>A</a:t>
            </a:r>
          </a:p>
        </p:txBody>
      </p:sp>
      <p:sp>
        <p:nvSpPr>
          <p:cNvPr id="420881" name="Text Box 17"/>
          <p:cNvSpPr txBox="1">
            <a:spLocks noChangeArrowheads="1"/>
          </p:cNvSpPr>
          <p:nvPr/>
        </p:nvSpPr>
        <p:spPr bwMode="auto">
          <a:xfrm>
            <a:off x="6605588" y="4502150"/>
            <a:ext cx="3921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i="0"/>
              <a:t>A’</a:t>
            </a:r>
          </a:p>
        </p:txBody>
      </p:sp>
      <p:sp>
        <p:nvSpPr>
          <p:cNvPr id="420882" name="Text Box 18"/>
          <p:cNvSpPr txBox="1">
            <a:spLocks noChangeArrowheads="1"/>
          </p:cNvSpPr>
          <p:nvPr/>
        </p:nvSpPr>
        <p:spPr bwMode="auto">
          <a:xfrm>
            <a:off x="7827963" y="1912938"/>
            <a:ext cx="3286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i="0"/>
              <a:t>B</a:t>
            </a:r>
          </a:p>
        </p:txBody>
      </p:sp>
      <p:sp>
        <p:nvSpPr>
          <p:cNvPr id="420883" name="Text Box 19"/>
          <p:cNvSpPr txBox="1">
            <a:spLocks noChangeArrowheads="1"/>
          </p:cNvSpPr>
          <p:nvPr/>
        </p:nvSpPr>
        <p:spPr bwMode="auto">
          <a:xfrm>
            <a:off x="5497513" y="4398963"/>
            <a:ext cx="3698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i="0"/>
              <a:t>B’</a:t>
            </a:r>
          </a:p>
        </p:txBody>
      </p:sp>
      <p:sp>
        <p:nvSpPr>
          <p:cNvPr id="420884" name="Text Box 20"/>
          <p:cNvSpPr txBox="1">
            <a:spLocks noChangeArrowheads="1"/>
          </p:cNvSpPr>
          <p:nvPr/>
        </p:nvSpPr>
        <p:spPr bwMode="auto">
          <a:xfrm>
            <a:off x="7918450" y="3779838"/>
            <a:ext cx="3222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i="0"/>
              <a:t>C</a:t>
            </a:r>
          </a:p>
        </p:txBody>
      </p:sp>
      <p:sp>
        <p:nvSpPr>
          <p:cNvPr id="420885" name="Text Box 21"/>
          <p:cNvSpPr txBox="1">
            <a:spLocks noChangeArrowheads="1"/>
          </p:cNvSpPr>
          <p:nvPr/>
        </p:nvSpPr>
        <p:spPr bwMode="auto">
          <a:xfrm>
            <a:off x="5006975" y="1860550"/>
            <a:ext cx="3635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i="0"/>
              <a:t>C’</a:t>
            </a:r>
          </a:p>
        </p:txBody>
      </p:sp>
      <p:grpSp>
        <p:nvGrpSpPr>
          <p:cNvPr id="420886" name="Group 22"/>
          <p:cNvGrpSpPr>
            <a:grpSpLocks/>
          </p:cNvGrpSpPr>
          <p:nvPr/>
        </p:nvGrpSpPr>
        <p:grpSpPr bwMode="auto">
          <a:xfrm>
            <a:off x="6145213" y="2936875"/>
            <a:ext cx="720725" cy="279400"/>
            <a:chOff x="3913" y="3140"/>
            <a:chExt cx="454" cy="176"/>
          </a:xfrm>
        </p:grpSpPr>
        <p:sp>
          <p:nvSpPr>
            <p:cNvPr id="420887" name="Rectangle 23"/>
            <p:cNvSpPr>
              <a:spLocks noChangeArrowheads="1"/>
            </p:cNvSpPr>
            <p:nvPr/>
          </p:nvSpPr>
          <p:spPr bwMode="auto">
            <a:xfrm>
              <a:off x="3913" y="3228"/>
              <a:ext cx="407" cy="88"/>
            </a:xfrm>
            <a:prstGeom prst="rect">
              <a:avLst/>
            </a:prstGeom>
            <a:solidFill>
              <a:schemeClr val="hlink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l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hlink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IN"/>
            </a:p>
          </p:txBody>
        </p:sp>
        <p:sp>
          <p:nvSpPr>
            <p:cNvPr id="420888" name="Freeform 24"/>
            <p:cNvSpPr>
              <a:spLocks/>
            </p:cNvSpPr>
            <p:nvPr/>
          </p:nvSpPr>
          <p:spPr bwMode="auto">
            <a:xfrm>
              <a:off x="3958" y="3145"/>
              <a:ext cx="409" cy="68"/>
            </a:xfrm>
            <a:custGeom>
              <a:avLst/>
              <a:gdLst>
                <a:gd name="T0" fmla="*/ 0 w 280"/>
                <a:gd name="T1" fmla="*/ 63 h 63"/>
                <a:gd name="T2" fmla="*/ 37 w 280"/>
                <a:gd name="T3" fmla="*/ 62 h 63"/>
                <a:gd name="T4" fmla="*/ 219 w 280"/>
                <a:gd name="T5" fmla="*/ 0 h 63"/>
                <a:gd name="T6" fmla="*/ 280 w 280"/>
                <a:gd name="T7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0" h="63">
                  <a:moveTo>
                    <a:pt x="0" y="63"/>
                  </a:moveTo>
                  <a:lnTo>
                    <a:pt x="37" y="62"/>
                  </a:lnTo>
                  <a:lnTo>
                    <a:pt x="219" y="0"/>
                  </a:lnTo>
                  <a:lnTo>
                    <a:pt x="28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420889" name="Freeform 25"/>
            <p:cNvSpPr>
              <a:spLocks/>
            </p:cNvSpPr>
            <p:nvPr/>
          </p:nvSpPr>
          <p:spPr bwMode="auto">
            <a:xfrm>
              <a:off x="4044" y="3140"/>
              <a:ext cx="251" cy="75"/>
            </a:xfrm>
            <a:custGeom>
              <a:avLst/>
              <a:gdLst>
                <a:gd name="T0" fmla="*/ 0 w 148"/>
                <a:gd name="T1" fmla="*/ 0 h 74"/>
                <a:gd name="T2" fmla="*/ 40 w 148"/>
                <a:gd name="T3" fmla="*/ 0 h 74"/>
                <a:gd name="T4" fmla="*/ 102 w 148"/>
                <a:gd name="T5" fmla="*/ 74 h 74"/>
                <a:gd name="T6" fmla="*/ 148 w 148"/>
                <a:gd name="T7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8" h="74">
                  <a:moveTo>
                    <a:pt x="0" y="0"/>
                  </a:moveTo>
                  <a:lnTo>
                    <a:pt x="40" y="0"/>
                  </a:lnTo>
                  <a:lnTo>
                    <a:pt x="102" y="74"/>
                  </a:lnTo>
                  <a:lnTo>
                    <a:pt x="148" y="74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</p:grpSp>
      <p:sp>
        <p:nvSpPr>
          <p:cNvPr id="420890" name="Text Box 26"/>
          <p:cNvSpPr txBox="1">
            <a:spLocks noChangeArrowheads="1"/>
          </p:cNvSpPr>
          <p:nvPr/>
        </p:nvSpPr>
        <p:spPr bwMode="auto">
          <a:xfrm>
            <a:off x="6286500" y="2606675"/>
            <a:ext cx="2873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i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20891" name="Text Box 27"/>
          <p:cNvSpPr txBox="1">
            <a:spLocks noChangeArrowheads="1"/>
          </p:cNvSpPr>
          <p:nvPr/>
        </p:nvSpPr>
        <p:spPr bwMode="auto">
          <a:xfrm>
            <a:off x="6619875" y="2632075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i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20892" name="Text Box 28"/>
          <p:cNvSpPr txBox="1">
            <a:spLocks noChangeArrowheads="1"/>
          </p:cNvSpPr>
          <p:nvPr/>
        </p:nvSpPr>
        <p:spPr bwMode="auto">
          <a:xfrm>
            <a:off x="6897688" y="2784475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i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420893" name="Text Box 29"/>
          <p:cNvSpPr txBox="1">
            <a:spLocks noChangeArrowheads="1"/>
          </p:cNvSpPr>
          <p:nvPr/>
        </p:nvSpPr>
        <p:spPr bwMode="auto">
          <a:xfrm>
            <a:off x="6581775" y="3165475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i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420894" name="Text Box 30"/>
          <p:cNvSpPr txBox="1">
            <a:spLocks noChangeArrowheads="1"/>
          </p:cNvSpPr>
          <p:nvPr/>
        </p:nvSpPr>
        <p:spPr bwMode="auto">
          <a:xfrm>
            <a:off x="6151563" y="3227388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i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420895" name="Text Box 31"/>
          <p:cNvSpPr txBox="1">
            <a:spLocks noChangeArrowheads="1"/>
          </p:cNvSpPr>
          <p:nvPr/>
        </p:nvSpPr>
        <p:spPr bwMode="auto">
          <a:xfrm>
            <a:off x="5892800" y="2830513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i="0">
                <a:solidFill>
                  <a:srgbClr val="FF0000"/>
                </a:solidFill>
              </a:rPr>
              <a:t>6</a:t>
            </a:r>
          </a:p>
        </p:txBody>
      </p:sp>
      <p:grpSp>
        <p:nvGrpSpPr>
          <p:cNvPr id="420900" name="Group 36"/>
          <p:cNvGrpSpPr>
            <a:grpSpLocks/>
          </p:cNvGrpSpPr>
          <p:nvPr/>
        </p:nvGrpSpPr>
        <p:grpSpPr bwMode="auto">
          <a:xfrm>
            <a:off x="6778625" y="1223963"/>
            <a:ext cx="1428750" cy="366712"/>
            <a:chOff x="1750" y="3514"/>
            <a:chExt cx="900" cy="231"/>
          </a:xfrm>
        </p:grpSpPr>
        <p:sp>
          <p:nvSpPr>
            <p:cNvPr id="420896" name="Rectangle 32"/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897" name="Text Box 33"/>
            <p:cNvSpPr txBox="1">
              <a:spLocks noChangeArrowheads="1"/>
            </p:cNvSpPr>
            <p:nvPr/>
          </p:nvSpPr>
          <p:spPr bwMode="auto">
            <a:xfrm>
              <a:off x="1750" y="3514"/>
              <a:ext cx="39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i="0">
                  <a:solidFill>
                    <a:schemeClr val="bg1"/>
                  </a:solidFill>
                </a:rPr>
                <a:t>A A’</a:t>
              </a:r>
            </a:p>
          </p:txBody>
        </p:sp>
        <p:sp>
          <p:nvSpPr>
            <p:cNvPr id="420898" name="Line 34"/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420899" name="Line 35"/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</p:grpSp>
      <p:grpSp>
        <p:nvGrpSpPr>
          <p:cNvPr id="420905" name="Group 41"/>
          <p:cNvGrpSpPr>
            <a:grpSpLocks/>
          </p:cNvGrpSpPr>
          <p:nvPr/>
        </p:nvGrpSpPr>
        <p:grpSpPr bwMode="auto">
          <a:xfrm>
            <a:off x="6994525" y="525463"/>
            <a:ext cx="1498600" cy="714375"/>
            <a:chOff x="4406" y="331"/>
            <a:chExt cx="944" cy="450"/>
          </a:xfrm>
        </p:grpSpPr>
        <p:sp>
          <p:nvSpPr>
            <p:cNvPr id="420901" name="Line 37"/>
            <p:cNvSpPr>
              <a:spLocks noChangeShapeType="1"/>
            </p:cNvSpPr>
            <p:nvPr/>
          </p:nvSpPr>
          <p:spPr bwMode="auto">
            <a:xfrm flipV="1">
              <a:off x="4406" y="439"/>
              <a:ext cx="252" cy="3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420902" name="Line 38"/>
            <p:cNvSpPr>
              <a:spLocks noChangeShapeType="1"/>
            </p:cNvSpPr>
            <p:nvPr/>
          </p:nvSpPr>
          <p:spPr bwMode="auto">
            <a:xfrm flipV="1">
              <a:off x="4524" y="594"/>
              <a:ext cx="137" cy="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420903" name="Text Box 39"/>
            <p:cNvSpPr txBox="1">
              <a:spLocks noChangeArrowheads="1"/>
            </p:cNvSpPr>
            <p:nvPr/>
          </p:nvSpPr>
          <p:spPr bwMode="auto">
            <a:xfrm>
              <a:off x="4643" y="331"/>
              <a:ext cx="70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i="0"/>
                <a:t>Source: A</a:t>
              </a:r>
            </a:p>
          </p:txBody>
        </p:sp>
        <p:sp>
          <p:nvSpPr>
            <p:cNvPr id="420904" name="Text Box 40"/>
            <p:cNvSpPr txBox="1">
              <a:spLocks noChangeArrowheads="1"/>
            </p:cNvSpPr>
            <p:nvPr/>
          </p:nvSpPr>
          <p:spPr bwMode="auto">
            <a:xfrm>
              <a:off x="4660" y="492"/>
              <a:ext cx="593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i="0"/>
                <a:t>Dest: A’</a:t>
              </a:r>
            </a:p>
          </p:txBody>
        </p:sp>
      </p:grpSp>
      <p:grpSp>
        <p:nvGrpSpPr>
          <p:cNvPr id="420911" name="Group 47"/>
          <p:cNvGrpSpPr>
            <a:grpSpLocks/>
          </p:cNvGrpSpPr>
          <p:nvPr/>
        </p:nvGrpSpPr>
        <p:grpSpPr bwMode="auto">
          <a:xfrm>
            <a:off x="3094604" y="4950733"/>
            <a:ext cx="3283140" cy="1444625"/>
            <a:chOff x="3441" y="3154"/>
            <a:chExt cx="1959" cy="910"/>
          </a:xfrm>
        </p:grpSpPr>
        <p:sp>
          <p:nvSpPr>
            <p:cNvPr id="420907" name="Rectangle 43"/>
            <p:cNvSpPr>
              <a:spLocks noChangeArrowheads="1"/>
            </p:cNvSpPr>
            <p:nvPr/>
          </p:nvSpPr>
          <p:spPr bwMode="auto">
            <a:xfrm>
              <a:off x="3449" y="3154"/>
              <a:ext cx="1893" cy="90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20906" name="Text Box 42"/>
            <p:cNvSpPr txBox="1">
              <a:spLocks noChangeArrowheads="1"/>
            </p:cNvSpPr>
            <p:nvPr/>
          </p:nvSpPr>
          <p:spPr bwMode="auto">
            <a:xfrm>
              <a:off x="3441" y="3175"/>
              <a:ext cx="195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i="0" dirty="0"/>
                <a:t>MAC </a:t>
              </a:r>
              <a:r>
                <a:rPr lang="en-US" i="0" dirty="0" err="1"/>
                <a:t>addr</a:t>
              </a:r>
              <a:r>
                <a:rPr lang="en-US" i="0" dirty="0"/>
                <a:t>  </a:t>
              </a:r>
              <a:r>
                <a:rPr lang="en-US" i="0" dirty="0" smtClean="0"/>
                <a:t>  interface        TTL</a:t>
              </a:r>
              <a:endParaRPr lang="en-US" i="0" dirty="0"/>
            </a:p>
          </p:txBody>
        </p:sp>
        <p:sp>
          <p:nvSpPr>
            <p:cNvPr id="420908" name="Line 44"/>
            <p:cNvSpPr>
              <a:spLocks noChangeShapeType="1"/>
            </p:cNvSpPr>
            <p:nvPr/>
          </p:nvSpPr>
          <p:spPr bwMode="auto">
            <a:xfrm>
              <a:off x="4226" y="3154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420909" name="Line 45"/>
            <p:cNvSpPr>
              <a:spLocks noChangeShapeType="1"/>
            </p:cNvSpPr>
            <p:nvPr/>
          </p:nvSpPr>
          <p:spPr bwMode="auto">
            <a:xfrm>
              <a:off x="4963" y="3157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420910" name="Line 46"/>
            <p:cNvSpPr>
              <a:spLocks noChangeShapeType="1"/>
            </p:cNvSpPr>
            <p:nvPr/>
          </p:nvSpPr>
          <p:spPr bwMode="auto">
            <a:xfrm>
              <a:off x="3452" y="3397"/>
              <a:ext cx="18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</p:grpSp>
      <p:sp>
        <p:nvSpPr>
          <p:cNvPr id="420912" name="Text Box 48"/>
          <p:cNvSpPr txBox="1">
            <a:spLocks noChangeArrowheads="1"/>
          </p:cNvSpPr>
          <p:nvPr/>
        </p:nvSpPr>
        <p:spPr bwMode="auto">
          <a:xfrm>
            <a:off x="6488113" y="5352371"/>
            <a:ext cx="18510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/>
              <a:t>Switch table </a:t>
            </a:r>
          </a:p>
          <a:p>
            <a:pPr algn="ctr"/>
            <a:r>
              <a:rPr lang="en-US"/>
              <a:t>(initially empty)</a:t>
            </a:r>
          </a:p>
        </p:txBody>
      </p:sp>
      <p:grpSp>
        <p:nvGrpSpPr>
          <p:cNvPr id="420917" name="Group 53"/>
          <p:cNvGrpSpPr>
            <a:grpSpLocks/>
          </p:cNvGrpSpPr>
          <p:nvPr/>
        </p:nvGrpSpPr>
        <p:grpSpPr bwMode="auto">
          <a:xfrm>
            <a:off x="3771900" y="5370513"/>
            <a:ext cx="2493963" cy="374650"/>
            <a:chOff x="2376" y="3383"/>
            <a:chExt cx="1571" cy="236"/>
          </a:xfrm>
        </p:grpSpPr>
        <p:sp>
          <p:nvSpPr>
            <p:cNvPr id="420913" name="Text Box 49"/>
            <p:cNvSpPr txBox="1">
              <a:spLocks noChangeArrowheads="1"/>
            </p:cNvSpPr>
            <p:nvPr/>
          </p:nvSpPr>
          <p:spPr bwMode="auto">
            <a:xfrm>
              <a:off x="2376" y="3388"/>
              <a:ext cx="22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A</a:t>
              </a:r>
            </a:p>
          </p:txBody>
        </p:sp>
        <p:sp>
          <p:nvSpPr>
            <p:cNvPr id="420914" name="Text Box 50"/>
            <p:cNvSpPr txBox="1">
              <a:spLocks noChangeArrowheads="1"/>
            </p:cNvSpPr>
            <p:nvPr/>
          </p:nvSpPr>
          <p:spPr bwMode="auto">
            <a:xfrm>
              <a:off x="3133" y="3387"/>
              <a:ext cx="18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1</a:t>
              </a:r>
            </a:p>
          </p:txBody>
        </p:sp>
        <p:sp>
          <p:nvSpPr>
            <p:cNvPr id="420915" name="Text Box 51"/>
            <p:cNvSpPr txBox="1">
              <a:spLocks noChangeArrowheads="1"/>
            </p:cNvSpPr>
            <p:nvPr/>
          </p:nvSpPr>
          <p:spPr bwMode="auto">
            <a:xfrm>
              <a:off x="3655" y="3383"/>
              <a:ext cx="2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60</a:t>
              </a:r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 Allahabad, Prayagraj, India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4A3ABE-7EE8-428A-9823-130E8679AB4E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213148C-A91E-4E4A-AE1B-0F0198306989}" type="datetime1">
              <a:rPr lang="en-US" smtClean="0"/>
              <a:t>1/31/2019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2077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20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20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20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2.59259E-6 L -0.10694 0.11482 L -0.10694 0.24329 " pathEditMode="relative" rAng="0" ptsTypes="AAA">
                                      <p:cBhvr>
                                        <p:cTn id="24" dur="2000" fill="hold"/>
                                        <p:tgtEl>
                                          <p:spTgt spid="4209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47" y="121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20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91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/>
          <p:cNvSpPr>
            <a:spLocks noGrp="1" noChangeArrowheads="1"/>
          </p:cNvSpPr>
          <p:nvPr>
            <p:ph type="title"/>
          </p:nvPr>
        </p:nvSpPr>
        <p:spPr>
          <a:xfrm>
            <a:off x="509588" y="152400"/>
            <a:ext cx="7772400" cy="1143000"/>
          </a:xfrm>
        </p:spPr>
        <p:txBody>
          <a:bodyPr/>
          <a:lstStyle/>
          <a:p>
            <a:r>
              <a:rPr lang="en-US" sz="3600" dirty="0"/>
              <a:t>Switch: frame filtering/forwarding</a:t>
            </a:r>
          </a:p>
        </p:txBody>
      </p:sp>
      <p:sp>
        <p:nvSpPr>
          <p:cNvPr id="421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0238" y="1281113"/>
            <a:ext cx="8201025" cy="3748087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400" u="sng" dirty="0">
                <a:solidFill>
                  <a:srgbClr val="FF0000"/>
                </a:solidFill>
              </a:rPr>
              <a:t>When  frame received:</a:t>
            </a:r>
            <a:br>
              <a:rPr lang="en-US" sz="2400" u="sng" dirty="0">
                <a:solidFill>
                  <a:srgbClr val="FF0000"/>
                </a:solidFill>
              </a:rPr>
            </a:br>
            <a:endParaRPr lang="en-US" sz="2400" u="sng" dirty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None/>
            </a:pPr>
            <a:r>
              <a:rPr lang="en-US" sz="2400" dirty="0"/>
              <a:t>1. record link associated with sending host</a:t>
            </a:r>
          </a:p>
          <a:p>
            <a:pPr>
              <a:buFont typeface="Wingdings" pitchFamily="2" charset="2"/>
              <a:buNone/>
            </a:pPr>
            <a:r>
              <a:rPr lang="en-US" sz="2400" dirty="0"/>
              <a:t>2. index switch table using MAC </a:t>
            </a:r>
            <a:r>
              <a:rPr lang="en-US" sz="2400" dirty="0" err="1"/>
              <a:t>dest</a:t>
            </a:r>
            <a:r>
              <a:rPr lang="en-US" sz="2400" dirty="0"/>
              <a:t> address</a:t>
            </a:r>
            <a:endParaRPr lang="en-US" sz="2400" b="1" dirty="0">
              <a:solidFill>
                <a:schemeClr val="accent2"/>
              </a:solidFill>
            </a:endParaRPr>
          </a:p>
          <a:p>
            <a:pPr>
              <a:buFont typeface="Wingdings" pitchFamily="2" charset="2"/>
              <a:buNone/>
            </a:pPr>
            <a:r>
              <a:rPr lang="en-US" sz="2400" dirty="0">
                <a:solidFill>
                  <a:srgbClr val="000099"/>
                </a:solidFill>
              </a:rPr>
              <a:t>3. if</a:t>
            </a:r>
            <a:r>
              <a:rPr lang="en-US" sz="2400" b="1" dirty="0">
                <a:solidFill>
                  <a:schemeClr val="accent2"/>
                </a:solidFill>
              </a:rPr>
              <a:t> </a:t>
            </a:r>
            <a:r>
              <a:rPr lang="en-US" sz="2400" dirty="0"/>
              <a:t>entry found for destination</a:t>
            </a:r>
            <a:br>
              <a:rPr lang="en-US" sz="2400" dirty="0"/>
            </a:br>
            <a:r>
              <a:rPr lang="en-US" sz="2400" dirty="0"/>
              <a:t>  </a:t>
            </a:r>
            <a:r>
              <a:rPr lang="en-US" sz="2400" dirty="0">
                <a:solidFill>
                  <a:srgbClr val="000099"/>
                </a:solidFill>
              </a:rPr>
              <a:t>then {</a:t>
            </a:r>
          </a:p>
          <a:p>
            <a:pPr>
              <a:buFont typeface="Wingdings" pitchFamily="2" charset="2"/>
              <a:buNone/>
            </a:pPr>
            <a:r>
              <a:rPr lang="en-US" sz="2400" b="1" dirty="0">
                <a:solidFill>
                  <a:srgbClr val="000099"/>
                </a:solidFill>
              </a:rPr>
              <a:t>     </a:t>
            </a:r>
            <a:r>
              <a:rPr lang="en-US" sz="2400" dirty="0">
                <a:solidFill>
                  <a:srgbClr val="000099"/>
                </a:solidFill>
              </a:rPr>
              <a:t>if</a:t>
            </a:r>
            <a:r>
              <a:rPr lang="en-US" sz="2400" b="1" dirty="0">
                <a:solidFill>
                  <a:schemeClr val="accent2"/>
                </a:solidFill>
              </a:rPr>
              <a:t> </a:t>
            </a:r>
            <a:r>
              <a:rPr lang="en-US" sz="2400" dirty="0" err="1"/>
              <a:t>dest</a:t>
            </a:r>
            <a:r>
              <a:rPr lang="en-US" sz="2400" dirty="0"/>
              <a:t> on segment from which frame arrived</a:t>
            </a:r>
            <a:br>
              <a:rPr lang="en-US" sz="2400" dirty="0"/>
            </a:br>
            <a:r>
              <a:rPr lang="en-US" sz="2400" dirty="0"/>
              <a:t>       </a:t>
            </a:r>
            <a:r>
              <a:rPr lang="en-US" sz="2400" dirty="0">
                <a:solidFill>
                  <a:srgbClr val="000099"/>
                </a:solidFill>
              </a:rPr>
              <a:t>then</a:t>
            </a:r>
            <a:r>
              <a:rPr lang="en-US" sz="2400" dirty="0"/>
              <a:t> drop the frame</a:t>
            </a:r>
          </a:p>
          <a:p>
            <a:pPr>
              <a:buFont typeface="Wingdings" pitchFamily="2" charset="2"/>
              <a:buNone/>
            </a:pPr>
            <a:r>
              <a:rPr lang="en-US" sz="2400" dirty="0"/>
              <a:t>           </a:t>
            </a:r>
            <a:r>
              <a:rPr lang="en-US" sz="2400" dirty="0">
                <a:solidFill>
                  <a:srgbClr val="000099"/>
                </a:solidFill>
              </a:rPr>
              <a:t>else</a:t>
            </a:r>
            <a:r>
              <a:rPr lang="en-US" sz="2400" dirty="0"/>
              <a:t> forward the frame on interface indicated</a:t>
            </a:r>
          </a:p>
          <a:p>
            <a:pPr>
              <a:buFont typeface="Wingdings" pitchFamily="2" charset="2"/>
              <a:buNone/>
            </a:pPr>
            <a:r>
              <a:rPr lang="en-US" sz="2400" dirty="0"/>
              <a:t>     </a:t>
            </a:r>
            <a:r>
              <a:rPr lang="en-US" sz="2400" b="1" dirty="0">
                <a:solidFill>
                  <a:schemeClr val="accent2"/>
                </a:solidFill>
              </a:rPr>
              <a:t>  </a:t>
            </a:r>
            <a:r>
              <a:rPr lang="en-US" sz="2400" dirty="0">
                <a:solidFill>
                  <a:srgbClr val="000099"/>
                </a:solidFill>
              </a:rPr>
              <a:t>}</a:t>
            </a:r>
            <a:r>
              <a:rPr lang="en-US" sz="2400" b="1" dirty="0">
                <a:solidFill>
                  <a:schemeClr val="accent2"/>
                </a:solidFill>
              </a:rPr>
              <a:t>   </a:t>
            </a:r>
            <a:endParaRPr lang="en-US" sz="2400" dirty="0"/>
          </a:p>
          <a:p>
            <a:pPr>
              <a:buFont typeface="Wingdings" pitchFamily="2" charset="2"/>
              <a:buNone/>
            </a:pPr>
            <a:r>
              <a:rPr lang="en-US" sz="2400" dirty="0"/>
              <a:t>      </a:t>
            </a:r>
            <a:r>
              <a:rPr lang="en-US" sz="2400" dirty="0">
                <a:solidFill>
                  <a:srgbClr val="000099"/>
                </a:solidFill>
              </a:rPr>
              <a:t>else</a:t>
            </a:r>
            <a:r>
              <a:rPr lang="en-US" sz="2400" dirty="0"/>
              <a:t> flood</a:t>
            </a:r>
            <a:endParaRPr lang="en-US" dirty="0"/>
          </a:p>
          <a:p>
            <a:pPr lvl="3">
              <a:buFontTx/>
              <a:buNone/>
            </a:pPr>
            <a:r>
              <a:rPr lang="en-US" dirty="0"/>
              <a:t>  </a:t>
            </a:r>
          </a:p>
        </p:txBody>
      </p:sp>
      <p:sp>
        <p:nvSpPr>
          <p:cNvPr id="421892" name="Text Box 4"/>
          <p:cNvSpPr txBox="1">
            <a:spLocks noChangeArrowheads="1"/>
          </p:cNvSpPr>
          <p:nvPr/>
        </p:nvSpPr>
        <p:spPr bwMode="auto">
          <a:xfrm>
            <a:off x="3094038" y="5453063"/>
            <a:ext cx="4840287" cy="835025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000099"/>
                </a:solidFill>
              </a:rPr>
              <a:t>forward on all but the interface </a:t>
            </a:r>
          </a:p>
          <a:p>
            <a:r>
              <a:rPr lang="en-US" sz="2400">
                <a:solidFill>
                  <a:srgbClr val="000099"/>
                </a:solidFill>
              </a:rPr>
              <a:t>on which the frame arrived</a:t>
            </a:r>
            <a:endParaRPr lang="en-US" sz="2000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421893" name="Line 5"/>
          <p:cNvSpPr>
            <a:spLocks noChangeShapeType="1"/>
          </p:cNvSpPr>
          <p:nvPr/>
        </p:nvSpPr>
        <p:spPr bwMode="auto">
          <a:xfrm flipH="1" flipV="1">
            <a:off x="2566988" y="5695950"/>
            <a:ext cx="525462" cy="3175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 Allahabad, Prayagraj, India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4A3ABE-7EE8-428A-9823-130E8679AB4E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2DF47DC-CE1D-4625-A646-490A0ED13577}" type="datetime1">
              <a:rPr lang="en-US" smtClean="0"/>
              <a:t>1/31/2019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1901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152400"/>
            <a:ext cx="4849019" cy="1143000"/>
          </a:xfrm>
        </p:spPr>
        <p:txBody>
          <a:bodyPr/>
          <a:lstStyle/>
          <a:p>
            <a:r>
              <a:rPr lang="en-US" sz="3600" dirty="0"/>
              <a:t>Self-learning, forwarding: example</a:t>
            </a:r>
          </a:p>
        </p:txBody>
      </p:sp>
      <p:graphicFrame>
        <p:nvGraphicFramePr>
          <p:cNvPr id="685060" name="Object 4"/>
          <p:cNvGraphicFramePr>
            <a:graphicFrameLocks noChangeAspect="1"/>
          </p:cNvGraphicFramePr>
          <p:nvPr/>
        </p:nvGraphicFramePr>
        <p:xfrm>
          <a:off x="5029200" y="2185988"/>
          <a:ext cx="611188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2" name="Clip" r:id="rId4" imgW="1305000" imgH="1085760" progId="MS_ClipArt_Gallery.2">
                  <p:embed/>
                </p:oleObj>
              </mc:Choice>
              <mc:Fallback>
                <p:oleObj name="Clip" r:id="rId4" imgW="1305000" imgH="108576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2185988"/>
                        <a:ext cx="611188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5061" name="Object 5"/>
          <p:cNvGraphicFramePr>
            <a:graphicFrameLocks noChangeAspect="1"/>
          </p:cNvGraphicFramePr>
          <p:nvPr/>
        </p:nvGraphicFramePr>
        <p:xfrm>
          <a:off x="7686675" y="3311525"/>
          <a:ext cx="611188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3" name="Clip" r:id="rId6" imgW="1305000" imgH="1085760" progId="MS_ClipArt_Gallery.2">
                  <p:embed/>
                </p:oleObj>
              </mc:Choice>
              <mc:Fallback>
                <p:oleObj name="Clip" r:id="rId6" imgW="1305000" imgH="108576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6675" y="3311525"/>
                        <a:ext cx="611188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5062" name="Line 6"/>
          <p:cNvSpPr>
            <a:spLocks noChangeShapeType="1"/>
          </p:cNvSpPr>
          <p:nvPr/>
        </p:nvSpPr>
        <p:spPr bwMode="auto">
          <a:xfrm>
            <a:off x="5575300" y="2582863"/>
            <a:ext cx="754063" cy="4333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85063" name="Line 7"/>
          <p:cNvSpPr>
            <a:spLocks noChangeShapeType="1"/>
          </p:cNvSpPr>
          <p:nvPr/>
        </p:nvSpPr>
        <p:spPr bwMode="auto">
          <a:xfrm flipV="1">
            <a:off x="5637213" y="3200400"/>
            <a:ext cx="679450" cy="655638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85064" name="Line 8"/>
          <p:cNvSpPr>
            <a:spLocks noChangeShapeType="1"/>
          </p:cNvSpPr>
          <p:nvPr/>
        </p:nvSpPr>
        <p:spPr bwMode="auto">
          <a:xfrm flipV="1">
            <a:off x="6761163" y="2533650"/>
            <a:ext cx="593725" cy="4079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85065" name="Line 9"/>
          <p:cNvSpPr>
            <a:spLocks noChangeShapeType="1"/>
          </p:cNvSpPr>
          <p:nvPr/>
        </p:nvSpPr>
        <p:spPr bwMode="auto">
          <a:xfrm>
            <a:off x="6835775" y="3016250"/>
            <a:ext cx="939800" cy="3952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685066" name="Object 10"/>
          <p:cNvGraphicFramePr>
            <a:graphicFrameLocks noChangeAspect="1"/>
          </p:cNvGraphicFramePr>
          <p:nvPr/>
        </p:nvGraphicFramePr>
        <p:xfrm>
          <a:off x="5365750" y="3836988"/>
          <a:ext cx="611188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4" name="Clip" r:id="rId7" imgW="1305000" imgH="1085760" progId="MS_ClipArt_Gallery.2">
                  <p:embed/>
                </p:oleObj>
              </mc:Choice>
              <mc:Fallback>
                <p:oleObj name="Clip" r:id="rId7" imgW="1305000" imgH="108576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5750" y="3836988"/>
                        <a:ext cx="611188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5067" name="Object 11"/>
          <p:cNvGraphicFramePr>
            <a:graphicFrameLocks noChangeAspect="1"/>
          </p:cNvGraphicFramePr>
          <p:nvPr/>
        </p:nvGraphicFramePr>
        <p:xfrm>
          <a:off x="7297738" y="2201863"/>
          <a:ext cx="611187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5" name="Clip" r:id="rId8" imgW="1305000" imgH="1085760" progId="MS_ClipArt_Gallery.2">
                  <p:embed/>
                </p:oleObj>
              </mc:Choice>
              <mc:Fallback>
                <p:oleObj name="Clip" r:id="rId8" imgW="1305000" imgH="108576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7738" y="2201863"/>
                        <a:ext cx="611187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5068" name="Object 12"/>
          <p:cNvGraphicFramePr>
            <a:graphicFrameLocks noChangeAspect="1"/>
          </p:cNvGraphicFramePr>
          <p:nvPr/>
        </p:nvGraphicFramePr>
        <p:xfrm>
          <a:off x="6203950" y="1622425"/>
          <a:ext cx="611188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6" name="Clip" r:id="rId9" imgW="1305000" imgH="1085760" progId="MS_ClipArt_Gallery.2">
                  <p:embed/>
                </p:oleObj>
              </mc:Choice>
              <mc:Fallback>
                <p:oleObj name="Clip" r:id="rId9" imgW="1305000" imgH="108576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3950" y="1622425"/>
                        <a:ext cx="611188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5069" name="Line 13"/>
          <p:cNvSpPr>
            <a:spLocks noChangeShapeType="1"/>
          </p:cNvSpPr>
          <p:nvPr/>
        </p:nvSpPr>
        <p:spPr bwMode="auto">
          <a:xfrm flipH="1" flipV="1">
            <a:off x="6529388" y="2132013"/>
            <a:ext cx="11112" cy="7810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685070" name="Object 14"/>
          <p:cNvGraphicFramePr>
            <a:graphicFrameLocks noChangeAspect="1"/>
          </p:cNvGraphicFramePr>
          <p:nvPr/>
        </p:nvGraphicFramePr>
        <p:xfrm>
          <a:off x="6523038" y="3951288"/>
          <a:ext cx="611187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7" name="Clip" r:id="rId10" imgW="1305000" imgH="1085760" progId="MS_ClipArt_Gallery.2">
                  <p:embed/>
                </p:oleObj>
              </mc:Choice>
              <mc:Fallback>
                <p:oleObj name="Clip" r:id="rId10" imgW="1305000" imgH="1085760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3038" y="3951288"/>
                        <a:ext cx="611187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5071" name="Line 15"/>
          <p:cNvSpPr>
            <a:spLocks noChangeShapeType="1"/>
          </p:cNvSpPr>
          <p:nvPr/>
        </p:nvSpPr>
        <p:spPr bwMode="auto">
          <a:xfrm flipH="1" flipV="1">
            <a:off x="6538913" y="3159125"/>
            <a:ext cx="204787" cy="8080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85072" name="Text Box 16"/>
          <p:cNvSpPr txBox="1">
            <a:spLocks noChangeArrowheads="1"/>
          </p:cNvSpPr>
          <p:nvPr/>
        </p:nvSpPr>
        <p:spPr bwMode="auto">
          <a:xfrm>
            <a:off x="6411913" y="1243013"/>
            <a:ext cx="3508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i="0"/>
              <a:t>A</a:t>
            </a:r>
          </a:p>
        </p:txBody>
      </p:sp>
      <p:sp>
        <p:nvSpPr>
          <p:cNvPr id="685073" name="Text Box 17"/>
          <p:cNvSpPr txBox="1">
            <a:spLocks noChangeArrowheads="1"/>
          </p:cNvSpPr>
          <p:nvPr/>
        </p:nvSpPr>
        <p:spPr bwMode="auto">
          <a:xfrm>
            <a:off x="6605588" y="4502150"/>
            <a:ext cx="3921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i="0"/>
              <a:t>A’</a:t>
            </a:r>
          </a:p>
        </p:txBody>
      </p:sp>
      <p:sp>
        <p:nvSpPr>
          <p:cNvPr id="685074" name="Text Box 18"/>
          <p:cNvSpPr txBox="1">
            <a:spLocks noChangeArrowheads="1"/>
          </p:cNvSpPr>
          <p:nvPr/>
        </p:nvSpPr>
        <p:spPr bwMode="auto">
          <a:xfrm>
            <a:off x="7827963" y="1912938"/>
            <a:ext cx="3286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i="0"/>
              <a:t>B</a:t>
            </a:r>
          </a:p>
        </p:txBody>
      </p:sp>
      <p:sp>
        <p:nvSpPr>
          <p:cNvPr id="685075" name="Text Box 19"/>
          <p:cNvSpPr txBox="1">
            <a:spLocks noChangeArrowheads="1"/>
          </p:cNvSpPr>
          <p:nvPr/>
        </p:nvSpPr>
        <p:spPr bwMode="auto">
          <a:xfrm>
            <a:off x="5497513" y="4398963"/>
            <a:ext cx="3698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i="0"/>
              <a:t>B’</a:t>
            </a:r>
          </a:p>
        </p:txBody>
      </p:sp>
      <p:sp>
        <p:nvSpPr>
          <p:cNvPr id="685076" name="Text Box 20"/>
          <p:cNvSpPr txBox="1">
            <a:spLocks noChangeArrowheads="1"/>
          </p:cNvSpPr>
          <p:nvPr/>
        </p:nvSpPr>
        <p:spPr bwMode="auto">
          <a:xfrm>
            <a:off x="7918450" y="3779838"/>
            <a:ext cx="3222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i="0"/>
              <a:t>C</a:t>
            </a:r>
          </a:p>
        </p:txBody>
      </p:sp>
      <p:sp>
        <p:nvSpPr>
          <p:cNvPr id="685077" name="Text Box 21"/>
          <p:cNvSpPr txBox="1">
            <a:spLocks noChangeArrowheads="1"/>
          </p:cNvSpPr>
          <p:nvPr/>
        </p:nvSpPr>
        <p:spPr bwMode="auto">
          <a:xfrm>
            <a:off x="5006975" y="1860550"/>
            <a:ext cx="3635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i="0"/>
              <a:t>C’</a:t>
            </a:r>
          </a:p>
        </p:txBody>
      </p:sp>
      <p:grpSp>
        <p:nvGrpSpPr>
          <p:cNvPr id="685078" name="Group 22"/>
          <p:cNvGrpSpPr>
            <a:grpSpLocks/>
          </p:cNvGrpSpPr>
          <p:nvPr/>
        </p:nvGrpSpPr>
        <p:grpSpPr bwMode="auto">
          <a:xfrm>
            <a:off x="6145213" y="2936875"/>
            <a:ext cx="720725" cy="279400"/>
            <a:chOff x="3913" y="3140"/>
            <a:chExt cx="454" cy="176"/>
          </a:xfrm>
        </p:grpSpPr>
        <p:sp>
          <p:nvSpPr>
            <p:cNvPr id="685079" name="Rectangle 23"/>
            <p:cNvSpPr>
              <a:spLocks noChangeArrowheads="1"/>
            </p:cNvSpPr>
            <p:nvPr/>
          </p:nvSpPr>
          <p:spPr bwMode="auto">
            <a:xfrm>
              <a:off x="3913" y="3228"/>
              <a:ext cx="407" cy="88"/>
            </a:xfrm>
            <a:prstGeom prst="rect">
              <a:avLst/>
            </a:prstGeom>
            <a:solidFill>
              <a:schemeClr val="hlink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l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hlink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IN"/>
            </a:p>
          </p:txBody>
        </p:sp>
        <p:sp>
          <p:nvSpPr>
            <p:cNvPr id="685080" name="Freeform 24"/>
            <p:cNvSpPr>
              <a:spLocks/>
            </p:cNvSpPr>
            <p:nvPr/>
          </p:nvSpPr>
          <p:spPr bwMode="auto">
            <a:xfrm>
              <a:off x="3958" y="3145"/>
              <a:ext cx="409" cy="68"/>
            </a:xfrm>
            <a:custGeom>
              <a:avLst/>
              <a:gdLst>
                <a:gd name="T0" fmla="*/ 0 w 280"/>
                <a:gd name="T1" fmla="*/ 63 h 63"/>
                <a:gd name="T2" fmla="*/ 37 w 280"/>
                <a:gd name="T3" fmla="*/ 62 h 63"/>
                <a:gd name="T4" fmla="*/ 219 w 280"/>
                <a:gd name="T5" fmla="*/ 0 h 63"/>
                <a:gd name="T6" fmla="*/ 280 w 280"/>
                <a:gd name="T7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0" h="63">
                  <a:moveTo>
                    <a:pt x="0" y="63"/>
                  </a:moveTo>
                  <a:lnTo>
                    <a:pt x="37" y="62"/>
                  </a:lnTo>
                  <a:lnTo>
                    <a:pt x="219" y="0"/>
                  </a:lnTo>
                  <a:lnTo>
                    <a:pt x="28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685081" name="Freeform 25"/>
            <p:cNvSpPr>
              <a:spLocks/>
            </p:cNvSpPr>
            <p:nvPr/>
          </p:nvSpPr>
          <p:spPr bwMode="auto">
            <a:xfrm>
              <a:off x="4044" y="3140"/>
              <a:ext cx="251" cy="75"/>
            </a:xfrm>
            <a:custGeom>
              <a:avLst/>
              <a:gdLst>
                <a:gd name="T0" fmla="*/ 0 w 148"/>
                <a:gd name="T1" fmla="*/ 0 h 74"/>
                <a:gd name="T2" fmla="*/ 40 w 148"/>
                <a:gd name="T3" fmla="*/ 0 h 74"/>
                <a:gd name="T4" fmla="*/ 102 w 148"/>
                <a:gd name="T5" fmla="*/ 74 h 74"/>
                <a:gd name="T6" fmla="*/ 148 w 148"/>
                <a:gd name="T7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8" h="74">
                  <a:moveTo>
                    <a:pt x="0" y="0"/>
                  </a:moveTo>
                  <a:lnTo>
                    <a:pt x="40" y="0"/>
                  </a:lnTo>
                  <a:lnTo>
                    <a:pt x="102" y="74"/>
                  </a:lnTo>
                  <a:lnTo>
                    <a:pt x="148" y="74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</p:grpSp>
      <p:sp>
        <p:nvSpPr>
          <p:cNvPr id="685082" name="Text Box 26"/>
          <p:cNvSpPr txBox="1">
            <a:spLocks noChangeArrowheads="1"/>
          </p:cNvSpPr>
          <p:nvPr/>
        </p:nvSpPr>
        <p:spPr bwMode="auto">
          <a:xfrm>
            <a:off x="6286500" y="2606675"/>
            <a:ext cx="2873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i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685083" name="Text Box 27"/>
          <p:cNvSpPr txBox="1">
            <a:spLocks noChangeArrowheads="1"/>
          </p:cNvSpPr>
          <p:nvPr/>
        </p:nvSpPr>
        <p:spPr bwMode="auto">
          <a:xfrm>
            <a:off x="6619875" y="2632075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i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685084" name="Text Box 28"/>
          <p:cNvSpPr txBox="1">
            <a:spLocks noChangeArrowheads="1"/>
          </p:cNvSpPr>
          <p:nvPr/>
        </p:nvSpPr>
        <p:spPr bwMode="auto">
          <a:xfrm>
            <a:off x="6897688" y="2784475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i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685085" name="Text Box 29"/>
          <p:cNvSpPr txBox="1">
            <a:spLocks noChangeArrowheads="1"/>
          </p:cNvSpPr>
          <p:nvPr/>
        </p:nvSpPr>
        <p:spPr bwMode="auto">
          <a:xfrm>
            <a:off x="6581775" y="3165475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i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685086" name="Text Box 30"/>
          <p:cNvSpPr txBox="1">
            <a:spLocks noChangeArrowheads="1"/>
          </p:cNvSpPr>
          <p:nvPr/>
        </p:nvSpPr>
        <p:spPr bwMode="auto">
          <a:xfrm>
            <a:off x="6151563" y="3227388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i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685087" name="Text Box 31"/>
          <p:cNvSpPr txBox="1">
            <a:spLocks noChangeArrowheads="1"/>
          </p:cNvSpPr>
          <p:nvPr/>
        </p:nvSpPr>
        <p:spPr bwMode="auto">
          <a:xfrm>
            <a:off x="5892800" y="2830513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i="0">
                <a:solidFill>
                  <a:srgbClr val="FF0000"/>
                </a:solidFill>
              </a:rPr>
              <a:t>6</a:t>
            </a:r>
          </a:p>
        </p:txBody>
      </p:sp>
      <p:grpSp>
        <p:nvGrpSpPr>
          <p:cNvPr id="685088" name="Group 32"/>
          <p:cNvGrpSpPr>
            <a:grpSpLocks/>
          </p:cNvGrpSpPr>
          <p:nvPr/>
        </p:nvGrpSpPr>
        <p:grpSpPr bwMode="auto">
          <a:xfrm>
            <a:off x="6778625" y="1223963"/>
            <a:ext cx="1428750" cy="366712"/>
            <a:chOff x="1750" y="3514"/>
            <a:chExt cx="900" cy="231"/>
          </a:xfrm>
        </p:grpSpPr>
        <p:sp>
          <p:nvSpPr>
            <p:cNvPr id="685089" name="Rectangle 33"/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85090" name="Text Box 34"/>
            <p:cNvSpPr txBox="1">
              <a:spLocks noChangeArrowheads="1"/>
            </p:cNvSpPr>
            <p:nvPr/>
          </p:nvSpPr>
          <p:spPr bwMode="auto">
            <a:xfrm>
              <a:off x="1750" y="3514"/>
              <a:ext cx="39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i="0">
                  <a:solidFill>
                    <a:schemeClr val="bg1"/>
                  </a:solidFill>
                </a:rPr>
                <a:t>A A’</a:t>
              </a:r>
            </a:p>
          </p:txBody>
        </p:sp>
        <p:sp>
          <p:nvSpPr>
            <p:cNvPr id="685091" name="Line 35"/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685092" name="Line 36"/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</p:grpSp>
      <p:grpSp>
        <p:nvGrpSpPr>
          <p:cNvPr id="685093" name="Group 37"/>
          <p:cNvGrpSpPr>
            <a:grpSpLocks/>
          </p:cNvGrpSpPr>
          <p:nvPr/>
        </p:nvGrpSpPr>
        <p:grpSpPr bwMode="auto">
          <a:xfrm>
            <a:off x="6994525" y="525463"/>
            <a:ext cx="1498600" cy="714375"/>
            <a:chOff x="4406" y="331"/>
            <a:chExt cx="944" cy="450"/>
          </a:xfrm>
        </p:grpSpPr>
        <p:sp>
          <p:nvSpPr>
            <p:cNvPr id="685094" name="Line 38"/>
            <p:cNvSpPr>
              <a:spLocks noChangeShapeType="1"/>
            </p:cNvSpPr>
            <p:nvPr/>
          </p:nvSpPr>
          <p:spPr bwMode="auto">
            <a:xfrm flipV="1">
              <a:off x="4406" y="439"/>
              <a:ext cx="252" cy="3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685095" name="Line 39"/>
            <p:cNvSpPr>
              <a:spLocks noChangeShapeType="1"/>
            </p:cNvSpPr>
            <p:nvPr/>
          </p:nvSpPr>
          <p:spPr bwMode="auto">
            <a:xfrm flipV="1">
              <a:off x="4524" y="594"/>
              <a:ext cx="137" cy="1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685096" name="Text Box 40"/>
            <p:cNvSpPr txBox="1">
              <a:spLocks noChangeArrowheads="1"/>
            </p:cNvSpPr>
            <p:nvPr/>
          </p:nvSpPr>
          <p:spPr bwMode="auto">
            <a:xfrm>
              <a:off x="4643" y="331"/>
              <a:ext cx="70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i="0"/>
                <a:t>Source: A</a:t>
              </a:r>
            </a:p>
          </p:txBody>
        </p:sp>
        <p:sp>
          <p:nvSpPr>
            <p:cNvPr id="685097" name="Text Box 41"/>
            <p:cNvSpPr txBox="1">
              <a:spLocks noChangeArrowheads="1"/>
            </p:cNvSpPr>
            <p:nvPr/>
          </p:nvSpPr>
          <p:spPr bwMode="auto">
            <a:xfrm>
              <a:off x="4660" y="492"/>
              <a:ext cx="593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600" i="0"/>
                <a:t>Dest: A’</a:t>
              </a:r>
            </a:p>
          </p:txBody>
        </p:sp>
      </p:grpSp>
      <p:grpSp>
        <p:nvGrpSpPr>
          <p:cNvPr id="685098" name="Group 42"/>
          <p:cNvGrpSpPr>
            <a:grpSpLocks/>
          </p:cNvGrpSpPr>
          <p:nvPr/>
        </p:nvGrpSpPr>
        <p:grpSpPr bwMode="auto">
          <a:xfrm>
            <a:off x="3336926" y="4937125"/>
            <a:ext cx="3027363" cy="1444625"/>
            <a:chOff x="3441" y="3154"/>
            <a:chExt cx="1907" cy="910"/>
          </a:xfrm>
        </p:grpSpPr>
        <p:sp>
          <p:nvSpPr>
            <p:cNvPr id="685099" name="Rectangle 43"/>
            <p:cNvSpPr>
              <a:spLocks noChangeArrowheads="1"/>
            </p:cNvSpPr>
            <p:nvPr/>
          </p:nvSpPr>
          <p:spPr bwMode="auto">
            <a:xfrm>
              <a:off x="3449" y="3154"/>
              <a:ext cx="1893" cy="90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85100" name="Text Box 44"/>
            <p:cNvSpPr txBox="1">
              <a:spLocks noChangeArrowheads="1"/>
            </p:cNvSpPr>
            <p:nvPr/>
          </p:nvSpPr>
          <p:spPr bwMode="auto">
            <a:xfrm>
              <a:off x="3441" y="3175"/>
              <a:ext cx="190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i="0" dirty="0"/>
                <a:t>MAC </a:t>
              </a:r>
              <a:r>
                <a:rPr lang="en-US" i="0" dirty="0" err="1"/>
                <a:t>addr</a:t>
              </a:r>
              <a:r>
                <a:rPr lang="en-US" i="0" dirty="0"/>
                <a:t>  </a:t>
              </a:r>
              <a:r>
                <a:rPr lang="en-US" i="0" dirty="0" smtClean="0"/>
                <a:t>   interface   </a:t>
              </a:r>
              <a:r>
                <a:rPr lang="en-US" i="0" dirty="0"/>
                <a:t>TTL</a:t>
              </a:r>
            </a:p>
          </p:txBody>
        </p:sp>
        <p:sp>
          <p:nvSpPr>
            <p:cNvPr id="685101" name="Line 45"/>
            <p:cNvSpPr>
              <a:spLocks noChangeShapeType="1"/>
            </p:cNvSpPr>
            <p:nvPr/>
          </p:nvSpPr>
          <p:spPr bwMode="auto">
            <a:xfrm>
              <a:off x="4226" y="3154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685102" name="Line 46"/>
            <p:cNvSpPr>
              <a:spLocks noChangeShapeType="1"/>
            </p:cNvSpPr>
            <p:nvPr/>
          </p:nvSpPr>
          <p:spPr bwMode="auto">
            <a:xfrm>
              <a:off x="4963" y="3157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685103" name="Line 47"/>
            <p:cNvSpPr>
              <a:spLocks noChangeShapeType="1"/>
            </p:cNvSpPr>
            <p:nvPr/>
          </p:nvSpPr>
          <p:spPr bwMode="auto">
            <a:xfrm>
              <a:off x="3452" y="3397"/>
              <a:ext cx="188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</p:grpSp>
      <p:sp>
        <p:nvSpPr>
          <p:cNvPr id="685104" name="Text Box 48"/>
          <p:cNvSpPr txBox="1">
            <a:spLocks noChangeArrowheads="1"/>
          </p:cNvSpPr>
          <p:nvPr/>
        </p:nvSpPr>
        <p:spPr bwMode="auto">
          <a:xfrm>
            <a:off x="6400800" y="5326063"/>
            <a:ext cx="18510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/>
              <a:t>Switch table </a:t>
            </a:r>
          </a:p>
          <a:p>
            <a:pPr algn="ctr"/>
            <a:r>
              <a:rPr lang="en-US"/>
              <a:t>(initially empty)</a:t>
            </a:r>
          </a:p>
        </p:txBody>
      </p:sp>
      <p:grpSp>
        <p:nvGrpSpPr>
          <p:cNvPr id="685105" name="Group 49"/>
          <p:cNvGrpSpPr>
            <a:grpSpLocks/>
          </p:cNvGrpSpPr>
          <p:nvPr/>
        </p:nvGrpSpPr>
        <p:grpSpPr bwMode="auto">
          <a:xfrm>
            <a:off x="3771900" y="5370513"/>
            <a:ext cx="2493963" cy="374650"/>
            <a:chOff x="2376" y="3383"/>
            <a:chExt cx="1571" cy="236"/>
          </a:xfrm>
        </p:grpSpPr>
        <p:sp>
          <p:nvSpPr>
            <p:cNvPr id="685106" name="Text Box 50"/>
            <p:cNvSpPr txBox="1">
              <a:spLocks noChangeArrowheads="1"/>
            </p:cNvSpPr>
            <p:nvPr/>
          </p:nvSpPr>
          <p:spPr bwMode="auto">
            <a:xfrm>
              <a:off x="2376" y="3388"/>
              <a:ext cx="22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A</a:t>
              </a:r>
            </a:p>
          </p:txBody>
        </p:sp>
        <p:sp>
          <p:nvSpPr>
            <p:cNvPr id="685107" name="Text Box 51"/>
            <p:cNvSpPr txBox="1">
              <a:spLocks noChangeArrowheads="1"/>
            </p:cNvSpPr>
            <p:nvPr/>
          </p:nvSpPr>
          <p:spPr bwMode="auto">
            <a:xfrm>
              <a:off x="3133" y="3387"/>
              <a:ext cx="18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1</a:t>
              </a:r>
            </a:p>
          </p:txBody>
        </p:sp>
        <p:sp>
          <p:nvSpPr>
            <p:cNvPr id="685108" name="Text Box 52"/>
            <p:cNvSpPr txBox="1">
              <a:spLocks noChangeArrowheads="1"/>
            </p:cNvSpPr>
            <p:nvPr/>
          </p:nvSpPr>
          <p:spPr bwMode="auto">
            <a:xfrm>
              <a:off x="3655" y="3383"/>
              <a:ext cx="2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60</a:t>
              </a:r>
            </a:p>
          </p:txBody>
        </p:sp>
      </p:grpSp>
      <p:grpSp>
        <p:nvGrpSpPr>
          <p:cNvPr id="685115" name="Group 59"/>
          <p:cNvGrpSpPr>
            <a:grpSpLocks/>
          </p:cNvGrpSpPr>
          <p:nvPr/>
        </p:nvGrpSpPr>
        <p:grpSpPr bwMode="auto">
          <a:xfrm>
            <a:off x="5799138" y="2881313"/>
            <a:ext cx="1428750" cy="366712"/>
            <a:chOff x="1750" y="3514"/>
            <a:chExt cx="900" cy="231"/>
          </a:xfrm>
        </p:grpSpPr>
        <p:sp>
          <p:nvSpPr>
            <p:cNvPr id="685116" name="Rectangle 60"/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85117" name="Text Box 61"/>
            <p:cNvSpPr txBox="1">
              <a:spLocks noChangeArrowheads="1"/>
            </p:cNvSpPr>
            <p:nvPr/>
          </p:nvSpPr>
          <p:spPr bwMode="auto">
            <a:xfrm>
              <a:off x="1750" y="3514"/>
              <a:ext cx="39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i="0">
                  <a:solidFill>
                    <a:schemeClr val="bg1"/>
                  </a:solidFill>
                </a:rPr>
                <a:t>A A’</a:t>
              </a:r>
            </a:p>
          </p:txBody>
        </p:sp>
        <p:sp>
          <p:nvSpPr>
            <p:cNvPr id="685118" name="Line 62"/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685119" name="Line 63"/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</p:grpSp>
      <p:grpSp>
        <p:nvGrpSpPr>
          <p:cNvPr id="685120" name="Group 64"/>
          <p:cNvGrpSpPr>
            <a:grpSpLocks/>
          </p:cNvGrpSpPr>
          <p:nvPr/>
        </p:nvGrpSpPr>
        <p:grpSpPr bwMode="auto">
          <a:xfrm>
            <a:off x="5799138" y="2879725"/>
            <a:ext cx="1428750" cy="366713"/>
            <a:chOff x="1750" y="3514"/>
            <a:chExt cx="900" cy="231"/>
          </a:xfrm>
        </p:grpSpPr>
        <p:sp>
          <p:nvSpPr>
            <p:cNvPr id="685121" name="Rectangle 65"/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85122" name="Text Box 66"/>
            <p:cNvSpPr txBox="1">
              <a:spLocks noChangeArrowheads="1"/>
            </p:cNvSpPr>
            <p:nvPr/>
          </p:nvSpPr>
          <p:spPr bwMode="auto">
            <a:xfrm>
              <a:off x="1750" y="3514"/>
              <a:ext cx="39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i="0">
                  <a:solidFill>
                    <a:schemeClr val="bg1"/>
                  </a:solidFill>
                </a:rPr>
                <a:t>A A’</a:t>
              </a:r>
            </a:p>
          </p:txBody>
        </p:sp>
        <p:sp>
          <p:nvSpPr>
            <p:cNvPr id="685123" name="Line 67"/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685124" name="Line 68"/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</p:grpSp>
      <p:grpSp>
        <p:nvGrpSpPr>
          <p:cNvPr id="685125" name="Group 69"/>
          <p:cNvGrpSpPr>
            <a:grpSpLocks/>
          </p:cNvGrpSpPr>
          <p:nvPr/>
        </p:nvGrpSpPr>
        <p:grpSpPr bwMode="auto">
          <a:xfrm>
            <a:off x="5799138" y="2882900"/>
            <a:ext cx="1428750" cy="366713"/>
            <a:chOff x="1750" y="3514"/>
            <a:chExt cx="900" cy="231"/>
          </a:xfrm>
        </p:grpSpPr>
        <p:sp>
          <p:nvSpPr>
            <p:cNvPr id="685126" name="Rectangle 70"/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85127" name="Text Box 71"/>
            <p:cNvSpPr txBox="1">
              <a:spLocks noChangeArrowheads="1"/>
            </p:cNvSpPr>
            <p:nvPr/>
          </p:nvSpPr>
          <p:spPr bwMode="auto">
            <a:xfrm>
              <a:off x="1750" y="3514"/>
              <a:ext cx="39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i="0">
                  <a:solidFill>
                    <a:schemeClr val="bg1"/>
                  </a:solidFill>
                </a:rPr>
                <a:t>A A’</a:t>
              </a:r>
            </a:p>
          </p:txBody>
        </p:sp>
        <p:sp>
          <p:nvSpPr>
            <p:cNvPr id="685128" name="Line 72"/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685129" name="Line 73"/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</p:grpSp>
      <p:grpSp>
        <p:nvGrpSpPr>
          <p:cNvPr id="685130" name="Group 74"/>
          <p:cNvGrpSpPr>
            <a:grpSpLocks/>
          </p:cNvGrpSpPr>
          <p:nvPr/>
        </p:nvGrpSpPr>
        <p:grpSpPr bwMode="auto">
          <a:xfrm>
            <a:off x="5799138" y="2882900"/>
            <a:ext cx="1428750" cy="366713"/>
            <a:chOff x="1750" y="3514"/>
            <a:chExt cx="900" cy="231"/>
          </a:xfrm>
        </p:grpSpPr>
        <p:sp>
          <p:nvSpPr>
            <p:cNvPr id="685131" name="Rectangle 75"/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85132" name="Text Box 76"/>
            <p:cNvSpPr txBox="1">
              <a:spLocks noChangeArrowheads="1"/>
            </p:cNvSpPr>
            <p:nvPr/>
          </p:nvSpPr>
          <p:spPr bwMode="auto">
            <a:xfrm>
              <a:off x="1750" y="3514"/>
              <a:ext cx="39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i="0">
                  <a:solidFill>
                    <a:schemeClr val="bg1"/>
                  </a:solidFill>
                </a:rPr>
                <a:t>A A’</a:t>
              </a:r>
            </a:p>
          </p:txBody>
        </p:sp>
        <p:sp>
          <p:nvSpPr>
            <p:cNvPr id="685133" name="Line 77"/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685134" name="Line 78"/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</p:grpSp>
      <p:grpSp>
        <p:nvGrpSpPr>
          <p:cNvPr id="685135" name="Group 79"/>
          <p:cNvGrpSpPr>
            <a:grpSpLocks/>
          </p:cNvGrpSpPr>
          <p:nvPr/>
        </p:nvGrpSpPr>
        <p:grpSpPr bwMode="auto">
          <a:xfrm>
            <a:off x="5795963" y="2879725"/>
            <a:ext cx="1428750" cy="366713"/>
            <a:chOff x="1750" y="3514"/>
            <a:chExt cx="900" cy="231"/>
          </a:xfrm>
        </p:grpSpPr>
        <p:sp>
          <p:nvSpPr>
            <p:cNvPr id="685136" name="Rectangle 80"/>
            <p:cNvSpPr>
              <a:spLocks noChangeArrowheads="1"/>
            </p:cNvSpPr>
            <p:nvPr/>
          </p:nvSpPr>
          <p:spPr bwMode="auto"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85137" name="Text Box 81"/>
            <p:cNvSpPr txBox="1">
              <a:spLocks noChangeArrowheads="1"/>
            </p:cNvSpPr>
            <p:nvPr/>
          </p:nvSpPr>
          <p:spPr bwMode="auto">
            <a:xfrm>
              <a:off x="1750" y="3514"/>
              <a:ext cx="39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i="0">
                  <a:solidFill>
                    <a:schemeClr val="bg1"/>
                  </a:solidFill>
                </a:rPr>
                <a:t>A A’</a:t>
              </a:r>
            </a:p>
          </p:txBody>
        </p:sp>
        <p:sp>
          <p:nvSpPr>
            <p:cNvPr id="685138" name="Line 82"/>
            <p:cNvSpPr>
              <a:spLocks noChangeShapeType="1"/>
            </p:cNvSpPr>
            <p:nvPr/>
          </p:nvSpPr>
          <p:spPr bwMode="auto">
            <a:xfrm>
              <a:off x="1936" y="3535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685139" name="Line 83"/>
            <p:cNvSpPr>
              <a:spLocks noChangeShapeType="1"/>
            </p:cNvSpPr>
            <p:nvPr/>
          </p:nvSpPr>
          <p:spPr bwMode="auto">
            <a:xfrm>
              <a:off x="2116" y="3540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</p:grpSp>
      <p:sp>
        <p:nvSpPr>
          <p:cNvPr id="685140" name="Rectangle 84"/>
          <p:cNvSpPr>
            <a:spLocks noGrp="1" noChangeArrowheads="1"/>
          </p:cNvSpPr>
          <p:nvPr>
            <p:ph type="body" idx="1"/>
          </p:nvPr>
        </p:nvSpPr>
        <p:spPr>
          <a:xfrm>
            <a:off x="350838" y="2411413"/>
            <a:ext cx="4044950" cy="9445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frame destination unknown:</a:t>
            </a:r>
            <a:endParaRPr lang="en-US" i="1"/>
          </a:p>
        </p:txBody>
      </p:sp>
      <p:sp>
        <p:nvSpPr>
          <p:cNvPr id="685142" name="Text Box 86"/>
          <p:cNvSpPr txBox="1">
            <a:spLocks noChangeArrowheads="1"/>
          </p:cNvSpPr>
          <p:nvPr/>
        </p:nvSpPr>
        <p:spPr bwMode="auto">
          <a:xfrm>
            <a:off x="2260600" y="2797175"/>
            <a:ext cx="923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FF0000"/>
                </a:solidFill>
              </a:rPr>
              <a:t>flood</a:t>
            </a:r>
          </a:p>
        </p:txBody>
      </p:sp>
      <p:grpSp>
        <p:nvGrpSpPr>
          <p:cNvPr id="685148" name="Group 92"/>
          <p:cNvGrpSpPr>
            <a:grpSpLocks/>
          </p:cNvGrpSpPr>
          <p:nvPr/>
        </p:nvGrpSpPr>
        <p:grpSpPr bwMode="auto">
          <a:xfrm>
            <a:off x="6130925" y="3981450"/>
            <a:ext cx="1428750" cy="366713"/>
            <a:chOff x="730" y="2472"/>
            <a:chExt cx="900" cy="231"/>
          </a:xfrm>
        </p:grpSpPr>
        <p:sp>
          <p:nvSpPr>
            <p:cNvPr id="685144" name="Rectangle 88"/>
            <p:cNvSpPr>
              <a:spLocks noChangeArrowheads="1"/>
            </p:cNvSpPr>
            <p:nvPr/>
          </p:nvSpPr>
          <p:spPr bwMode="auto">
            <a:xfrm>
              <a:off x="751" y="2500"/>
              <a:ext cx="879" cy="16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85145" name="Text Box 89"/>
            <p:cNvSpPr txBox="1">
              <a:spLocks noChangeArrowheads="1"/>
            </p:cNvSpPr>
            <p:nvPr/>
          </p:nvSpPr>
          <p:spPr bwMode="auto">
            <a:xfrm>
              <a:off x="730" y="2472"/>
              <a:ext cx="39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i="0">
                  <a:solidFill>
                    <a:schemeClr val="bg1"/>
                  </a:solidFill>
                </a:rPr>
                <a:t>A’ A</a:t>
              </a:r>
            </a:p>
          </p:txBody>
        </p:sp>
        <p:sp>
          <p:nvSpPr>
            <p:cNvPr id="685146" name="Line 90"/>
            <p:cNvSpPr>
              <a:spLocks noChangeShapeType="1"/>
            </p:cNvSpPr>
            <p:nvPr/>
          </p:nvSpPr>
          <p:spPr bwMode="auto">
            <a:xfrm>
              <a:off x="937" y="2493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685147" name="Line 91"/>
            <p:cNvSpPr>
              <a:spLocks noChangeShapeType="1"/>
            </p:cNvSpPr>
            <p:nvPr/>
          </p:nvSpPr>
          <p:spPr bwMode="auto">
            <a:xfrm>
              <a:off x="1096" y="2498"/>
              <a:ext cx="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</p:grpSp>
      <p:sp>
        <p:nvSpPr>
          <p:cNvPr id="685149" name="Rectangle 93"/>
          <p:cNvSpPr>
            <a:spLocks noChangeArrowheads="1"/>
          </p:cNvSpPr>
          <p:nvPr/>
        </p:nvSpPr>
        <p:spPr bwMode="auto">
          <a:xfrm>
            <a:off x="365125" y="3328988"/>
            <a:ext cx="4044950" cy="944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 sz="2800" i="0"/>
              <a:t>destination A location known:</a:t>
            </a:r>
            <a:endParaRPr lang="en-US" sz="2800">
              <a:solidFill>
                <a:srgbClr val="FF0000"/>
              </a:solidFill>
            </a:endParaRPr>
          </a:p>
        </p:txBody>
      </p:sp>
      <p:grpSp>
        <p:nvGrpSpPr>
          <p:cNvPr id="685150" name="Group 94"/>
          <p:cNvGrpSpPr>
            <a:grpSpLocks/>
          </p:cNvGrpSpPr>
          <p:nvPr/>
        </p:nvGrpSpPr>
        <p:grpSpPr bwMode="auto">
          <a:xfrm>
            <a:off x="3768725" y="5656263"/>
            <a:ext cx="2493963" cy="374650"/>
            <a:chOff x="2376" y="3383"/>
            <a:chExt cx="1571" cy="236"/>
          </a:xfrm>
        </p:grpSpPr>
        <p:sp>
          <p:nvSpPr>
            <p:cNvPr id="685151" name="Text Box 95"/>
            <p:cNvSpPr txBox="1">
              <a:spLocks noChangeArrowheads="1"/>
            </p:cNvSpPr>
            <p:nvPr/>
          </p:nvSpPr>
          <p:spPr bwMode="auto">
            <a:xfrm>
              <a:off x="2376" y="3388"/>
              <a:ext cx="24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A’</a:t>
              </a:r>
            </a:p>
          </p:txBody>
        </p:sp>
        <p:sp>
          <p:nvSpPr>
            <p:cNvPr id="685152" name="Text Box 96"/>
            <p:cNvSpPr txBox="1">
              <a:spLocks noChangeArrowheads="1"/>
            </p:cNvSpPr>
            <p:nvPr/>
          </p:nvSpPr>
          <p:spPr bwMode="auto">
            <a:xfrm>
              <a:off x="3133" y="3387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4</a:t>
              </a:r>
            </a:p>
          </p:txBody>
        </p:sp>
        <p:sp>
          <p:nvSpPr>
            <p:cNvPr id="685153" name="Text Box 97"/>
            <p:cNvSpPr txBox="1">
              <a:spLocks noChangeArrowheads="1"/>
            </p:cNvSpPr>
            <p:nvPr/>
          </p:nvSpPr>
          <p:spPr bwMode="auto">
            <a:xfrm>
              <a:off x="3655" y="3383"/>
              <a:ext cx="2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60</a:t>
              </a:r>
            </a:p>
          </p:txBody>
        </p:sp>
      </p:grpSp>
      <p:sp>
        <p:nvSpPr>
          <p:cNvPr id="685154" name="Rectangle 98"/>
          <p:cNvSpPr>
            <a:spLocks noChangeArrowheads="1"/>
          </p:cNvSpPr>
          <p:nvPr/>
        </p:nvSpPr>
        <p:spPr bwMode="auto">
          <a:xfrm>
            <a:off x="660400" y="4076700"/>
            <a:ext cx="4044950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000099"/>
              </a:buClr>
              <a:buSzPct val="75000"/>
              <a:buFont typeface="Wingdings" pitchFamily="2" charset="2"/>
              <a:buNone/>
            </a:pPr>
            <a:r>
              <a:rPr lang="en-US" sz="2800">
                <a:solidFill>
                  <a:srgbClr val="FF0000"/>
                </a:solidFill>
              </a:rPr>
              <a:t>selective send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 Allahabad, Prayagraj, India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4A3ABE-7EE8-428A-9823-130E8679AB4E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8CEE345-6DC6-4EB6-8670-D5763D0234FB}" type="datetime1">
              <a:rPr lang="en-US" smtClean="0"/>
              <a:t>1/31/2019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4863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85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85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85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2.59259E-6 L -0.10694 0.11482 L -0.10694 0.24329 " pathEditMode="relative" rAng="0" ptsTypes="AAA">
                                      <p:cBhvr>
                                        <p:cTn id="24" dur="2000" fill="hold"/>
                                        <p:tgtEl>
                                          <p:spTgt spid="6850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47" y="121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85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6.2963E-6 L -0.12118 -0.09814 " pathEditMode="relative" ptsTypes="AA">
                                      <p:cBhvr>
                                        <p:cTn id="42" dur="2000" fill="hold"/>
                                        <p:tgtEl>
                                          <p:spTgt spid="6851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7.40741E-7 L -0.09532 0.14352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6851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74" y="7176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7.40741E-7 L 0.03489 0.15509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6851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36" y="7755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7.40741E-7 L 0.16163 0.06667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6851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73" y="3333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3.7037E-6 L 0.11545 -0.10231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685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64" y="-5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685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39 -0.00509 L -0.03767 -0.17014 " pathEditMode="relative" rAng="0" ptsTypes="AA">
                                      <p:cBhvr>
                                        <p:cTn id="77" dur="2000" fill="hold"/>
                                        <p:tgtEl>
                                          <p:spTgt spid="6851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23" y="-82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8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685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611 -0.1588 L -0.03472 -0.32871 " pathEditMode="relative" ptsTypes="AA">
                                      <p:cBhvr>
                                        <p:cTn id="91" dur="2000" fill="hold"/>
                                        <p:tgtEl>
                                          <p:spTgt spid="6851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5104" grpId="0"/>
      <p:bldP spid="685140" grpId="0" build="p"/>
      <p:bldP spid="685142" grpId="0"/>
      <p:bldP spid="685149" grpId="0" build="p"/>
      <p:bldP spid="685154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Case of Layer-2 Mobility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1"/>
            <a:ext cx="8229600" cy="1066800"/>
          </a:xfrm>
        </p:spPr>
        <p:txBody>
          <a:bodyPr/>
          <a:lstStyle/>
          <a:p>
            <a:r>
              <a:rPr lang="en-IN" dirty="0" smtClean="0"/>
              <a:t>Suppose a mobile node is in role of FTP receiver: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7CB916B-4A66-43C0-BFBA-D8B65A100FD4}" type="datetime1">
              <a:rPr lang="en-US" smtClean="0"/>
              <a:t>1/31/2019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 Allahabad, Prayagraj, India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4A3ABE-7EE8-428A-9823-130E8679AB4E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667000"/>
            <a:ext cx="6324600" cy="3187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57332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How SDN can Help??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507022A-25A7-4B56-A872-603E700397FE}" type="datetime1">
              <a:rPr lang="en-US" smtClean="0"/>
              <a:t>1/31/2019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 Allahabad, Prayagraj, India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4A3ABE-7EE8-428A-9823-130E8679AB4E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524000"/>
            <a:ext cx="6781800" cy="469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13551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How SDN can Help??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974D59D-CCEB-4B82-A5A3-B77ED4E4BBDA}" type="datetime1">
              <a:rPr lang="en-US" smtClean="0"/>
              <a:t>1/31/2019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 Allahabad, Prayagraj, India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4A3ABE-7EE8-428A-9823-130E8679AB4E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388609"/>
            <a:ext cx="7010400" cy="48336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39722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How SDN can help: TCP case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Can we hide mobility induced packet losses</a:t>
            </a:r>
          </a:p>
          <a:p>
            <a:pPr lvl="1"/>
            <a:r>
              <a:rPr lang="en-IN" dirty="0" smtClean="0"/>
              <a:t>To avoid drastic reduction of congestion window at sender.</a:t>
            </a:r>
          </a:p>
          <a:p>
            <a:r>
              <a:rPr lang="en-IN" dirty="0" smtClean="0"/>
              <a:t>Can we redirect and recover the packets in transit when:</a:t>
            </a:r>
          </a:p>
          <a:p>
            <a:pPr lvl="1"/>
            <a:r>
              <a:rPr lang="en-IN" dirty="0" smtClean="0"/>
              <a:t>Mobile node is disassociated </a:t>
            </a:r>
          </a:p>
          <a:p>
            <a:r>
              <a:rPr lang="en-IN" dirty="0" smtClean="0"/>
              <a:t>Can we do above stuffs without</a:t>
            </a:r>
          </a:p>
          <a:p>
            <a:pPr lvl="1"/>
            <a:r>
              <a:rPr lang="en-IN" dirty="0" smtClean="0"/>
              <a:t>Modifying the TCP implementation</a:t>
            </a:r>
          </a:p>
          <a:p>
            <a:pPr lvl="1"/>
            <a:r>
              <a:rPr lang="en-IN" dirty="0" smtClean="0"/>
              <a:t>Compromising end-to-end semantics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CDF25E1-7956-431B-AAC7-33C8A070D622}" type="datetime1">
              <a:rPr lang="en-US" smtClean="0"/>
              <a:t>1/31/2019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 Allahabad, Prayagraj, India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4A3ABE-7EE8-428A-9823-130E8679AB4E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715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How SDN can help: TCP case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Intelligent usage of ZWA (Zero Window Advertisement) of TCP</a:t>
            </a:r>
          </a:p>
          <a:p>
            <a:r>
              <a:rPr lang="en-IN" dirty="0" smtClean="0"/>
              <a:t>Intelligent usage of Protection against spurious timeouts of TCP</a:t>
            </a:r>
          </a:p>
          <a:p>
            <a:r>
              <a:rPr lang="en-IN" dirty="0" smtClean="0"/>
              <a:t>Making SDN controller to take the role of receiver during disconnection and</a:t>
            </a:r>
          </a:p>
          <a:p>
            <a:pPr lvl="1"/>
            <a:r>
              <a:rPr lang="en-IN" dirty="0" smtClean="0"/>
              <a:t>Relinquishing that role gracefully as soon as receiver gets connected.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6F3EB2-2A69-4DFC-BA06-D1C05EB23E43}" type="datetime1">
              <a:rPr lang="en-US" smtClean="0"/>
              <a:t>1/31/2019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 Allahabad, Prayagraj, India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4A3ABE-7EE8-428A-9823-130E8679AB4E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6330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To Conclude: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SDN has lots of promise</a:t>
            </a:r>
          </a:p>
          <a:p>
            <a:pPr lvl="1"/>
            <a:r>
              <a:rPr lang="en-IN" dirty="0" smtClean="0"/>
              <a:t>Slowly and steadily getting pace</a:t>
            </a:r>
          </a:p>
          <a:p>
            <a:pPr lvl="1"/>
            <a:r>
              <a:rPr lang="en-IN" dirty="0" smtClean="0"/>
              <a:t>Already popular in Data-</a:t>
            </a:r>
            <a:r>
              <a:rPr lang="en-IN" dirty="0" err="1" smtClean="0"/>
              <a:t>Centers</a:t>
            </a:r>
            <a:endParaRPr lang="en-IN" dirty="0" smtClean="0"/>
          </a:p>
          <a:p>
            <a:pPr lvl="1"/>
            <a:r>
              <a:rPr lang="en-IN" dirty="0" smtClean="0"/>
              <a:t>Can be helpful in many domains:</a:t>
            </a:r>
          </a:p>
          <a:p>
            <a:pPr lvl="2"/>
            <a:r>
              <a:rPr lang="en-IN" dirty="0" smtClean="0"/>
              <a:t>Content based routing</a:t>
            </a:r>
          </a:p>
          <a:p>
            <a:pPr lvl="2"/>
            <a:r>
              <a:rPr lang="en-IN" dirty="0" smtClean="0"/>
              <a:t>Event based routing</a:t>
            </a:r>
          </a:p>
          <a:p>
            <a:pPr lvl="2"/>
            <a:r>
              <a:rPr lang="en-IN" dirty="0" smtClean="0"/>
              <a:t>Named data Networking</a:t>
            </a:r>
          </a:p>
          <a:p>
            <a:pPr lvl="2"/>
            <a:r>
              <a:rPr lang="en-IN" dirty="0" smtClean="0"/>
              <a:t>Information Centric Networks </a:t>
            </a:r>
            <a:endParaRPr lang="en-IN" dirty="0"/>
          </a:p>
          <a:p>
            <a:pPr lvl="2"/>
            <a:r>
              <a:rPr lang="en-IN" dirty="0" smtClean="0"/>
              <a:t>And obviously (</a:t>
            </a:r>
            <a:r>
              <a:rPr lang="en-IN" dirty="0" err="1" smtClean="0"/>
              <a:t>IoT</a:t>
            </a:r>
            <a:r>
              <a:rPr lang="en-IN" dirty="0" smtClean="0"/>
              <a:t>)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AE0DF33-FDCD-4320-A2C7-16F2C305DCD0}" type="datetime1">
              <a:rPr lang="en-US" smtClean="0"/>
              <a:t>1/31/2019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 Allahabad, Prayagraj, India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4A3ABE-7EE8-428A-9823-130E8679AB4E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448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Talk was based on: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 smtClean="0"/>
              <a:t>“Software-Defined </a:t>
            </a:r>
            <a:r>
              <a:rPr lang="en-IN" sz="2400" dirty="0"/>
              <a:t>Mobility in IP based </a:t>
            </a:r>
            <a:r>
              <a:rPr lang="en-IN" sz="2400" dirty="0" smtClean="0"/>
              <a:t>Wi-Fi Networks</a:t>
            </a:r>
            <a:r>
              <a:rPr lang="en-IN" sz="2400" dirty="0"/>
              <a:t>: Design Proposal and Future Directions”. </a:t>
            </a:r>
            <a:r>
              <a:rPr lang="en-IN" sz="2400" dirty="0" smtClean="0"/>
              <a:t>10</a:t>
            </a:r>
            <a:r>
              <a:rPr lang="en-IN" sz="2400" baseline="30000" dirty="0" smtClean="0"/>
              <a:t>th</a:t>
            </a:r>
            <a:r>
              <a:rPr lang="en-IN" sz="2400" dirty="0" smtClean="0"/>
              <a:t> IEEE </a:t>
            </a:r>
            <a:r>
              <a:rPr lang="en-IN" sz="2400" dirty="0"/>
              <a:t>International Conference </a:t>
            </a:r>
            <a:r>
              <a:rPr lang="en-IN" sz="2400" dirty="0" smtClean="0"/>
              <a:t>on Advanced </a:t>
            </a:r>
            <a:r>
              <a:rPr lang="en-IN" sz="2400" dirty="0"/>
              <a:t>Networks and Telecommunications Systems (ANTS</a:t>
            </a:r>
            <a:r>
              <a:rPr lang="en-IN" sz="2400" dirty="0" smtClean="0"/>
              <a:t>) 2016.</a:t>
            </a:r>
            <a:endParaRPr lang="en-IN" sz="1800" dirty="0" smtClean="0"/>
          </a:p>
          <a:p>
            <a:pPr lvl="1"/>
            <a:r>
              <a:rPr lang="en-IN" sz="1800" dirty="0" smtClean="0"/>
              <a:t>Authors: Krishna Vijay Singh and </a:t>
            </a:r>
            <a:r>
              <a:rPr lang="en-IN" sz="1800" dirty="0" err="1" smtClean="0"/>
              <a:t>Mayank</a:t>
            </a:r>
            <a:r>
              <a:rPr lang="en-IN" sz="1800" dirty="0" smtClean="0"/>
              <a:t> </a:t>
            </a:r>
            <a:r>
              <a:rPr lang="en-IN" sz="1800" dirty="0" err="1" smtClean="0"/>
              <a:t>Pandey</a:t>
            </a:r>
            <a:endParaRPr lang="en-IN" sz="1800" dirty="0" smtClean="0"/>
          </a:p>
          <a:p>
            <a:r>
              <a:rPr lang="en-IN" sz="2400" dirty="0"/>
              <a:t>“Improving performance of TCP for wireless network using SDN”. 20th </a:t>
            </a:r>
            <a:r>
              <a:rPr lang="en-IN" sz="2400" dirty="0" smtClean="0"/>
              <a:t>ACM International </a:t>
            </a:r>
            <a:r>
              <a:rPr lang="en-IN" sz="2400" dirty="0"/>
              <a:t>Conference on Distributed Computing and Networking </a:t>
            </a:r>
            <a:r>
              <a:rPr lang="en-IN" sz="2400" dirty="0" smtClean="0"/>
              <a:t> (ICDCN) 2019.</a:t>
            </a:r>
          </a:p>
          <a:p>
            <a:pPr lvl="1"/>
            <a:r>
              <a:rPr lang="en-IN" sz="1800" dirty="0" smtClean="0"/>
              <a:t>Authors: Krishna Vijay Singh and </a:t>
            </a:r>
            <a:r>
              <a:rPr lang="en-IN" sz="1800" dirty="0" err="1" smtClean="0"/>
              <a:t>Mayank</a:t>
            </a:r>
            <a:r>
              <a:rPr lang="en-IN" sz="1800" dirty="0" smtClean="0"/>
              <a:t> </a:t>
            </a:r>
            <a:r>
              <a:rPr lang="en-IN" sz="1800" dirty="0" err="1" smtClean="0"/>
              <a:t>Pandey</a:t>
            </a:r>
            <a:endParaRPr lang="en-IN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441B646-8127-4E91-9662-E965E9A987E7}" type="datetime1">
              <a:rPr lang="en-US" smtClean="0"/>
              <a:t>1/31/2019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 Allahabad, Prayagraj, India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4A3ABE-7EE8-428A-9823-130E8679AB4E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6583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 Further Details and References: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Feel free to contact me on</a:t>
            </a:r>
          </a:p>
          <a:p>
            <a:pPr lvl="1"/>
            <a:r>
              <a:rPr lang="en-US" dirty="0" smtClean="0">
                <a:hlinkClick r:id="rId2"/>
              </a:rPr>
              <a:t>mayankpandey@mnnit.ac.in</a:t>
            </a:r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 algn="ctr">
              <a:buNone/>
            </a:pPr>
            <a:r>
              <a:rPr lang="en-US" sz="9600" dirty="0" smtClean="0"/>
              <a:t>Thanks….</a:t>
            </a:r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96C4E66-5EDD-4A64-819B-422A9DB07D1E}" type="datetime1">
              <a:rPr lang="en-US" smtClean="0"/>
              <a:t>1/31/2019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Mayank Pandey, MNNIT Allahabad, Prayagraj, India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4A3ABE-7EE8-428A-9823-130E8679AB4E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40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9090</TotalTime>
  <Words>1641</Words>
  <Application>Microsoft Office PowerPoint</Application>
  <PresentationFormat>On-screen Show (4:3)</PresentationFormat>
  <Paragraphs>378</Paragraphs>
  <Slides>35</Slides>
  <Notes>3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7" baseType="lpstr">
      <vt:lpstr>Office Theme</vt:lpstr>
      <vt:lpstr>Clip</vt:lpstr>
      <vt:lpstr>PowerPoint Presentation</vt:lpstr>
      <vt:lpstr>Context</vt:lpstr>
      <vt:lpstr>Context</vt:lpstr>
      <vt:lpstr>Context</vt:lpstr>
      <vt:lpstr>Revisiting Network Protocol Stack</vt:lpstr>
      <vt:lpstr>The Network layer</vt:lpstr>
      <vt:lpstr>The Perpetual Confusion</vt:lpstr>
      <vt:lpstr>The Perpetual Confusion</vt:lpstr>
      <vt:lpstr>More Confusion</vt:lpstr>
      <vt:lpstr>Planes...Planes...Planes...</vt:lpstr>
      <vt:lpstr>Traditional Network Devices</vt:lpstr>
      <vt:lpstr>Analogy</vt:lpstr>
      <vt:lpstr>Programmable Networks</vt:lpstr>
      <vt:lpstr>Early efforts</vt:lpstr>
      <vt:lpstr>Adaptive Networks: Flow aware routing  </vt:lpstr>
      <vt:lpstr>Software Defined Networks</vt:lpstr>
      <vt:lpstr>SDN (Abstract View)</vt:lpstr>
      <vt:lpstr>SDN : Important Components</vt:lpstr>
      <vt:lpstr>SDN: Basic Architecture</vt:lpstr>
      <vt:lpstr>Example usage: SDN and Mobility</vt:lpstr>
      <vt:lpstr>Typical layout of WiFi Network</vt:lpstr>
      <vt:lpstr>Mobility in IP Networks: Issues</vt:lpstr>
      <vt:lpstr>Mobility in IP Networks: Issues</vt:lpstr>
      <vt:lpstr>Mobility in IP Networks: Issues</vt:lpstr>
      <vt:lpstr>Layer-2 Switch: self-learning</vt:lpstr>
      <vt:lpstr>Switch: frame filtering/forwarding</vt:lpstr>
      <vt:lpstr>Self-learning, forwarding: example</vt:lpstr>
      <vt:lpstr>Case of Layer-2 Mobility</vt:lpstr>
      <vt:lpstr>How SDN can Help??</vt:lpstr>
      <vt:lpstr>How SDN can Help??</vt:lpstr>
      <vt:lpstr>How SDN can help: TCP case</vt:lpstr>
      <vt:lpstr>How SDN can help: TCP case</vt:lpstr>
      <vt:lpstr>To Conclude:</vt:lpstr>
      <vt:lpstr>Talk was based on:</vt:lpstr>
      <vt:lpstr>For Further Details and References: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Content Based Publish Subscribe over 2-Tier DHT Utilizing Domain Ontology</dc:title>
  <dc:creator>MNNIT</dc:creator>
  <cp:lastModifiedBy>Mayank Pandey</cp:lastModifiedBy>
  <cp:revision>534</cp:revision>
  <dcterms:created xsi:type="dcterms:W3CDTF">2011-03-15T06:08:11Z</dcterms:created>
  <dcterms:modified xsi:type="dcterms:W3CDTF">2019-01-31T07:55:54Z</dcterms:modified>
</cp:coreProperties>
</file>