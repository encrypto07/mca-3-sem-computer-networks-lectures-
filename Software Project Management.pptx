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310" r:id="rId22"/>
    <p:sldId id="280" r:id="rId23"/>
    <p:sldId id="281" r:id="rId24"/>
    <p:sldId id="282" r:id="rId25"/>
    <p:sldId id="283" r:id="rId26"/>
    <p:sldId id="284" r:id="rId27"/>
    <p:sldId id="285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9" r:id="rId48"/>
    <p:sldId id="319" r:id="rId49"/>
    <p:sldId id="300" r:id="rId50"/>
    <p:sldId id="301" r:id="rId51"/>
    <p:sldId id="302" r:id="rId52"/>
    <p:sldId id="303" r:id="rId53"/>
    <p:sldId id="304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4B94C-7427-4936-A9E6-A46982448B04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E540B-EDA3-4E76-8FEA-CDC45B12F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7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697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414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619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54100" y="303213"/>
            <a:ext cx="4746625" cy="35607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4438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45411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4643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4745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48483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4950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50531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5155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5257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53603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ln/>
        </p:spPr>
      </p:sp>
      <p:sp>
        <p:nvSpPr>
          <p:cNvPr id="15462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76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72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7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7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5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2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5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36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2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07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5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F991A50-7723-4270-A38D-63090464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71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E09D4-0C8E-4143-BAA2-3B715D06C40C}" type="datetimeFigureOut">
              <a:rPr lang="en-IN" smtClean="0"/>
              <a:t>02-03-2017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77659-856C-4AC5-A6AB-9E4894AEC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7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Project Management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Tulika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91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8284-C8F1-4B38-819B-3893686AB936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 smtClean="0"/>
              <a:t>Outline</a:t>
            </a:r>
            <a:endParaRPr lang="en-GB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5625" cy="495776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525"/>
              </a:spcBef>
            </a:pPr>
            <a:r>
              <a:rPr lang="en-GB" altLang="en-US" sz="2400" dirty="0"/>
              <a:t>Introduction to Project Planning</a:t>
            </a:r>
          </a:p>
          <a:p>
            <a:pPr>
              <a:spcBef>
                <a:spcPts val="525"/>
              </a:spcBef>
            </a:pPr>
            <a:r>
              <a:rPr lang="en-GB" altLang="en-US" sz="2400" dirty="0"/>
              <a:t>Software Cost Estimation</a:t>
            </a:r>
          </a:p>
          <a:p>
            <a:pPr lvl="1">
              <a:spcBef>
                <a:spcPts val="450"/>
              </a:spcBef>
            </a:pPr>
            <a:r>
              <a:rPr lang="en-GB" altLang="en-US" sz="2000" dirty="0"/>
              <a:t>Cost Estimation Models</a:t>
            </a:r>
          </a:p>
          <a:p>
            <a:pPr lvl="1">
              <a:spcBef>
                <a:spcPts val="450"/>
              </a:spcBef>
            </a:pPr>
            <a:r>
              <a:rPr lang="en-GB" altLang="en-US" sz="2000" dirty="0"/>
              <a:t>Software Size Metrics</a:t>
            </a:r>
          </a:p>
          <a:p>
            <a:pPr lvl="1">
              <a:spcBef>
                <a:spcPts val="450"/>
              </a:spcBef>
            </a:pPr>
            <a:r>
              <a:rPr lang="en-GB" altLang="en-US" sz="2000" dirty="0"/>
              <a:t>Empirical Estimation</a:t>
            </a:r>
          </a:p>
          <a:p>
            <a:pPr lvl="1">
              <a:spcBef>
                <a:spcPts val="450"/>
              </a:spcBef>
            </a:pPr>
            <a:r>
              <a:rPr lang="en-GB" altLang="en-US" sz="2000" dirty="0"/>
              <a:t>Heuristic Estimation</a:t>
            </a:r>
          </a:p>
          <a:p>
            <a:pPr lvl="1">
              <a:spcBef>
                <a:spcPts val="450"/>
              </a:spcBef>
            </a:pPr>
            <a:r>
              <a:rPr lang="en-GB" altLang="en-US" sz="2000" dirty="0"/>
              <a:t>COCOMO</a:t>
            </a:r>
          </a:p>
          <a:p>
            <a:pPr>
              <a:spcBef>
                <a:spcPts val="525"/>
              </a:spcBef>
            </a:pPr>
            <a:r>
              <a:rPr lang="en-GB" altLang="en-US" sz="2400" dirty="0"/>
              <a:t>Staffing Level </a:t>
            </a:r>
            <a:r>
              <a:rPr lang="en-GB" altLang="en-US" sz="2400" dirty="0" smtClean="0"/>
              <a:t>Estimation</a:t>
            </a: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429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E0EFA-8C9D-418F-83CD-30BFE273375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475"/>
              </a:spcBef>
            </a:pPr>
            <a:r>
              <a:rPr lang="en-GB" altLang="en-US" sz="6000"/>
              <a:t>Introduction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550988"/>
            <a:ext cx="7769225" cy="41116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400" dirty="0"/>
              <a:t>Many software projects fail: </a:t>
            </a:r>
          </a:p>
          <a:p>
            <a:pPr lvl="1">
              <a:spcBef>
                <a:spcPts val="713"/>
              </a:spcBef>
            </a:pPr>
            <a:r>
              <a:rPr lang="en-GB" altLang="en-US" sz="4000" dirty="0"/>
              <a:t>due to faulty  project management practices:</a:t>
            </a:r>
          </a:p>
          <a:p>
            <a:pPr lvl="2">
              <a:spcBef>
                <a:spcPts val="613"/>
              </a:spcBef>
            </a:pPr>
            <a:r>
              <a:rPr lang="en-GB" altLang="en-US" sz="3600" dirty="0"/>
              <a:t>It is important to learn different aspects of software project management.</a:t>
            </a:r>
          </a:p>
        </p:txBody>
      </p:sp>
    </p:spTree>
    <p:extLst>
      <p:ext uri="{BB962C8B-B14F-4D97-AF65-F5344CB8AC3E}">
        <p14:creationId xmlns:p14="http://schemas.microsoft.com/office/powerpoint/2010/main" val="144827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DCC9-9E47-4EEF-9C7D-FF6FBEB25AE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74625"/>
            <a:ext cx="7769225" cy="1157288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613"/>
              </a:spcBef>
            </a:pPr>
            <a:r>
              <a:rPr lang="en-GB" altLang="en-US" sz="6600"/>
              <a:t>Introduction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400" dirty="0"/>
              <a:t>Goal of software project management:</a:t>
            </a:r>
          </a:p>
          <a:p>
            <a:pPr lvl="1">
              <a:spcBef>
                <a:spcPts val="713"/>
              </a:spcBef>
            </a:pPr>
            <a:r>
              <a:rPr lang="en-GB" altLang="en-US" sz="3600" dirty="0"/>
              <a:t>enable a group of engineers to work efficiently towards successful completion of a software project.</a:t>
            </a:r>
          </a:p>
        </p:txBody>
      </p:sp>
    </p:spTree>
    <p:extLst>
      <p:ext uri="{BB962C8B-B14F-4D97-AF65-F5344CB8AC3E}">
        <p14:creationId xmlns:p14="http://schemas.microsoft.com/office/powerpoint/2010/main" val="396082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7814-A34E-485A-B2F5-B2A6371572B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63513"/>
            <a:ext cx="7769225" cy="14065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sz="3600" b="1"/>
              <a:t>Responsibility of project managers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75625" cy="4459288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300"/>
              </a:spcBef>
            </a:pPr>
            <a:r>
              <a:rPr lang="en-GB" altLang="en-US" sz="2800"/>
              <a:t>Project proposal writing,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Project cost estimation, 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Scheduling, 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Project staffing, 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Project monitoring and control, 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Software configuration management, 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Risk management, </a:t>
            </a:r>
          </a:p>
          <a:p>
            <a:pPr>
              <a:spcBef>
                <a:spcPts val="300"/>
              </a:spcBef>
            </a:pPr>
            <a:r>
              <a:rPr lang="en-GB" altLang="en-US" sz="2800"/>
              <a:t>Managerial report writing and presentations, etc. </a:t>
            </a:r>
          </a:p>
        </p:txBody>
      </p:sp>
    </p:spTree>
    <p:extLst>
      <p:ext uri="{BB962C8B-B14F-4D97-AF65-F5344CB8AC3E}">
        <p14:creationId xmlns:p14="http://schemas.microsoft.com/office/powerpoint/2010/main" val="169089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DE745-9F26-4D89-8165-654161ACB2F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74625"/>
            <a:ext cx="7769225" cy="1157288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613"/>
              </a:spcBef>
            </a:pPr>
            <a:r>
              <a:rPr lang="en-GB" altLang="en-US" sz="6600"/>
              <a:t>Introduction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400" dirty="0"/>
              <a:t>A project manager’s activities are varied.</a:t>
            </a:r>
          </a:p>
          <a:p>
            <a:pPr lvl="1">
              <a:spcBef>
                <a:spcPts val="713"/>
              </a:spcBef>
            </a:pPr>
            <a:r>
              <a:rPr lang="en-GB" altLang="en-US" sz="4000" dirty="0"/>
              <a:t>can be broadly classified into:  </a:t>
            </a:r>
          </a:p>
          <a:p>
            <a:pPr lvl="2">
              <a:spcBef>
                <a:spcPts val="613"/>
              </a:spcBef>
            </a:pPr>
            <a:r>
              <a:rPr lang="en-GB" altLang="en-US" sz="3600" dirty="0"/>
              <a:t>project planning,  </a:t>
            </a:r>
          </a:p>
          <a:p>
            <a:pPr lvl="2">
              <a:spcBef>
                <a:spcPts val="713"/>
              </a:spcBef>
            </a:pPr>
            <a:r>
              <a:rPr lang="en-GB" altLang="en-US" sz="3600" dirty="0"/>
              <a:t>project monitoring and control activities</a:t>
            </a:r>
            <a:r>
              <a:rPr lang="en-GB" alt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490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9CFA-E31F-4990-98BE-D19C13F13EFB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b="1"/>
              <a:t>Project</a:t>
            </a:r>
            <a:r>
              <a:rPr lang="en-GB" altLang="en-US" sz="4800"/>
              <a:t> </a:t>
            </a:r>
            <a:r>
              <a:rPr lang="en-GB" altLang="en-US" sz="4800" b="1"/>
              <a:t>Planning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875"/>
              </a:spcBef>
            </a:pPr>
            <a:r>
              <a:rPr lang="en-GB" altLang="en-US" sz="4000"/>
              <a:t>Once a project is found to be feasible, </a:t>
            </a:r>
          </a:p>
          <a:p>
            <a:pPr lvl="1">
              <a:spcBef>
                <a:spcPts val="788"/>
              </a:spcBef>
            </a:pPr>
            <a:r>
              <a:rPr lang="en-GB" altLang="en-US" sz="3600"/>
              <a:t>project managers undertake project planning.</a:t>
            </a:r>
          </a:p>
        </p:txBody>
      </p:sp>
    </p:spTree>
    <p:extLst>
      <p:ext uri="{BB962C8B-B14F-4D97-AF65-F5344CB8AC3E}">
        <p14:creationId xmlns:p14="http://schemas.microsoft.com/office/powerpoint/2010/main" val="25719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1F69-39A4-40AE-94D5-F8D97CDB107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altLang="en-US"/>
              <a:t>Project Planning Activities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75625" cy="46291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dirty="0"/>
              <a:t>Estimation: 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Effort, cost, resource, and project duration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dirty="0"/>
              <a:t>Project scheduling: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dirty="0"/>
              <a:t>Staff organization: 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staffing plans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dirty="0"/>
              <a:t>Risk handling: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identification, analysis, and abatement procedures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dirty="0"/>
              <a:t>Miscellaneous plans: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quality assurance plan, configuration management plan, etc.</a:t>
            </a:r>
          </a:p>
        </p:txBody>
      </p:sp>
    </p:spTree>
    <p:extLst>
      <p:ext uri="{BB962C8B-B14F-4D97-AF65-F5344CB8AC3E}">
        <p14:creationId xmlns:p14="http://schemas.microsoft.com/office/powerpoint/2010/main" val="291584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067-A50C-413E-828E-F050EA298D7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/>
              <a:t>Project planning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dirty="0"/>
              <a:t>Requires utmost care and attention --- commitments to unrealistic time  and resource estimates result in: </a:t>
            </a:r>
          </a:p>
          <a:p>
            <a:pPr lvl="1">
              <a:spcBef>
                <a:spcPts val="713"/>
              </a:spcBef>
            </a:pPr>
            <a:r>
              <a:rPr lang="en-GB" altLang="en-US" dirty="0"/>
              <a:t>irritating delays.</a:t>
            </a:r>
          </a:p>
          <a:p>
            <a:pPr lvl="1">
              <a:spcBef>
                <a:spcPts val="713"/>
              </a:spcBef>
            </a:pPr>
            <a:r>
              <a:rPr lang="en-GB" altLang="en-US" dirty="0"/>
              <a:t>customer dissatisfaction </a:t>
            </a:r>
          </a:p>
          <a:p>
            <a:pPr lvl="1">
              <a:spcBef>
                <a:spcPts val="713"/>
              </a:spcBef>
            </a:pPr>
            <a:r>
              <a:rPr lang="en-GB" altLang="en-US" dirty="0"/>
              <a:t>adverse affect on team morale</a:t>
            </a:r>
          </a:p>
          <a:p>
            <a:pPr lvl="2">
              <a:spcBef>
                <a:spcPts val="613"/>
              </a:spcBef>
            </a:pPr>
            <a:r>
              <a:rPr lang="en-GB" altLang="en-US" dirty="0"/>
              <a:t>poor quality work </a:t>
            </a:r>
          </a:p>
          <a:p>
            <a:pPr lvl="1">
              <a:spcBef>
                <a:spcPts val="713"/>
              </a:spcBef>
            </a:pPr>
            <a:r>
              <a:rPr lang="en-GB" altLang="en-US" dirty="0"/>
              <a:t>project failure.</a:t>
            </a:r>
          </a:p>
        </p:txBody>
      </p:sp>
    </p:spTree>
    <p:extLst>
      <p:ext uri="{BB962C8B-B14F-4D97-AF65-F5344CB8AC3E}">
        <p14:creationId xmlns:p14="http://schemas.microsoft.com/office/powerpoint/2010/main" val="327024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7B06-244E-4195-B350-49171C236613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/>
              <a:t>SPMP Document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400"/>
              <a:t>After planning is complete:</a:t>
            </a:r>
          </a:p>
          <a:p>
            <a:pPr lvl="1">
              <a:spcBef>
                <a:spcPts val="713"/>
              </a:spcBef>
            </a:pPr>
            <a:r>
              <a:rPr lang="en-GB" altLang="en-US" sz="4000"/>
              <a:t> Document the plans: </a:t>
            </a:r>
          </a:p>
          <a:p>
            <a:pPr lvl="1">
              <a:spcBef>
                <a:spcPts val="713"/>
              </a:spcBef>
            </a:pPr>
            <a:r>
              <a:rPr lang="en-GB" altLang="en-US" sz="4000"/>
              <a:t>in a Software Project Management Plan(SPMP) document.</a:t>
            </a:r>
          </a:p>
        </p:txBody>
      </p:sp>
    </p:spTree>
    <p:extLst>
      <p:ext uri="{BB962C8B-B14F-4D97-AF65-F5344CB8AC3E}">
        <p14:creationId xmlns:p14="http://schemas.microsoft.com/office/powerpoint/2010/main" val="25951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BBFA-1503-4D7E-A8BD-7BEDD797E9D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788"/>
              </a:spcBef>
            </a:pPr>
            <a:r>
              <a:rPr lang="en-GB" altLang="en-US" sz="3200"/>
              <a:t>Organization of SPMP Document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Autofit/>
          </a:bodyPr>
          <a:lstStyle/>
          <a:p>
            <a:pPr lvl="1">
              <a:spcBef>
                <a:spcPts val="525"/>
              </a:spcBef>
            </a:pPr>
            <a:r>
              <a:rPr lang="en-GB" altLang="en-US" sz="2400" dirty="0"/>
              <a:t>Introduction (Objectives</a:t>
            </a:r>
            <a:r>
              <a:rPr lang="en-GB" altLang="en-US" sz="2400" dirty="0" smtClean="0"/>
              <a:t>, Major </a:t>
            </a:r>
            <a:r>
              <a:rPr lang="en-GB" altLang="en-US" sz="2400" dirty="0"/>
              <a:t>Functions</a:t>
            </a:r>
            <a:r>
              <a:rPr lang="en-GB" altLang="en-US" sz="2400" dirty="0" smtClean="0"/>
              <a:t>, Performance </a:t>
            </a:r>
            <a:r>
              <a:rPr lang="en-GB" altLang="en-US" sz="2400" dirty="0"/>
              <a:t>Issues</a:t>
            </a:r>
            <a:r>
              <a:rPr lang="en-GB" altLang="en-US" sz="2400" dirty="0" smtClean="0"/>
              <a:t>, Management </a:t>
            </a:r>
            <a:r>
              <a:rPr lang="en-GB" altLang="en-US" sz="2400" dirty="0"/>
              <a:t>and Technical Constraints)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Project Estimates (Historical Data</a:t>
            </a:r>
            <a:r>
              <a:rPr lang="en-GB" altLang="en-US" sz="2400" dirty="0" smtClean="0"/>
              <a:t>, Estimation </a:t>
            </a:r>
            <a:r>
              <a:rPr lang="en-GB" altLang="en-US" sz="2400" dirty="0"/>
              <a:t>Techniques</a:t>
            </a:r>
            <a:r>
              <a:rPr lang="en-GB" altLang="en-US" sz="2400" dirty="0" smtClean="0"/>
              <a:t>, Effort</a:t>
            </a:r>
            <a:r>
              <a:rPr lang="en-GB" altLang="en-US" sz="2400" dirty="0"/>
              <a:t>, Cost, and Project Duration Estimates)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Project Resources Plan </a:t>
            </a:r>
            <a:r>
              <a:rPr lang="en-GB" altLang="en-US" sz="2400" dirty="0" smtClean="0"/>
              <a:t>(People, Hardware </a:t>
            </a:r>
            <a:r>
              <a:rPr lang="en-GB" altLang="en-US" sz="2400" dirty="0"/>
              <a:t>and </a:t>
            </a:r>
            <a:r>
              <a:rPr lang="en-GB" altLang="en-US" sz="2400" dirty="0" smtClean="0"/>
              <a:t>Software, Special </a:t>
            </a:r>
            <a:r>
              <a:rPr lang="en-GB" altLang="en-US" sz="2400" dirty="0"/>
              <a:t>Resources)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Schedules (Work Breakdown </a:t>
            </a:r>
            <a:r>
              <a:rPr lang="en-GB" altLang="en-US" sz="2400" dirty="0" smtClean="0"/>
              <a:t>Structure, Task </a:t>
            </a:r>
            <a:r>
              <a:rPr lang="en-GB" altLang="en-US" sz="2400" dirty="0"/>
              <a:t>Network, Gantt Chart </a:t>
            </a:r>
            <a:r>
              <a:rPr lang="en-GB" altLang="en-US" sz="2400" dirty="0" smtClean="0"/>
              <a:t>Representation, PERT </a:t>
            </a:r>
            <a:r>
              <a:rPr lang="en-GB" altLang="en-US" sz="2400" dirty="0"/>
              <a:t>Chart Representation)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Risk Management Plan (Risk </a:t>
            </a:r>
            <a:r>
              <a:rPr lang="en-GB" altLang="en-US" sz="2400" dirty="0" smtClean="0"/>
              <a:t>Analysis, Risk Identification, Risk </a:t>
            </a:r>
            <a:r>
              <a:rPr lang="en-GB" altLang="en-US" sz="2400" dirty="0"/>
              <a:t>Estimation, Abatement Procedures)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Project Tracking and Control Plan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Miscellaneous Plans(Process </a:t>
            </a:r>
            <a:r>
              <a:rPr lang="en-GB" altLang="en-US" sz="2400" dirty="0" smtClean="0"/>
              <a:t>Tailoring, Quality </a:t>
            </a:r>
            <a:r>
              <a:rPr lang="en-GB" altLang="en-US" sz="2400" dirty="0"/>
              <a:t>Assurance)</a:t>
            </a:r>
          </a:p>
        </p:txBody>
      </p:sp>
    </p:spTree>
    <p:extLst>
      <p:ext uri="{BB962C8B-B14F-4D97-AF65-F5344CB8AC3E}">
        <p14:creationId xmlns:p14="http://schemas.microsoft.com/office/powerpoint/2010/main" val="31630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9735A-A4B3-4623-BBAD-112BCF92BB1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/>
              <a:t>Software Cost Estimation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dirty="0"/>
              <a:t>Determine  </a:t>
            </a:r>
            <a:r>
              <a:rPr lang="en-GB" altLang="en-US" u="sng" dirty="0"/>
              <a:t>size</a:t>
            </a:r>
            <a:r>
              <a:rPr lang="en-GB" altLang="en-US" dirty="0"/>
              <a:t> of the product.</a:t>
            </a:r>
          </a:p>
          <a:p>
            <a:pPr>
              <a:spcBef>
                <a:spcPts val="988"/>
              </a:spcBef>
            </a:pPr>
            <a:r>
              <a:rPr lang="en-GB" altLang="en-US" dirty="0"/>
              <a:t>From the size estimate, </a:t>
            </a:r>
          </a:p>
          <a:p>
            <a:pPr lvl="1">
              <a:spcBef>
                <a:spcPts val="713"/>
              </a:spcBef>
            </a:pPr>
            <a:r>
              <a:rPr lang="en-GB" altLang="en-US" dirty="0"/>
              <a:t>determine the </a:t>
            </a:r>
            <a:r>
              <a:rPr lang="en-GB" altLang="en-US" u="sng" dirty="0"/>
              <a:t>effort</a:t>
            </a:r>
            <a:r>
              <a:rPr lang="en-GB" altLang="en-US" dirty="0"/>
              <a:t> needed.</a:t>
            </a:r>
          </a:p>
          <a:p>
            <a:pPr>
              <a:spcBef>
                <a:spcPts val="988"/>
              </a:spcBef>
            </a:pPr>
            <a:r>
              <a:rPr lang="en-GB" altLang="en-US" dirty="0"/>
              <a:t>From the effort estimate, </a:t>
            </a:r>
          </a:p>
          <a:p>
            <a:pPr lvl="1">
              <a:spcBef>
                <a:spcPts val="713"/>
              </a:spcBef>
            </a:pPr>
            <a:r>
              <a:rPr lang="en-GB" altLang="en-US" dirty="0"/>
              <a:t>determine </a:t>
            </a:r>
            <a:r>
              <a:rPr lang="en-GB" altLang="en-US" u="sng" dirty="0"/>
              <a:t>project duration, and cost</a:t>
            </a:r>
            <a:r>
              <a:rPr lang="en-GB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878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1A75-CDB3-4C96-9149-A46570FCC65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84322" name="Text Box 2"/>
          <p:cNvSpPr txBox="1">
            <a:spLocks noChangeArrowheads="1"/>
          </p:cNvSpPr>
          <p:nvPr/>
        </p:nvSpPr>
        <p:spPr bwMode="auto">
          <a:xfrm>
            <a:off x="304800" y="3038475"/>
            <a:ext cx="1676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latin typeface="Times New Roman" pitchFamily="18" charset="0"/>
              </a:rPr>
              <a:t>Size Estimation</a:t>
            </a: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2286000" y="1676400"/>
            <a:ext cx="19050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latin typeface="Times New Roman" pitchFamily="18" charset="0"/>
              </a:rPr>
              <a:t>Effort Estimation</a:t>
            </a:r>
          </a:p>
        </p:txBody>
      </p:sp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5638800" y="1682750"/>
            <a:ext cx="1676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latin typeface="Times New Roman" pitchFamily="18" charset="0"/>
              </a:rPr>
              <a:t>Cost Estimation</a:t>
            </a: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2286000" y="4502150"/>
            <a:ext cx="19050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latin typeface="Times New Roman" pitchFamily="18" charset="0"/>
              </a:rPr>
              <a:t>Duration Estimation</a:t>
            </a:r>
          </a:p>
        </p:txBody>
      </p:sp>
      <p:sp>
        <p:nvSpPr>
          <p:cNvPr id="184326" name="Text Box 6"/>
          <p:cNvSpPr txBox="1">
            <a:spLocks noChangeArrowheads="1"/>
          </p:cNvSpPr>
          <p:nvPr/>
        </p:nvSpPr>
        <p:spPr bwMode="auto">
          <a:xfrm>
            <a:off x="4724400" y="3124200"/>
            <a:ext cx="19050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latin typeface="Times New Roman" pitchFamily="18" charset="0"/>
              </a:rPr>
              <a:t>Staffing Estimation</a:t>
            </a:r>
          </a:p>
        </p:txBody>
      </p:sp>
      <p:sp>
        <p:nvSpPr>
          <p:cNvPr id="184327" name="Text Box 7"/>
          <p:cNvSpPr txBox="1">
            <a:spLocks noChangeArrowheads="1"/>
          </p:cNvSpPr>
          <p:nvPr/>
        </p:nvSpPr>
        <p:spPr bwMode="auto">
          <a:xfrm>
            <a:off x="6934200" y="4791075"/>
            <a:ext cx="1905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latin typeface="Times New Roman" pitchFamily="18" charset="0"/>
              </a:rPr>
              <a:t>Scheduling</a:t>
            </a:r>
          </a:p>
        </p:txBody>
      </p:sp>
      <p:sp>
        <p:nvSpPr>
          <p:cNvPr id="184328" name="Line 8"/>
          <p:cNvSpPr>
            <a:spLocks noChangeShapeType="1"/>
          </p:cNvSpPr>
          <p:nvPr/>
        </p:nvSpPr>
        <p:spPr bwMode="auto">
          <a:xfrm flipV="1">
            <a:off x="1981200" y="2514600"/>
            <a:ext cx="1143000" cy="914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29" name="Line 9"/>
          <p:cNvSpPr>
            <a:spLocks noChangeShapeType="1"/>
          </p:cNvSpPr>
          <p:nvPr/>
        </p:nvSpPr>
        <p:spPr bwMode="auto">
          <a:xfrm>
            <a:off x="1981200" y="3429000"/>
            <a:ext cx="1219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30" name="Line 10"/>
          <p:cNvSpPr>
            <a:spLocks noChangeShapeType="1"/>
          </p:cNvSpPr>
          <p:nvPr/>
        </p:nvSpPr>
        <p:spPr bwMode="auto">
          <a:xfrm>
            <a:off x="4191000" y="2133600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31" name="Line 11"/>
          <p:cNvSpPr>
            <a:spLocks noChangeShapeType="1"/>
          </p:cNvSpPr>
          <p:nvPr/>
        </p:nvSpPr>
        <p:spPr bwMode="auto">
          <a:xfrm>
            <a:off x="4191000" y="2438400"/>
            <a:ext cx="53340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33" name="Line 13"/>
          <p:cNvSpPr>
            <a:spLocks noChangeShapeType="1"/>
          </p:cNvSpPr>
          <p:nvPr/>
        </p:nvSpPr>
        <p:spPr bwMode="auto">
          <a:xfrm flipV="1">
            <a:off x="4191000" y="3657600"/>
            <a:ext cx="533400" cy="1219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34" name="Line 14"/>
          <p:cNvSpPr>
            <a:spLocks noChangeShapeType="1"/>
          </p:cNvSpPr>
          <p:nvPr/>
        </p:nvSpPr>
        <p:spPr bwMode="auto">
          <a:xfrm>
            <a:off x="4191000" y="5029200"/>
            <a:ext cx="2743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35" name="Line 15"/>
          <p:cNvSpPr>
            <a:spLocks noChangeShapeType="1"/>
          </p:cNvSpPr>
          <p:nvPr/>
        </p:nvSpPr>
        <p:spPr bwMode="auto">
          <a:xfrm>
            <a:off x="6629400" y="3505200"/>
            <a:ext cx="1219200" cy="1295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336" name="Rectangle 16"/>
          <p:cNvSpPr>
            <a:spLocks noChangeArrowheads="1"/>
          </p:cNvSpPr>
          <p:nvPr/>
        </p:nvSpPr>
        <p:spPr bwMode="auto">
          <a:xfrm>
            <a:off x="406400" y="182563"/>
            <a:ext cx="776922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>
            <a:lvl1pPr>
              <a:defRPr kumimoji="1" sz="4000">
                <a:solidFill>
                  <a:schemeClr val="tx2"/>
                </a:solidFill>
                <a:latin typeface="Arial Black" pitchFamily="34" charset="0"/>
              </a:defRPr>
            </a:lvl1pPr>
            <a:lvl2pPr>
              <a:defRPr kumimoji="1" sz="4000">
                <a:solidFill>
                  <a:schemeClr val="tx2"/>
                </a:solidFill>
                <a:latin typeface="Arial Black" pitchFamily="34" charset="0"/>
              </a:defRPr>
            </a:lvl2pPr>
            <a:lvl3pPr>
              <a:defRPr kumimoji="1" sz="4000">
                <a:solidFill>
                  <a:schemeClr val="tx2"/>
                </a:solidFill>
                <a:latin typeface="Arial Black" pitchFamily="34" charset="0"/>
              </a:defRPr>
            </a:lvl3pPr>
            <a:lvl4pPr>
              <a:defRPr kumimoji="1" sz="4000">
                <a:solidFill>
                  <a:schemeClr val="tx2"/>
                </a:solidFill>
                <a:latin typeface="Arial Black" pitchFamily="34" charset="0"/>
              </a:defRPr>
            </a:lvl4pPr>
            <a:lvl5pPr>
              <a:defRPr kumimoji="1" sz="4000">
                <a:solidFill>
                  <a:schemeClr val="tx2"/>
                </a:solidFill>
                <a:latin typeface="Arial Black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>
              <a:spcBef>
                <a:spcPts val="988"/>
              </a:spcBef>
            </a:pPr>
            <a:r>
              <a:rPr lang="en-GB" altLang="en-US"/>
              <a:t>Software Cost Estimation</a:t>
            </a:r>
          </a:p>
        </p:txBody>
      </p:sp>
    </p:spTree>
    <p:extLst>
      <p:ext uri="{BB962C8B-B14F-4D97-AF65-F5344CB8AC3E}">
        <p14:creationId xmlns:p14="http://schemas.microsoft.com/office/powerpoint/2010/main" val="311480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90F0-3A85-4943-A8CE-F5D72536FE3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altLang="en-US"/>
              <a:t>Software Cost Estimation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875"/>
              </a:spcBef>
            </a:pPr>
            <a:r>
              <a:rPr lang="en-GB" altLang="en-US" sz="4400"/>
              <a:t>Three main approaches to estimation:</a:t>
            </a:r>
          </a:p>
          <a:p>
            <a:pPr lvl="1">
              <a:spcBef>
                <a:spcPts val="788"/>
              </a:spcBef>
            </a:pPr>
            <a:r>
              <a:rPr lang="en-GB" altLang="en-US" sz="4000"/>
              <a:t>Empirical</a:t>
            </a:r>
          </a:p>
          <a:p>
            <a:pPr lvl="1">
              <a:spcBef>
                <a:spcPts val="788"/>
              </a:spcBef>
            </a:pPr>
            <a:r>
              <a:rPr lang="en-GB" altLang="en-US" sz="4000"/>
              <a:t>Heuristic</a:t>
            </a:r>
          </a:p>
          <a:p>
            <a:pPr lvl="1">
              <a:spcBef>
                <a:spcPts val="788"/>
              </a:spcBef>
            </a:pPr>
            <a:r>
              <a:rPr lang="en-GB" altLang="en-US" sz="4000"/>
              <a:t>Analytical</a:t>
            </a:r>
          </a:p>
        </p:txBody>
      </p:sp>
    </p:spTree>
    <p:extLst>
      <p:ext uri="{BB962C8B-B14F-4D97-AF65-F5344CB8AC3E}">
        <p14:creationId xmlns:p14="http://schemas.microsoft.com/office/powerpoint/2010/main" val="44879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B7448-07B3-4B3A-8054-890BE91D21BE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73038"/>
            <a:ext cx="7769225" cy="11588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788"/>
              </a:spcBef>
            </a:pPr>
            <a:r>
              <a:rPr lang="en-GB" altLang="en-US" sz="3200"/>
              <a:t>Software Cost Estimation</a:t>
            </a:r>
            <a:r>
              <a:rPr lang="en-GB" altLang="en-US" sz="1000"/>
              <a:t>  </a:t>
            </a:r>
            <a:r>
              <a:rPr lang="en-GB" altLang="en-US" sz="3200"/>
              <a:t>Techniques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5000"/>
              </a:lnSpc>
              <a:spcBef>
                <a:spcPts val="138"/>
              </a:spcBef>
            </a:pPr>
            <a:r>
              <a:rPr lang="en-GB" altLang="en-US" u="sng" dirty="0">
                <a:solidFill>
                  <a:srgbClr val="800000"/>
                </a:solidFill>
              </a:rPr>
              <a:t>Empirical techniques:</a:t>
            </a:r>
            <a:r>
              <a:rPr lang="en-GB" altLang="en-US" dirty="0"/>
              <a:t> </a:t>
            </a:r>
          </a:p>
          <a:p>
            <a:pPr lvl="1">
              <a:lnSpc>
                <a:spcPct val="95000"/>
              </a:lnSpc>
              <a:spcBef>
                <a:spcPts val="113"/>
              </a:spcBef>
            </a:pPr>
            <a:r>
              <a:rPr lang="en-GB" altLang="en-US" dirty="0"/>
              <a:t>an educated guess based on past experience.</a:t>
            </a:r>
          </a:p>
          <a:p>
            <a:pPr>
              <a:lnSpc>
                <a:spcPct val="95000"/>
              </a:lnSpc>
              <a:spcBef>
                <a:spcPts val="138"/>
              </a:spcBef>
            </a:pPr>
            <a:r>
              <a:rPr lang="en-GB" altLang="en-US" u="sng" dirty="0">
                <a:solidFill>
                  <a:srgbClr val="800000"/>
                </a:solidFill>
              </a:rPr>
              <a:t>Analytical techniques:</a:t>
            </a:r>
            <a:r>
              <a:rPr lang="en-GB" altLang="en-US" dirty="0"/>
              <a:t> </a:t>
            </a:r>
          </a:p>
          <a:p>
            <a:pPr lvl="1">
              <a:lnSpc>
                <a:spcPct val="95000"/>
              </a:lnSpc>
              <a:spcBef>
                <a:spcPts val="113"/>
              </a:spcBef>
            </a:pPr>
            <a:r>
              <a:rPr lang="en-GB" altLang="en-US" dirty="0"/>
              <a:t>derive the required results starting from certain simple assumptions.</a:t>
            </a:r>
          </a:p>
          <a:p>
            <a:pPr>
              <a:lnSpc>
                <a:spcPct val="95000"/>
              </a:lnSpc>
              <a:spcBef>
                <a:spcPts val="138"/>
              </a:spcBef>
            </a:pPr>
            <a:r>
              <a:rPr lang="en-GB" altLang="en-US" u="sng" dirty="0" smtClean="0">
                <a:solidFill>
                  <a:srgbClr val="800000"/>
                </a:solidFill>
              </a:rPr>
              <a:t>Heuristic </a:t>
            </a:r>
            <a:r>
              <a:rPr lang="en-GB" altLang="en-US" u="sng" dirty="0">
                <a:solidFill>
                  <a:srgbClr val="800000"/>
                </a:solidFill>
              </a:rPr>
              <a:t>techniques:</a:t>
            </a:r>
            <a:r>
              <a:rPr lang="en-GB" altLang="en-US" dirty="0"/>
              <a:t> </a:t>
            </a:r>
          </a:p>
          <a:p>
            <a:pPr lvl="1">
              <a:lnSpc>
                <a:spcPct val="95000"/>
              </a:lnSpc>
              <a:spcBef>
                <a:spcPts val="113"/>
              </a:spcBef>
            </a:pPr>
            <a:r>
              <a:rPr lang="en-GB" altLang="en-US" dirty="0"/>
              <a:t>assume that the characteristics to be estimated can be expressed in terms of </a:t>
            </a:r>
            <a:br>
              <a:rPr lang="en-GB" altLang="en-US" dirty="0"/>
            </a:br>
            <a:r>
              <a:rPr lang="en-GB" altLang="en-US" dirty="0"/>
              <a:t>some mathematical expression. </a:t>
            </a:r>
          </a:p>
        </p:txBody>
      </p:sp>
    </p:spTree>
    <p:extLst>
      <p:ext uri="{BB962C8B-B14F-4D97-AF65-F5344CB8AC3E}">
        <p14:creationId xmlns:p14="http://schemas.microsoft.com/office/powerpoint/2010/main" val="96810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954D-FF16-4CEA-A125-9E17A4F38381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b="1"/>
              <a:t>Software Size Metrics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 (Lines of Code):</a:t>
            </a:r>
          </a:p>
          <a:p>
            <a:pPr lvl="1">
              <a:spcBef>
                <a:spcPts val="713"/>
              </a:spcBef>
            </a:pPr>
            <a:r>
              <a:rPr lang="en-GB" altLang="en-US" sz="3600" dirty="0"/>
              <a:t>Simplest and most widely used metric.</a:t>
            </a:r>
          </a:p>
          <a:p>
            <a:pPr lvl="1">
              <a:spcBef>
                <a:spcPts val="713"/>
              </a:spcBef>
            </a:pPr>
            <a:r>
              <a:rPr lang="en-GB" altLang="en-US" sz="3600" dirty="0"/>
              <a:t>Comments and blank lines should not be counted.</a:t>
            </a:r>
          </a:p>
        </p:txBody>
      </p:sp>
    </p:spTree>
    <p:extLst>
      <p:ext uri="{BB962C8B-B14F-4D97-AF65-F5344CB8AC3E}">
        <p14:creationId xmlns:p14="http://schemas.microsoft.com/office/powerpoint/2010/main" val="182804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BC4D5-F6EB-45B4-95A2-8EF16759D00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788"/>
              </a:spcBef>
            </a:pPr>
            <a:r>
              <a:rPr lang="en-GB" altLang="en-US" sz="3600" b="1" dirty="0"/>
              <a:t>Disadvantages of Using LOC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4000"/>
              <a:t>Size can vary with coding style.</a:t>
            </a:r>
          </a:p>
          <a:p>
            <a:pPr>
              <a:spcBef>
                <a:spcPts val="613"/>
              </a:spcBef>
            </a:pPr>
            <a:r>
              <a:rPr lang="en-GB" altLang="en-US" sz="4000"/>
              <a:t>Focuses on coding activity alone.</a:t>
            </a:r>
          </a:p>
          <a:p>
            <a:pPr>
              <a:spcBef>
                <a:spcPts val="613"/>
              </a:spcBef>
            </a:pPr>
            <a:r>
              <a:rPr lang="en-GB" altLang="en-US" sz="4000"/>
              <a:t>Correlates poorly with quality and efficiency of code.</a:t>
            </a:r>
          </a:p>
          <a:p>
            <a:pPr>
              <a:spcBef>
                <a:spcPts val="613"/>
              </a:spcBef>
            </a:pPr>
            <a:r>
              <a:rPr lang="en-GB" altLang="en-US" sz="4000"/>
              <a:t>Penalizes higher level programming languages, code reuse, etc.</a:t>
            </a:r>
          </a:p>
        </p:txBody>
      </p:sp>
    </p:spTree>
    <p:extLst>
      <p:ext uri="{BB962C8B-B14F-4D97-AF65-F5344CB8AC3E}">
        <p14:creationId xmlns:p14="http://schemas.microsoft.com/office/powerpoint/2010/main" val="39589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A0F1-F60B-4743-8FE8-6014285E010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788"/>
              </a:spcBef>
            </a:pPr>
            <a:r>
              <a:rPr lang="en-GB" altLang="en-US" sz="3600" b="1" dirty="0"/>
              <a:t>Disadvantages of Using LOC  </a:t>
            </a:r>
            <a:r>
              <a:rPr lang="en-GB" altLang="en-US" sz="1800" b="1" dirty="0"/>
              <a:t>(cont...)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4000" dirty="0"/>
              <a:t>Measures </a:t>
            </a:r>
            <a:r>
              <a:rPr lang="en-GB" altLang="en-US" sz="4000" dirty="0" smtClean="0"/>
              <a:t>textual  </a:t>
            </a:r>
            <a:r>
              <a:rPr lang="en-GB" altLang="en-US" sz="4000" dirty="0"/>
              <a:t>complexity only. </a:t>
            </a:r>
          </a:p>
          <a:p>
            <a:pPr lvl="1">
              <a:spcBef>
                <a:spcPts val="525"/>
              </a:spcBef>
            </a:pPr>
            <a:r>
              <a:rPr lang="en-GB" altLang="en-US" sz="3600" dirty="0"/>
              <a:t>does not address the issues of structural or logical complexity.</a:t>
            </a:r>
          </a:p>
          <a:p>
            <a:pPr>
              <a:spcBef>
                <a:spcPts val="613"/>
              </a:spcBef>
            </a:pPr>
            <a:r>
              <a:rPr lang="en-GB" altLang="en-US" sz="4000" dirty="0"/>
              <a:t>Difficult to estimate LOC from problem description.</a:t>
            </a:r>
          </a:p>
          <a:p>
            <a:pPr lvl="1">
              <a:spcBef>
                <a:spcPts val="525"/>
              </a:spcBef>
            </a:pPr>
            <a:r>
              <a:rPr lang="en-GB" altLang="en-US" sz="3600" dirty="0"/>
              <a:t>So not useful for project planning</a:t>
            </a:r>
          </a:p>
        </p:txBody>
      </p:sp>
    </p:spTree>
    <p:extLst>
      <p:ext uri="{BB962C8B-B14F-4D97-AF65-F5344CB8AC3E}">
        <p14:creationId xmlns:p14="http://schemas.microsoft.com/office/powerpoint/2010/main" val="58092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D1DE-A0A7-4A73-9588-9683FB0787D0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b="1"/>
              <a:t>Function Point Metric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600200"/>
            <a:ext cx="8712968" cy="452596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fontScale="85000" lnSpcReduction="20000"/>
          </a:bodyPr>
          <a:lstStyle/>
          <a:p>
            <a:pPr>
              <a:spcBef>
                <a:spcPts val="988"/>
              </a:spcBef>
            </a:pPr>
            <a:r>
              <a:rPr lang="en-GB" altLang="en-US" dirty="0"/>
              <a:t>Overcomes some of the shortcomings of the LOC </a:t>
            </a:r>
            <a:r>
              <a:rPr lang="en-GB" altLang="en-US" dirty="0" smtClean="0"/>
              <a:t>metric</a:t>
            </a:r>
          </a:p>
          <a:p>
            <a:r>
              <a:rPr lang="en-US" dirty="0" smtClean="0"/>
              <a:t>It is actually computed in 3 steps</a:t>
            </a:r>
          </a:p>
          <a:p>
            <a:pPr lvl="1"/>
            <a:r>
              <a:rPr lang="en-US" dirty="0" smtClean="0"/>
              <a:t>Compute the unadjusted function point(UFP)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UFP=</a:t>
            </a:r>
            <a:r>
              <a:rPr lang="en-GB" altLang="en-US" dirty="0" smtClean="0"/>
              <a:t>4* No. of inputs </a:t>
            </a:r>
            <a:r>
              <a:rPr lang="en-GB" altLang="en-US" dirty="0"/>
              <a:t>+ </a:t>
            </a:r>
            <a:r>
              <a:rPr lang="en-GB" altLang="en-US" dirty="0" smtClean="0"/>
              <a:t>5 * No. of Outputs </a:t>
            </a:r>
            <a:r>
              <a:rPr lang="en-GB" altLang="en-US" dirty="0"/>
              <a:t>+ </a:t>
            </a:r>
            <a:r>
              <a:rPr lang="en-GB" altLang="en-US" dirty="0" smtClean="0"/>
              <a:t>4 * No. of inquiries  </a:t>
            </a:r>
            <a:r>
              <a:rPr lang="en-GB" altLang="en-US" dirty="0"/>
              <a:t>+ </a:t>
            </a:r>
            <a:r>
              <a:rPr lang="en-GB" altLang="en-US" dirty="0" smtClean="0"/>
              <a:t>10 * No. of files </a:t>
            </a:r>
            <a:r>
              <a:rPr lang="en-GB" altLang="en-US" dirty="0"/>
              <a:t>+ </a:t>
            </a:r>
            <a:r>
              <a:rPr lang="en-GB" altLang="en-US" dirty="0" smtClean="0"/>
              <a:t>10 * No. of interfaces </a:t>
            </a:r>
            <a:endParaRPr lang="en-GB" alt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UFP is refined to reflect the differences in the complexities of different parameters</a:t>
            </a:r>
          </a:p>
          <a:p>
            <a:pPr lvl="1"/>
            <a:r>
              <a:rPr lang="en-US" dirty="0" smtClean="0"/>
              <a:t>FP is calculated using</a:t>
            </a:r>
          </a:p>
          <a:p>
            <a:pPr lvl="2"/>
            <a:r>
              <a:rPr lang="en-US" dirty="0" smtClean="0"/>
              <a:t>FP=UFP * TCF</a:t>
            </a:r>
          </a:p>
          <a:p>
            <a:pPr lvl="3"/>
            <a:r>
              <a:rPr lang="en-US" dirty="0" smtClean="0"/>
              <a:t>Where TCF is Technical Complexity Factor (vary from 0.65 to 1.35)</a:t>
            </a:r>
          </a:p>
          <a:p>
            <a:pPr>
              <a:spcBef>
                <a:spcPts val="988"/>
              </a:spcBef>
            </a:pPr>
            <a:endParaRPr lang="en-GB" altLang="en-US" dirty="0" smtClean="0"/>
          </a:p>
          <a:p>
            <a:pPr>
              <a:spcBef>
                <a:spcPts val="988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3860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C2D9-0B0C-494D-AE49-9A205C4A46B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b="1" dirty="0"/>
              <a:t>Function Point Metric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75625" cy="440531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2800" u="sng" dirty="0"/>
              <a:t>Output:</a:t>
            </a:r>
            <a:r>
              <a:rPr lang="en-GB" altLang="en-US" sz="2800" dirty="0"/>
              <a:t> 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A set of related outputs is counted as one output.</a:t>
            </a:r>
          </a:p>
          <a:p>
            <a:pPr>
              <a:spcBef>
                <a:spcPts val="613"/>
              </a:spcBef>
            </a:pPr>
            <a:r>
              <a:rPr lang="en-GB" altLang="en-US" sz="2800" u="sng" dirty="0"/>
              <a:t>Inquiries:</a:t>
            </a:r>
            <a:r>
              <a:rPr lang="en-GB" altLang="en-US" sz="2800" dirty="0"/>
              <a:t> 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Each user query type is counted.</a:t>
            </a:r>
          </a:p>
          <a:p>
            <a:pPr>
              <a:spcBef>
                <a:spcPts val="613"/>
              </a:spcBef>
            </a:pPr>
            <a:r>
              <a:rPr lang="en-GB" altLang="en-US" sz="2800" u="sng" dirty="0"/>
              <a:t>Files:</a:t>
            </a:r>
            <a:r>
              <a:rPr lang="en-GB" altLang="en-US" sz="2800" dirty="0"/>
              <a:t> 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Files are logically related data and thus can be data structures or physical files.</a:t>
            </a:r>
          </a:p>
          <a:p>
            <a:pPr>
              <a:spcBef>
                <a:spcPts val="613"/>
              </a:spcBef>
            </a:pPr>
            <a:r>
              <a:rPr lang="en-GB" altLang="en-US" sz="2800" u="sng" dirty="0"/>
              <a:t>Interface:</a:t>
            </a:r>
            <a:r>
              <a:rPr lang="en-GB" altLang="en-US" sz="2800" dirty="0"/>
              <a:t> </a:t>
            </a:r>
          </a:p>
          <a:p>
            <a:pPr lvl="1">
              <a:spcBef>
                <a:spcPts val="525"/>
              </a:spcBef>
            </a:pPr>
            <a:r>
              <a:rPr lang="en-GB" altLang="en-US" sz="2400" dirty="0"/>
              <a:t>Data transfer to other systems.</a:t>
            </a:r>
          </a:p>
        </p:txBody>
      </p:sp>
    </p:spTree>
    <p:extLst>
      <p:ext uri="{BB962C8B-B14F-4D97-AF65-F5344CB8AC3E}">
        <p14:creationId xmlns:p14="http://schemas.microsoft.com/office/powerpoint/2010/main" val="119142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Refinement of FP entities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622451"/>
              </p:ext>
            </p:extLst>
          </p:nvPr>
        </p:nvGraphicFramePr>
        <p:xfrm>
          <a:off x="457200" y="1600200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Average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Complex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Inquiry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files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Interfaces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33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20AC-B4F9-4189-9C78-6E439B1AF5E0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Function Point Metric</a:t>
            </a:r>
            <a:r>
              <a:rPr lang="en-GB" altLang="en-US" sz="1600" dirty="0"/>
              <a:t> (CONT.)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3600" dirty="0"/>
              <a:t>Suffers from a major drawback: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/>
              <a:t>the size of a function is considered to be independent of its complexity.</a:t>
            </a:r>
          </a:p>
          <a:p>
            <a:pPr>
              <a:spcBef>
                <a:spcPts val="988"/>
              </a:spcBef>
            </a:pPr>
            <a:r>
              <a:rPr lang="en-GB" altLang="en-US" sz="3600" dirty="0"/>
              <a:t>Extend function point metric: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/>
              <a:t> Feature Point metric: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/>
              <a:t>considers an extra parameter: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/>
              <a:t>Algorithm Complexity.</a:t>
            </a:r>
          </a:p>
        </p:txBody>
      </p:sp>
    </p:spTree>
    <p:extLst>
      <p:ext uri="{BB962C8B-B14F-4D97-AF65-F5344CB8AC3E}">
        <p14:creationId xmlns:p14="http://schemas.microsoft.com/office/powerpoint/2010/main" val="238492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B9C7-84E4-4154-ADC4-18DC7406A98A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Function Point Metric</a:t>
            </a:r>
            <a:r>
              <a:rPr lang="en-GB" altLang="en-US" sz="1600" dirty="0"/>
              <a:t> (CONT.)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3600"/>
              <a:t>Proponents claim: </a:t>
            </a:r>
          </a:p>
          <a:p>
            <a:pPr lvl="1">
              <a:spcBef>
                <a:spcPts val="713"/>
              </a:spcBef>
            </a:pPr>
            <a:r>
              <a:rPr lang="en-GB" altLang="en-US" sz="3200"/>
              <a:t>FP is language independent.</a:t>
            </a:r>
          </a:p>
          <a:p>
            <a:pPr lvl="1">
              <a:spcBef>
                <a:spcPts val="713"/>
              </a:spcBef>
            </a:pPr>
            <a:r>
              <a:rPr lang="en-GB" altLang="en-US" sz="3200"/>
              <a:t>Size can be easily derived from problem description</a:t>
            </a:r>
          </a:p>
          <a:p>
            <a:pPr>
              <a:spcBef>
                <a:spcPts val="988"/>
              </a:spcBef>
            </a:pPr>
            <a:r>
              <a:rPr lang="en-GB" altLang="en-US" sz="3600"/>
              <a:t>Opponents claim: </a:t>
            </a:r>
          </a:p>
          <a:p>
            <a:pPr lvl="1">
              <a:spcBef>
                <a:spcPts val="713"/>
              </a:spcBef>
            </a:pPr>
            <a:r>
              <a:rPr lang="en-GB" altLang="en-US" sz="3200"/>
              <a:t>it is subjective --- Different people can come up with different estimates for the same problem.</a:t>
            </a:r>
          </a:p>
        </p:txBody>
      </p:sp>
    </p:spTree>
    <p:extLst>
      <p:ext uri="{BB962C8B-B14F-4D97-AF65-F5344CB8AC3E}">
        <p14:creationId xmlns:p14="http://schemas.microsoft.com/office/powerpoint/2010/main" val="75297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E5335-1C14-465C-BA98-50804FCB9218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69225" cy="1271588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>
            <a:normAutofit fontScale="90000"/>
          </a:bodyPr>
          <a:lstStyle/>
          <a:p>
            <a:pPr>
              <a:spcBef>
                <a:spcPts val="988"/>
              </a:spcBef>
            </a:pPr>
            <a:r>
              <a:rPr lang="en-GB" altLang="en-US"/>
              <a:t>Empirical Size Estimation Techniques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0000"/>
              </a:lnSpc>
              <a:spcBef>
                <a:spcPts val="488"/>
              </a:spcBef>
            </a:pPr>
            <a:r>
              <a:rPr lang="en-GB" altLang="en-US" sz="4000" dirty="0"/>
              <a:t>Expert Judgement:</a:t>
            </a:r>
          </a:p>
          <a:p>
            <a:pPr lvl="1">
              <a:lnSpc>
                <a:spcPct val="90000"/>
              </a:lnSpc>
              <a:spcBef>
                <a:spcPts val="350"/>
              </a:spcBef>
            </a:pPr>
            <a:r>
              <a:rPr lang="en-GB" altLang="en-US" sz="3600" dirty="0"/>
              <a:t>An euphemism for guess made by an expert.</a:t>
            </a:r>
          </a:p>
          <a:p>
            <a:pPr lvl="1">
              <a:lnSpc>
                <a:spcPct val="90000"/>
              </a:lnSpc>
              <a:spcBef>
                <a:spcPts val="350"/>
              </a:spcBef>
            </a:pPr>
            <a:r>
              <a:rPr lang="en-GB" altLang="en-US" sz="3600" dirty="0"/>
              <a:t>Suffers from individual bias.</a:t>
            </a:r>
          </a:p>
          <a:p>
            <a:pPr>
              <a:lnSpc>
                <a:spcPct val="90000"/>
              </a:lnSpc>
              <a:spcBef>
                <a:spcPts val="488"/>
              </a:spcBef>
            </a:pPr>
            <a:r>
              <a:rPr lang="en-GB" altLang="en-US" sz="4000" dirty="0"/>
              <a:t>Delphi Estimation:</a:t>
            </a:r>
          </a:p>
          <a:p>
            <a:pPr lvl="1">
              <a:lnSpc>
                <a:spcPct val="90000"/>
              </a:lnSpc>
              <a:spcBef>
                <a:spcPts val="350"/>
              </a:spcBef>
            </a:pPr>
            <a:r>
              <a:rPr lang="en-GB" altLang="en-US" sz="3600" dirty="0"/>
              <a:t>overcomes some of the problems of expert judgement.</a:t>
            </a:r>
          </a:p>
        </p:txBody>
      </p:sp>
    </p:spTree>
    <p:extLst>
      <p:ext uri="{BB962C8B-B14F-4D97-AF65-F5344CB8AC3E}">
        <p14:creationId xmlns:p14="http://schemas.microsoft.com/office/powerpoint/2010/main" val="23285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D05DB-65B3-4D54-9296-D5B76ABD3A4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/>
              <a:t>Expert judgement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3600"/>
              <a:t>Experts divide a software product into component units: </a:t>
            </a:r>
          </a:p>
          <a:p>
            <a:pPr lvl="1">
              <a:spcBef>
                <a:spcPts val="525"/>
              </a:spcBef>
            </a:pPr>
            <a:r>
              <a:rPr lang="en-GB" altLang="en-US" sz="3200"/>
              <a:t>e.g. GUI, database module,  data communication module, billing module, etc. </a:t>
            </a:r>
          </a:p>
          <a:p>
            <a:pPr>
              <a:spcBef>
                <a:spcPts val="613"/>
              </a:spcBef>
            </a:pPr>
            <a:r>
              <a:rPr lang="en-GB" altLang="en-US" sz="3600"/>
              <a:t>Add up the guesses for each of the components.</a:t>
            </a:r>
          </a:p>
        </p:txBody>
      </p:sp>
    </p:spTree>
    <p:extLst>
      <p:ext uri="{BB962C8B-B14F-4D97-AF65-F5344CB8AC3E}">
        <p14:creationId xmlns:p14="http://schemas.microsoft.com/office/powerpoint/2010/main" val="77086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2131-CA53-4C56-92A9-EB3BF7E8559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/>
              <a:t>Delphi Estimation: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5000"/>
              </a:lnSpc>
              <a:spcBef>
                <a:spcPts val="488"/>
              </a:spcBef>
            </a:pPr>
            <a:r>
              <a:rPr lang="en-GB" altLang="en-US" sz="3600"/>
              <a:t>Team of Experts and a coordinator.</a:t>
            </a:r>
          </a:p>
          <a:p>
            <a:pPr>
              <a:lnSpc>
                <a:spcPct val="95000"/>
              </a:lnSpc>
              <a:spcBef>
                <a:spcPts val="488"/>
              </a:spcBef>
            </a:pPr>
            <a:r>
              <a:rPr lang="en-GB" altLang="en-US" sz="3600"/>
              <a:t>Experts carry out estimation independently:</a:t>
            </a:r>
          </a:p>
          <a:p>
            <a:pPr lvl="1">
              <a:lnSpc>
                <a:spcPct val="95000"/>
              </a:lnSpc>
              <a:spcBef>
                <a:spcPts val="350"/>
              </a:spcBef>
            </a:pPr>
            <a:r>
              <a:rPr lang="en-GB" altLang="en-US" sz="3200"/>
              <a:t>mention the rationale behind their estimation.</a:t>
            </a:r>
          </a:p>
          <a:p>
            <a:pPr lvl="1">
              <a:lnSpc>
                <a:spcPct val="95000"/>
              </a:lnSpc>
              <a:spcBef>
                <a:spcPts val="350"/>
              </a:spcBef>
            </a:pPr>
            <a:r>
              <a:rPr lang="en-GB" altLang="en-US" sz="3200"/>
              <a:t>coordinator notes down any extraordinary rationale:</a:t>
            </a:r>
          </a:p>
          <a:p>
            <a:pPr lvl="2">
              <a:lnSpc>
                <a:spcPct val="95000"/>
              </a:lnSpc>
              <a:spcBef>
                <a:spcPts val="300"/>
              </a:spcBef>
            </a:pPr>
            <a:r>
              <a:rPr lang="en-GB" altLang="en-US" sz="2800"/>
              <a:t>circulates among experts.</a:t>
            </a:r>
          </a:p>
        </p:txBody>
      </p:sp>
    </p:spTree>
    <p:extLst>
      <p:ext uri="{BB962C8B-B14F-4D97-AF65-F5344CB8AC3E}">
        <p14:creationId xmlns:p14="http://schemas.microsoft.com/office/powerpoint/2010/main" val="127188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C49B5-E5C2-4FAE-ADF9-8FEE25E30FA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Delphi Estimation: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4000" dirty="0"/>
              <a:t>Experts re-estimate.</a:t>
            </a:r>
          </a:p>
          <a:p>
            <a:pPr>
              <a:spcBef>
                <a:spcPts val="988"/>
              </a:spcBef>
            </a:pPr>
            <a:r>
              <a:rPr lang="en-GB" altLang="en-US" sz="4000" dirty="0"/>
              <a:t>Experts never meet each other</a:t>
            </a:r>
          </a:p>
          <a:p>
            <a:pPr lvl="1">
              <a:spcBef>
                <a:spcPts val="713"/>
              </a:spcBef>
            </a:pPr>
            <a:r>
              <a:rPr lang="en-GB" altLang="en-US" sz="3600" dirty="0"/>
              <a:t> to discuss their viewpoints.</a:t>
            </a:r>
          </a:p>
        </p:txBody>
      </p:sp>
    </p:spTree>
    <p:extLst>
      <p:ext uri="{BB962C8B-B14F-4D97-AF65-F5344CB8AC3E}">
        <p14:creationId xmlns:p14="http://schemas.microsoft.com/office/powerpoint/2010/main" val="365305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49DF-FA42-4DA9-AE9E-FDBE16B2BD19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5324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0663"/>
            <a:ext cx="7769225" cy="1519237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Halstead's Software Science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4000"/>
              <a:t>An analytical technique to estimate: 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size, 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development effort, 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development time.</a:t>
            </a:r>
          </a:p>
        </p:txBody>
      </p:sp>
    </p:spTree>
    <p:extLst>
      <p:ext uri="{BB962C8B-B14F-4D97-AF65-F5344CB8AC3E}">
        <p14:creationId xmlns:p14="http://schemas.microsoft.com/office/powerpoint/2010/main" val="102723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5307-7B7A-4CFE-AFA1-E933F7B8F3FA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427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333375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/>
              <a:t>Halstead's Software Science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75625" cy="44926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lnSpcReduction="10000"/>
          </a:bodyPr>
          <a:lstStyle/>
          <a:p>
            <a:pPr>
              <a:lnSpc>
                <a:spcPct val="95000"/>
              </a:lnSpc>
              <a:spcBef>
                <a:spcPts val="300"/>
              </a:spcBef>
            </a:pPr>
            <a:r>
              <a:rPr lang="en-GB" altLang="en-US" dirty="0"/>
              <a:t>Halstead  used a few primitive program parameters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number of operators and operands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lang="en-GB" altLang="en-US" dirty="0"/>
              <a:t>Derived expressions for: 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over all program length, 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potential minimum  volume 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actual volume, 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language level, 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effort, and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dirty="0"/>
              <a:t>development time.</a:t>
            </a:r>
          </a:p>
        </p:txBody>
      </p:sp>
    </p:spTree>
    <p:extLst>
      <p:ext uri="{BB962C8B-B14F-4D97-AF65-F5344CB8AC3E}">
        <p14:creationId xmlns:p14="http://schemas.microsoft.com/office/powerpoint/2010/main" val="288598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Halstead's Software Science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First we need to compute the following numbers, given the program:</a:t>
            </a:r>
          </a:p>
          <a:p>
            <a:pPr lvl="1"/>
            <a:r>
              <a:rPr lang="en-IN" i="1" dirty="0"/>
              <a:t>n</a:t>
            </a:r>
            <a:r>
              <a:rPr lang="en-IN" dirty="0"/>
              <a:t>1 = the number of distinct operators</a:t>
            </a:r>
          </a:p>
          <a:p>
            <a:pPr lvl="1"/>
            <a:r>
              <a:rPr lang="en-IN" i="1" dirty="0"/>
              <a:t>n</a:t>
            </a:r>
            <a:r>
              <a:rPr lang="en-IN" dirty="0"/>
              <a:t>2 = the number of distinct operands</a:t>
            </a:r>
          </a:p>
          <a:p>
            <a:pPr lvl="1"/>
            <a:r>
              <a:rPr lang="en-IN" i="1" dirty="0"/>
              <a:t>N</a:t>
            </a:r>
            <a:r>
              <a:rPr lang="en-IN" dirty="0"/>
              <a:t>1 = the total number of operators</a:t>
            </a:r>
          </a:p>
          <a:p>
            <a:pPr lvl="1"/>
            <a:r>
              <a:rPr lang="en-IN" i="1" dirty="0"/>
              <a:t>N</a:t>
            </a:r>
            <a:r>
              <a:rPr lang="en-IN" dirty="0"/>
              <a:t>2 = the total number of operands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36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dirty="0" smtClean="0"/>
              <a:t>Halstead’s Software Science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80920" cy="5145435"/>
          </a:xfrm>
        </p:spPr>
        <p:txBody>
          <a:bodyPr>
            <a:noAutofit/>
          </a:bodyPr>
          <a:lstStyle/>
          <a:p>
            <a:r>
              <a:rPr lang="en-IN" sz="1600" b="1" dirty="0"/>
              <a:t> Program length (N)</a:t>
            </a:r>
          </a:p>
          <a:p>
            <a:pPr marL="457200" lvl="1" indent="0">
              <a:buNone/>
            </a:pPr>
            <a:r>
              <a:rPr lang="en-IN" sz="1600" dirty="0"/>
              <a:t>The program length (N) is the sum of the total number of operators and operands in the program</a:t>
            </a:r>
            <a:r>
              <a:rPr lang="en-IN" sz="1600" dirty="0" smtClean="0"/>
              <a:t>:</a:t>
            </a:r>
          </a:p>
          <a:p>
            <a:pPr marL="457200" lvl="1" indent="0">
              <a:buNone/>
            </a:pPr>
            <a:r>
              <a:rPr lang="en-IN" sz="1600" dirty="0"/>
              <a:t>	</a:t>
            </a:r>
            <a:r>
              <a:rPr lang="en-IN" sz="1600" dirty="0" smtClean="0"/>
              <a:t>	 </a:t>
            </a:r>
            <a:r>
              <a:rPr lang="en-IN" sz="1600" dirty="0"/>
              <a:t> </a:t>
            </a:r>
            <a:r>
              <a:rPr lang="en-IN" sz="1600" dirty="0" smtClean="0"/>
              <a:t> </a:t>
            </a:r>
            <a:r>
              <a:rPr lang="en-IN" sz="1600" dirty="0"/>
              <a:t>  N = N1 + N2 </a:t>
            </a:r>
            <a:endParaRPr lang="en-IN" sz="1600" dirty="0" smtClean="0"/>
          </a:p>
          <a:p>
            <a:r>
              <a:rPr lang="en-IN" sz="1600" b="1" dirty="0" smtClean="0"/>
              <a:t>Vocabulary </a:t>
            </a:r>
            <a:r>
              <a:rPr lang="en-IN" sz="1600" b="1" dirty="0"/>
              <a:t>size (n)</a:t>
            </a:r>
          </a:p>
          <a:p>
            <a:pPr marL="457200" lvl="1" indent="0">
              <a:buNone/>
            </a:pPr>
            <a:r>
              <a:rPr lang="en-IN" sz="1600" dirty="0"/>
              <a:t>The vocabulary size (n) is the sum of the number of unique operators and operands</a:t>
            </a:r>
            <a:r>
              <a:rPr lang="en-IN" sz="1600" dirty="0" smtClean="0"/>
              <a:t>:</a:t>
            </a:r>
          </a:p>
          <a:p>
            <a:pPr marL="457200" lvl="1" indent="0">
              <a:buNone/>
            </a:pPr>
            <a:r>
              <a:rPr lang="en-IN" sz="1600" dirty="0"/>
              <a:t>	</a:t>
            </a:r>
            <a:r>
              <a:rPr lang="en-IN" sz="1600" dirty="0" smtClean="0"/>
              <a:t>	</a:t>
            </a:r>
            <a:r>
              <a:rPr lang="en-IN" sz="1600" dirty="0"/>
              <a:t>    n = n1 + n2 </a:t>
            </a:r>
            <a:endParaRPr lang="en-IN" sz="1600" dirty="0" smtClean="0"/>
          </a:p>
          <a:p>
            <a:r>
              <a:rPr lang="en-IN" sz="1600" b="1" dirty="0" smtClean="0"/>
              <a:t>Program </a:t>
            </a:r>
            <a:r>
              <a:rPr lang="en-IN" sz="1600" b="1" dirty="0"/>
              <a:t>volume (V)</a:t>
            </a:r>
          </a:p>
          <a:p>
            <a:pPr marL="0" indent="0">
              <a:buNone/>
            </a:pPr>
            <a:r>
              <a:rPr lang="en-IN" sz="1600" dirty="0" smtClean="0"/>
              <a:t>	The </a:t>
            </a:r>
            <a:r>
              <a:rPr lang="en-IN" sz="1600" dirty="0"/>
              <a:t>program volume (V) is the information contents of the program, measured in </a:t>
            </a:r>
            <a:r>
              <a:rPr lang="en-IN" sz="1600" dirty="0" smtClean="0"/>
              <a:t>	mathematical </a:t>
            </a:r>
            <a:r>
              <a:rPr lang="en-IN" sz="1600" dirty="0"/>
              <a:t>bits.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/>
              <a:t>      </a:t>
            </a:r>
            <a:r>
              <a:rPr lang="en-IN" sz="1600" dirty="0" smtClean="0"/>
              <a:t>	</a:t>
            </a:r>
            <a:r>
              <a:rPr lang="en-IN" sz="1600" dirty="0"/>
              <a:t>  </a:t>
            </a:r>
            <a:r>
              <a:rPr lang="en-IN" sz="1600" dirty="0" smtClean="0"/>
              <a:t>	V </a:t>
            </a:r>
            <a:r>
              <a:rPr lang="en-IN" sz="1600" dirty="0"/>
              <a:t>= N * log2(n) </a:t>
            </a:r>
            <a:endParaRPr lang="en-IN" sz="1600" dirty="0" smtClean="0"/>
          </a:p>
          <a:p>
            <a:pPr lvl="1"/>
            <a:r>
              <a:rPr lang="en-IN" sz="1200" dirty="0" smtClean="0"/>
              <a:t>Halstead's </a:t>
            </a:r>
            <a:r>
              <a:rPr lang="en-IN" sz="1200" dirty="0"/>
              <a:t>volume (V) describes the size of the implementation of an algorithm. The computation of V is based on the number of operations performed and operands handled in the algorithm. Therefore V is less sensitive to code layout than the lines-of-code measures. </a:t>
            </a:r>
            <a:endParaRPr lang="en-IN" sz="1200" dirty="0" smtClean="0"/>
          </a:p>
          <a:p>
            <a:pPr lvl="1"/>
            <a:r>
              <a:rPr lang="en-IN" sz="1600" dirty="0" smtClean="0"/>
              <a:t>The </a:t>
            </a:r>
            <a:r>
              <a:rPr lang="en-IN" sz="1600" dirty="0"/>
              <a:t>volume of a function should be at least 20 and at most 1000. The volume of a </a:t>
            </a:r>
            <a:r>
              <a:rPr lang="en-IN" sz="1600" dirty="0" smtClean="0"/>
              <a:t>parameter less </a:t>
            </a:r>
            <a:r>
              <a:rPr lang="en-IN" sz="1600" dirty="0"/>
              <a:t>one-line function that is not empty; is about 20. A volume greater than 1000 tells that the function probably does too many things. </a:t>
            </a:r>
            <a:endParaRPr lang="en-IN" sz="1600" dirty="0" smtClean="0"/>
          </a:p>
          <a:p>
            <a:pPr lvl="1"/>
            <a:r>
              <a:rPr lang="en-IN" sz="1600" dirty="0" smtClean="0"/>
              <a:t>The volume </a:t>
            </a:r>
            <a:r>
              <a:rPr lang="en-IN" sz="1600" dirty="0"/>
              <a:t>of a file should be at least 100 and at most 8000. </a:t>
            </a:r>
          </a:p>
        </p:txBody>
      </p:sp>
    </p:spTree>
    <p:extLst>
      <p:ext uri="{BB962C8B-B14F-4D97-AF65-F5344CB8AC3E}">
        <p14:creationId xmlns:p14="http://schemas.microsoft.com/office/powerpoint/2010/main" val="282260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Halstead’s Software Science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 smtClean="0"/>
              <a:t>Difficulty </a:t>
            </a:r>
            <a:r>
              <a:rPr lang="en-IN" b="1" dirty="0"/>
              <a:t>level (D)</a:t>
            </a:r>
          </a:p>
          <a:p>
            <a:pPr marL="0" indent="0">
              <a:buNone/>
            </a:pPr>
            <a:r>
              <a:rPr lang="en-IN" dirty="0" smtClean="0"/>
              <a:t>	The </a:t>
            </a:r>
            <a:r>
              <a:rPr lang="en-IN" dirty="0"/>
              <a:t>difficulty level or error proneness (D) of the program is proportional to the number of unique operators in the program.</a:t>
            </a:r>
            <a:br>
              <a:rPr lang="en-IN" dirty="0"/>
            </a:br>
            <a:r>
              <a:rPr lang="en-IN" dirty="0"/>
              <a:t>D is also proportional to the </a:t>
            </a:r>
            <a:r>
              <a:rPr lang="en-IN" dirty="0" smtClean="0"/>
              <a:t>ratio </a:t>
            </a:r>
            <a:r>
              <a:rPr lang="en-IN" dirty="0"/>
              <a:t>between the total number of operands and the number of unique operands (i.e. if the same operands are used many times in the program, it is more prone to errors).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	D </a:t>
            </a:r>
            <a:r>
              <a:rPr lang="en-IN" dirty="0"/>
              <a:t>= ( n1 / 2 ) * ( N2 / n2 ) </a:t>
            </a:r>
            <a:endParaRPr lang="en-IN" dirty="0" smtClean="0"/>
          </a:p>
          <a:p>
            <a:r>
              <a:rPr lang="en-IN" b="1" dirty="0" smtClean="0"/>
              <a:t>Program </a:t>
            </a:r>
            <a:r>
              <a:rPr lang="en-IN" b="1" dirty="0"/>
              <a:t>level (L)</a:t>
            </a:r>
          </a:p>
          <a:p>
            <a:pPr marL="457200" lvl="1" indent="0">
              <a:buNone/>
            </a:pPr>
            <a:r>
              <a:rPr lang="en-IN" dirty="0"/>
              <a:t>The program level (L) is the inverse of the error proneness of the </a:t>
            </a:r>
            <a:r>
              <a:rPr lang="en-IN" dirty="0" smtClean="0"/>
              <a:t>program i.e</a:t>
            </a:r>
            <a:r>
              <a:rPr lang="en-IN" dirty="0"/>
              <a:t>. a low level program is more prone to errors than a high level program.</a:t>
            </a:r>
          </a:p>
          <a:p>
            <a:pPr marL="0" indent="0">
              <a:buNone/>
            </a:pPr>
            <a:r>
              <a:rPr lang="en-IN" dirty="0"/>
              <a:t>      </a:t>
            </a:r>
            <a:r>
              <a:rPr lang="en-IN" dirty="0" smtClean="0"/>
              <a:t>		 </a:t>
            </a:r>
            <a:r>
              <a:rPr lang="en-IN" dirty="0"/>
              <a:t>L = 1 / D </a:t>
            </a:r>
          </a:p>
        </p:txBody>
      </p:sp>
    </p:spTree>
    <p:extLst>
      <p:ext uri="{BB962C8B-B14F-4D97-AF65-F5344CB8AC3E}">
        <p14:creationId xmlns:p14="http://schemas.microsoft.com/office/powerpoint/2010/main" val="162583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Halstead’s Software Science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712968" cy="551723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/>
              <a:t>Effort </a:t>
            </a:r>
            <a:r>
              <a:rPr lang="en-IN" b="1" dirty="0"/>
              <a:t>to implement (E)</a:t>
            </a:r>
          </a:p>
          <a:p>
            <a:pPr marL="457200" lvl="1" indent="0">
              <a:buNone/>
            </a:pPr>
            <a:r>
              <a:rPr lang="en-IN" dirty="0"/>
              <a:t>The effort to implement (E) or understand a program is proportional to the volume and to the difficulty level of the program.</a:t>
            </a:r>
          </a:p>
          <a:p>
            <a:pPr marL="0" indent="0">
              <a:buNone/>
            </a:pPr>
            <a:r>
              <a:rPr lang="en-IN" dirty="0"/>
              <a:t>  </a:t>
            </a:r>
            <a:r>
              <a:rPr lang="en-IN" dirty="0" smtClean="0"/>
              <a:t>	</a:t>
            </a:r>
            <a:r>
              <a:rPr lang="en-IN" dirty="0"/>
              <a:t>     </a:t>
            </a:r>
            <a:r>
              <a:rPr lang="en-IN" dirty="0" smtClean="0"/>
              <a:t>	 </a:t>
            </a:r>
            <a:r>
              <a:rPr lang="en-IN" dirty="0"/>
              <a:t>E = V * D </a:t>
            </a:r>
            <a:endParaRPr lang="en-IN" dirty="0" smtClean="0"/>
          </a:p>
          <a:p>
            <a:r>
              <a:rPr lang="en-IN" b="1" dirty="0" smtClean="0"/>
              <a:t>Estimated </a:t>
            </a:r>
            <a:r>
              <a:rPr lang="en-IN" b="1" dirty="0"/>
              <a:t>Program Length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	N= </a:t>
            </a:r>
            <a:r>
              <a:rPr lang="en-IN" dirty="0"/>
              <a:t>n1log2n1+n2log2n2</a:t>
            </a:r>
          </a:p>
          <a:p>
            <a:r>
              <a:rPr lang="en-IN" b="1" dirty="0" smtClean="0"/>
              <a:t>Potential </a:t>
            </a:r>
            <a:r>
              <a:rPr lang="en-IN" b="1" dirty="0"/>
              <a:t>Volume: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	V</a:t>
            </a:r>
            <a:r>
              <a:rPr lang="en-IN" dirty="0"/>
              <a:t>*= (2+n2*) log2( 2+n2</a:t>
            </a:r>
            <a:r>
              <a:rPr lang="en-IN" dirty="0" smtClean="0"/>
              <a:t>*)</a:t>
            </a:r>
          </a:p>
          <a:p>
            <a:r>
              <a:rPr lang="en-IN" b="1" dirty="0" smtClean="0"/>
              <a:t>Estimated </a:t>
            </a:r>
            <a:r>
              <a:rPr lang="en-IN" b="1" dirty="0"/>
              <a:t>program Level/difficulty</a:t>
            </a:r>
          </a:p>
          <a:p>
            <a:pPr marL="457200" lvl="1" indent="0">
              <a:buNone/>
            </a:pPr>
            <a:r>
              <a:rPr lang="en-IN" dirty="0" smtClean="0"/>
              <a:t>		L </a:t>
            </a:r>
            <a:r>
              <a:rPr lang="en-IN" dirty="0"/>
              <a:t>=2n2/n1N2</a:t>
            </a:r>
          </a:p>
          <a:p>
            <a:pPr marL="457200" lvl="1" indent="0">
              <a:buNone/>
            </a:pPr>
            <a:r>
              <a:rPr lang="en-IN" dirty="0" smtClean="0"/>
              <a:t>		Hence</a:t>
            </a:r>
            <a:r>
              <a:rPr lang="en-IN" dirty="0"/>
              <a:t>, D =1 /</a:t>
            </a:r>
            <a:r>
              <a:rPr lang="en-IN" dirty="0" smtClean="0"/>
              <a:t>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33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Halstead’s Software Science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Effort:</a:t>
            </a:r>
            <a:endParaRPr lang="en-IN" dirty="0"/>
          </a:p>
          <a:p>
            <a:pPr marL="400050" lvl="1" indent="0" algn="just">
              <a:buNone/>
            </a:pPr>
            <a:r>
              <a:rPr lang="en-IN" dirty="0" smtClean="0"/>
              <a:t>Halstead </a:t>
            </a:r>
            <a:r>
              <a:rPr lang="en-IN" dirty="0"/>
              <a:t>hypothesized that the effort required to implement </a:t>
            </a:r>
            <a:r>
              <a:rPr lang="en-IN" dirty="0" smtClean="0"/>
              <a:t>a program </a:t>
            </a:r>
            <a:r>
              <a:rPr lang="en-IN" dirty="0"/>
              <a:t>increases as the size of the program increases. It </a:t>
            </a:r>
            <a:r>
              <a:rPr lang="en-IN" dirty="0" smtClean="0"/>
              <a:t>takes more </a:t>
            </a:r>
            <a:r>
              <a:rPr lang="en-IN" dirty="0"/>
              <a:t>effort to implement a program at a lower level </a:t>
            </a:r>
            <a:r>
              <a:rPr lang="en-IN" dirty="0" smtClean="0"/>
              <a:t>than </a:t>
            </a:r>
            <a:r>
              <a:rPr lang="en-IN" dirty="0"/>
              <a:t>the </a:t>
            </a:r>
            <a:r>
              <a:rPr lang="en-IN" dirty="0" smtClean="0"/>
              <a:t>higher </a:t>
            </a:r>
            <a:r>
              <a:rPr lang="en-IN" dirty="0"/>
              <a:t>level.</a:t>
            </a:r>
          </a:p>
          <a:p>
            <a:pPr marL="0" indent="0">
              <a:buNone/>
            </a:pPr>
            <a:r>
              <a:rPr lang="en-IN" dirty="0"/>
              <a:t>		E= V/L</a:t>
            </a:r>
          </a:p>
          <a:p>
            <a:r>
              <a:rPr lang="en-IN" b="1" dirty="0" smtClean="0"/>
              <a:t>Time </a:t>
            </a:r>
            <a:r>
              <a:rPr lang="en-IN" b="1" dirty="0"/>
              <a:t>to implement (T)</a:t>
            </a:r>
          </a:p>
          <a:p>
            <a:pPr marL="457200" lvl="1" indent="0">
              <a:buNone/>
            </a:pPr>
            <a:r>
              <a:rPr lang="en-IN" dirty="0"/>
              <a:t>John </a:t>
            </a:r>
            <a:r>
              <a:rPr lang="en-IN" dirty="0" smtClean="0"/>
              <a:t>Stroud </a:t>
            </a:r>
            <a:r>
              <a:rPr lang="en-IN" dirty="0"/>
              <a:t>suggested that human mind is capable of making a limited number of elementary discriminations per second. Stroud claims that β </a:t>
            </a:r>
            <a:r>
              <a:rPr lang="en-IN" dirty="0" smtClean="0"/>
              <a:t>(Stroud </a:t>
            </a:r>
            <a:r>
              <a:rPr lang="en-IN" dirty="0"/>
              <a:t>number) ranges between 5 to 20. </a:t>
            </a:r>
            <a:endParaRPr lang="en-IN" dirty="0" smtClean="0"/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 smtClean="0"/>
              <a:t>	T </a:t>
            </a:r>
            <a:r>
              <a:rPr lang="en-IN" dirty="0"/>
              <a:t>= E / β</a:t>
            </a:r>
          </a:p>
          <a:p>
            <a:pPr marL="914400" lvl="2" indent="0">
              <a:buNone/>
            </a:pPr>
            <a:r>
              <a:rPr lang="en-IN" dirty="0"/>
              <a:t>β is normally set to 18 since this seemed to give best results in Halstead earliest experiments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79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following C program</a:t>
            </a:r>
          </a:p>
          <a:p>
            <a:pPr marL="457200" lvl="1" indent="0">
              <a:buNone/>
            </a:pPr>
            <a:r>
              <a:rPr lang="en-US" dirty="0" smtClean="0"/>
              <a:t>main()</a:t>
            </a:r>
          </a:p>
          <a:p>
            <a:pPr marL="457200" lvl="1" indent="0">
              <a:buNone/>
            </a:pPr>
            <a:r>
              <a:rPr lang="en-US" dirty="0" smtClean="0"/>
              <a:t>{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a, b, c, </a:t>
            </a:r>
            <a:r>
              <a:rPr lang="en-US" dirty="0" err="1" smtClean="0"/>
              <a:t>avg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scanf</a:t>
            </a:r>
            <a:r>
              <a:rPr lang="en-US" dirty="0" smtClean="0"/>
              <a:t> (“%</a:t>
            </a:r>
            <a:r>
              <a:rPr lang="en-US" dirty="0" err="1" smtClean="0"/>
              <a:t>d%d%d</a:t>
            </a:r>
            <a:r>
              <a:rPr lang="en-US" dirty="0" smtClean="0"/>
              <a:t>”, &amp;a, &amp;</a:t>
            </a:r>
            <a:r>
              <a:rPr lang="en-US" dirty="0" err="1" smtClean="0"/>
              <a:t>b,&amp;c</a:t>
            </a:r>
            <a:r>
              <a:rPr lang="en-US" dirty="0" smtClean="0"/>
              <a:t>);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avg</a:t>
            </a:r>
            <a:r>
              <a:rPr lang="en-US" dirty="0" smtClean="0"/>
              <a:t> = (a + b + c) / 3;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 (“</a:t>
            </a:r>
            <a:r>
              <a:rPr lang="en-US" dirty="0" err="1" smtClean="0"/>
              <a:t>avg</a:t>
            </a:r>
            <a:r>
              <a:rPr lang="en-US" dirty="0" smtClean="0"/>
              <a:t>=%d”, </a:t>
            </a:r>
            <a:r>
              <a:rPr lang="en-US" dirty="0" err="1" smtClean="0"/>
              <a:t>avg</a:t>
            </a:r>
            <a:r>
              <a:rPr lang="en-US" dirty="0" smtClean="0"/>
              <a:t>);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107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DC2A-DDEA-42F4-A8EB-0F68AA26141C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/>
              <a:t>COCOMO Model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3600"/>
              <a:t>COCOMO (</a:t>
            </a:r>
            <a:r>
              <a:rPr lang="en-GB" altLang="en-US" sz="3600">
                <a:solidFill>
                  <a:srgbClr val="0000FF"/>
                </a:solidFill>
              </a:rPr>
              <a:t>CO</a:t>
            </a:r>
            <a:r>
              <a:rPr lang="en-GB" altLang="en-US" sz="3600"/>
              <a:t>nstructive </a:t>
            </a:r>
            <a:r>
              <a:rPr lang="en-GB" altLang="en-US" sz="3600">
                <a:solidFill>
                  <a:srgbClr val="0000FF"/>
                </a:solidFill>
              </a:rPr>
              <a:t>CO</a:t>
            </a:r>
            <a:r>
              <a:rPr lang="en-GB" altLang="en-US" sz="3600"/>
              <a:t>st </a:t>
            </a:r>
            <a:r>
              <a:rPr lang="en-GB" altLang="en-US" sz="3600">
                <a:solidFill>
                  <a:srgbClr val="0000FF"/>
                </a:solidFill>
              </a:rPr>
              <a:t>MO</a:t>
            </a:r>
            <a:r>
              <a:rPr lang="en-GB" altLang="en-US" sz="3600"/>
              <a:t>del) proposed by Boehm.</a:t>
            </a:r>
          </a:p>
          <a:p>
            <a:pPr>
              <a:spcBef>
                <a:spcPts val="613"/>
              </a:spcBef>
            </a:pPr>
            <a:r>
              <a:rPr lang="en-GB" altLang="en-US" sz="3600"/>
              <a:t>Divides software product developments into 3 categories: </a:t>
            </a:r>
          </a:p>
          <a:p>
            <a:pPr lvl="1">
              <a:spcBef>
                <a:spcPts val="525"/>
              </a:spcBef>
            </a:pPr>
            <a:r>
              <a:rPr lang="en-GB" altLang="en-US" sz="3200"/>
              <a:t>Organic </a:t>
            </a:r>
          </a:p>
          <a:p>
            <a:pPr lvl="1">
              <a:spcBef>
                <a:spcPts val="525"/>
              </a:spcBef>
            </a:pPr>
            <a:r>
              <a:rPr lang="en-GB" altLang="en-US" sz="3200"/>
              <a:t>Semidetached </a:t>
            </a:r>
          </a:p>
          <a:p>
            <a:pPr lvl="1">
              <a:spcBef>
                <a:spcPts val="525"/>
              </a:spcBef>
            </a:pPr>
            <a:r>
              <a:rPr lang="en-GB" altLang="en-US" sz="3200"/>
              <a:t>Embedded</a:t>
            </a:r>
          </a:p>
        </p:txBody>
      </p:sp>
    </p:spTree>
    <p:extLst>
      <p:ext uri="{BB962C8B-B14F-4D97-AF65-F5344CB8AC3E}">
        <p14:creationId xmlns:p14="http://schemas.microsoft.com/office/powerpoint/2010/main" val="174269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3757-EDCD-44DC-81CF-A3E157199F41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/>
              <a:t>COCOMO Product classes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5625" cy="41687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lnSpcReduction="10000"/>
          </a:bodyPr>
          <a:lstStyle/>
          <a:p>
            <a:pPr>
              <a:spcBef>
                <a:spcPts val="988"/>
              </a:spcBef>
            </a:pPr>
            <a:r>
              <a:rPr lang="en-GB" altLang="en-US" sz="3600" dirty="0"/>
              <a:t>Roughly correspond to: 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/>
              <a:t>application, utility and system programs respectively.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/>
              <a:t>Data processing and scientific programs are considered to be application programs.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/>
              <a:t>Compilers, linkers, editors, etc., are utility programs.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/>
              <a:t>Operating systems and real-time system programs, etc. are system programs. </a:t>
            </a:r>
          </a:p>
        </p:txBody>
      </p:sp>
    </p:spTree>
    <p:extLst>
      <p:ext uri="{BB962C8B-B14F-4D97-AF65-F5344CB8AC3E}">
        <p14:creationId xmlns:p14="http://schemas.microsoft.com/office/powerpoint/2010/main" val="72497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00FD-AC8F-46FB-9FAA-4097DAEA96CB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/>
              <a:t>Elaboration of Product classes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75625" cy="41687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u="sng" dirty="0"/>
              <a:t>Organic:</a:t>
            </a:r>
            <a:r>
              <a:rPr lang="en-GB" altLang="en-US" dirty="0"/>
              <a:t> 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Relatively small groups </a:t>
            </a:r>
          </a:p>
          <a:p>
            <a:pPr lvl="2">
              <a:lnSpc>
                <a:spcPct val="90000"/>
              </a:lnSpc>
              <a:spcBef>
                <a:spcPts val="213"/>
              </a:spcBef>
            </a:pPr>
            <a:r>
              <a:rPr lang="en-GB" altLang="en-US" dirty="0"/>
              <a:t>working to develop well-understood applications.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u="sng" dirty="0"/>
              <a:t>Semidetached: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Project team consists of a mixture of experienced and  inexperienced staff.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GB" altLang="en-US" u="sng" dirty="0"/>
              <a:t>Embedded:</a:t>
            </a:r>
            <a:r>
              <a:rPr lang="en-GB" altLang="en-US" dirty="0"/>
              <a:t> </a:t>
            </a:r>
          </a:p>
          <a:p>
            <a:pPr lvl="1">
              <a:lnSpc>
                <a:spcPct val="90000"/>
              </a:lnSpc>
              <a:spcBef>
                <a:spcPts val="250"/>
              </a:spcBef>
            </a:pPr>
            <a:r>
              <a:rPr lang="en-GB" altLang="en-US" dirty="0"/>
              <a:t>The software is strongly coupled to complex hardware,  or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216697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E0F8F-BC5D-4B81-9CF1-4C7C35B6DCB3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/>
              <a:t>COCOMO Model</a:t>
            </a:r>
            <a:r>
              <a:rPr lang="en-GB" altLang="en-US" sz="1600"/>
              <a:t> (CONT.)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/>
              <a:t>For each of the three product categories: </a:t>
            </a:r>
          </a:p>
          <a:p>
            <a:pPr lvl="1">
              <a:spcBef>
                <a:spcPts val="525"/>
              </a:spcBef>
            </a:pPr>
            <a:r>
              <a:rPr lang="en-GB" altLang="en-US" sz="2400"/>
              <a:t>From size estimation (in KLOC), </a:t>
            </a:r>
            <a:r>
              <a:rPr lang="en-GB" altLang="en-US"/>
              <a:t>Boehm provides equations to predict:</a:t>
            </a:r>
          </a:p>
          <a:p>
            <a:pPr lvl="2">
              <a:spcBef>
                <a:spcPts val="450"/>
              </a:spcBef>
            </a:pPr>
            <a:r>
              <a:rPr lang="en-GB" altLang="en-US"/>
              <a:t>project duration in months  </a:t>
            </a:r>
          </a:p>
          <a:p>
            <a:pPr lvl="2">
              <a:spcBef>
                <a:spcPts val="450"/>
              </a:spcBef>
            </a:pPr>
            <a:r>
              <a:rPr lang="en-GB" altLang="en-US"/>
              <a:t>effort in programmer-months </a:t>
            </a:r>
          </a:p>
          <a:p>
            <a:pPr>
              <a:spcBef>
                <a:spcPts val="613"/>
              </a:spcBef>
            </a:pPr>
            <a:r>
              <a:rPr lang="en-GB" altLang="en-US"/>
              <a:t>Boehm obtained these equations: </a:t>
            </a:r>
          </a:p>
          <a:p>
            <a:pPr lvl="1">
              <a:spcBef>
                <a:spcPts val="525"/>
              </a:spcBef>
            </a:pPr>
            <a:r>
              <a:rPr lang="en-GB" altLang="en-US"/>
              <a:t>examined historical data collected from a large number of actual  projects. </a:t>
            </a:r>
          </a:p>
        </p:txBody>
      </p:sp>
    </p:spTree>
    <p:extLst>
      <p:ext uri="{BB962C8B-B14F-4D97-AF65-F5344CB8AC3E}">
        <p14:creationId xmlns:p14="http://schemas.microsoft.com/office/powerpoint/2010/main" val="180460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E835C-D012-472C-BD29-522DFB904DED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dirty="0"/>
              <a:t>COCOMO Model</a:t>
            </a:r>
            <a:r>
              <a:rPr lang="en-GB" altLang="en-US" sz="1800" dirty="0"/>
              <a:t> (CONT.)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000"/>
              <a:t>Software cost estimation is done through three stages: 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Basic COCOMO,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Intermediate COCOMO,  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Complete COCOMO.</a:t>
            </a:r>
          </a:p>
        </p:txBody>
      </p:sp>
    </p:spTree>
    <p:extLst>
      <p:ext uri="{BB962C8B-B14F-4D97-AF65-F5344CB8AC3E}">
        <p14:creationId xmlns:p14="http://schemas.microsoft.com/office/powerpoint/2010/main" val="222348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BDA9-0533-4689-BE8B-754A6813AE7E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/>
              <a:t>Basic COCOMO Model</a:t>
            </a:r>
            <a:r>
              <a:rPr lang="en-GB" altLang="en-US" sz="1400"/>
              <a:t> (CONT.)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75625" cy="47815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0000"/>
              </a:lnSpc>
              <a:spcBef>
                <a:spcPts val="488"/>
              </a:spcBef>
            </a:pPr>
            <a:r>
              <a:rPr lang="en-GB" altLang="en-US" sz="3600" dirty="0"/>
              <a:t>Gives only an approximate estimation:</a:t>
            </a:r>
          </a:p>
          <a:p>
            <a:pPr marL="457200" lvl="1" indent="0">
              <a:lnSpc>
                <a:spcPct val="90000"/>
              </a:lnSpc>
              <a:spcBef>
                <a:spcPts val="525"/>
              </a:spcBef>
              <a:buNone/>
            </a:pPr>
            <a:r>
              <a:rPr lang="en-GB" altLang="en-US" sz="3200" dirty="0" smtClean="0"/>
              <a:t>	Effort </a:t>
            </a:r>
            <a:r>
              <a:rPr lang="en-GB" altLang="en-US" sz="3200" dirty="0"/>
              <a:t>= </a:t>
            </a:r>
            <a:r>
              <a:rPr lang="en-GB" altLang="en-US" sz="3200" dirty="0" smtClean="0"/>
              <a:t>a1 * </a:t>
            </a:r>
            <a:r>
              <a:rPr lang="en-GB" altLang="en-US" sz="3200" dirty="0"/>
              <a:t>(KLOC)</a:t>
            </a:r>
            <a:r>
              <a:rPr lang="en-GB" altLang="en-US" sz="3600" baseline="30000" dirty="0"/>
              <a:t>a2</a:t>
            </a:r>
            <a:r>
              <a:rPr lang="en-GB" altLang="en-US" sz="3200" dirty="0"/>
              <a:t> </a:t>
            </a:r>
          </a:p>
          <a:p>
            <a:pPr marL="457200" lvl="1" indent="0">
              <a:lnSpc>
                <a:spcPct val="90000"/>
              </a:lnSpc>
              <a:spcBef>
                <a:spcPts val="525"/>
              </a:spcBef>
              <a:buNone/>
            </a:pPr>
            <a:r>
              <a:rPr lang="en-GB" altLang="en-US" sz="3200" dirty="0" smtClean="0"/>
              <a:t>	</a:t>
            </a:r>
            <a:r>
              <a:rPr lang="en-GB" altLang="en-US" sz="3200" dirty="0" err="1" smtClean="0"/>
              <a:t>Tdev</a:t>
            </a:r>
            <a:r>
              <a:rPr lang="en-GB" altLang="en-US" sz="3200" dirty="0" smtClean="0"/>
              <a:t> </a:t>
            </a:r>
            <a:r>
              <a:rPr lang="en-GB" altLang="en-US" sz="3200" dirty="0"/>
              <a:t>= b1  </a:t>
            </a:r>
            <a:r>
              <a:rPr lang="en-GB" altLang="en-US" sz="3200" dirty="0" smtClean="0"/>
              <a:t>* (</a:t>
            </a:r>
            <a:r>
              <a:rPr lang="en-GB" altLang="en-US" sz="3200" dirty="0"/>
              <a:t>Effort)</a:t>
            </a:r>
            <a:r>
              <a:rPr lang="en-GB" altLang="en-US" sz="3600" baseline="30000" dirty="0"/>
              <a:t>b2</a:t>
            </a:r>
          </a:p>
          <a:p>
            <a:pPr lvl="2">
              <a:lnSpc>
                <a:spcPct val="90000"/>
              </a:lnSpc>
              <a:spcBef>
                <a:spcPts val="300"/>
              </a:spcBef>
            </a:pPr>
            <a:r>
              <a:rPr lang="en-GB" altLang="en-US" sz="2800" dirty="0"/>
              <a:t>KLOC is the  estimated kilo  lines of source code,</a:t>
            </a:r>
          </a:p>
          <a:p>
            <a:pPr lvl="2">
              <a:lnSpc>
                <a:spcPct val="90000"/>
              </a:lnSpc>
              <a:spcBef>
                <a:spcPts val="363"/>
              </a:spcBef>
            </a:pPr>
            <a:r>
              <a:rPr lang="en-GB" altLang="en-US" sz="2800" dirty="0"/>
              <a:t>a1,a2,b1,b2 are constants for different categories of software products, </a:t>
            </a:r>
          </a:p>
          <a:p>
            <a:pPr lvl="2">
              <a:lnSpc>
                <a:spcPct val="90000"/>
              </a:lnSpc>
              <a:spcBef>
                <a:spcPts val="300"/>
              </a:spcBef>
            </a:pPr>
            <a:r>
              <a:rPr lang="en-GB" altLang="en-US" sz="2800" dirty="0" err="1"/>
              <a:t>Tdev</a:t>
            </a:r>
            <a:r>
              <a:rPr lang="en-GB" altLang="en-US" sz="2800" dirty="0"/>
              <a:t> is the estimated time to develop the software in months, </a:t>
            </a:r>
          </a:p>
          <a:p>
            <a:pPr lvl="2">
              <a:lnSpc>
                <a:spcPct val="90000"/>
              </a:lnSpc>
              <a:spcBef>
                <a:spcPts val="300"/>
              </a:spcBef>
            </a:pPr>
            <a:r>
              <a:rPr lang="en-GB" altLang="en-US" sz="2800" dirty="0"/>
              <a:t>Effort  estimation is obtained in  terms of person months (PMs).</a:t>
            </a:r>
          </a:p>
        </p:txBody>
      </p:sp>
    </p:spTree>
    <p:extLst>
      <p:ext uri="{BB962C8B-B14F-4D97-AF65-F5344CB8AC3E}">
        <p14:creationId xmlns:p14="http://schemas.microsoft.com/office/powerpoint/2010/main" val="259199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C0D0-C099-436C-8AF6-90E95C757BB4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333375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/>
              <a:t>Development Effort Estimation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4000" dirty="0"/>
              <a:t>Organic :</a:t>
            </a:r>
          </a:p>
          <a:p>
            <a:pPr lvl="1">
              <a:spcBef>
                <a:spcPts val="900"/>
              </a:spcBef>
            </a:pPr>
            <a:r>
              <a:rPr lang="en-GB" altLang="en-US" sz="3600" dirty="0"/>
              <a:t> Effort = </a:t>
            </a:r>
            <a:r>
              <a:rPr lang="en-GB" altLang="en-US" sz="3600" dirty="0" smtClean="0"/>
              <a:t>2.4 * </a:t>
            </a:r>
            <a:r>
              <a:rPr lang="en-GB" altLang="en-US" sz="3600" dirty="0"/>
              <a:t>(KLOC)</a:t>
            </a:r>
            <a:r>
              <a:rPr lang="en-GB" altLang="en-US" sz="3600" baseline="30000" dirty="0"/>
              <a:t>1.05</a:t>
            </a:r>
            <a:r>
              <a:rPr lang="en-GB" altLang="en-US" sz="3600" dirty="0"/>
              <a:t> PM</a:t>
            </a:r>
          </a:p>
          <a:p>
            <a:pPr>
              <a:spcBef>
                <a:spcPts val="988"/>
              </a:spcBef>
            </a:pPr>
            <a:r>
              <a:rPr lang="en-GB" altLang="en-US" sz="4000" dirty="0"/>
              <a:t> Semi-detached: </a:t>
            </a:r>
          </a:p>
          <a:p>
            <a:pPr lvl="1">
              <a:spcBef>
                <a:spcPts val="900"/>
              </a:spcBef>
            </a:pPr>
            <a:r>
              <a:rPr lang="en-GB" altLang="en-US" sz="3600" dirty="0"/>
              <a:t>Effort = </a:t>
            </a:r>
            <a:r>
              <a:rPr lang="en-GB" altLang="en-US" sz="3600" dirty="0" smtClean="0"/>
              <a:t>3.0 * (</a:t>
            </a:r>
            <a:r>
              <a:rPr lang="en-GB" altLang="en-US" sz="3600" dirty="0"/>
              <a:t>KLOC)</a:t>
            </a:r>
            <a:r>
              <a:rPr lang="en-GB" altLang="en-US" sz="3600" baseline="30000" dirty="0"/>
              <a:t>1.12</a:t>
            </a:r>
            <a:r>
              <a:rPr lang="en-GB" altLang="en-US" sz="3600" dirty="0"/>
              <a:t> PM </a:t>
            </a:r>
          </a:p>
          <a:p>
            <a:pPr>
              <a:spcBef>
                <a:spcPts val="988"/>
              </a:spcBef>
            </a:pPr>
            <a:r>
              <a:rPr lang="en-GB" altLang="en-US" sz="4000" dirty="0"/>
              <a:t> Embedded: </a:t>
            </a:r>
          </a:p>
          <a:p>
            <a:pPr lvl="1">
              <a:spcBef>
                <a:spcPts val="900"/>
              </a:spcBef>
            </a:pPr>
            <a:r>
              <a:rPr lang="en-GB" altLang="en-US" sz="3600" dirty="0"/>
              <a:t>Effort = 3.6 </a:t>
            </a:r>
            <a:r>
              <a:rPr lang="en-GB" altLang="en-US" sz="3600" dirty="0" smtClean="0"/>
              <a:t>* (KLOC)</a:t>
            </a:r>
            <a:r>
              <a:rPr lang="en-GB" altLang="en-US" sz="3600" baseline="30000" dirty="0" smtClean="0"/>
              <a:t>1.20 </a:t>
            </a:r>
            <a:r>
              <a:rPr lang="en-GB" altLang="en-US" sz="3600" dirty="0" smtClean="0"/>
              <a:t>PM </a:t>
            </a:r>
            <a:endParaRPr lang="en-GB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9991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400D-E8CC-4DFD-BBBB-F7E0AA7EA5FA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3891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333375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/>
              <a:t>Development Time Estimation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4000" dirty="0"/>
              <a:t>Organic:</a:t>
            </a:r>
          </a:p>
          <a:p>
            <a:pPr lvl="1">
              <a:spcBef>
                <a:spcPts val="900"/>
              </a:spcBef>
            </a:pPr>
            <a:r>
              <a:rPr lang="en-GB" altLang="en-US" sz="3600" dirty="0" err="1"/>
              <a:t>Tdev</a:t>
            </a:r>
            <a:r>
              <a:rPr lang="en-GB" altLang="en-US" sz="3600" dirty="0"/>
              <a:t> = </a:t>
            </a:r>
            <a:r>
              <a:rPr lang="en-GB" altLang="en-US" sz="3600" dirty="0" smtClean="0"/>
              <a:t>2.5 * (Effort)</a:t>
            </a:r>
            <a:r>
              <a:rPr lang="en-GB" altLang="en-US" sz="3600" baseline="30000" dirty="0" smtClean="0"/>
              <a:t>0.38</a:t>
            </a:r>
            <a:r>
              <a:rPr lang="en-GB" altLang="en-US" sz="3600" dirty="0" smtClean="0"/>
              <a:t> </a:t>
            </a:r>
            <a:r>
              <a:rPr lang="en-GB" altLang="en-US" sz="3600" dirty="0"/>
              <a:t>Months</a:t>
            </a:r>
          </a:p>
          <a:p>
            <a:pPr>
              <a:spcBef>
                <a:spcPts val="988"/>
              </a:spcBef>
            </a:pPr>
            <a:r>
              <a:rPr lang="en-GB" altLang="en-US" sz="4000" dirty="0"/>
              <a:t>Semi-detached:</a:t>
            </a:r>
          </a:p>
          <a:p>
            <a:pPr lvl="1">
              <a:spcBef>
                <a:spcPts val="900"/>
              </a:spcBef>
            </a:pPr>
            <a:r>
              <a:rPr lang="en-GB" altLang="en-US" sz="3600" dirty="0" err="1"/>
              <a:t>Tdev</a:t>
            </a:r>
            <a:r>
              <a:rPr lang="en-GB" altLang="en-US" sz="3600" dirty="0"/>
              <a:t> = </a:t>
            </a:r>
            <a:r>
              <a:rPr lang="en-GB" altLang="en-US" sz="3600" dirty="0" smtClean="0"/>
              <a:t>2.5 * </a:t>
            </a:r>
            <a:r>
              <a:rPr lang="en-GB" altLang="en-US" sz="3600" dirty="0"/>
              <a:t>(Effort)</a:t>
            </a:r>
            <a:r>
              <a:rPr lang="en-GB" altLang="en-US" sz="3600" baseline="30000" dirty="0"/>
              <a:t>0.35</a:t>
            </a:r>
            <a:r>
              <a:rPr lang="en-GB" altLang="en-US" sz="3600" dirty="0"/>
              <a:t> Months</a:t>
            </a:r>
          </a:p>
          <a:p>
            <a:pPr>
              <a:spcBef>
                <a:spcPts val="988"/>
              </a:spcBef>
            </a:pPr>
            <a:r>
              <a:rPr lang="en-GB" altLang="en-US" sz="4000" dirty="0"/>
              <a:t>Embedded:</a:t>
            </a:r>
          </a:p>
          <a:p>
            <a:pPr lvl="1">
              <a:spcBef>
                <a:spcPts val="900"/>
              </a:spcBef>
            </a:pPr>
            <a:r>
              <a:rPr lang="en-GB" altLang="en-US" sz="3600" dirty="0" err="1"/>
              <a:t>Tdev</a:t>
            </a:r>
            <a:r>
              <a:rPr lang="en-GB" altLang="en-US" sz="3600" dirty="0"/>
              <a:t> = 2.5 </a:t>
            </a:r>
            <a:r>
              <a:rPr lang="en-GB" altLang="en-US" sz="3600" dirty="0" smtClean="0"/>
              <a:t>* (</a:t>
            </a:r>
            <a:r>
              <a:rPr lang="en-GB" altLang="en-US" sz="3600" dirty="0"/>
              <a:t>Effort)</a:t>
            </a:r>
            <a:r>
              <a:rPr lang="en-GB" altLang="en-US" sz="3600" baseline="30000" dirty="0"/>
              <a:t>0.32</a:t>
            </a:r>
            <a:r>
              <a:rPr lang="en-GB" altLang="en-US" sz="3600" dirty="0"/>
              <a:t> Months</a:t>
            </a:r>
          </a:p>
        </p:txBody>
      </p:sp>
    </p:spTree>
    <p:extLst>
      <p:ext uri="{BB962C8B-B14F-4D97-AF65-F5344CB8AC3E}">
        <p14:creationId xmlns:p14="http://schemas.microsoft.com/office/powerpoint/2010/main" val="259093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07A20-21D3-448F-95E6-E85B3A747B79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3993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>
                <a:solidFill>
                  <a:srgbClr val="003300"/>
                </a:solidFill>
              </a:rPr>
              <a:t>Basic COCOMO Model</a:t>
            </a:r>
            <a:r>
              <a:rPr lang="en-GB" altLang="en-US" sz="1400">
                <a:solidFill>
                  <a:srgbClr val="003300"/>
                </a:solidFill>
              </a:rPr>
              <a:t> (CONT.)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7538" y="1885950"/>
            <a:ext cx="3365500" cy="41719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525"/>
              </a:spcBef>
            </a:pPr>
            <a:endParaRPr lang="en-GB" altLang="en-US"/>
          </a:p>
          <a:p>
            <a:pPr>
              <a:spcBef>
                <a:spcPts val="838"/>
              </a:spcBef>
            </a:pPr>
            <a:r>
              <a:rPr lang="en-GB" altLang="en-US"/>
              <a:t>Effort is somewhat super-linear in problem  size.</a:t>
            </a:r>
            <a:r>
              <a:rPr lang="en-GB" altLang="en-US" sz="3600">
                <a:latin typeface="Courier New" pitchFamily="49" charset="0"/>
              </a:rPr>
              <a:t> </a:t>
            </a:r>
          </a:p>
        </p:txBody>
      </p:sp>
      <p:sp>
        <p:nvSpPr>
          <p:cNvPr id="39939" name="Line 3"/>
          <p:cNvSpPr>
            <a:spLocks noChangeShapeType="1"/>
          </p:cNvSpPr>
          <p:nvPr/>
        </p:nvSpPr>
        <p:spPr bwMode="auto">
          <a:xfrm>
            <a:off x="3886200" y="1568450"/>
            <a:ext cx="0" cy="3352800"/>
          </a:xfrm>
          <a:prstGeom prst="line">
            <a:avLst/>
          </a:prstGeom>
          <a:noFill/>
          <a:ln w="28440">
            <a:solidFill>
              <a:srgbClr val="0033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0" name="Line 4"/>
          <p:cNvSpPr>
            <a:spLocks noChangeShapeType="1"/>
          </p:cNvSpPr>
          <p:nvPr/>
        </p:nvSpPr>
        <p:spPr bwMode="auto">
          <a:xfrm>
            <a:off x="3886200" y="4921250"/>
            <a:ext cx="40386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1" name="Freeform 5"/>
          <p:cNvSpPr>
            <a:spLocks noChangeArrowheads="1"/>
          </p:cNvSpPr>
          <p:nvPr/>
        </p:nvSpPr>
        <p:spPr bwMode="auto">
          <a:xfrm>
            <a:off x="3886200" y="1949450"/>
            <a:ext cx="3349625" cy="2968625"/>
          </a:xfrm>
          <a:custGeom>
            <a:avLst/>
            <a:gdLst>
              <a:gd name="T0" fmla="*/ 0 w 9310"/>
              <a:gd name="T1" fmla="*/ 8251 h 8252"/>
              <a:gd name="T2" fmla="*/ 1329 w 9310"/>
              <a:gd name="T3" fmla="*/ 7646 h 8252"/>
              <a:gd name="T4" fmla="*/ 3656 w 9310"/>
              <a:gd name="T5" fmla="*/ 6239 h 8252"/>
              <a:gd name="T6" fmla="*/ 5984 w 9310"/>
              <a:gd name="T7" fmla="*/ 4226 h 8252"/>
              <a:gd name="T8" fmla="*/ 7315 w 9310"/>
              <a:gd name="T9" fmla="*/ 2615 h 8252"/>
              <a:gd name="T10" fmla="*/ 9309 w 9310"/>
              <a:gd name="T11" fmla="*/ 0 h 8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310" h="8252">
                <a:moveTo>
                  <a:pt x="0" y="8251"/>
                </a:moveTo>
                <a:cubicBezTo>
                  <a:pt x="358" y="8116"/>
                  <a:pt x="720" y="7982"/>
                  <a:pt x="1329" y="7646"/>
                </a:cubicBezTo>
                <a:cubicBezTo>
                  <a:pt x="1939" y="7313"/>
                  <a:pt x="2880" y="6808"/>
                  <a:pt x="3656" y="6239"/>
                </a:cubicBezTo>
                <a:cubicBezTo>
                  <a:pt x="4431" y="5668"/>
                  <a:pt x="5374" y="4830"/>
                  <a:pt x="5984" y="4226"/>
                </a:cubicBezTo>
                <a:cubicBezTo>
                  <a:pt x="6593" y="3622"/>
                  <a:pt x="6760" y="3320"/>
                  <a:pt x="7315" y="2615"/>
                </a:cubicBezTo>
                <a:cubicBezTo>
                  <a:pt x="7868" y="1911"/>
                  <a:pt x="8589" y="955"/>
                  <a:pt x="9309" y="0"/>
                </a:cubicBezTo>
              </a:path>
            </a:pathLst>
          </a:custGeom>
          <a:noFill/>
          <a:ln w="34920">
            <a:solidFill>
              <a:srgbClr val="FF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2" name="Freeform 6"/>
          <p:cNvSpPr>
            <a:spLocks noChangeArrowheads="1"/>
          </p:cNvSpPr>
          <p:nvPr/>
        </p:nvSpPr>
        <p:spPr bwMode="auto">
          <a:xfrm>
            <a:off x="3886200" y="2101850"/>
            <a:ext cx="3654425" cy="2816225"/>
          </a:xfrm>
          <a:custGeom>
            <a:avLst/>
            <a:gdLst>
              <a:gd name="T0" fmla="*/ 0 w 10157"/>
              <a:gd name="T1" fmla="*/ 7828 h 7829"/>
              <a:gd name="T2" fmla="*/ 3018 w 10157"/>
              <a:gd name="T3" fmla="*/ 7045 h 7829"/>
              <a:gd name="T4" fmla="*/ 6039 w 10157"/>
              <a:gd name="T5" fmla="*/ 4696 h 7829"/>
              <a:gd name="T6" fmla="*/ 9333 w 10157"/>
              <a:gd name="T7" fmla="*/ 1369 h 7829"/>
              <a:gd name="T8" fmla="*/ 10156 w 10157"/>
              <a:gd name="T9" fmla="*/ 0 h 78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57" h="7829">
                <a:moveTo>
                  <a:pt x="0" y="7828"/>
                </a:moveTo>
                <a:cubicBezTo>
                  <a:pt x="1005" y="7697"/>
                  <a:pt x="2012" y="7566"/>
                  <a:pt x="3018" y="7045"/>
                </a:cubicBezTo>
                <a:cubicBezTo>
                  <a:pt x="4025" y="6523"/>
                  <a:pt x="4985" y="5642"/>
                  <a:pt x="6039" y="4696"/>
                </a:cubicBezTo>
                <a:cubicBezTo>
                  <a:pt x="7091" y="3750"/>
                  <a:pt x="8647" y="2152"/>
                  <a:pt x="9333" y="1369"/>
                </a:cubicBezTo>
                <a:cubicBezTo>
                  <a:pt x="10019" y="586"/>
                  <a:pt x="10087" y="293"/>
                  <a:pt x="10156" y="0"/>
                </a:cubicBezTo>
              </a:path>
            </a:pathLst>
          </a:custGeom>
          <a:noFill/>
          <a:ln w="34920" cap="rnd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3" name="Freeform 7"/>
          <p:cNvSpPr>
            <a:spLocks noChangeArrowheads="1"/>
          </p:cNvSpPr>
          <p:nvPr/>
        </p:nvSpPr>
        <p:spPr bwMode="auto">
          <a:xfrm>
            <a:off x="3886200" y="2330450"/>
            <a:ext cx="4035425" cy="2587625"/>
          </a:xfrm>
          <a:custGeom>
            <a:avLst/>
            <a:gdLst>
              <a:gd name="T0" fmla="*/ 0 w 11215"/>
              <a:gd name="T1" fmla="*/ 7193 h 7194"/>
              <a:gd name="T2" fmla="*/ 3412 w 11215"/>
              <a:gd name="T3" fmla="*/ 6455 h 7194"/>
              <a:gd name="T4" fmla="*/ 7801 w 11215"/>
              <a:gd name="T5" fmla="*/ 3504 h 7194"/>
              <a:gd name="T6" fmla="*/ 11214 w 11215"/>
              <a:gd name="T7" fmla="*/ 0 h 7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15" h="7194">
                <a:moveTo>
                  <a:pt x="0" y="7193"/>
                </a:moveTo>
                <a:cubicBezTo>
                  <a:pt x="1055" y="7131"/>
                  <a:pt x="2111" y="7070"/>
                  <a:pt x="3412" y="6455"/>
                </a:cubicBezTo>
                <a:cubicBezTo>
                  <a:pt x="4712" y="5841"/>
                  <a:pt x="6500" y="4579"/>
                  <a:pt x="7801" y="3504"/>
                </a:cubicBezTo>
                <a:cubicBezTo>
                  <a:pt x="9101" y="2427"/>
                  <a:pt x="10645" y="583"/>
                  <a:pt x="11214" y="0"/>
                </a:cubicBezTo>
              </a:path>
            </a:pathLst>
          </a:custGeom>
          <a:noFill/>
          <a:ln w="2844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3505200" y="2667000"/>
            <a:ext cx="9874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1025"/>
              </a:spcBef>
            </a:pPr>
            <a:r>
              <a:rPr lang="en-GB" altLang="en-US" sz="1800" b="1">
                <a:solidFill>
                  <a:srgbClr val="0000CC"/>
                </a:solidFill>
              </a:rPr>
              <a:t>Effort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5257800" y="4921250"/>
            <a:ext cx="11398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1025"/>
              </a:spcBef>
            </a:pPr>
            <a:r>
              <a:rPr lang="en-GB" altLang="en-US" sz="1800" b="1">
                <a:solidFill>
                  <a:srgbClr val="0000CC"/>
                </a:solidFill>
              </a:rPr>
              <a:t>Size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 rot="19260000">
            <a:off x="5314950" y="3205163"/>
            <a:ext cx="134778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913"/>
              </a:spcBef>
            </a:pPr>
            <a:r>
              <a:rPr lang="en-GB" altLang="en-US" sz="1600" b="1">
                <a:solidFill>
                  <a:srgbClr val="FF3300"/>
                </a:solidFill>
              </a:rPr>
              <a:t>Embedded</a:t>
            </a:r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 rot="19020000">
            <a:off x="6384925" y="2416175"/>
            <a:ext cx="15970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altLang="en-US" sz="1400" b="1">
                <a:solidFill>
                  <a:srgbClr val="0000FF"/>
                </a:solidFill>
              </a:rPr>
              <a:t>Semidetached</a:t>
            </a: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 rot="19560000">
            <a:off x="6223000" y="3608388"/>
            <a:ext cx="9874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913"/>
              </a:spcBef>
            </a:pPr>
            <a:r>
              <a:rPr lang="en-GB" altLang="en-US" sz="1600" b="1"/>
              <a:t>Organic</a:t>
            </a:r>
          </a:p>
        </p:txBody>
      </p:sp>
    </p:spTree>
    <p:extLst>
      <p:ext uri="{BB962C8B-B14F-4D97-AF65-F5344CB8AC3E}">
        <p14:creationId xmlns:p14="http://schemas.microsoft.com/office/powerpoint/2010/main" val="98365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B0A9-4AD9-4950-B643-654E6514468F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Basic COCOMO Model</a:t>
            </a:r>
            <a:r>
              <a:rPr lang="en-GB" altLang="en-US" sz="1600" dirty="0"/>
              <a:t> (CONT.)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3806825" cy="41116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fontScale="92500"/>
          </a:bodyPr>
          <a:lstStyle/>
          <a:p>
            <a:pPr>
              <a:spcBef>
                <a:spcPts val="450"/>
              </a:spcBef>
            </a:pPr>
            <a:r>
              <a:rPr lang="en-GB" altLang="en-US" dirty="0"/>
              <a:t>Development time </a:t>
            </a:r>
          </a:p>
          <a:p>
            <a:pPr lvl="1">
              <a:spcBef>
                <a:spcPts val="400"/>
              </a:spcBef>
            </a:pPr>
            <a:r>
              <a:rPr lang="en-GB" altLang="en-US" dirty="0"/>
              <a:t>sublinear function of product size.</a:t>
            </a:r>
          </a:p>
          <a:p>
            <a:pPr>
              <a:spcBef>
                <a:spcPts val="450"/>
              </a:spcBef>
            </a:pPr>
            <a:r>
              <a:rPr lang="en-GB" altLang="en-US" dirty="0"/>
              <a:t>When product size increases two times, </a:t>
            </a:r>
          </a:p>
          <a:p>
            <a:pPr lvl="1">
              <a:spcBef>
                <a:spcPts val="400"/>
              </a:spcBef>
            </a:pPr>
            <a:r>
              <a:rPr lang="en-GB" altLang="en-US" dirty="0"/>
              <a:t>development time  does not double.</a:t>
            </a:r>
          </a:p>
          <a:p>
            <a:pPr>
              <a:spcBef>
                <a:spcPts val="450"/>
              </a:spcBef>
            </a:pPr>
            <a:r>
              <a:rPr lang="en-GB" altLang="en-US" dirty="0"/>
              <a:t>Time taken: </a:t>
            </a:r>
          </a:p>
          <a:p>
            <a:pPr lvl="1">
              <a:spcBef>
                <a:spcPts val="400"/>
              </a:spcBef>
            </a:pPr>
            <a:r>
              <a:rPr lang="en-GB" altLang="en-US" dirty="0"/>
              <a:t>almost same for all the three product categories</a:t>
            </a:r>
            <a:r>
              <a:rPr lang="en-GB" altLang="en-US" dirty="0">
                <a:solidFill>
                  <a:srgbClr val="800000"/>
                </a:solidFill>
              </a:rPr>
              <a:t>.</a:t>
            </a:r>
          </a:p>
        </p:txBody>
      </p:sp>
      <p:sp>
        <p:nvSpPr>
          <p:cNvPr id="40963" name="Line 3"/>
          <p:cNvSpPr>
            <a:spLocks noChangeShapeType="1"/>
          </p:cNvSpPr>
          <p:nvPr/>
        </p:nvSpPr>
        <p:spPr bwMode="auto">
          <a:xfrm>
            <a:off x="4419600" y="1676400"/>
            <a:ext cx="1588" cy="33528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 flipV="1">
            <a:off x="4419600" y="5029200"/>
            <a:ext cx="3581400" cy="1588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5" name="Freeform 5"/>
          <p:cNvSpPr>
            <a:spLocks noChangeArrowheads="1"/>
          </p:cNvSpPr>
          <p:nvPr/>
        </p:nvSpPr>
        <p:spPr bwMode="auto">
          <a:xfrm>
            <a:off x="4419600" y="2987675"/>
            <a:ext cx="3349625" cy="2038350"/>
          </a:xfrm>
          <a:custGeom>
            <a:avLst/>
            <a:gdLst>
              <a:gd name="T0" fmla="*/ 0 w 9310"/>
              <a:gd name="T1" fmla="*/ 5667 h 5668"/>
              <a:gd name="T2" fmla="*/ 1269 w 9310"/>
              <a:gd name="T3" fmla="*/ 4441 h 5668"/>
              <a:gd name="T4" fmla="*/ 4655 w 9310"/>
              <a:gd name="T5" fmla="*/ 2143 h 5668"/>
              <a:gd name="T6" fmla="*/ 9309 w 9310"/>
              <a:gd name="T7" fmla="*/ 0 h 56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310" h="5668">
                <a:moveTo>
                  <a:pt x="0" y="5667"/>
                </a:moveTo>
                <a:cubicBezTo>
                  <a:pt x="246" y="5347"/>
                  <a:pt x="493" y="5029"/>
                  <a:pt x="1269" y="4441"/>
                </a:cubicBezTo>
                <a:cubicBezTo>
                  <a:pt x="2045" y="3854"/>
                  <a:pt x="3314" y="2884"/>
                  <a:pt x="4655" y="2143"/>
                </a:cubicBezTo>
                <a:cubicBezTo>
                  <a:pt x="5994" y="1403"/>
                  <a:pt x="7652" y="701"/>
                  <a:pt x="9309" y="0"/>
                </a:cubicBezTo>
              </a:path>
            </a:pathLst>
          </a:custGeom>
          <a:noFill/>
          <a:ln w="38160">
            <a:solidFill>
              <a:srgbClr val="0000FF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6" name="Freeform 6"/>
          <p:cNvSpPr>
            <a:spLocks noChangeArrowheads="1"/>
          </p:cNvSpPr>
          <p:nvPr/>
        </p:nvSpPr>
        <p:spPr bwMode="auto">
          <a:xfrm>
            <a:off x="4419600" y="3314700"/>
            <a:ext cx="3425825" cy="1711325"/>
          </a:xfrm>
          <a:custGeom>
            <a:avLst/>
            <a:gdLst>
              <a:gd name="T0" fmla="*/ 0 w 9521"/>
              <a:gd name="T1" fmla="*/ 4758 h 4759"/>
              <a:gd name="T2" fmla="*/ 2750 w 9521"/>
              <a:gd name="T3" fmla="*/ 2953 h 4759"/>
              <a:gd name="T4" fmla="*/ 6347 w 9521"/>
              <a:gd name="T5" fmla="*/ 1148 h 4759"/>
              <a:gd name="T6" fmla="*/ 8463 w 9521"/>
              <a:gd name="T7" fmla="*/ 327 h 4759"/>
              <a:gd name="T8" fmla="*/ 9520 w 9521"/>
              <a:gd name="T9" fmla="*/ 0 h 4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21" h="4759">
                <a:moveTo>
                  <a:pt x="0" y="4758"/>
                </a:moveTo>
                <a:cubicBezTo>
                  <a:pt x="846" y="4157"/>
                  <a:pt x="1692" y="3555"/>
                  <a:pt x="2750" y="2953"/>
                </a:cubicBezTo>
                <a:cubicBezTo>
                  <a:pt x="3808" y="2351"/>
                  <a:pt x="5395" y="1585"/>
                  <a:pt x="6347" y="1148"/>
                </a:cubicBezTo>
                <a:cubicBezTo>
                  <a:pt x="7299" y="710"/>
                  <a:pt x="7934" y="518"/>
                  <a:pt x="8463" y="327"/>
                </a:cubicBezTo>
                <a:cubicBezTo>
                  <a:pt x="8991" y="135"/>
                  <a:pt x="9255" y="67"/>
                  <a:pt x="9520" y="0"/>
                </a:cubicBezTo>
              </a:path>
            </a:pathLst>
          </a:custGeom>
          <a:noFill/>
          <a:ln w="3492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5562600" y="4926013"/>
            <a:ext cx="9112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1025"/>
              </a:spcBef>
            </a:pPr>
            <a:r>
              <a:rPr lang="en-GB" altLang="en-US" sz="1800" b="1">
                <a:solidFill>
                  <a:srgbClr val="0000FF"/>
                </a:solidFill>
              </a:rPr>
              <a:t>Size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4114800" y="2286000"/>
            <a:ext cx="14446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1025"/>
              </a:spcBef>
            </a:pPr>
            <a:r>
              <a:rPr lang="en-GB" altLang="en-US" sz="1800" b="1">
                <a:solidFill>
                  <a:srgbClr val="0000FF"/>
                </a:solidFill>
              </a:rPr>
              <a:t>Dev</a:t>
            </a:r>
            <a:r>
              <a:rPr lang="en-GB" altLang="en-US" sz="1600" b="1">
                <a:solidFill>
                  <a:srgbClr val="0000FF"/>
                </a:solidFill>
              </a:rPr>
              <a:t>. Time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 rot="20100000">
            <a:off x="6000750" y="2808288"/>
            <a:ext cx="15208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368425" algn="l"/>
                <a:tab pos="14478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1025"/>
              </a:spcBef>
            </a:pPr>
            <a:r>
              <a:rPr lang="en-GB" altLang="en-US" sz="1800" b="1">
                <a:solidFill>
                  <a:srgbClr val="FF3300"/>
                </a:solidFill>
              </a:rPr>
              <a:t>Embedded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 rot="20280000">
            <a:off x="6661150" y="2814638"/>
            <a:ext cx="18256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913"/>
              </a:spcBef>
            </a:pPr>
            <a:r>
              <a:rPr lang="en-GB" altLang="en-US" sz="1600" b="1">
                <a:solidFill>
                  <a:srgbClr val="0000FF"/>
                </a:solidFill>
              </a:rPr>
              <a:t>Semidetached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 rot="20100000">
            <a:off x="5753100" y="3879850"/>
            <a:ext cx="1216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913"/>
              </a:spcBef>
            </a:pPr>
            <a:r>
              <a:rPr lang="en-GB" altLang="en-US" sz="1600" b="1"/>
              <a:t>Organic</a:t>
            </a:r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 flipV="1">
            <a:off x="6781800" y="3070225"/>
            <a:ext cx="1588" cy="1958975"/>
          </a:xfrm>
          <a:prstGeom prst="line">
            <a:avLst/>
          </a:prstGeom>
          <a:noFill/>
          <a:ln w="3816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6705600" y="4808538"/>
            <a:ext cx="5302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altLang="en-US" sz="1400" b="1"/>
              <a:t>60K</a:t>
            </a:r>
          </a:p>
        </p:txBody>
      </p:sp>
      <p:sp>
        <p:nvSpPr>
          <p:cNvPr id="40974" name="Freeform 14"/>
          <p:cNvSpPr>
            <a:spLocks noChangeArrowheads="1"/>
          </p:cNvSpPr>
          <p:nvPr/>
        </p:nvSpPr>
        <p:spPr bwMode="auto">
          <a:xfrm>
            <a:off x="4419600" y="2743200"/>
            <a:ext cx="3273425" cy="2282825"/>
          </a:xfrm>
          <a:custGeom>
            <a:avLst/>
            <a:gdLst>
              <a:gd name="T0" fmla="*/ 0 w 9098"/>
              <a:gd name="T1" fmla="*/ 6346 h 6347"/>
              <a:gd name="T2" fmla="*/ 1082 w 9098"/>
              <a:gd name="T3" fmla="*/ 4904 h 6347"/>
              <a:gd name="T4" fmla="*/ 2599 w 9098"/>
              <a:gd name="T5" fmla="*/ 3461 h 6347"/>
              <a:gd name="T6" fmla="*/ 4765 w 9098"/>
              <a:gd name="T7" fmla="*/ 2019 h 6347"/>
              <a:gd name="T8" fmla="*/ 7798 w 9098"/>
              <a:gd name="T9" fmla="*/ 576 h 6347"/>
              <a:gd name="T10" fmla="*/ 9097 w 9098"/>
              <a:gd name="T11" fmla="*/ 0 h 6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098" h="6347">
                <a:moveTo>
                  <a:pt x="0" y="6346"/>
                </a:moveTo>
                <a:cubicBezTo>
                  <a:pt x="324" y="5866"/>
                  <a:pt x="649" y="5385"/>
                  <a:pt x="1082" y="4904"/>
                </a:cubicBezTo>
                <a:cubicBezTo>
                  <a:pt x="1516" y="4423"/>
                  <a:pt x="1985" y="3942"/>
                  <a:pt x="2599" y="3461"/>
                </a:cubicBezTo>
                <a:cubicBezTo>
                  <a:pt x="3213" y="2980"/>
                  <a:pt x="3899" y="2499"/>
                  <a:pt x="4765" y="2019"/>
                </a:cubicBezTo>
                <a:cubicBezTo>
                  <a:pt x="5631" y="1538"/>
                  <a:pt x="7076" y="913"/>
                  <a:pt x="7798" y="576"/>
                </a:cubicBezTo>
                <a:cubicBezTo>
                  <a:pt x="8521" y="239"/>
                  <a:pt x="8809" y="119"/>
                  <a:pt x="9097" y="0"/>
                </a:cubicBezTo>
              </a:path>
            </a:pathLst>
          </a:custGeom>
          <a:noFill/>
          <a:ln w="3816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5" name="Line 15"/>
          <p:cNvSpPr>
            <a:spLocks noChangeShapeType="1"/>
          </p:cNvSpPr>
          <p:nvPr/>
        </p:nvSpPr>
        <p:spPr bwMode="auto">
          <a:xfrm flipH="1">
            <a:off x="4419600" y="3429000"/>
            <a:ext cx="2514600" cy="1588"/>
          </a:xfrm>
          <a:prstGeom prst="line">
            <a:avLst/>
          </a:prstGeom>
          <a:noFill/>
          <a:ln w="28440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4343400" y="3178175"/>
            <a:ext cx="13684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altLang="en-US" sz="1400" b="1"/>
              <a:t>18 Months</a:t>
            </a:r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 flipV="1">
            <a:off x="5715000" y="3886200"/>
            <a:ext cx="1588" cy="1143000"/>
          </a:xfrm>
          <a:prstGeom prst="line">
            <a:avLst/>
          </a:prstGeom>
          <a:noFill/>
          <a:ln w="3816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8" name="Line 18"/>
          <p:cNvSpPr>
            <a:spLocks noChangeShapeType="1"/>
          </p:cNvSpPr>
          <p:nvPr/>
        </p:nvSpPr>
        <p:spPr bwMode="auto">
          <a:xfrm flipH="1">
            <a:off x="4419600" y="3962400"/>
            <a:ext cx="1371600" cy="1588"/>
          </a:xfrm>
          <a:prstGeom prst="line">
            <a:avLst/>
          </a:prstGeom>
          <a:noFill/>
          <a:ln w="28440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4343400" y="3733800"/>
            <a:ext cx="13684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altLang="en-US" sz="1400" b="1"/>
              <a:t>14 Months</a:t>
            </a: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5638800" y="4800600"/>
            <a:ext cx="5302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altLang="en-US" sz="1400" b="1"/>
              <a:t>30K</a:t>
            </a:r>
          </a:p>
        </p:txBody>
      </p:sp>
    </p:spTree>
    <p:extLst>
      <p:ext uri="{BB962C8B-B14F-4D97-AF65-F5344CB8AC3E}">
        <p14:creationId xmlns:p14="http://schemas.microsoft.com/office/powerpoint/2010/main" val="10446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D70B7-607C-413C-8277-188B02A394C4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198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Basic COCOMO Model</a:t>
            </a:r>
            <a:r>
              <a:rPr lang="en-GB" altLang="en-US" sz="1600" dirty="0"/>
              <a:t> (CONT</a:t>
            </a:r>
            <a:r>
              <a:rPr lang="en-GB" altLang="en-US" sz="1600" dirty="0">
                <a:solidFill>
                  <a:srgbClr val="0000CC"/>
                </a:solidFill>
              </a:rPr>
              <a:t>.)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4000"/>
              <a:t>Development time does not increase linearly with product size:</a:t>
            </a:r>
          </a:p>
          <a:p>
            <a:pPr lvl="1">
              <a:spcBef>
                <a:spcPts val="713"/>
              </a:spcBef>
            </a:pPr>
            <a:r>
              <a:rPr lang="en-GB" altLang="en-US" sz="3600"/>
              <a:t>For larger products more parallel activities can be identified:</a:t>
            </a:r>
          </a:p>
          <a:p>
            <a:pPr lvl="2">
              <a:spcBef>
                <a:spcPts val="613"/>
              </a:spcBef>
            </a:pPr>
            <a:r>
              <a:rPr lang="en-GB" altLang="en-US" sz="3200"/>
              <a:t>can be carried out simultaneously by a number of engineers.</a:t>
            </a:r>
          </a:p>
        </p:txBody>
      </p:sp>
    </p:spTree>
    <p:extLst>
      <p:ext uri="{BB962C8B-B14F-4D97-AF65-F5344CB8AC3E}">
        <p14:creationId xmlns:p14="http://schemas.microsoft.com/office/powerpoint/2010/main" val="190215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F559-A597-4214-8188-6228B0730F2B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4403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475"/>
              </a:spcBef>
            </a:pPr>
            <a:r>
              <a:rPr lang="en-GB" altLang="en-US" sz="6000" dirty="0"/>
              <a:t>Example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/>
          </a:bodyPr>
          <a:lstStyle/>
          <a:p>
            <a:pPr>
              <a:spcBef>
                <a:spcPts val="613"/>
              </a:spcBef>
            </a:pPr>
            <a:r>
              <a:rPr lang="en-GB" altLang="en-US" sz="2800" dirty="0" smtClean="0"/>
              <a:t>Assume that the </a:t>
            </a:r>
            <a:r>
              <a:rPr lang="en-GB" altLang="en-US" sz="2800" dirty="0"/>
              <a:t>size of an organic  software product has been estimated to be 32,000 lines of source code</a:t>
            </a:r>
            <a:r>
              <a:rPr lang="en-GB" altLang="en-US" sz="2800" dirty="0" smtClean="0"/>
              <a:t>. Assume that the average salary of software developers is </a:t>
            </a:r>
            <a:r>
              <a:rPr lang="en-GB" altLang="en-US" sz="2800" dirty="0" err="1" smtClean="0"/>
              <a:t>Rs</a:t>
            </a:r>
            <a:r>
              <a:rPr lang="en-GB" altLang="en-US" sz="2800" dirty="0" smtClean="0"/>
              <a:t>. 15000 per month. Determine the effort required to develop the software product, the nominal development time and cost to develop the product.  </a:t>
            </a:r>
            <a:endParaRPr lang="en-GB" altLang="en-US" sz="2800" dirty="0"/>
          </a:p>
          <a:p>
            <a:pPr>
              <a:spcBef>
                <a:spcPts val="613"/>
              </a:spcBef>
              <a:buClrTx/>
              <a:buFontTx/>
              <a:buNone/>
            </a:pPr>
            <a:endParaRPr lang="en-GB" altLang="en-US" sz="2800" dirty="0"/>
          </a:p>
          <a:p>
            <a:pPr marL="457200" lvl="1" indent="0">
              <a:spcBef>
                <a:spcPts val="1250"/>
              </a:spcBef>
              <a:buNone/>
            </a:pPr>
            <a:r>
              <a:rPr lang="en-GB" altLang="en-US" sz="2400" dirty="0" smtClean="0"/>
              <a:t>	</a:t>
            </a: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3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spcBef>
                <a:spcPts val="1250"/>
              </a:spcBef>
              <a:buNone/>
            </a:pPr>
            <a:r>
              <a:rPr lang="en-GB" altLang="en-US" sz="2400" dirty="0"/>
              <a:t>Effort = 2.4*(32)</a:t>
            </a:r>
            <a:r>
              <a:rPr lang="en-GB" altLang="en-US" baseline="30000" dirty="0"/>
              <a:t>1.05</a:t>
            </a:r>
            <a:r>
              <a:rPr lang="en-GB" altLang="en-US" sz="2400" dirty="0"/>
              <a:t> = 91 PM</a:t>
            </a:r>
          </a:p>
          <a:p>
            <a:pPr marL="457200" lvl="1" indent="0">
              <a:spcBef>
                <a:spcPts val="1250"/>
              </a:spcBef>
              <a:buNone/>
            </a:pPr>
            <a:r>
              <a:rPr lang="en-GB" altLang="en-US" sz="2400" dirty="0" smtClean="0"/>
              <a:t>Nominal </a:t>
            </a:r>
            <a:r>
              <a:rPr lang="en-GB" altLang="en-US" sz="2400" dirty="0"/>
              <a:t>development time = 2.5*(91)</a:t>
            </a:r>
            <a:r>
              <a:rPr lang="en-GB" altLang="en-US" baseline="30000" dirty="0"/>
              <a:t>0.38</a:t>
            </a:r>
            <a:r>
              <a:rPr lang="en-GB" altLang="en-US" sz="2400" dirty="0"/>
              <a:t> = 14 </a:t>
            </a:r>
            <a:r>
              <a:rPr lang="en-GB" altLang="en-US" sz="2400" dirty="0" smtClean="0"/>
              <a:t>months</a:t>
            </a:r>
          </a:p>
          <a:p>
            <a:pPr marL="457200" lvl="1" indent="0">
              <a:spcBef>
                <a:spcPts val="1250"/>
              </a:spcBef>
              <a:buNone/>
            </a:pPr>
            <a:r>
              <a:rPr lang="en-GB" altLang="en-US" sz="2400" dirty="0" smtClean="0"/>
              <a:t>Cost = effort * salary per month = 91 * 15000 = 1365000</a:t>
            </a:r>
          </a:p>
          <a:p>
            <a:pPr marL="457200" lvl="1" indent="0">
              <a:spcBef>
                <a:spcPts val="1250"/>
              </a:spcBef>
              <a:buNone/>
            </a:pPr>
            <a:endParaRPr lang="en-GB" alt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71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3C68-AFAF-4E14-9277-8D13F1C1F4D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4505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Intermediate COCOMO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/>
              <a:t>Basic COCOMO model assumes </a:t>
            </a:r>
          </a:p>
          <a:p>
            <a:pPr lvl="1">
              <a:spcBef>
                <a:spcPts val="525"/>
              </a:spcBef>
            </a:pPr>
            <a:r>
              <a:rPr lang="en-GB" altLang="en-US"/>
              <a:t>effort and development time depend on product size alone. </a:t>
            </a:r>
          </a:p>
          <a:p>
            <a:pPr>
              <a:spcBef>
                <a:spcPts val="613"/>
              </a:spcBef>
            </a:pPr>
            <a:r>
              <a:rPr lang="en-GB" altLang="en-US"/>
              <a:t>However, several parameters affect effort and development time:</a:t>
            </a:r>
          </a:p>
          <a:p>
            <a:pPr lvl="2">
              <a:spcBef>
                <a:spcPts val="450"/>
              </a:spcBef>
            </a:pPr>
            <a:r>
              <a:rPr lang="en-GB" altLang="en-US"/>
              <a:t>Reliability requirements</a:t>
            </a:r>
          </a:p>
          <a:p>
            <a:pPr lvl="2">
              <a:spcBef>
                <a:spcPts val="450"/>
              </a:spcBef>
            </a:pPr>
            <a:r>
              <a:rPr lang="en-GB" altLang="en-US"/>
              <a:t>Availability of CASE tools and modern facilities to the developers</a:t>
            </a:r>
          </a:p>
          <a:p>
            <a:pPr lvl="2">
              <a:spcBef>
                <a:spcPts val="450"/>
              </a:spcBef>
            </a:pPr>
            <a:r>
              <a:rPr lang="en-GB" altLang="en-US"/>
              <a:t>Size of data to be handled</a:t>
            </a:r>
          </a:p>
        </p:txBody>
      </p:sp>
    </p:spTree>
    <p:extLst>
      <p:ext uri="{BB962C8B-B14F-4D97-AF65-F5344CB8AC3E}">
        <p14:creationId xmlns:p14="http://schemas.microsoft.com/office/powerpoint/2010/main" val="54948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E79C3-3D59-45C4-AF34-A28FBFC86874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4608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Intermediate COCOMO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3600" dirty="0"/>
              <a:t>For accurate estimation, 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/>
              <a:t>the effect of all relevant parameters must be considered: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/>
              <a:t>Intermediate COCOMO model recognizes this fact: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/>
              <a:t>refines the initial estimate obtained by the basic COCOMO  by using  a set of 15  cost drivers (multipliers).</a:t>
            </a:r>
          </a:p>
        </p:txBody>
      </p:sp>
    </p:spTree>
    <p:extLst>
      <p:ext uri="{BB962C8B-B14F-4D97-AF65-F5344CB8AC3E}">
        <p14:creationId xmlns:p14="http://schemas.microsoft.com/office/powerpoint/2010/main" val="272033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B17A2-4E96-45B3-A1DA-1D9EDF30D2D8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4710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Intermediate COCOMO</a:t>
            </a:r>
            <a:r>
              <a:rPr lang="en-GB" altLang="en-US" sz="1600" dirty="0"/>
              <a:t> (CONT.)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4000"/>
              <a:t>If modern programming practices are used, </a:t>
            </a:r>
          </a:p>
          <a:p>
            <a:pPr lvl="1">
              <a:spcBef>
                <a:spcPts val="525"/>
              </a:spcBef>
            </a:pPr>
            <a:r>
              <a:rPr lang="en-GB" altLang="en-US" sz="3600"/>
              <a:t>initial estimates  are scaled downwards.</a:t>
            </a:r>
          </a:p>
          <a:p>
            <a:pPr>
              <a:spcBef>
                <a:spcPts val="613"/>
              </a:spcBef>
            </a:pPr>
            <a:r>
              <a:rPr lang="en-GB" altLang="en-US" sz="4000"/>
              <a:t>If there are stringent reliability requirements on the product :</a:t>
            </a:r>
          </a:p>
          <a:p>
            <a:pPr lvl="1">
              <a:spcBef>
                <a:spcPts val="525"/>
              </a:spcBef>
            </a:pPr>
            <a:r>
              <a:rPr lang="en-GB" altLang="en-US" sz="3600"/>
              <a:t>initial estimate is scaled upwards. </a:t>
            </a:r>
          </a:p>
        </p:txBody>
      </p:sp>
    </p:spTree>
    <p:extLst>
      <p:ext uri="{BB962C8B-B14F-4D97-AF65-F5344CB8AC3E}">
        <p14:creationId xmlns:p14="http://schemas.microsoft.com/office/powerpoint/2010/main" val="111818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1429-99EE-4F58-B01F-474DCB05ED87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4812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Intermediate COCOMO</a:t>
            </a:r>
            <a:r>
              <a:rPr lang="en-GB" altLang="en-US" sz="1600" dirty="0"/>
              <a:t> (CONT.)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altLang="en-US" sz="4400" dirty="0"/>
              <a:t>Rate different parameters on a scale of one to three: </a:t>
            </a:r>
          </a:p>
          <a:p>
            <a:pPr lvl="1">
              <a:spcBef>
                <a:spcPts val="713"/>
              </a:spcBef>
            </a:pPr>
            <a:r>
              <a:rPr lang="en-GB" altLang="en-US" sz="4000" dirty="0"/>
              <a:t>Depending on these ratings, </a:t>
            </a:r>
          </a:p>
          <a:p>
            <a:pPr lvl="2">
              <a:spcBef>
                <a:spcPts val="613"/>
              </a:spcBef>
            </a:pPr>
            <a:r>
              <a:rPr lang="en-GB" altLang="en-US" sz="3600" dirty="0"/>
              <a:t>multiply cost driver values with the estimate obtained using the basic COCOMO.</a:t>
            </a:r>
          </a:p>
        </p:txBody>
      </p:sp>
    </p:spTree>
    <p:extLst>
      <p:ext uri="{BB962C8B-B14F-4D97-AF65-F5344CB8AC3E}">
        <p14:creationId xmlns:p14="http://schemas.microsoft.com/office/powerpoint/2010/main" val="192871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F304-13C0-45E9-8B4E-D2C9EE138278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4915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altLang="en-US" sz="4400" dirty="0"/>
              <a:t>Intermediate COCOMO</a:t>
            </a:r>
            <a:r>
              <a:rPr lang="en-GB" altLang="en-US" sz="1600" dirty="0"/>
              <a:t> (CONT.)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dirty="0"/>
              <a:t>Cost driver classes: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Product:</a:t>
            </a:r>
            <a:r>
              <a:rPr lang="en-GB" altLang="en-US" dirty="0"/>
              <a:t> Inherent complexity of the product, reliability requirements of the product, etc.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Computer:</a:t>
            </a:r>
            <a:r>
              <a:rPr lang="en-GB" altLang="en-US" dirty="0"/>
              <a:t> Execution time, storage requirements, etc.      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Personnel:</a:t>
            </a:r>
            <a:r>
              <a:rPr lang="en-GB" altLang="en-US" dirty="0"/>
              <a:t> Experience of personnel, etc.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Development Environment:</a:t>
            </a:r>
            <a:r>
              <a:rPr lang="en-GB" altLang="en-US" dirty="0"/>
              <a:t> Sophistication of the tools used for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79859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COCOMO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300"/>
              </a:spcBef>
            </a:pPr>
            <a:r>
              <a:rPr lang="en-US" altLang="en-US" dirty="0"/>
              <a:t>COCOMO II is actually a hierarchy of estimation models that address the following areas</a:t>
            </a:r>
            <a:r>
              <a:rPr lang="en-US" altLang="en-US" dirty="0" smtClean="0"/>
              <a:t>:</a:t>
            </a:r>
          </a:p>
          <a:p>
            <a:pPr lvl="1">
              <a:spcBef>
                <a:spcPts val="300"/>
              </a:spcBef>
            </a:pPr>
            <a:r>
              <a:rPr lang="en-US" altLang="en-US" sz="2400" b="1" i="1" dirty="0" smtClean="0"/>
              <a:t>Application </a:t>
            </a:r>
            <a:r>
              <a:rPr lang="en-US" altLang="en-US" sz="2400" b="1" i="1" dirty="0"/>
              <a:t>composition model</a:t>
            </a:r>
            <a:r>
              <a:rPr lang="en-US" altLang="en-US" sz="2400" i="1" dirty="0"/>
              <a:t>. </a:t>
            </a:r>
            <a:r>
              <a:rPr lang="en-US" altLang="en-US" sz="2400" dirty="0"/>
              <a:t>Used during the early stages of software engineering, when prototyping of user interfaces, consideration of software and system interaction, assessment of performance, and evaluation of technology maturity are paramount</a:t>
            </a:r>
            <a:r>
              <a:rPr lang="en-US" altLang="en-US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en-US" altLang="en-US" sz="2400" b="1" i="1" dirty="0" smtClean="0"/>
              <a:t>Early </a:t>
            </a:r>
            <a:r>
              <a:rPr lang="en-US" altLang="en-US" sz="2400" b="1" i="1" dirty="0"/>
              <a:t>design stage model</a:t>
            </a:r>
            <a:r>
              <a:rPr lang="en-US" altLang="en-US" sz="2400" i="1" dirty="0"/>
              <a:t>.</a:t>
            </a:r>
            <a:r>
              <a:rPr lang="en-US" altLang="en-US" sz="2400" dirty="0"/>
              <a:t> Used once requirements have been stabilized and basic software architecture has been established</a:t>
            </a:r>
            <a:r>
              <a:rPr lang="en-US" altLang="en-US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en-US" altLang="en-US" sz="2400" b="1" i="1" dirty="0" smtClean="0"/>
              <a:t>Post-architecture-stage </a:t>
            </a:r>
            <a:r>
              <a:rPr lang="en-US" altLang="en-US" sz="2400" b="1" i="1" dirty="0"/>
              <a:t>model</a:t>
            </a:r>
            <a:r>
              <a:rPr lang="en-US" altLang="en-US" sz="2400" i="1" dirty="0"/>
              <a:t>.</a:t>
            </a:r>
            <a:r>
              <a:rPr lang="en-US" altLang="en-US" sz="2400" dirty="0"/>
              <a:t> Used during the construction of the software</a:t>
            </a:r>
            <a:r>
              <a:rPr lang="en-US" altLang="en-US" sz="1800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804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Composition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Based on counting the number of screens, reports and 3GL components</a:t>
            </a:r>
          </a:p>
          <a:p>
            <a:r>
              <a:rPr lang="en-US" dirty="0" smtClean="0"/>
              <a:t>Each of these components are objects.</a:t>
            </a:r>
          </a:p>
        </p:txBody>
      </p:sp>
    </p:spTree>
    <p:extLst>
      <p:ext uri="{BB962C8B-B14F-4D97-AF65-F5344CB8AC3E}">
        <p14:creationId xmlns:p14="http://schemas.microsoft.com/office/powerpoint/2010/main" val="132937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92088"/>
          </a:xfrm>
        </p:spPr>
        <p:txBody>
          <a:bodyPr>
            <a:normAutofit/>
          </a:bodyPr>
          <a:lstStyle/>
          <a:p>
            <a:r>
              <a:rPr lang="en-US" dirty="0"/>
              <a:t>Effort estimation </a:t>
            </a:r>
            <a:r>
              <a:rPr lang="en-US" dirty="0" smtClean="0"/>
              <a:t>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Estimate </a:t>
            </a:r>
            <a:r>
              <a:rPr lang="en-US" dirty="0"/>
              <a:t>the number of screens, reports, and 3GL components from analysis of SRS document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Determine complexity level of each screen and report and rate these as simple, medium or difficult.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	Screen complexity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	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	Report complexity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476280"/>
              </p:ext>
            </p:extLst>
          </p:nvPr>
        </p:nvGraphicFramePr>
        <p:xfrm>
          <a:off x="1475656" y="3140968"/>
          <a:ext cx="6840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190"/>
                <a:gridCol w="1710190"/>
                <a:gridCol w="1710190"/>
                <a:gridCol w="1710190"/>
              </a:tblGrid>
              <a:tr h="14973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 of views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Table&lt;4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Table&lt;8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Table&gt;=8</a:t>
                      </a:r>
                      <a:endParaRPr lang="en-IN" dirty="0"/>
                    </a:p>
                  </a:txBody>
                  <a:tcPr/>
                </a:tc>
              </a:tr>
              <a:tr h="2340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IN" dirty="0"/>
                    </a:p>
                  </a:txBody>
                  <a:tcPr/>
                </a:tc>
              </a:tr>
              <a:tr h="2340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3-7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</a:tr>
              <a:tr h="2340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&gt;8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595260"/>
              </p:ext>
            </p:extLst>
          </p:nvPr>
        </p:nvGraphicFramePr>
        <p:xfrm>
          <a:off x="1475656" y="5157192"/>
          <a:ext cx="6912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1728192"/>
                <a:gridCol w="1728192"/>
                <a:gridCol w="17281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sections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Table&lt;4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Table&lt;8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Table&gt;=8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or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or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or more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71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dirty="0"/>
              <a:t>Effort estimation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Use the weight values</a:t>
            </a:r>
          </a:p>
          <a:p>
            <a:pPr marL="514350" indent="-514350">
              <a:buFont typeface="+mj-lt"/>
              <a:buAutoNum type="arabicPeriod" startAt="3"/>
            </a:pPr>
            <a:endParaRPr lang="en-US" dirty="0" smtClean="0"/>
          </a:p>
          <a:p>
            <a:pPr marL="514350" indent="-514350">
              <a:buFont typeface="+mj-lt"/>
              <a:buAutoNum type="arabicPeriod" startAt="3"/>
            </a:pPr>
            <a:endParaRPr lang="en-US" dirty="0" smtClean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 smtClean="0"/>
          </a:p>
          <a:p>
            <a:pPr marL="514350" indent="-514350">
              <a:buFont typeface="+mj-lt"/>
              <a:buAutoNum type="arabicPeriod" startAt="3"/>
            </a:pPr>
            <a:endParaRPr lang="en-US" dirty="0" smtClean="0"/>
          </a:p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Determine the number of objects points( Add all the assigned complexity values for the object instances together)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Estimate percentage reuse expected in the system. Then evaluate New Object Point (NOP)</a:t>
            </a:r>
          </a:p>
          <a:p>
            <a:pPr marL="400050" lvl="1" indent="0">
              <a:buNone/>
            </a:pPr>
            <a:r>
              <a:rPr lang="en-US" dirty="0" smtClean="0"/>
              <a:t>NOP= (Object Points)(100 - % of reuse)/100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Determine Productivity rate using the following table</a:t>
            </a:r>
          </a:p>
          <a:p>
            <a:pPr marL="0" lvl="1" indent="0">
              <a:buNone/>
            </a:pPr>
            <a:r>
              <a:rPr lang="en-US" dirty="0" smtClean="0"/>
              <a:t>	PROD</a:t>
            </a:r>
            <a:r>
              <a:rPr lang="en-US" dirty="0"/>
              <a:t>= NOP/Person Month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Finally, the person month is computed as E= NOP/PROD</a:t>
            </a:r>
          </a:p>
          <a:p>
            <a:pPr marL="400050" lvl="1" indent="0">
              <a:buNone/>
            </a:pPr>
            <a:endParaRPr lang="en-US" dirty="0" smtClean="0"/>
          </a:p>
          <a:p>
            <a:pPr marL="400050" lvl="1" indent="0">
              <a:buNone/>
            </a:pPr>
            <a:endParaRPr lang="en-US" dirty="0" smtClean="0"/>
          </a:p>
          <a:p>
            <a:pPr marL="400050" lvl="1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 startAt="3"/>
            </a:pPr>
            <a:endParaRPr lang="en-US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169181"/>
              </p:ext>
            </p:extLst>
          </p:nvPr>
        </p:nvGraphicFramePr>
        <p:xfrm>
          <a:off x="1043608" y="1412776"/>
          <a:ext cx="741682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860"/>
                <a:gridCol w="1430552"/>
                <a:gridCol w="1854206"/>
                <a:gridCol w="18542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Simple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Medium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Difficult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Screen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Reports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3GL components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549878"/>
              </p:ext>
            </p:extLst>
          </p:nvPr>
        </p:nvGraphicFramePr>
        <p:xfrm>
          <a:off x="827584" y="5517232"/>
          <a:ext cx="81369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98"/>
                <a:gridCol w="1296144"/>
                <a:gridCol w="972108"/>
                <a:gridCol w="1356150"/>
                <a:gridCol w="1356150"/>
                <a:gridCol w="13561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Developer’s </a:t>
                      </a:r>
                      <a:r>
                        <a:rPr lang="en-US" dirty="0" err="1" smtClean="0"/>
                        <a:t>exp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Nominal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high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CASE maturity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Nominal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high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27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Early Design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Effort = KLOC * ∏</a:t>
            </a:r>
            <a:r>
              <a:rPr lang="en-US" baseline="-25000" dirty="0" smtClean="0"/>
              <a:t>i</a:t>
            </a:r>
            <a:r>
              <a:rPr lang="en-US" dirty="0" smtClean="0"/>
              <a:t> costdriver </a:t>
            </a:r>
            <a:r>
              <a:rPr lang="en-US" baseline="-25000" dirty="0" smtClean="0"/>
              <a:t>i  </a:t>
            </a:r>
            <a:endParaRPr lang="en-IN" baseline="-25000" dirty="0"/>
          </a:p>
          <a:p>
            <a:pPr>
              <a:spcBef>
                <a:spcPts val="613"/>
              </a:spcBef>
            </a:pPr>
            <a:r>
              <a:rPr lang="en-US" baseline="-25000" dirty="0"/>
              <a:t> </a:t>
            </a:r>
            <a:r>
              <a:rPr lang="en-US" dirty="0" smtClean="0"/>
              <a:t> </a:t>
            </a:r>
            <a:r>
              <a:rPr lang="en-GB" altLang="en-US" dirty="0"/>
              <a:t>Cost driver classes: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Product:</a:t>
            </a:r>
            <a:r>
              <a:rPr lang="en-GB" altLang="en-US" dirty="0"/>
              <a:t> Inherent complexity of the product, reliability requirements of the product, etc.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Computer:</a:t>
            </a:r>
            <a:r>
              <a:rPr lang="en-GB" altLang="en-US" dirty="0"/>
              <a:t> Execution time, storage requirements, etc.      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Personnel:</a:t>
            </a:r>
            <a:r>
              <a:rPr lang="en-GB" altLang="en-US" dirty="0"/>
              <a:t> Experience of personnel, etc.</a:t>
            </a:r>
          </a:p>
          <a:p>
            <a:pPr lvl="1">
              <a:spcBef>
                <a:spcPts val="525"/>
              </a:spcBef>
            </a:pPr>
            <a:r>
              <a:rPr lang="en-GB" altLang="en-US" u="sng" dirty="0"/>
              <a:t>Development Environment:</a:t>
            </a:r>
            <a:r>
              <a:rPr lang="en-GB" altLang="en-US" dirty="0"/>
              <a:t> Sophistication of the tools used for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17983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Architectural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Effort = a * KLOC</a:t>
            </a:r>
            <a:r>
              <a:rPr lang="en-US" baseline="30000" dirty="0" smtClean="0"/>
              <a:t>b</a:t>
            </a:r>
            <a:r>
              <a:rPr lang="en-US" dirty="0" smtClean="0"/>
              <a:t> * </a:t>
            </a:r>
            <a:r>
              <a:rPr lang="en-US" dirty="0"/>
              <a:t>∏</a:t>
            </a:r>
            <a:r>
              <a:rPr lang="en-US" baseline="-25000" dirty="0"/>
              <a:t>i</a:t>
            </a:r>
            <a:r>
              <a:rPr lang="en-US" dirty="0"/>
              <a:t> costdriver </a:t>
            </a:r>
            <a:r>
              <a:rPr lang="en-US" baseline="-25000" dirty="0"/>
              <a:t>i</a:t>
            </a:r>
            <a:r>
              <a:rPr lang="en-US" dirty="0" smtClean="0"/>
              <a:t> </a:t>
            </a:r>
            <a:endParaRPr lang="en-US" baseline="30000" dirty="0" smtClean="0"/>
          </a:p>
          <a:p>
            <a:pPr marL="457200" lvl="1" indent="0">
              <a:buNone/>
            </a:pPr>
            <a:endParaRPr lang="en-US" baseline="30000" dirty="0"/>
          </a:p>
          <a:p>
            <a:pPr marL="457200" lvl="1" indent="0">
              <a:buNone/>
            </a:pPr>
            <a:r>
              <a:rPr lang="en-US" baseline="30000" dirty="0" smtClean="0"/>
              <a:t> </a:t>
            </a:r>
            <a:r>
              <a:rPr lang="en-US" dirty="0" smtClean="0"/>
              <a:t> where a=2.5 and b is between 1.01 to 1.26</a:t>
            </a:r>
          </a:p>
          <a:p>
            <a:pPr marL="457200" lvl="1" indent="0">
              <a:buNone/>
            </a:pPr>
            <a:endParaRPr lang="en-IN" baseline="30000" dirty="0"/>
          </a:p>
        </p:txBody>
      </p:sp>
    </p:spTree>
    <p:extLst>
      <p:ext uri="{BB962C8B-B14F-4D97-AF65-F5344CB8AC3E}">
        <p14:creationId xmlns:p14="http://schemas.microsoft.com/office/powerpoint/2010/main" val="195404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5DB7B48A-53BF-4312-B1A3-20B5ECADE9BA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60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5529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333375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 smtClean="0"/>
              <a:t>Staffing Level Estimation</a:t>
            </a: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5000"/>
              </a:lnSpc>
              <a:spcBef>
                <a:spcPts val="300"/>
              </a:spcBef>
            </a:pPr>
            <a:r>
              <a:rPr lang="en-GB" altLang="en-US" sz="3600" dirty="0" smtClean="0"/>
              <a:t>Number of personnel required during any development project: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sz="3200" dirty="0" smtClean="0"/>
              <a:t>not constant.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lang="en-GB" altLang="en-US" sz="3600" dirty="0" err="1" smtClean="0"/>
              <a:t>Norden</a:t>
            </a:r>
            <a:r>
              <a:rPr lang="en-GB" altLang="en-US" sz="3600" dirty="0" smtClean="0"/>
              <a:t> in 1958 </a:t>
            </a:r>
            <a:r>
              <a:rPr lang="en-GB" altLang="en-US" sz="3600" dirty="0" err="1" smtClean="0"/>
              <a:t>analyzed</a:t>
            </a:r>
            <a:r>
              <a:rPr lang="en-GB" altLang="en-US" sz="3600" dirty="0" smtClean="0"/>
              <a:t> many R&amp;D projects, and observed:</a:t>
            </a:r>
          </a:p>
          <a:p>
            <a:pPr lvl="1">
              <a:lnSpc>
                <a:spcPct val="95000"/>
              </a:lnSpc>
              <a:spcBef>
                <a:spcPts val="250"/>
              </a:spcBef>
            </a:pPr>
            <a:r>
              <a:rPr lang="en-GB" altLang="en-US" sz="3200" dirty="0" smtClean="0"/>
              <a:t>Rayleigh curve represents the number of full-time personnel required at any time.</a:t>
            </a:r>
          </a:p>
        </p:txBody>
      </p:sp>
    </p:spTree>
    <p:extLst>
      <p:ext uri="{BB962C8B-B14F-4D97-AF65-F5344CB8AC3E}">
        <p14:creationId xmlns:p14="http://schemas.microsoft.com/office/powerpoint/2010/main" val="258633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7335C772-3A05-4C53-9B33-A1F54B0D8E9D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61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5632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dirty="0" smtClean="0"/>
              <a:t>Rayleigh Curve</a:t>
            </a: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3044825" cy="41719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lnSpcReduction="10000"/>
          </a:bodyPr>
          <a:lstStyle/>
          <a:p>
            <a:pPr>
              <a:spcBef>
                <a:spcPts val="525"/>
              </a:spcBef>
            </a:pPr>
            <a:r>
              <a:rPr lang="en-GB" altLang="en-US" dirty="0" smtClean="0"/>
              <a:t>Rayleigh curve is specified by two parameters:</a:t>
            </a:r>
          </a:p>
          <a:p>
            <a:pPr lvl="1">
              <a:spcBef>
                <a:spcPts val="450"/>
              </a:spcBef>
            </a:pPr>
            <a:r>
              <a:rPr lang="en-GB" altLang="en-US" dirty="0" smtClean="0"/>
              <a:t>td the time at which the curve reaches its maximum </a:t>
            </a:r>
          </a:p>
          <a:p>
            <a:pPr lvl="1">
              <a:spcBef>
                <a:spcPts val="450"/>
              </a:spcBef>
            </a:pPr>
            <a:r>
              <a:rPr lang="en-GB" altLang="en-US" dirty="0" smtClean="0"/>
              <a:t>K the total area under the curve.</a:t>
            </a:r>
          </a:p>
          <a:p>
            <a:pPr>
              <a:spcBef>
                <a:spcPts val="713"/>
              </a:spcBef>
            </a:pPr>
            <a:r>
              <a:rPr lang="en-GB" altLang="en-US" sz="3200" dirty="0" smtClean="0"/>
              <a:t>L=f(K, td)</a:t>
            </a:r>
          </a:p>
        </p:txBody>
      </p:sp>
      <p:sp>
        <p:nvSpPr>
          <p:cNvPr id="56325" name="Line 3"/>
          <p:cNvSpPr>
            <a:spLocks noChangeShapeType="1"/>
          </p:cNvSpPr>
          <p:nvPr/>
        </p:nvSpPr>
        <p:spPr bwMode="auto">
          <a:xfrm>
            <a:off x="3733800" y="1524000"/>
            <a:ext cx="0" cy="32004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26" name="Line 4"/>
          <p:cNvSpPr>
            <a:spLocks noChangeShapeType="1"/>
          </p:cNvSpPr>
          <p:nvPr/>
        </p:nvSpPr>
        <p:spPr bwMode="auto">
          <a:xfrm>
            <a:off x="3733800" y="4724400"/>
            <a:ext cx="41910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27" name="Freeform 5"/>
          <p:cNvSpPr>
            <a:spLocks noChangeArrowheads="1"/>
          </p:cNvSpPr>
          <p:nvPr/>
        </p:nvSpPr>
        <p:spPr bwMode="auto">
          <a:xfrm>
            <a:off x="3733800" y="2565400"/>
            <a:ext cx="4035425" cy="2155825"/>
          </a:xfrm>
          <a:custGeom>
            <a:avLst/>
            <a:gdLst>
              <a:gd name="T0" fmla="*/ 0 w 11215"/>
              <a:gd name="T1" fmla="*/ 2155465 h 5994"/>
              <a:gd name="T2" fmla="*/ 228128 w 11215"/>
              <a:gd name="T3" fmla="*/ 2079576 h 5994"/>
              <a:gd name="T4" fmla="*/ 456617 w 11215"/>
              <a:gd name="T5" fmla="*/ 1851549 h 5994"/>
              <a:gd name="T6" fmla="*/ 989876 w 11215"/>
              <a:gd name="T7" fmla="*/ 1242639 h 5994"/>
              <a:gd name="T8" fmla="*/ 1293927 w 11215"/>
              <a:gd name="T9" fmla="*/ 634087 h 5994"/>
              <a:gd name="T10" fmla="*/ 1522415 w 11215"/>
              <a:gd name="T11" fmla="*/ 177314 h 5994"/>
              <a:gd name="T12" fmla="*/ 1750903 w 11215"/>
              <a:gd name="T13" fmla="*/ 25176 h 5994"/>
              <a:gd name="T14" fmla="*/ 1979391 w 11215"/>
              <a:gd name="T15" fmla="*/ 25176 h 5994"/>
              <a:gd name="T16" fmla="*/ 2131957 w 11215"/>
              <a:gd name="T17" fmla="*/ 101066 h 5994"/>
              <a:gd name="T18" fmla="*/ 2512650 w 11215"/>
              <a:gd name="T19" fmla="*/ 481950 h 5994"/>
              <a:gd name="T20" fmla="*/ 2588933 w 11215"/>
              <a:gd name="T21" fmla="*/ 557839 h 5994"/>
              <a:gd name="T22" fmla="*/ 3197755 w 11215"/>
              <a:gd name="T23" fmla="*/ 1166749 h 5994"/>
              <a:gd name="T24" fmla="*/ 3882860 w 11215"/>
              <a:gd name="T25" fmla="*/ 1775301 h 5994"/>
              <a:gd name="T26" fmla="*/ 4035065 w 11215"/>
              <a:gd name="T27" fmla="*/ 1851549 h 599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1215" h="5994">
                <a:moveTo>
                  <a:pt x="0" y="5993"/>
                </a:moveTo>
                <a:cubicBezTo>
                  <a:pt x="211" y="5958"/>
                  <a:pt x="422" y="5923"/>
                  <a:pt x="634" y="5782"/>
                </a:cubicBezTo>
                <a:cubicBezTo>
                  <a:pt x="846" y="5640"/>
                  <a:pt x="916" y="5535"/>
                  <a:pt x="1269" y="5148"/>
                </a:cubicBezTo>
                <a:cubicBezTo>
                  <a:pt x="1622" y="4760"/>
                  <a:pt x="2363" y="4019"/>
                  <a:pt x="2751" y="3455"/>
                </a:cubicBezTo>
                <a:cubicBezTo>
                  <a:pt x="3139" y="2891"/>
                  <a:pt x="3350" y="2256"/>
                  <a:pt x="3596" y="1763"/>
                </a:cubicBezTo>
                <a:cubicBezTo>
                  <a:pt x="3843" y="1269"/>
                  <a:pt x="4020" y="775"/>
                  <a:pt x="4231" y="493"/>
                </a:cubicBezTo>
                <a:cubicBezTo>
                  <a:pt x="4443" y="211"/>
                  <a:pt x="4655" y="140"/>
                  <a:pt x="4866" y="70"/>
                </a:cubicBezTo>
                <a:cubicBezTo>
                  <a:pt x="5078" y="0"/>
                  <a:pt x="5325" y="34"/>
                  <a:pt x="5501" y="70"/>
                </a:cubicBezTo>
                <a:cubicBezTo>
                  <a:pt x="5678" y="105"/>
                  <a:pt x="5678" y="70"/>
                  <a:pt x="5925" y="281"/>
                </a:cubicBezTo>
                <a:cubicBezTo>
                  <a:pt x="6172" y="493"/>
                  <a:pt x="6771" y="1128"/>
                  <a:pt x="6983" y="1340"/>
                </a:cubicBezTo>
                <a:cubicBezTo>
                  <a:pt x="7195" y="1551"/>
                  <a:pt x="6876" y="1234"/>
                  <a:pt x="7195" y="1551"/>
                </a:cubicBezTo>
                <a:cubicBezTo>
                  <a:pt x="7511" y="1868"/>
                  <a:pt x="8287" y="2679"/>
                  <a:pt x="8887" y="3244"/>
                </a:cubicBezTo>
                <a:cubicBezTo>
                  <a:pt x="9487" y="3807"/>
                  <a:pt x="10404" y="4618"/>
                  <a:pt x="10791" y="4936"/>
                </a:cubicBezTo>
                <a:cubicBezTo>
                  <a:pt x="11179" y="5253"/>
                  <a:pt x="11197" y="5200"/>
                  <a:pt x="11214" y="5148"/>
                </a:cubicBezTo>
              </a:path>
            </a:pathLst>
          </a:custGeom>
          <a:noFill/>
          <a:ln w="5724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28" name="Text Box 6"/>
          <p:cNvSpPr txBox="1">
            <a:spLocks noChangeArrowheads="1"/>
          </p:cNvSpPr>
          <p:nvPr/>
        </p:nvSpPr>
        <p:spPr bwMode="auto">
          <a:xfrm>
            <a:off x="3739703" y="2900363"/>
            <a:ext cx="9763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8636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>
              <a:lnSpc>
                <a:spcPct val="72000"/>
              </a:lnSpc>
              <a:spcBef>
                <a:spcPts val="538"/>
              </a:spcBef>
            </a:pPr>
            <a:r>
              <a:rPr lang="en-GB" altLang="en-US" b="1" dirty="0">
                <a:solidFill>
                  <a:srgbClr val="0000FF"/>
                </a:solidFill>
              </a:rPr>
              <a:t>Effort</a:t>
            </a:r>
          </a:p>
        </p:txBody>
      </p:sp>
      <p:sp>
        <p:nvSpPr>
          <p:cNvPr id="56329" name="Text Box 7"/>
          <p:cNvSpPr txBox="1">
            <a:spLocks noChangeArrowheads="1"/>
          </p:cNvSpPr>
          <p:nvPr/>
        </p:nvSpPr>
        <p:spPr bwMode="auto">
          <a:xfrm>
            <a:off x="4953000" y="4847183"/>
            <a:ext cx="18256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1728788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>
              <a:lnSpc>
                <a:spcPct val="72000"/>
              </a:lnSpc>
              <a:spcBef>
                <a:spcPts val="1363"/>
              </a:spcBef>
            </a:pPr>
            <a:r>
              <a:rPr lang="en-GB" altLang="en-US" b="1" dirty="0">
                <a:solidFill>
                  <a:srgbClr val="0000FF"/>
                </a:solidFill>
              </a:rPr>
              <a:t>Time</a:t>
            </a:r>
          </a:p>
        </p:txBody>
      </p:sp>
      <p:sp>
        <p:nvSpPr>
          <p:cNvPr id="56330" name="Line 8"/>
          <p:cNvSpPr>
            <a:spLocks noChangeShapeType="1"/>
          </p:cNvSpPr>
          <p:nvPr/>
        </p:nvSpPr>
        <p:spPr bwMode="auto">
          <a:xfrm>
            <a:off x="5562600" y="2590800"/>
            <a:ext cx="0" cy="2133600"/>
          </a:xfrm>
          <a:prstGeom prst="line">
            <a:avLst/>
          </a:prstGeom>
          <a:noFill/>
          <a:ln w="38160" cap="rnd">
            <a:solidFill>
              <a:srgbClr val="0033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1" name="Text Box 9"/>
          <p:cNvSpPr txBox="1">
            <a:spLocks noChangeArrowheads="1"/>
          </p:cNvSpPr>
          <p:nvPr/>
        </p:nvSpPr>
        <p:spPr bwMode="auto">
          <a:xfrm>
            <a:off x="5486400" y="4343400"/>
            <a:ext cx="5302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altLang="en-US" sz="2000" b="1"/>
              <a:t>td</a:t>
            </a:r>
          </a:p>
        </p:txBody>
      </p:sp>
      <p:sp>
        <p:nvSpPr>
          <p:cNvPr id="56332" name="Text Box 10"/>
          <p:cNvSpPr txBox="1">
            <a:spLocks noChangeArrowheads="1"/>
          </p:cNvSpPr>
          <p:nvPr/>
        </p:nvSpPr>
        <p:spPr bwMode="auto">
          <a:xfrm>
            <a:off x="4876800" y="2057400"/>
            <a:ext cx="3197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>
              <a:lnSpc>
                <a:spcPct val="72000"/>
              </a:lnSpc>
              <a:spcBef>
                <a:spcPts val="1363"/>
              </a:spcBef>
            </a:pPr>
            <a:r>
              <a:rPr lang="en-GB" altLang="en-US" b="1">
                <a:solidFill>
                  <a:srgbClr val="800000"/>
                </a:solidFill>
              </a:rPr>
              <a:t>Rayleigh</a:t>
            </a:r>
            <a:r>
              <a:rPr lang="en-GB" altLang="en-US" sz="1800" b="1">
                <a:solidFill>
                  <a:srgbClr val="800000"/>
                </a:solidFill>
              </a:rPr>
              <a:t> </a:t>
            </a:r>
            <a:r>
              <a:rPr lang="en-GB" altLang="en-US" b="1">
                <a:solidFill>
                  <a:srgbClr val="800000"/>
                </a:solidFill>
              </a:rPr>
              <a:t>Curve</a:t>
            </a:r>
          </a:p>
        </p:txBody>
      </p:sp>
    </p:spTree>
    <p:extLst>
      <p:ext uri="{BB962C8B-B14F-4D97-AF65-F5344CB8AC3E}">
        <p14:creationId xmlns:p14="http://schemas.microsoft.com/office/powerpoint/2010/main" val="8631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1B3E778C-A0FD-4BA8-80B8-CD562E211B05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62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5734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dirty="0" smtClean="0"/>
              <a:t>Putnam’s Work:</a:t>
            </a: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dirty="0" smtClean="0"/>
              <a:t>In 1976, Putnam studied the problem of staffing of software projects:</a:t>
            </a:r>
          </a:p>
          <a:p>
            <a:pPr lvl="1">
              <a:spcBef>
                <a:spcPts val="713"/>
              </a:spcBef>
            </a:pPr>
            <a:r>
              <a:rPr lang="en-GB" altLang="en-US" dirty="0" smtClean="0"/>
              <a:t>observed that the level of effort required in software development efforts has a similar envelope.</a:t>
            </a:r>
          </a:p>
          <a:p>
            <a:pPr lvl="1">
              <a:spcBef>
                <a:spcPts val="713"/>
              </a:spcBef>
            </a:pPr>
            <a:r>
              <a:rPr lang="en-GB" altLang="en-US" dirty="0" smtClean="0"/>
              <a:t>found that the Rayleigh-</a:t>
            </a:r>
            <a:r>
              <a:rPr lang="en-GB" altLang="en-US" dirty="0" err="1" smtClean="0"/>
              <a:t>Norden</a:t>
            </a:r>
            <a:r>
              <a:rPr lang="en-GB" altLang="en-US" dirty="0" smtClean="0"/>
              <a:t> curve </a:t>
            </a:r>
          </a:p>
          <a:p>
            <a:pPr lvl="2">
              <a:spcBef>
                <a:spcPts val="613"/>
              </a:spcBef>
            </a:pPr>
            <a:r>
              <a:rPr lang="en-GB" altLang="en-US" dirty="0" smtClean="0"/>
              <a:t>relates the number of delivered lines of code to effort and development time.</a:t>
            </a:r>
          </a:p>
        </p:txBody>
      </p:sp>
    </p:spTree>
    <p:extLst>
      <p:ext uri="{BB962C8B-B14F-4D97-AF65-F5344CB8AC3E}">
        <p14:creationId xmlns:p14="http://schemas.microsoft.com/office/powerpoint/2010/main" val="318903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4E348D8C-4A73-4505-87D9-B7D0BEBF55D5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63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5837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 smtClean="0"/>
              <a:t>Putnam’s Work</a:t>
            </a:r>
            <a:r>
              <a:rPr lang="en-GB" altLang="en-US" sz="1400" dirty="0" smtClean="0"/>
              <a:t> (CONT.)</a:t>
            </a:r>
            <a:r>
              <a:rPr lang="en-GB" altLang="en-US" dirty="0" smtClean="0"/>
              <a:t>:</a:t>
            </a: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5625" cy="44227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lnSpc>
                <a:spcPct val="90000"/>
              </a:lnSpc>
              <a:spcBef>
                <a:spcPts val="488"/>
              </a:spcBef>
            </a:pPr>
            <a:r>
              <a:rPr lang="en-GB" altLang="en-US" sz="3600" dirty="0" smtClean="0"/>
              <a:t>Putnam </a:t>
            </a:r>
            <a:r>
              <a:rPr lang="en-GB" altLang="en-US" sz="3600" dirty="0" err="1" smtClean="0"/>
              <a:t>analyzed</a:t>
            </a:r>
            <a:r>
              <a:rPr lang="en-GB" altLang="en-US" sz="3600" dirty="0" smtClean="0"/>
              <a:t> a large number of army projects, and derived the expression:</a:t>
            </a:r>
            <a:br>
              <a:rPr lang="en-GB" altLang="en-US" sz="3600" dirty="0" smtClean="0"/>
            </a:br>
            <a:r>
              <a:rPr lang="en-GB" altLang="en-US" sz="3600" b="1" dirty="0" smtClean="0"/>
              <a:t>     </a:t>
            </a:r>
            <a:r>
              <a:rPr lang="en-GB" altLang="en-US" sz="3600" b="1" dirty="0" smtClean="0"/>
              <a:t>L=</a:t>
            </a:r>
            <a:r>
              <a:rPr lang="en-GB" altLang="en-US" sz="3600" b="1" dirty="0" err="1" smtClean="0"/>
              <a:t>Ck</a:t>
            </a:r>
            <a:r>
              <a:rPr lang="en-GB" altLang="en-US" sz="3600" b="1" dirty="0" smtClean="0"/>
              <a:t>*K</a:t>
            </a:r>
            <a:r>
              <a:rPr lang="en-GB" altLang="en-US" sz="3600" b="1" baseline="30000" dirty="0" smtClean="0"/>
              <a:t>1/3</a:t>
            </a:r>
            <a:r>
              <a:rPr lang="en-GB" altLang="en-US" sz="3600" b="1" dirty="0" smtClean="0"/>
              <a:t> * td</a:t>
            </a:r>
            <a:r>
              <a:rPr lang="en-GB" altLang="en-US" sz="3600" b="1" baseline="30000" dirty="0" smtClean="0"/>
              <a:t>4/3</a:t>
            </a:r>
            <a:endParaRPr lang="en-GB" altLang="en-US" sz="3600" b="1" baseline="30000" dirty="0" smtClean="0"/>
          </a:p>
          <a:p>
            <a:pPr lvl="1">
              <a:lnSpc>
                <a:spcPct val="90000"/>
              </a:lnSpc>
              <a:spcBef>
                <a:spcPts val="350"/>
              </a:spcBef>
            </a:pPr>
            <a:r>
              <a:rPr lang="en-GB" altLang="en-US" sz="3200" dirty="0" smtClean="0"/>
              <a:t>K is the effort expended  and L is the size in KLOC.</a:t>
            </a:r>
          </a:p>
          <a:p>
            <a:pPr lvl="1">
              <a:lnSpc>
                <a:spcPct val="90000"/>
              </a:lnSpc>
              <a:spcBef>
                <a:spcPts val="425"/>
              </a:spcBef>
            </a:pPr>
            <a:r>
              <a:rPr lang="en-GB" altLang="en-US" sz="3200" dirty="0" smtClean="0"/>
              <a:t>td is the time to develop the software.</a:t>
            </a:r>
          </a:p>
          <a:p>
            <a:pPr lvl="1">
              <a:lnSpc>
                <a:spcPct val="90000"/>
              </a:lnSpc>
              <a:spcBef>
                <a:spcPts val="425"/>
              </a:spcBef>
            </a:pPr>
            <a:r>
              <a:rPr lang="en-GB" altLang="en-US" sz="3200" dirty="0" err="1" smtClean="0"/>
              <a:t>Ck</a:t>
            </a:r>
            <a:r>
              <a:rPr lang="en-GB" altLang="en-US" sz="3200" dirty="0" smtClean="0"/>
              <a:t> is the state of technology constant</a:t>
            </a:r>
          </a:p>
          <a:p>
            <a:pPr lvl="2">
              <a:lnSpc>
                <a:spcPct val="90000"/>
              </a:lnSpc>
              <a:spcBef>
                <a:spcPts val="300"/>
              </a:spcBef>
            </a:pPr>
            <a:r>
              <a:rPr lang="en-GB" altLang="en-US" sz="2800" dirty="0" smtClean="0"/>
              <a:t>reflects factors that affect programmer productivity. </a:t>
            </a:r>
          </a:p>
        </p:txBody>
      </p:sp>
    </p:spTree>
    <p:extLst>
      <p:ext uri="{BB962C8B-B14F-4D97-AF65-F5344CB8AC3E}">
        <p14:creationId xmlns:p14="http://schemas.microsoft.com/office/powerpoint/2010/main" val="383736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802BDE7E-D743-47B0-8CBB-0D5414806907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64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5939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 smtClean="0"/>
              <a:t>Putnam’s Work</a:t>
            </a:r>
            <a:r>
              <a:rPr lang="en-GB" altLang="en-US" sz="1400" dirty="0" smtClean="0"/>
              <a:t> (CONT.)</a:t>
            </a:r>
            <a:r>
              <a:rPr lang="en-GB" altLang="en-US" dirty="0" smtClean="0"/>
              <a:t>: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750"/>
              </a:spcBef>
            </a:pPr>
            <a:r>
              <a:rPr lang="en-GB" altLang="en-US" dirty="0" err="1" smtClean="0"/>
              <a:t>Ck</a:t>
            </a:r>
            <a:r>
              <a:rPr lang="en-GB" altLang="en-US" dirty="0" smtClean="0"/>
              <a:t>=2 for poor development environment </a:t>
            </a:r>
          </a:p>
          <a:p>
            <a:pPr lvl="1">
              <a:spcBef>
                <a:spcPts val="525"/>
              </a:spcBef>
            </a:pPr>
            <a:r>
              <a:rPr lang="en-GB" altLang="en-US" dirty="0" smtClean="0"/>
              <a:t>no methodology, poor documentation, and review, etc.</a:t>
            </a:r>
          </a:p>
          <a:p>
            <a:pPr>
              <a:spcBef>
                <a:spcPts val="750"/>
              </a:spcBef>
            </a:pPr>
            <a:r>
              <a:rPr lang="en-GB" altLang="en-US" dirty="0" err="1" smtClean="0"/>
              <a:t>Ck</a:t>
            </a:r>
            <a:r>
              <a:rPr lang="en-GB" altLang="en-US" dirty="0" smtClean="0"/>
              <a:t>=8 for good software development environment </a:t>
            </a:r>
          </a:p>
          <a:p>
            <a:pPr lvl="1">
              <a:spcBef>
                <a:spcPts val="525"/>
              </a:spcBef>
            </a:pPr>
            <a:r>
              <a:rPr lang="en-GB" altLang="en-US" dirty="0" smtClean="0"/>
              <a:t>software engineering principles used </a:t>
            </a:r>
          </a:p>
          <a:p>
            <a:pPr>
              <a:spcBef>
                <a:spcPts val="750"/>
              </a:spcBef>
            </a:pPr>
            <a:r>
              <a:rPr lang="en-GB" altLang="en-US" dirty="0" err="1" smtClean="0"/>
              <a:t>Ck</a:t>
            </a:r>
            <a:r>
              <a:rPr lang="en-GB" altLang="en-US" dirty="0" smtClean="0"/>
              <a:t>=11 for an excellent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408552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2CDA1A69-1E95-4290-B131-04B0005B85C4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65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041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dirty="0" smtClean="0"/>
              <a:t>Rayleigh Curve</a:t>
            </a: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</a:pPr>
            <a:r>
              <a:rPr lang="en-GB" altLang="en-US" sz="3600" smtClean="0"/>
              <a:t>Very small number of engineers are needed at the beginning of a project</a:t>
            </a:r>
          </a:p>
          <a:p>
            <a:pPr lvl="1">
              <a:spcBef>
                <a:spcPts val="525"/>
              </a:spcBef>
            </a:pPr>
            <a:r>
              <a:rPr lang="en-GB" altLang="en-US" sz="3200" smtClean="0"/>
              <a:t> carry out planning and specification. </a:t>
            </a:r>
          </a:p>
          <a:p>
            <a:pPr>
              <a:spcBef>
                <a:spcPts val="613"/>
              </a:spcBef>
            </a:pPr>
            <a:r>
              <a:rPr lang="en-GB" altLang="en-US" sz="3600" smtClean="0"/>
              <a:t>As the project progresses:</a:t>
            </a:r>
          </a:p>
          <a:p>
            <a:pPr lvl="1">
              <a:spcBef>
                <a:spcPts val="525"/>
              </a:spcBef>
            </a:pPr>
            <a:r>
              <a:rPr lang="en-GB" altLang="en-US" sz="3200" smtClean="0"/>
              <a:t>more detailed work is required, </a:t>
            </a:r>
          </a:p>
          <a:p>
            <a:pPr lvl="1">
              <a:spcBef>
                <a:spcPts val="525"/>
              </a:spcBef>
            </a:pPr>
            <a:r>
              <a:rPr lang="en-GB" altLang="en-US" sz="3200" smtClean="0"/>
              <a:t>number of engineers slowly increases and reaches a peak. </a:t>
            </a:r>
          </a:p>
        </p:txBody>
      </p:sp>
    </p:spTree>
    <p:extLst>
      <p:ext uri="{BB962C8B-B14F-4D97-AF65-F5344CB8AC3E}">
        <p14:creationId xmlns:p14="http://schemas.microsoft.com/office/powerpoint/2010/main" val="101867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625AA554-B3B1-40C0-B9BE-3F935EFCEC4E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66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144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dirty="0" smtClean="0"/>
              <a:t>Rayleigh Curve</a:t>
            </a: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3600" dirty="0" smtClean="0"/>
              <a:t>Putnam observed that: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 smtClean="0"/>
              <a:t>the time at which the Rayleigh curve reaches its maximum value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 smtClean="0"/>
              <a:t>corresponds to system testing and product release.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 smtClean="0"/>
              <a:t>After system testing,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 smtClean="0"/>
              <a:t>the number of project staff falls till product installation and delivery.</a:t>
            </a:r>
          </a:p>
        </p:txBody>
      </p:sp>
    </p:spTree>
    <p:extLst>
      <p:ext uri="{BB962C8B-B14F-4D97-AF65-F5344CB8AC3E}">
        <p14:creationId xmlns:p14="http://schemas.microsoft.com/office/powerpoint/2010/main" val="295531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F2909BAC-D73E-4744-B02D-0484C8A93F10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67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246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dirty="0" smtClean="0"/>
              <a:t>Rayleigh Curve</a:t>
            </a: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4000" smtClean="0"/>
              <a:t>From the Rayleigh curve  observe that:</a:t>
            </a:r>
          </a:p>
          <a:p>
            <a:pPr lvl="1">
              <a:spcBef>
                <a:spcPts val="875"/>
              </a:spcBef>
            </a:pPr>
            <a:r>
              <a:rPr lang="en-GB" altLang="en-US" sz="3600" smtClean="0"/>
              <a:t>approximately 40% of the area under the Rayleigh curve is to the left of td </a:t>
            </a:r>
          </a:p>
          <a:p>
            <a:pPr lvl="1">
              <a:spcBef>
                <a:spcPts val="713"/>
              </a:spcBef>
            </a:pPr>
            <a:r>
              <a:rPr lang="en-GB" altLang="en-US" sz="3600" smtClean="0"/>
              <a:t>and 60% to the right. </a:t>
            </a:r>
          </a:p>
        </p:txBody>
      </p:sp>
    </p:spTree>
    <p:extLst>
      <p:ext uri="{BB962C8B-B14F-4D97-AF65-F5344CB8AC3E}">
        <p14:creationId xmlns:p14="http://schemas.microsoft.com/office/powerpoint/2010/main" val="213924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4B83883E-7F19-4EDC-9C63-6D1DFCD586EA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68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349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314325"/>
            <a:ext cx="7769225" cy="14065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dirty="0" smtClean="0"/>
              <a:t>Effect of Schedule Change on Cost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13"/>
              </a:spcBef>
              <a:defRPr/>
            </a:pPr>
            <a:r>
              <a:rPr lang="en-GB" altLang="en-US" sz="3600" dirty="0" smtClean="0"/>
              <a:t>Using the Putnam's expression for L,</a:t>
            </a:r>
            <a:br>
              <a:rPr lang="en-GB" altLang="en-US" sz="3600" dirty="0" smtClean="0"/>
            </a:br>
            <a:r>
              <a:rPr lang="en-GB" altLang="en-US" sz="3600" dirty="0" smtClean="0"/>
              <a:t>		K=L</a:t>
            </a:r>
            <a:r>
              <a:rPr lang="en-GB" altLang="en-US" sz="3600" baseline="30000" dirty="0" smtClean="0"/>
              <a:t>3</a:t>
            </a:r>
            <a:r>
              <a:rPr lang="en-GB" altLang="en-US" sz="3600" dirty="0" smtClean="0"/>
              <a:t>/Ck</a:t>
            </a:r>
            <a:r>
              <a:rPr lang="en-GB" altLang="en-US" sz="3600" baseline="30000" dirty="0" smtClean="0"/>
              <a:t>3</a:t>
            </a:r>
            <a:r>
              <a:rPr lang="en-GB" altLang="en-US" sz="3600" dirty="0" smtClean="0"/>
              <a:t>td</a:t>
            </a:r>
            <a:r>
              <a:rPr lang="en-GB" altLang="en-US" sz="3600" baseline="30000" dirty="0" smtClean="0"/>
              <a:t>4</a:t>
            </a:r>
            <a:r>
              <a:rPr lang="en-GB" altLang="en-US" sz="3600" dirty="0" smtClean="0"/>
              <a:t> </a:t>
            </a:r>
            <a:br>
              <a:rPr lang="en-GB" altLang="en-US" sz="3600" dirty="0" smtClean="0"/>
            </a:br>
            <a:r>
              <a:rPr lang="en-GB" altLang="en-US" sz="3600" dirty="0" smtClean="0"/>
              <a:t>	 Or, </a:t>
            </a:r>
            <a:r>
              <a:rPr lang="en-GB" altLang="en-US" sz="3600" dirty="0" smtClean="0"/>
              <a:t>K=C1/td</a:t>
            </a:r>
            <a:r>
              <a:rPr lang="en-GB" altLang="en-US" sz="3600" baseline="30000" dirty="0" smtClean="0"/>
              <a:t>4</a:t>
            </a:r>
          </a:p>
          <a:p>
            <a:pPr marL="457200" lvl="1" indent="0">
              <a:spcBef>
                <a:spcPts val="613"/>
              </a:spcBef>
              <a:buNone/>
              <a:defRPr/>
            </a:pPr>
            <a:r>
              <a:rPr lang="en-GB" altLang="en-US" dirty="0" smtClean="0"/>
              <a:t>For </a:t>
            </a:r>
            <a:r>
              <a:rPr lang="en-GB" altLang="en-US" dirty="0" smtClean="0"/>
              <a:t>the same product size, C1=L3/Ck3 is a constant.</a:t>
            </a:r>
          </a:p>
          <a:p>
            <a:pPr>
              <a:spcBef>
                <a:spcPts val="913"/>
              </a:spcBef>
              <a:defRPr/>
            </a:pPr>
            <a:r>
              <a:rPr lang="en-GB" altLang="en-US" sz="3600" dirty="0" smtClean="0"/>
              <a:t>Or,  </a:t>
            </a:r>
            <a:r>
              <a:rPr lang="en-GB" altLang="en-US" sz="3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K1/K2 = td2</a:t>
            </a:r>
            <a:r>
              <a:rPr lang="en-GB" altLang="en-US" sz="3600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GB" altLang="en-US" sz="3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/td1</a:t>
            </a:r>
            <a:r>
              <a:rPr lang="en-GB" altLang="en-US" sz="3600" baseline="30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2283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A2196755-9383-4D79-B642-47E8B5989319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69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451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314325"/>
            <a:ext cx="7769225" cy="14065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altLang="en-US" sz="3600" b="1" dirty="0" smtClean="0"/>
              <a:t>Effect of Schedule Change on</a:t>
            </a:r>
            <a:r>
              <a:rPr lang="en-GB" altLang="en-US" b="1" dirty="0" smtClean="0"/>
              <a:t> Cost</a:t>
            </a:r>
            <a:r>
              <a:rPr lang="en-GB" altLang="en-US" sz="1400" dirty="0" smtClean="0"/>
              <a:t> (CONT.)</a:t>
            </a: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75625" cy="41687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lnSpcReduction="10000"/>
          </a:bodyPr>
          <a:lstStyle/>
          <a:p>
            <a:pPr>
              <a:spcBef>
                <a:spcPts val="988"/>
              </a:spcBef>
            </a:pPr>
            <a:r>
              <a:rPr lang="en-GB" altLang="en-US" sz="3600" dirty="0" smtClean="0"/>
              <a:t>Observe: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 smtClean="0"/>
              <a:t>a relatively small compression in delivery schedule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 smtClean="0"/>
              <a:t>can result in substantial penalty on human effort. </a:t>
            </a:r>
          </a:p>
          <a:p>
            <a:pPr>
              <a:spcBef>
                <a:spcPts val="988"/>
              </a:spcBef>
            </a:pPr>
            <a:r>
              <a:rPr lang="en-GB" altLang="en-US" sz="3600" dirty="0" smtClean="0"/>
              <a:t>Also,  observe: 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 smtClean="0"/>
              <a:t>benefits can be gained by using fewer people over a somewhat longer time span.</a:t>
            </a:r>
          </a:p>
        </p:txBody>
      </p:sp>
    </p:spTree>
    <p:extLst>
      <p:ext uri="{BB962C8B-B14F-4D97-AF65-F5344CB8AC3E}">
        <p14:creationId xmlns:p14="http://schemas.microsoft.com/office/powerpoint/2010/main" val="107584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fld id="{AA5E823C-E01E-44DA-8FC4-2D92476F5CA8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70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553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altLang="en-US" sz="4800" b="1" smtClean="0"/>
              <a:t>Example</a:t>
            </a: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altLang="en-US" sz="3600" dirty="0" smtClean="0"/>
              <a:t>If the estimated development time is 1 year, then in order to develop the product in 6 months,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 smtClean="0"/>
              <a:t>the total effort and hence the cost increases 16 times.</a:t>
            </a:r>
          </a:p>
          <a:p>
            <a:pPr lvl="1">
              <a:spcBef>
                <a:spcPts val="713"/>
              </a:spcBef>
            </a:pPr>
            <a:r>
              <a:rPr lang="en-GB" altLang="en-US" sz="3200" dirty="0" smtClean="0"/>
              <a:t>In other words, </a:t>
            </a:r>
          </a:p>
          <a:p>
            <a:pPr lvl="2">
              <a:spcBef>
                <a:spcPts val="613"/>
              </a:spcBef>
            </a:pPr>
            <a:r>
              <a:rPr lang="en-GB" altLang="en-US" sz="2800" dirty="0" smtClean="0"/>
              <a:t>the relationship between effort and the chronological delivery time is highly nonlinear. </a:t>
            </a:r>
          </a:p>
        </p:txBody>
      </p:sp>
    </p:spTree>
    <p:extLst>
      <p:ext uri="{BB962C8B-B14F-4D97-AF65-F5344CB8AC3E}">
        <p14:creationId xmlns:p14="http://schemas.microsoft.com/office/powerpoint/2010/main" val="424534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2653</Words>
  <Application>Microsoft Office PowerPoint</Application>
  <PresentationFormat>On-screen Show (4:3)</PresentationFormat>
  <Paragraphs>593</Paragraphs>
  <Slides>70</Slides>
  <Notes>54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Software Project Management</vt:lpstr>
      <vt:lpstr>Outline</vt:lpstr>
      <vt:lpstr>Introduction</vt:lpstr>
      <vt:lpstr>Introduction</vt:lpstr>
      <vt:lpstr>Responsibility of project managers</vt:lpstr>
      <vt:lpstr>Introduction</vt:lpstr>
      <vt:lpstr>Project Planning</vt:lpstr>
      <vt:lpstr>Project Planning Activities</vt:lpstr>
      <vt:lpstr>Project planning</vt:lpstr>
      <vt:lpstr>SPMP Document</vt:lpstr>
      <vt:lpstr>Organization of SPMP Document</vt:lpstr>
      <vt:lpstr>Software Cost Estimation</vt:lpstr>
      <vt:lpstr>PowerPoint Presentation</vt:lpstr>
      <vt:lpstr>Software Cost Estimation</vt:lpstr>
      <vt:lpstr>Software Cost Estimation  Techniques</vt:lpstr>
      <vt:lpstr>Software Size Metrics</vt:lpstr>
      <vt:lpstr>Disadvantages of Using LOC</vt:lpstr>
      <vt:lpstr>Disadvantages of Using LOC  (cont...)</vt:lpstr>
      <vt:lpstr>Function Point Metric</vt:lpstr>
      <vt:lpstr>Function Point Metric</vt:lpstr>
      <vt:lpstr>Refinement of FP entities</vt:lpstr>
      <vt:lpstr>Function Point Metric (CONT.)</vt:lpstr>
      <vt:lpstr>Function Point Metric (CONT.)</vt:lpstr>
      <vt:lpstr>Empirical Size Estimation Techniques</vt:lpstr>
      <vt:lpstr>Expert judgement</vt:lpstr>
      <vt:lpstr>Delphi Estimation:</vt:lpstr>
      <vt:lpstr>Delphi Estimation:</vt:lpstr>
      <vt:lpstr>Halstead's Software Science</vt:lpstr>
      <vt:lpstr>Halstead's Software Science</vt:lpstr>
      <vt:lpstr>Halstead's Software Science</vt:lpstr>
      <vt:lpstr>Halstead’s Software Science</vt:lpstr>
      <vt:lpstr>Halstead’s Software Science</vt:lpstr>
      <vt:lpstr>Halstead’s Software Science</vt:lpstr>
      <vt:lpstr>Halstead’s Software Science</vt:lpstr>
      <vt:lpstr>Example</vt:lpstr>
      <vt:lpstr>COCOMO Model</vt:lpstr>
      <vt:lpstr>COCOMO Product classes</vt:lpstr>
      <vt:lpstr>Elaboration of Product classes</vt:lpstr>
      <vt:lpstr>COCOMO Model (CONT.)</vt:lpstr>
      <vt:lpstr>COCOMO Model (CONT.)</vt:lpstr>
      <vt:lpstr>Basic COCOMO Model (CONT.)</vt:lpstr>
      <vt:lpstr>Development Effort Estimation</vt:lpstr>
      <vt:lpstr>Development Time Estimation</vt:lpstr>
      <vt:lpstr>Basic COCOMO Model (CONT.)</vt:lpstr>
      <vt:lpstr>Basic COCOMO Model (CONT.)</vt:lpstr>
      <vt:lpstr>Basic COCOMO Model (CONT.)</vt:lpstr>
      <vt:lpstr>Example</vt:lpstr>
      <vt:lpstr>Example</vt:lpstr>
      <vt:lpstr>Intermediate COCOMO</vt:lpstr>
      <vt:lpstr>Intermediate COCOMO</vt:lpstr>
      <vt:lpstr>Intermediate COCOMO (CONT.)</vt:lpstr>
      <vt:lpstr>Intermediate COCOMO (CONT.)</vt:lpstr>
      <vt:lpstr>Intermediate COCOMO (CONT.)</vt:lpstr>
      <vt:lpstr>COCOMO 2</vt:lpstr>
      <vt:lpstr>Application Composition Model</vt:lpstr>
      <vt:lpstr>Effort estimation steps</vt:lpstr>
      <vt:lpstr>Effort estimation steps</vt:lpstr>
      <vt:lpstr>Early Design Model</vt:lpstr>
      <vt:lpstr>Post Architectural Model</vt:lpstr>
      <vt:lpstr>Staffing Level Estimation</vt:lpstr>
      <vt:lpstr>Rayleigh Curve</vt:lpstr>
      <vt:lpstr>Putnam’s Work:</vt:lpstr>
      <vt:lpstr>Putnam’s Work (CONT.):</vt:lpstr>
      <vt:lpstr>Putnam’s Work (CONT.):</vt:lpstr>
      <vt:lpstr>Rayleigh Curve</vt:lpstr>
      <vt:lpstr>Rayleigh Curve</vt:lpstr>
      <vt:lpstr>Rayleigh Curve</vt:lpstr>
      <vt:lpstr>Effect of Schedule Change on Cost</vt:lpstr>
      <vt:lpstr>Effect of Schedule Change on Cost (CONT.)</vt:lpstr>
      <vt:lpstr>Example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</dc:title>
  <dc:creator>aa</dc:creator>
  <cp:lastModifiedBy>aa</cp:lastModifiedBy>
  <cp:revision>21</cp:revision>
  <dcterms:created xsi:type="dcterms:W3CDTF">2017-02-20T06:02:00Z</dcterms:created>
  <dcterms:modified xsi:type="dcterms:W3CDTF">2017-03-02T08:37:33Z</dcterms:modified>
</cp:coreProperties>
</file>