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302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7" r:id="rId34"/>
    <p:sldId id="298" r:id="rId35"/>
    <p:sldId id="299" r:id="rId36"/>
    <p:sldId id="300" r:id="rId37"/>
    <p:sldId id="30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73" d="100"/>
          <a:sy n="73" d="100"/>
        </p:scale>
        <p:origin x="6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0D04B-8F85-4B7A-A093-FF6C9DFEE483}" type="datetimeFigureOut">
              <a:rPr lang="en-US" smtClean="0"/>
              <a:t>7/23/2018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673E-2647-4B54-B67E-174BAF75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4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F55FD8-1CA2-4D43-A198-3FE50C6E84FC}" type="slidenum">
              <a:rPr lang="en-US" altLang="en-US" sz="1300">
                <a:latin typeface="Times New Roman" panose="02020603050405020304" pitchFamily="18" charset="0"/>
              </a:rPr>
              <a:pPr algn="r"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3506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2E6753A-ECCC-4AE1-975F-18BBAAF1EA50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9506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6B929F-AE73-4032-84B4-C5F97F2AEB5E}" type="slidenum">
              <a:rPr lang="en-US" altLang="en-US" sz="130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19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80244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2CA167D-FBF3-4D02-8DAE-1937C1AA9A89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996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8D7AF4B-32DB-44E4-BB3A-CD0845555CDC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27935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58D293-C883-40CE-8272-296A5E20B529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22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27313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A7D7868-0D3B-48F8-8512-313CA49247DF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73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08737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D060AE-D849-48EF-8C6D-95DCA2E3730C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04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78388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EEACE6-98BA-4504-B912-2D81CCCE6ECE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34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572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B6E729A-8DAC-4315-B782-EC58C6B0F175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55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01891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B0B79A-F0E0-403F-AF2E-7CCAAE68BC7D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75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17359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01C444-E8A3-4CE4-A9B0-D0CB575FA08F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870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41616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75BFAC-0373-4DF0-B944-99A07DA5FBA9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911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23531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C95E73-CED9-480F-AB59-EDAFD36C8F9F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931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60032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1172C7C-3862-4EF7-BB7C-0634D5142E60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952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58683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2ED449-38DC-4EBA-A7A7-45E852CFDA1C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972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89095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E54C1B-710A-42BB-B9C1-3864BAE4ADF0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993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72821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57AAFA3-D8C0-486C-9845-A7F25B4F2BA2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013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08217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84EB92D-0D36-4737-BA28-A42A218D5FBC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034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5065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1B91D2-9538-40E5-BE32-BA85813162F8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31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13880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E3E54EB-2090-48EB-8C1E-34675CA8389C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51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84745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5EBD61-762F-4E6E-B395-5296B9B25036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72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55517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FCDFF8-43B0-4E1A-82F5-35DE665E9950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92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45971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7D2BA72-5011-4BD9-A4C8-F81B42E7C079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13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402259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960BC7-AF95-4B6F-B6CF-ADC29E03582F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33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6729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3F3291-E308-40CB-B1F9-78A9C87F8607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54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41588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CD0E8F-1D09-4B05-8DC5-F0B1A2F37BC7}" type="slidenum">
              <a:rPr lang="en-US" altLang="en-US" sz="1300">
                <a:latin typeface="Times New Roman" panose="02020603050405020304" pitchFamily="18" charset="0"/>
              </a:rPr>
              <a:pPr/>
              <a:t>33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56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264974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5DED61-6A50-4251-84B6-4E1E33507D1E}" type="slidenum">
              <a:rPr lang="en-US" altLang="en-US" sz="1300">
                <a:latin typeface="Times New Roman" panose="02020603050405020304" pitchFamily="18" charset="0"/>
              </a:rPr>
              <a:pPr/>
              <a:t>34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587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081494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A4CCC3D-5843-4FFA-ABC6-C319F5C31B5F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07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930457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290828-827B-467E-9902-73156EF2B8C0}" type="slidenum">
              <a:rPr lang="en-US" altLang="en-US" sz="1300">
                <a:latin typeface="Times New Roman" panose="02020603050405020304" pitchFamily="18" charset="0"/>
              </a:rPr>
              <a:pPr/>
              <a:t>36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28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706852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BCE2D3-2488-4295-BF6A-B45D538CFDA2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4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5124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86876-33DA-4158-977E-D04037CE52A6}" type="datetime1">
              <a:rPr lang="en-US" smtClean="0"/>
              <a:t>7/23/2018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5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0F0A-7FC1-45A0-AEE4-307164CD8B10}" type="datetime1">
              <a:rPr lang="en-US" smtClean="0"/>
              <a:t>7/23/2018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6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01222-8B55-4B2B-8A35-156B64B3CC1E}" type="datetime1">
              <a:rPr lang="en-US" smtClean="0"/>
              <a:t>7/23/2018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50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EBBBF-C6A9-41F9-AA4C-DD5B41EBFBF4}" type="datetime1">
              <a:rPr lang="en-US" smtClean="0"/>
              <a:t>7/23/2018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3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AC90E-9799-4DAE-A2D6-D6AD19D42AE7}" type="datetime1">
              <a:rPr lang="en-US" smtClean="0"/>
              <a:t>7/23/2018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38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A868-DFBC-4948-AB8C-937452FC5008}" type="datetime1">
              <a:rPr lang="en-US" smtClean="0"/>
              <a:t>7/23/2018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4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7CC60-B6E3-4E07-840B-EC91C5452EF6}" type="datetime1">
              <a:rPr lang="en-US" smtClean="0"/>
              <a:t>7/23/2018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0E7-A561-4D10-9610-98F6B9F126B2}" type="datetime1">
              <a:rPr lang="en-US" smtClean="0"/>
              <a:t>7/23/2018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1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C760-64DA-439C-B05F-8CE5D74B2620}" type="datetime1">
              <a:rPr lang="en-US" smtClean="0"/>
              <a:t>7/23/2018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0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968F-7ACC-44EE-BFE3-882095AB65C9}" type="datetime1">
              <a:rPr lang="en-US" smtClean="0"/>
              <a:t>7/23/2018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2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8D62E-5C54-4E67-96D1-72E9F66D6902}" type="datetime1">
              <a:rPr lang="en-US" smtClean="0"/>
              <a:t>7/23/2018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9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78062-9652-4FB8-AA95-805D969FC3A8}" type="datetime1">
              <a:rPr lang="en-US" smtClean="0"/>
              <a:t>7/23/2018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E94ED-3B87-4EAF-9226-49DA68E43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8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21" Type="http://schemas.openxmlformats.org/officeDocument/2006/relationships/image" Target="../media/image19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21" Type="http://schemas.openxmlformats.org/officeDocument/2006/relationships/image" Target="../media/image19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5.png"/><Relationship Id="rId21" Type="http://schemas.openxmlformats.org/officeDocument/2006/relationships/image" Target="../media/image19.png"/><Relationship Id="rId7" Type="http://schemas.openxmlformats.org/officeDocument/2006/relationships/image" Target="../media/image26.png"/><Relationship Id="rId12" Type="http://schemas.openxmlformats.org/officeDocument/2006/relationships/image" Target="../media/image1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9.png"/><Relationship Id="rId4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29.png"/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1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33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Tulika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7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Internet</a:t>
            </a:r>
          </a:p>
          <a:p>
            <a:r>
              <a:rPr lang="en-US" dirty="0" smtClean="0"/>
              <a:t>Network structure</a:t>
            </a:r>
          </a:p>
          <a:p>
            <a:r>
              <a:rPr lang="en-US" dirty="0" smtClean="0"/>
              <a:t>Access Network</a:t>
            </a:r>
          </a:p>
          <a:p>
            <a:r>
              <a:rPr lang="en-US" dirty="0" smtClean="0"/>
              <a:t>Physical Media</a:t>
            </a:r>
          </a:p>
          <a:p>
            <a:r>
              <a:rPr lang="en-US" dirty="0" smtClean="0"/>
              <a:t>Protocol Layers and their service models</a:t>
            </a:r>
          </a:p>
          <a:p>
            <a:r>
              <a:rPr lang="en-US" dirty="0" smtClean="0"/>
              <a:t>History of Internet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9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36725" y="190501"/>
            <a:ext cx="8382000" cy="93662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What</a:t>
            </a:r>
            <a:r>
              <a:rPr lang="ja-JP" altLang="en-US" sz="3600" b="1" dirty="0"/>
              <a:t>’</a:t>
            </a:r>
            <a:r>
              <a:rPr lang="en-US" altLang="ja-JP" sz="3600" b="1" dirty="0"/>
              <a:t>s the Internet: </a:t>
            </a:r>
            <a:r>
              <a:rPr lang="ja-JP" altLang="en-US" sz="3600" b="1" dirty="0"/>
              <a:t>“</a:t>
            </a:r>
            <a:r>
              <a:rPr lang="en-US" altLang="ja-JP" sz="3600" b="1" dirty="0"/>
              <a:t>nuts and bolts</a:t>
            </a:r>
            <a:r>
              <a:rPr lang="ja-JP" altLang="en-US" sz="3600" b="1" dirty="0"/>
              <a:t>”</a:t>
            </a:r>
            <a:r>
              <a:rPr lang="en-US" altLang="ja-JP" sz="3600" b="1" dirty="0"/>
              <a:t> view</a:t>
            </a:r>
            <a:endParaRPr lang="en-US" altLang="en-US" b="1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181350" y="1436689"/>
            <a:ext cx="3779838" cy="1271587"/>
          </a:xfrm>
        </p:spPr>
        <p:txBody>
          <a:bodyPr>
            <a:normAutofit fontScale="92500" lnSpcReduction="20000"/>
          </a:bodyPr>
          <a:lstStyle/>
          <a:p>
            <a:pPr marL="231775" indent="-231775">
              <a:spcBef>
                <a:spcPct val="15000"/>
              </a:spcBef>
              <a:buSzPct val="75000"/>
            </a:pPr>
            <a:r>
              <a:rPr lang="en-US" altLang="en-US" sz="2400"/>
              <a:t>millions of connected computing devices: </a:t>
            </a:r>
          </a:p>
          <a:p>
            <a:pPr marL="631825" lvl="1" indent="-231775">
              <a:spcBef>
                <a:spcPct val="15000"/>
              </a:spcBef>
              <a:buSzPct val="75000"/>
            </a:pPr>
            <a:r>
              <a:rPr lang="en-US" altLang="en-US" i="1" smtClean="0">
                <a:solidFill>
                  <a:srgbClr val="CC0000"/>
                </a:solidFill>
                <a:ea typeface="MS PGothic" panose="020B0600070205080204" pitchFamily="34" charset="-128"/>
              </a:rPr>
              <a:t>hosts </a:t>
            </a:r>
            <a:r>
              <a:rPr lang="en-US" altLang="en-US" i="1" smtClean="0">
                <a:ea typeface="MS PGothic" panose="020B0600070205080204" pitchFamily="34" charset="-128"/>
              </a:rPr>
              <a:t>=</a:t>
            </a:r>
            <a:r>
              <a:rPr lang="en-US" altLang="en-US" i="1" smtClean="0">
                <a:solidFill>
                  <a:srgbClr val="CC0000"/>
                </a:solidFill>
                <a:ea typeface="MS PGothic" panose="020B0600070205080204" pitchFamily="34" charset="-128"/>
              </a:rPr>
              <a:t> end systems</a:t>
            </a:r>
            <a:r>
              <a:rPr lang="en-US" altLang="en-US" i="1" smtClean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</a:p>
          <a:p>
            <a:pPr marL="631825" lvl="1" indent="-231775">
              <a:buSzPct val="75000"/>
            </a:pPr>
            <a:r>
              <a:rPr lang="en-US" altLang="en-US" smtClean="0">
                <a:ea typeface="Arial" panose="020B0604020202020204" pitchFamily="34" charset="0"/>
              </a:rPr>
              <a:t>running </a:t>
            </a:r>
            <a:r>
              <a:rPr lang="en-US" altLang="en-US" i="1" smtClean="0">
                <a:solidFill>
                  <a:srgbClr val="CC0000"/>
                </a:solidFill>
                <a:ea typeface="Arial" panose="020B0604020202020204" pitchFamily="34" charset="0"/>
              </a:rPr>
              <a:t>network apps</a:t>
            </a:r>
            <a:endParaRPr lang="en-US" altLang="en-US" smtClean="0">
              <a:solidFill>
                <a:srgbClr val="CC0000"/>
              </a:solidFill>
              <a:ea typeface="Arial" panose="020B0604020202020204" pitchFamily="34" charset="0"/>
            </a:endParaRPr>
          </a:p>
        </p:txBody>
      </p:sp>
      <p:sp>
        <p:nvSpPr>
          <p:cNvPr id="4766" name="Rectangle 670"/>
          <p:cNvSpPr>
            <a:spLocks noChangeArrowheads="1"/>
          </p:cNvSpPr>
          <p:nvPr/>
        </p:nvSpPr>
        <p:spPr bwMode="auto">
          <a:xfrm>
            <a:off x="3219451" y="3152776"/>
            <a:ext cx="3368675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7713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communication links</a:t>
            </a:r>
            <a:endParaRPr lang="en-US" altLang="en-US">
              <a:solidFill>
                <a:srgbClr val="CC0000"/>
              </a:solidFill>
              <a:latin typeface="Gill Sans MT" panose="020B0502020104020203" pitchFamily="34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Gill Sans MT" panose="020B0502020104020203" pitchFamily="34" charset="0"/>
              </a:rPr>
              <a:t>fiber, copper, radio, satellite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Gill Sans MT" panose="020B0502020104020203" pitchFamily="34" charset="0"/>
              </a:rPr>
              <a:t>transmission rate: </a:t>
            </a: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bandwidth</a:t>
            </a:r>
            <a:endParaRPr lang="en-US" altLang="en-US">
              <a:solidFill>
                <a:srgbClr val="CC0000"/>
              </a:solidFill>
              <a:latin typeface="Gill Sans MT" panose="020B0502020104020203" pitchFamily="34" charset="0"/>
            </a:endParaRPr>
          </a:p>
        </p:txBody>
      </p:sp>
      <p:sp>
        <p:nvSpPr>
          <p:cNvPr id="4767" name="Rectangle 671"/>
          <p:cNvSpPr>
            <a:spLocks noChangeArrowheads="1"/>
          </p:cNvSpPr>
          <p:nvPr/>
        </p:nvSpPr>
        <p:spPr bwMode="auto">
          <a:xfrm>
            <a:off x="3335339" y="5307014"/>
            <a:ext cx="3779837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8975" indent="-23177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Packet switches:</a:t>
            </a:r>
            <a:r>
              <a:rPr lang="en-US" altLang="en-US">
                <a:latin typeface="Gill Sans MT" panose="020B0502020104020203" pitchFamily="34" charset="0"/>
              </a:rPr>
              <a:t> forward packets (chunks of data)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i="1">
                <a:solidFill>
                  <a:srgbClr val="C00000"/>
                </a:solidFill>
                <a:latin typeface="Gill Sans MT" panose="020B0502020104020203" pitchFamily="34" charset="0"/>
              </a:rPr>
              <a:t>routers</a:t>
            </a:r>
            <a:r>
              <a:rPr lang="en-US" altLang="en-US">
                <a:latin typeface="Gill Sans MT" panose="020B0502020104020203" pitchFamily="34" charset="0"/>
              </a:rPr>
              <a:t> and </a:t>
            </a:r>
            <a:r>
              <a:rPr lang="en-US" altLang="en-US" i="1">
                <a:solidFill>
                  <a:srgbClr val="C00000"/>
                </a:solidFill>
                <a:latin typeface="Gill Sans MT" panose="020B0502020104020203" pitchFamily="34" charset="0"/>
              </a:rPr>
              <a:t>switches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endParaRPr lang="en-US" altLang="en-US">
              <a:latin typeface="Gill Sans MT" panose="020B0502020104020203" pitchFamily="34" charset="0"/>
            </a:endParaRPr>
          </a:p>
        </p:txBody>
      </p:sp>
      <p:grpSp>
        <p:nvGrpSpPr>
          <p:cNvPr id="2" name="Group 842"/>
          <p:cNvGrpSpPr>
            <a:grpSpLocks/>
          </p:cNvGrpSpPr>
          <p:nvPr/>
        </p:nvGrpSpPr>
        <p:grpSpPr bwMode="auto">
          <a:xfrm>
            <a:off x="1862138" y="3454400"/>
            <a:ext cx="1573212" cy="1060450"/>
            <a:chOff x="98" y="2320"/>
            <a:chExt cx="991" cy="668"/>
          </a:xfrm>
        </p:grpSpPr>
        <p:sp>
          <p:nvSpPr>
            <p:cNvPr id="35260" name="Text Box 666"/>
            <p:cNvSpPr txBox="1">
              <a:spLocks noChangeArrowheads="1"/>
            </p:cNvSpPr>
            <p:nvPr/>
          </p:nvSpPr>
          <p:spPr bwMode="auto">
            <a:xfrm>
              <a:off x="564" y="2728"/>
              <a:ext cx="383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/>
                <a:t>wired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/>
                <a:t>links</a:t>
              </a:r>
            </a:p>
          </p:txBody>
        </p:sp>
        <p:sp>
          <p:nvSpPr>
            <p:cNvPr id="35261" name="Text Box 669"/>
            <p:cNvSpPr txBox="1">
              <a:spLocks noChangeArrowheads="1"/>
            </p:cNvSpPr>
            <p:nvPr/>
          </p:nvSpPr>
          <p:spPr bwMode="auto">
            <a:xfrm>
              <a:off x="569" y="2465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/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/>
                <a:t>links</a:t>
              </a:r>
            </a:p>
          </p:txBody>
        </p:sp>
        <p:grpSp>
          <p:nvGrpSpPr>
            <p:cNvPr id="35262" name="Group 819"/>
            <p:cNvGrpSpPr>
              <a:grpSpLocks/>
            </p:cNvGrpSpPr>
            <p:nvPr/>
          </p:nvGrpSpPr>
          <p:grpSpPr bwMode="auto">
            <a:xfrm>
              <a:off x="385" y="2320"/>
              <a:ext cx="201" cy="282"/>
              <a:chOff x="742" y="2409"/>
              <a:chExt cx="576" cy="881"/>
            </a:xfrm>
          </p:grpSpPr>
          <p:grpSp>
            <p:nvGrpSpPr>
              <p:cNvPr id="35267" name="Group 820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3527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7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8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8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8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8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28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35268" name="Picture 836" descr="cell_tower_radiation copy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69" name="Oval 837"/>
              <p:cNvSpPr>
                <a:spLocks noChangeArrowheads="1"/>
              </p:cNvSpPr>
              <p:nvPr/>
            </p:nvSpPr>
            <p:spPr bwMode="auto">
              <a:xfrm>
                <a:off x="986" y="2596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35263" name="Group 838"/>
            <p:cNvGrpSpPr>
              <a:grpSpLocks/>
            </p:cNvGrpSpPr>
            <p:nvPr/>
          </p:nvGrpSpPr>
          <p:grpSpPr bwMode="auto">
            <a:xfrm>
              <a:off x="98" y="2444"/>
              <a:ext cx="355" cy="265"/>
              <a:chOff x="2967" y="478"/>
              <a:chExt cx="788" cy="625"/>
            </a:xfrm>
          </p:grpSpPr>
          <p:pic>
            <p:nvPicPr>
              <p:cNvPr id="35265" name="Picture 839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266" name="Picture 840" descr="antenna_radiation_stylize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5264" name="Line 841"/>
            <p:cNvSpPr>
              <a:spLocks noChangeShapeType="1"/>
            </p:cNvSpPr>
            <p:nvPr/>
          </p:nvSpPr>
          <p:spPr bwMode="auto">
            <a:xfrm>
              <a:off x="288" y="283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852"/>
          <p:cNvGrpSpPr>
            <a:grpSpLocks/>
          </p:cNvGrpSpPr>
          <p:nvPr/>
        </p:nvGrpSpPr>
        <p:grpSpPr bwMode="auto">
          <a:xfrm>
            <a:off x="2157413" y="5457825"/>
            <a:ext cx="646112" cy="477838"/>
            <a:chOff x="293" y="3440"/>
            <a:chExt cx="407" cy="301"/>
          </a:xfrm>
        </p:grpSpPr>
        <p:sp>
          <p:nvSpPr>
            <p:cNvPr id="35250" name="Text Box 662"/>
            <p:cNvSpPr txBox="1">
              <a:spLocks noChangeArrowheads="1"/>
            </p:cNvSpPr>
            <p:nvPr/>
          </p:nvSpPr>
          <p:spPr bwMode="auto">
            <a:xfrm>
              <a:off x="293" y="3549"/>
              <a:ext cx="4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/>
                <a:t>router</a:t>
              </a:r>
            </a:p>
          </p:txBody>
        </p:sp>
        <p:grpSp>
          <p:nvGrpSpPr>
            <p:cNvPr id="35251" name="Group 843"/>
            <p:cNvGrpSpPr>
              <a:grpSpLocks/>
            </p:cNvGrpSpPr>
            <p:nvPr/>
          </p:nvGrpSpPr>
          <p:grpSpPr bwMode="auto">
            <a:xfrm>
              <a:off x="337" y="3440"/>
              <a:ext cx="306" cy="128"/>
              <a:chOff x="4650" y="1129"/>
              <a:chExt cx="246" cy="95"/>
            </a:xfrm>
          </p:grpSpPr>
          <p:sp>
            <p:nvSpPr>
              <p:cNvPr id="3525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5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5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255" name="Group 84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58" name="Freeform 8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59" name="Freeform 8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256" name="Line 85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57" name="Line 85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4825" name="Group 1"/>
          <p:cNvGrpSpPr>
            <a:grpSpLocks/>
          </p:cNvGrpSpPr>
          <p:nvPr/>
        </p:nvGrpSpPr>
        <p:grpSpPr bwMode="auto">
          <a:xfrm>
            <a:off x="6726239" y="1384300"/>
            <a:ext cx="3551237" cy="4743450"/>
            <a:chOff x="5202238" y="1384300"/>
            <a:chExt cx="3551237" cy="4743450"/>
          </a:xfrm>
        </p:grpSpPr>
        <p:sp>
          <p:nvSpPr>
            <p:cNvPr id="34895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898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5248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249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34899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3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07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08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09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9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0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1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2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3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4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5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6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7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928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5246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47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929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5244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45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930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5242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43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931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5240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41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34932" name="Picture 603" descr="car_icon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4933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5238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239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4934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523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3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3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233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36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37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234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35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35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522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2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2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225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28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29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226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27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36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521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1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1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217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20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21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218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19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37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520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0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0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209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12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13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210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11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938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939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519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9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0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201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04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05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202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03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0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3519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9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9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193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196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97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194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95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1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3518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8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8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185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188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89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186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87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2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3517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7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7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177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180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81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178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79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3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3516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6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6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169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172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73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170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71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4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3515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5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6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161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164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65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162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63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5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3515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5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5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153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156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57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154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55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6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3514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4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4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145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148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49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146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47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47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35140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141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4948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35138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139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4949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35120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3512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24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25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26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27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28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29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0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1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2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3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4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5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6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5137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35121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122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4950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mobile network</a:t>
              </a:r>
            </a:p>
          </p:txBody>
        </p:sp>
        <p:sp>
          <p:nvSpPr>
            <p:cNvPr id="34951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global ISP</a:t>
              </a:r>
            </a:p>
          </p:txBody>
        </p:sp>
        <p:sp>
          <p:nvSpPr>
            <p:cNvPr id="34952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regional ISP</a:t>
              </a:r>
            </a:p>
          </p:txBody>
        </p:sp>
        <p:sp>
          <p:nvSpPr>
            <p:cNvPr id="34953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network</a:t>
              </a:r>
            </a:p>
          </p:txBody>
        </p:sp>
        <p:sp>
          <p:nvSpPr>
            <p:cNvPr id="34954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       network</a:t>
              </a:r>
            </a:p>
          </p:txBody>
        </p:sp>
        <p:grpSp>
          <p:nvGrpSpPr>
            <p:cNvPr id="34955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35088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9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90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1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2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5093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5118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119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094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5095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5116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117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096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97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5098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5114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115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099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100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5112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113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101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102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3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4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105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6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107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108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109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35110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111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34956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35056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7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58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9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0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5061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5086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087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062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5063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5084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085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064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65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5066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5082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083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067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068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5080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081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5069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70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1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2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73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4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75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76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77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35078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079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34957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35033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034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035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5036" name="Picture 1020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037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8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9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0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1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2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043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5050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51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52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53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54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55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044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5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6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7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8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9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58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35010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011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012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5013" name="Picture 1068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014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5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6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7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8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9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020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5027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28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29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30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31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32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021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2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3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4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5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6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59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34987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988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989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4990" name="Picture 1118" descr="screen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991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2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3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4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5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6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4997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5004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05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06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07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08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09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4998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9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0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1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2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3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60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34985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986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961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34962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963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964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4965" name="Picture 1146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966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7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8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9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0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1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4972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4979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80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81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82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83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84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4973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4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5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6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7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8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439" name="Group 1201"/>
          <p:cNvGrpSpPr>
            <a:grpSpLocks/>
          </p:cNvGrpSpPr>
          <p:nvPr/>
        </p:nvGrpSpPr>
        <p:grpSpPr bwMode="auto">
          <a:xfrm>
            <a:off x="1857375" y="1322389"/>
            <a:ext cx="1555750" cy="1622425"/>
            <a:chOff x="210" y="833"/>
            <a:chExt cx="980" cy="1022"/>
          </a:xfrm>
        </p:grpSpPr>
        <p:sp>
          <p:nvSpPr>
            <p:cNvPr id="34828" name="Text Box 667"/>
            <p:cNvSpPr txBox="1">
              <a:spLocks noChangeArrowheads="1"/>
            </p:cNvSpPr>
            <p:nvPr/>
          </p:nvSpPr>
          <p:spPr bwMode="auto">
            <a:xfrm>
              <a:off x="479" y="1667"/>
              <a:ext cx="7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/>
                <a:t>smartphone</a:t>
              </a:r>
            </a:p>
          </p:txBody>
        </p:sp>
        <p:sp>
          <p:nvSpPr>
            <p:cNvPr id="34829" name="Text Box 663"/>
            <p:cNvSpPr txBox="1">
              <a:spLocks noChangeArrowheads="1"/>
            </p:cNvSpPr>
            <p:nvPr/>
          </p:nvSpPr>
          <p:spPr bwMode="auto">
            <a:xfrm>
              <a:off x="487" y="872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/>
                <a:t>PC</a:t>
              </a:r>
            </a:p>
          </p:txBody>
        </p:sp>
        <p:sp>
          <p:nvSpPr>
            <p:cNvPr id="34830" name="Text Box 664"/>
            <p:cNvSpPr txBox="1">
              <a:spLocks noChangeArrowheads="1"/>
            </p:cNvSpPr>
            <p:nvPr/>
          </p:nvSpPr>
          <p:spPr bwMode="auto">
            <a:xfrm>
              <a:off x="488" y="1096"/>
              <a:ext cx="4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/>
                <a:t>server</a:t>
              </a:r>
            </a:p>
          </p:txBody>
        </p:sp>
        <p:sp>
          <p:nvSpPr>
            <p:cNvPr id="34831" name="Text Box 665"/>
            <p:cNvSpPr txBox="1">
              <a:spLocks noChangeArrowheads="1"/>
            </p:cNvSpPr>
            <p:nvPr/>
          </p:nvSpPr>
          <p:spPr bwMode="auto">
            <a:xfrm>
              <a:off x="493" y="1390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/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/>
                <a:t>laptop</a:t>
              </a:r>
            </a:p>
          </p:txBody>
        </p:sp>
        <p:grpSp>
          <p:nvGrpSpPr>
            <p:cNvPr id="34832" name="Group 805"/>
            <p:cNvGrpSpPr>
              <a:grpSpLocks/>
            </p:cNvGrpSpPr>
            <p:nvPr/>
          </p:nvGrpSpPr>
          <p:grpSpPr bwMode="auto">
            <a:xfrm flipH="1">
              <a:off x="244" y="833"/>
              <a:ext cx="261" cy="235"/>
              <a:chOff x="2839" y="3501"/>
              <a:chExt cx="755" cy="803"/>
            </a:xfrm>
          </p:grpSpPr>
          <p:pic>
            <p:nvPicPr>
              <p:cNvPr id="34893" name="Picture 80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94" name="Freeform 80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833" name="Group 808"/>
            <p:cNvGrpSpPr>
              <a:grpSpLocks/>
            </p:cNvGrpSpPr>
            <p:nvPr/>
          </p:nvGrpSpPr>
          <p:grpSpPr bwMode="auto">
            <a:xfrm>
              <a:off x="298" y="1682"/>
              <a:ext cx="234" cy="173"/>
              <a:chOff x="2751" y="1851"/>
              <a:chExt cx="462" cy="478"/>
            </a:xfrm>
          </p:grpSpPr>
          <p:pic>
            <p:nvPicPr>
              <p:cNvPr id="34891" name="Picture 809" descr="iphone_stylized_small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892" name="Picture 810" descr="antenna_radiation_stylized"/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4834" name="Group 1088"/>
            <p:cNvGrpSpPr>
              <a:grpSpLocks/>
            </p:cNvGrpSpPr>
            <p:nvPr/>
          </p:nvGrpSpPr>
          <p:grpSpPr bwMode="auto">
            <a:xfrm>
              <a:off x="210" y="1368"/>
              <a:ext cx="301" cy="236"/>
              <a:chOff x="877" y="1008"/>
              <a:chExt cx="2747" cy="2591"/>
            </a:xfrm>
          </p:grpSpPr>
          <p:pic>
            <p:nvPicPr>
              <p:cNvPr id="34868" name="Picture 1089" descr="antenna_stylized"/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869" name="Picture 1090" descr="laptop_keyboard"/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70" name="Freeform 1091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4871" name="Picture 1092" descr="screen"/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72" name="Freeform 1093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3" name="Freeform 1094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4" name="Freeform 1095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5" name="Freeform 1096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6" name="Freeform 1097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7" name="Freeform 1098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4878" name="Group 1099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4885" name="Freeform 1100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86" name="Freeform 1101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87" name="Freeform 1102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88" name="Freeform 1103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89" name="Freeform 1104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90" name="Freeform 1105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4879" name="Freeform 1106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0" name="Freeform 1107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1" name="Freeform 1108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2" name="Freeform 1109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3" name="Freeform 1110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4" name="Freeform 1111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835" name="Group 1168"/>
            <p:cNvGrpSpPr>
              <a:grpSpLocks/>
            </p:cNvGrpSpPr>
            <p:nvPr/>
          </p:nvGrpSpPr>
          <p:grpSpPr bwMode="auto">
            <a:xfrm>
              <a:off x="340" y="1097"/>
              <a:ext cx="157" cy="256"/>
              <a:chOff x="4140" y="429"/>
              <a:chExt cx="1425" cy="2396"/>
            </a:xfrm>
          </p:grpSpPr>
          <p:sp>
            <p:nvSpPr>
              <p:cNvPr id="34836" name="Freeform 1169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37" name="Rectangle 1170"/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38" name="Freeform 1171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39" name="Freeform 1172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40" name="Rectangle 1173"/>
              <p:cNvSpPr>
                <a:spLocks noChangeArrowheads="1"/>
              </p:cNvSpPr>
              <p:nvPr/>
            </p:nvSpPr>
            <p:spPr bwMode="auto">
              <a:xfrm>
                <a:off x="4213" y="691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4841" name="Group 1174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4866" name="AutoShape 1175"/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25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4867" name="AutoShape 1176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691" cy="9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4842" name="Rectangle 1177"/>
              <p:cNvSpPr>
                <a:spLocks noChangeArrowheads="1"/>
              </p:cNvSpPr>
              <p:nvPr/>
            </p:nvSpPr>
            <p:spPr bwMode="auto">
              <a:xfrm>
                <a:off x="4222" y="1019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4843" name="Group 1178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4864" name="AutoShape 1179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5" cy="1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4865" name="AutoShape 1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691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4844" name="Rectangle 1181"/>
              <p:cNvSpPr>
                <a:spLocks noChangeArrowheads="1"/>
              </p:cNvSpPr>
              <p:nvPr/>
            </p:nvSpPr>
            <p:spPr bwMode="auto">
              <a:xfrm>
                <a:off x="4213" y="1356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45" name="Rectangle 1182"/>
              <p:cNvSpPr>
                <a:spLocks noChangeArrowheads="1"/>
              </p:cNvSpPr>
              <p:nvPr/>
            </p:nvSpPr>
            <p:spPr bwMode="auto">
              <a:xfrm>
                <a:off x="4231" y="1655"/>
                <a:ext cx="590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4846" name="Group 1183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4862" name="AutoShape 1184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4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4863" name="AutoShape 1185"/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4847" name="Freeform 1186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4848" name="Group 1187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860" name="AutoShape 1188"/>
                <p:cNvSpPr>
                  <a:spLocks noChangeArrowheads="1"/>
                </p:cNvSpPr>
                <p:nvPr/>
              </p:nvSpPr>
              <p:spPr bwMode="auto">
                <a:xfrm>
                  <a:off x="614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4861" name="AutoShape 1189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4849" name="Rectangle 1190"/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3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50" name="Freeform 1191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1" name="Freeform 1192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2" name="Oval 1193"/>
              <p:cNvSpPr>
                <a:spLocks noChangeArrowheads="1"/>
              </p:cNvSpPr>
              <p:nvPr/>
            </p:nvSpPr>
            <p:spPr bwMode="auto">
              <a:xfrm>
                <a:off x="5520" y="2610"/>
                <a:ext cx="45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53" name="Freeform 1194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54" name="AutoShape 1195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8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55" name="AutoShape 1196"/>
              <p:cNvSpPr>
                <a:spLocks noChangeArrowheads="1"/>
              </p:cNvSpPr>
              <p:nvPr/>
            </p:nvSpPr>
            <p:spPr bwMode="auto">
              <a:xfrm>
                <a:off x="4204" y="2713"/>
                <a:ext cx="1071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56" name="Oval 1197"/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57" name="Oval 1198"/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3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34858" name="Oval 1199"/>
              <p:cNvSpPr>
                <a:spLocks noChangeArrowheads="1"/>
              </p:cNvSpPr>
              <p:nvPr/>
            </p:nvSpPr>
            <p:spPr bwMode="auto">
              <a:xfrm>
                <a:off x="4666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59" name="Rectangle 1200"/>
              <p:cNvSpPr>
                <a:spLocks noChangeArrowheads="1"/>
              </p:cNvSpPr>
              <p:nvPr/>
            </p:nvSpPr>
            <p:spPr bwMode="auto">
              <a:xfrm>
                <a:off x="5066" y="1833"/>
                <a:ext cx="82" cy="76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766" grpId="0"/>
      <p:bldP spid="47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70088" y="1516063"/>
            <a:ext cx="4768850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z="2400" i="1" dirty="0">
                <a:solidFill>
                  <a:srgbClr val="CC0000"/>
                </a:solidFill>
              </a:rPr>
              <a:t>Internet: </a:t>
            </a:r>
            <a:r>
              <a:rPr lang="ja-JP" altLang="en-US" sz="2400" dirty="0">
                <a:solidFill>
                  <a:srgbClr val="CC0000"/>
                </a:solidFill>
              </a:rPr>
              <a:t>“</a:t>
            </a:r>
            <a:r>
              <a:rPr lang="en-US" altLang="ja-JP" sz="2400" dirty="0">
                <a:solidFill>
                  <a:srgbClr val="CC0000"/>
                </a:solidFill>
              </a:rPr>
              <a:t>network of networks</a:t>
            </a:r>
            <a:r>
              <a:rPr lang="ja-JP" altLang="en-US" sz="2400" dirty="0">
                <a:solidFill>
                  <a:srgbClr val="CC0000"/>
                </a:solidFill>
              </a:rPr>
              <a:t>”</a:t>
            </a:r>
            <a:endParaRPr lang="en-US" altLang="ja-JP" sz="2400" dirty="0">
              <a:solidFill>
                <a:srgbClr val="CC0000"/>
              </a:solidFill>
            </a:endParaRP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Interconnected ISPs</a:t>
            </a:r>
          </a:p>
          <a:p>
            <a:pPr eaLnBrk="1" hangingPunct="1">
              <a:buSzPct val="75000"/>
            </a:pPr>
            <a:r>
              <a:rPr lang="en-US" altLang="en-US" sz="2400" i="1" dirty="0">
                <a:solidFill>
                  <a:srgbClr val="CC0000"/>
                </a:solidFill>
              </a:rPr>
              <a:t>protocols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control sending, receiving of </a:t>
            </a:r>
            <a:r>
              <a:rPr lang="en-US" altLang="en-US" sz="2400" dirty="0" err="1"/>
              <a:t>msgs</a:t>
            </a:r>
            <a:endParaRPr lang="en-US" altLang="en-US" sz="2400" dirty="0"/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e.g., TCP, IP, HTTP, Skype,  802.11</a:t>
            </a:r>
            <a:endParaRPr lang="en-US" altLang="en-US" dirty="0" smtClean="0">
              <a:ea typeface="Arial" panose="020B0604020202020204" pitchFamily="34" charset="0"/>
            </a:endParaRPr>
          </a:p>
          <a:p>
            <a:pPr eaLnBrk="1" hangingPunct="1">
              <a:buSzPct val="75000"/>
            </a:pPr>
            <a:r>
              <a:rPr lang="en-US" altLang="en-US" sz="2400" i="1" dirty="0">
                <a:solidFill>
                  <a:srgbClr val="C00000"/>
                </a:solidFill>
              </a:rPr>
              <a:t>Internet  standards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RFC: Request for comments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IETF: Internet Engineering Task Force</a:t>
            </a: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1736725" y="190501"/>
            <a:ext cx="8382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latin typeface="Gill Sans MT" panose="020B0502020104020203" pitchFamily="34" charset="0"/>
              </a:rPr>
              <a:t>What</a:t>
            </a:r>
            <a:r>
              <a:rPr lang="ja-JP" altLang="en-US" sz="3600" dirty="0">
                <a:latin typeface="Gill Sans MT" panose="020B0502020104020203" pitchFamily="34" charset="0"/>
              </a:rPr>
              <a:t>’</a:t>
            </a:r>
            <a:r>
              <a:rPr lang="en-US" altLang="ja-JP" sz="3600" dirty="0">
                <a:latin typeface="Gill Sans MT" panose="020B0502020104020203" pitchFamily="34" charset="0"/>
              </a:rPr>
              <a:t>s the Internet: </a:t>
            </a:r>
            <a:r>
              <a:rPr lang="ja-JP" altLang="en-US" sz="3600" dirty="0">
                <a:latin typeface="Gill Sans MT" panose="020B0502020104020203" pitchFamily="34" charset="0"/>
              </a:rPr>
              <a:t>“</a:t>
            </a:r>
            <a:r>
              <a:rPr lang="en-US" altLang="ja-JP" sz="3600" dirty="0">
                <a:latin typeface="Gill Sans MT" panose="020B0502020104020203" pitchFamily="34" charset="0"/>
              </a:rPr>
              <a:t>nuts and bolts</a:t>
            </a:r>
            <a:r>
              <a:rPr lang="ja-JP" altLang="en-US" sz="3600" dirty="0">
                <a:latin typeface="Gill Sans MT" panose="020B0502020104020203" pitchFamily="34" charset="0"/>
              </a:rPr>
              <a:t>”</a:t>
            </a:r>
            <a:r>
              <a:rPr lang="en-US" altLang="ja-JP" sz="3600" dirty="0">
                <a:latin typeface="Gill Sans MT" panose="020B0502020104020203" pitchFamily="34" charset="0"/>
              </a:rPr>
              <a:t> view</a:t>
            </a:r>
            <a:endParaRPr lang="en-US" altLang="en-US" sz="4400" dirty="0">
              <a:latin typeface="Gill Sans MT" panose="020B0502020104020203" pitchFamily="34" charset="0"/>
            </a:endParaRPr>
          </a:p>
        </p:txBody>
      </p:sp>
      <p:grpSp>
        <p:nvGrpSpPr>
          <p:cNvPr id="38917" name="Group 366"/>
          <p:cNvGrpSpPr>
            <a:grpSpLocks/>
          </p:cNvGrpSpPr>
          <p:nvPr/>
        </p:nvGrpSpPr>
        <p:grpSpPr bwMode="auto">
          <a:xfrm>
            <a:off x="6726239" y="1384300"/>
            <a:ext cx="3551237" cy="4743450"/>
            <a:chOff x="5202238" y="1384300"/>
            <a:chExt cx="3551237" cy="4743450"/>
          </a:xfrm>
        </p:grpSpPr>
        <p:sp>
          <p:nvSpPr>
            <p:cNvPr id="38919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0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1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22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9272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273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38923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4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8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9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1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2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3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5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6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7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9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0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1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2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3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4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5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7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9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0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1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52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9270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271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8953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9268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269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8954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9266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267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8955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9264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265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38956" name="Picture 603" descr="car_icon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8957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9262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263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8958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925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5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5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57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60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1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58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59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59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924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4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4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49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52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3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50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51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0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923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3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4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41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44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5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42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43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1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923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3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3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33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36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7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34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35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962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63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922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2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2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25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28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9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26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27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4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3921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1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1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17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20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1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18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19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5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3920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0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0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09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12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3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10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11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6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3919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9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20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201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204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5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202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03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7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3919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9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9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193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196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7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194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95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8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3918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8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8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185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188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9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186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87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69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3917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7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7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177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180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1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178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79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70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3916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6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16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169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172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3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170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71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71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39164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165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8972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39162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163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8973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39144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39147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48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49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0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1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2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3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4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5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6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7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8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59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60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161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39145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146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8974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mobile network</a:t>
              </a:r>
            </a:p>
          </p:txBody>
        </p:sp>
        <p:sp>
          <p:nvSpPr>
            <p:cNvPr id="38975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global ISP</a:t>
              </a:r>
            </a:p>
          </p:txBody>
        </p:sp>
        <p:sp>
          <p:nvSpPr>
            <p:cNvPr id="38976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regional ISP</a:t>
              </a:r>
            </a:p>
          </p:txBody>
        </p:sp>
        <p:sp>
          <p:nvSpPr>
            <p:cNvPr id="38977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network</a:t>
              </a:r>
            </a:p>
          </p:txBody>
        </p:sp>
        <p:sp>
          <p:nvSpPr>
            <p:cNvPr id="38978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       network</a:t>
              </a:r>
            </a:p>
          </p:txBody>
        </p:sp>
        <p:grpSp>
          <p:nvGrpSpPr>
            <p:cNvPr id="38979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39112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13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14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15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16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9117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142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43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118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9119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140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41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120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21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9122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138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39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123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124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136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37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125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26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7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8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29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30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31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32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33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39134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35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38980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39080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1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082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3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4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9085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110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11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086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9087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108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09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088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089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9090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106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07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091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092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104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105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9093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094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95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96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097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98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099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00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01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39102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103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38981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39057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058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059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9060" name="Picture 1020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061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62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63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64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65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66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067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9074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5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6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7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8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9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068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69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70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71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72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73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82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39034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035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036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9037" name="Picture 1068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038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39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0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1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2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3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044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9051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2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3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4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5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6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045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6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7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8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49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50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83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39011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012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013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9014" name="Picture 1118" descr="screen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015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16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17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18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19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20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021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9028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9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0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1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2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3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022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23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24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25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26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27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84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39009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010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8985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38986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8987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988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8989" name="Picture 1146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990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1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2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3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4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5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8996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9003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4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5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6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7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8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8997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8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9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0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1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2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4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169864"/>
            <a:ext cx="8382000" cy="846137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What</a:t>
            </a:r>
            <a:r>
              <a:rPr lang="ja-JP" altLang="en-US" sz="3600" b="1" dirty="0"/>
              <a:t>’</a:t>
            </a:r>
            <a:r>
              <a:rPr lang="en-US" altLang="ja-JP" sz="3600" b="1" dirty="0"/>
              <a:t>s the Internet: a service view</a:t>
            </a:r>
            <a:endParaRPr lang="en-US" altLang="en-US" b="1" dirty="0" smtClean="0"/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98651" y="1655764"/>
            <a:ext cx="4435475" cy="4105275"/>
          </a:xfrm>
        </p:spPr>
        <p:txBody>
          <a:bodyPr>
            <a:normAutofit lnSpcReduction="10000"/>
          </a:bodyPr>
          <a:lstStyle/>
          <a:p>
            <a:pPr eaLnBrk="1" hangingPunct="1">
              <a:buSzPct val="75000"/>
            </a:pPr>
            <a:r>
              <a:rPr lang="en-US" altLang="en-US" i="1" smtClean="0">
                <a:solidFill>
                  <a:srgbClr val="CC0000"/>
                </a:solidFill>
              </a:rPr>
              <a:t>Infrastructure that provides services to applications:</a:t>
            </a:r>
            <a:endParaRPr lang="en-US" altLang="en-US" sz="2400"/>
          </a:p>
          <a:p>
            <a:pPr lvl="1" eaLnBrk="1" hangingPunct="1"/>
            <a:r>
              <a:rPr lang="en-US" altLang="en-US" smtClean="0">
                <a:ea typeface="Arial" panose="020B0604020202020204" pitchFamily="34" charset="0"/>
              </a:rPr>
              <a:t>Web, VoIP, email, games, e-commerce, social nets, …</a:t>
            </a:r>
          </a:p>
          <a:p>
            <a:pPr eaLnBrk="1" hangingPunct="1">
              <a:buSzPct val="75000"/>
            </a:pPr>
            <a:r>
              <a:rPr lang="en-US" altLang="en-US" i="1" smtClean="0">
                <a:solidFill>
                  <a:srgbClr val="CC0000"/>
                </a:solidFill>
              </a:rPr>
              <a:t>provides programming interface to apps</a:t>
            </a:r>
          </a:p>
          <a:p>
            <a:pPr lvl="1" eaLnBrk="1" hangingPunct="1"/>
            <a:r>
              <a:rPr lang="en-US" altLang="en-US" smtClean="0">
                <a:ea typeface="Arial" panose="020B0604020202020204" pitchFamily="34" charset="0"/>
              </a:rPr>
              <a:t>hooks that allow sending and receiving  app programs to </a:t>
            </a:r>
            <a:r>
              <a:rPr lang="ja-JP" altLang="en-US" smtClean="0">
                <a:ea typeface="MS PGothic" panose="020B0600070205080204" pitchFamily="34" charset="-128"/>
              </a:rPr>
              <a:t>“</a:t>
            </a:r>
            <a:r>
              <a:rPr lang="en-US" altLang="ja-JP" smtClean="0">
                <a:ea typeface="MS PGothic" panose="020B0600070205080204" pitchFamily="34" charset="-128"/>
              </a:rPr>
              <a:t>connect</a:t>
            </a:r>
            <a:r>
              <a:rPr lang="ja-JP" altLang="en-US" smtClean="0">
                <a:ea typeface="MS PGothic" panose="020B0600070205080204" pitchFamily="34" charset="-128"/>
              </a:rPr>
              <a:t>”</a:t>
            </a:r>
            <a:r>
              <a:rPr lang="en-US" altLang="ja-JP" smtClean="0">
                <a:ea typeface="MS PGothic" panose="020B0600070205080204" pitchFamily="34" charset="-128"/>
              </a:rPr>
              <a:t> to Internet</a:t>
            </a:r>
          </a:p>
          <a:p>
            <a:pPr lvl="1" eaLnBrk="1" hangingPunct="1"/>
            <a:r>
              <a:rPr lang="en-US" altLang="en-US" smtClean="0">
                <a:ea typeface="Arial" panose="020B0604020202020204" pitchFamily="34" charset="0"/>
              </a:rPr>
              <a:t>provides service options, analogous to postal service</a:t>
            </a:r>
          </a:p>
        </p:txBody>
      </p:sp>
      <p:grpSp>
        <p:nvGrpSpPr>
          <p:cNvPr id="40964" name="Group 725"/>
          <p:cNvGrpSpPr>
            <a:grpSpLocks/>
          </p:cNvGrpSpPr>
          <p:nvPr/>
        </p:nvGrpSpPr>
        <p:grpSpPr bwMode="auto">
          <a:xfrm>
            <a:off x="6691314" y="1395413"/>
            <a:ext cx="3551237" cy="4743450"/>
            <a:chOff x="5202238" y="1384300"/>
            <a:chExt cx="3551237" cy="4743450"/>
          </a:xfrm>
        </p:grpSpPr>
        <p:sp>
          <p:nvSpPr>
            <p:cNvPr id="40967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8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9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70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41320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321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40971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7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428"/>
            <p:cNvSpPr>
              <a:spLocks noChangeShapeType="1"/>
            </p:cNvSpPr>
            <p:nvPr/>
          </p:nvSpPr>
          <p:spPr bwMode="auto">
            <a:xfrm rot="-5400000">
              <a:off x="7845425" y="5159375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9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2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0" name="Line 430"/>
            <p:cNvSpPr>
              <a:spLocks noChangeShapeType="1"/>
            </p:cNvSpPr>
            <p:nvPr/>
          </p:nvSpPr>
          <p:spPr bwMode="auto">
            <a:xfrm rot="-5400000">
              <a:off x="8177213" y="5116512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1" name="Line 431"/>
            <p:cNvSpPr>
              <a:spLocks noChangeShapeType="1"/>
            </p:cNvSpPr>
            <p:nvPr/>
          </p:nvSpPr>
          <p:spPr bwMode="auto">
            <a:xfrm>
              <a:off x="7358063" y="4697412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Line 432"/>
            <p:cNvSpPr>
              <a:spLocks noChangeShapeType="1"/>
            </p:cNvSpPr>
            <p:nvPr/>
          </p:nvSpPr>
          <p:spPr bwMode="auto">
            <a:xfrm flipV="1">
              <a:off x="6737350" y="4684712"/>
              <a:ext cx="322263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433"/>
            <p:cNvSpPr>
              <a:spLocks noChangeShapeType="1"/>
            </p:cNvSpPr>
            <p:nvPr/>
          </p:nvSpPr>
          <p:spPr bwMode="auto">
            <a:xfrm flipV="1">
              <a:off x="6780213" y="4976812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Line 435"/>
            <p:cNvSpPr>
              <a:spLocks noChangeShapeType="1"/>
            </p:cNvSpPr>
            <p:nvPr/>
          </p:nvSpPr>
          <p:spPr bwMode="auto">
            <a:xfrm>
              <a:off x="6100763" y="4773612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Line 436"/>
            <p:cNvSpPr>
              <a:spLocks noChangeShapeType="1"/>
            </p:cNvSpPr>
            <p:nvPr/>
          </p:nvSpPr>
          <p:spPr bwMode="auto">
            <a:xfrm flipV="1">
              <a:off x="5842000" y="4983162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6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Line 440"/>
            <p:cNvSpPr>
              <a:spLocks noChangeShapeType="1"/>
            </p:cNvSpPr>
            <p:nvPr/>
          </p:nvSpPr>
          <p:spPr bwMode="auto">
            <a:xfrm flipH="1" flipV="1">
              <a:off x="6588125" y="5097462"/>
              <a:ext cx="74613" cy="173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8" name="Line 441"/>
            <p:cNvSpPr>
              <a:spLocks noChangeShapeType="1"/>
            </p:cNvSpPr>
            <p:nvPr/>
          </p:nvSpPr>
          <p:spPr bwMode="auto">
            <a:xfrm>
              <a:off x="6743700" y="5053012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9" name="Line 443"/>
            <p:cNvSpPr>
              <a:spLocks noChangeShapeType="1"/>
            </p:cNvSpPr>
            <p:nvPr/>
          </p:nvSpPr>
          <p:spPr bwMode="auto">
            <a:xfrm>
              <a:off x="6281738" y="3522662"/>
              <a:ext cx="0" cy="131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Line 445"/>
            <p:cNvSpPr>
              <a:spLocks noChangeShapeType="1"/>
            </p:cNvSpPr>
            <p:nvPr/>
          </p:nvSpPr>
          <p:spPr bwMode="auto">
            <a:xfrm>
              <a:off x="7405688" y="2665412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2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3" name="Line 447"/>
            <p:cNvSpPr>
              <a:spLocks noChangeShapeType="1"/>
            </p:cNvSpPr>
            <p:nvPr/>
          </p:nvSpPr>
          <p:spPr bwMode="auto">
            <a:xfrm>
              <a:off x="7942263" y="2560637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4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5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6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7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Line 541"/>
            <p:cNvSpPr>
              <a:spLocks noChangeShapeType="1"/>
            </p:cNvSpPr>
            <p:nvPr/>
          </p:nvSpPr>
          <p:spPr bwMode="auto">
            <a:xfrm flipV="1">
              <a:off x="7272338" y="4075112"/>
              <a:ext cx="227012" cy="436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00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41318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319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1001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41316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317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1002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41314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315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1003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41312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313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41004" name="Picture 603" descr="car_icon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05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41310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11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006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4130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305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308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09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06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07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07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4129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9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9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97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300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01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98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99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08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4128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8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8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89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92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93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90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91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09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4127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8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81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84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85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82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83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10" name="Line 693"/>
            <p:cNvSpPr>
              <a:spLocks noChangeShapeType="1"/>
            </p:cNvSpPr>
            <p:nvPr/>
          </p:nvSpPr>
          <p:spPr bwMode="auto">
            <a:xfrm>
              <a:off x="8345488" y="2855912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11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4127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73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76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77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74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75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2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4126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65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68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69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66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67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3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4125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5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5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57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60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61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58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59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4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4124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4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4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49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52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53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50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51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5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4123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3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4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41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44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45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42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43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6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4123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3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3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33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36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37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34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5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7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4122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2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2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25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28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29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26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7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8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4121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1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1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17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1220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21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18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9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19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41212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213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020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41210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211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021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41192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41195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196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197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198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199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0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1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2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3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4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5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6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7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8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1209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41193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194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41022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mobile network</a:t>
              </a:r>
            </a:p>
          </p:txBody>
        </p:sp>
        <p:sp>
          <p:nvSpPr>
            <p:cNvPr id="41023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global ISP</a:t>
              </a:r>
            </a:p>
          </p:txBody>
        </p:sp>
        <p:sp>
          <p:nvSpPr>
            <p:cNvPr id="41024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regional ISP</a:t>
              </a:r>
            </a:p>
          </p:txBody>
        </p:sp>
        <p:sp>
          <p:nvSpPr>
            <p:cNvPr id="41025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network</a:t>
              </a:r>
            </a:p>
          </p:txBody>
        </p:sp>
        <p:sp>
          <p:nvSpPr>
            <p:cNvPr id="41026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       network</a:t>
              </a:r>
            </a:p>
          </p:txBody>
        </p:sp>
        <p:grpSp>
          <p:nvGrpSpPr>
            <p:cNvPr id="41027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41160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61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62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63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64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1165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1190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91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66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1167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1188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89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68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69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1170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1186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87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71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72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1184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85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73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74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75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76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77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78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79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80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81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1182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83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1028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41128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9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30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1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2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1133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1158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59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34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1135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1156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57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36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37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1138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1154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55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39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40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1152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1153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1141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42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43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44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45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46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47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48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49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1150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151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1029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41105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106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107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1108" name="Picture 1020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109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0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1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2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3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4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15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122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23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24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25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26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27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116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7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8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9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0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1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30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41082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083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84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1085" name="Picture 1068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86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87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88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89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0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1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092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099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00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01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02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03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04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093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4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5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6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7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8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31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41059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060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61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1062" name="Picture 1118" descr="screen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63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4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5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6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7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8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069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076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77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78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79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80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81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070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71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72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73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74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75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32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41057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58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1033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41034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035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36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1037" name="Picture 1146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038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39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0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1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2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3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044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051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52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53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54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55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56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045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6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7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8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9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50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8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11363" y="206376"/>
            <a:ext cx="5657850" cy="868363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What</a:t>
            </a:r>
            <a:r>
              <a:rPr lang="ja-JP" altLang="en-US" b="1" dirty="0" smtClean="0"/>
              <a:t>’</a:t>
            </a:r>
            <a:r>
              <a:rPr lang="en-US" altLang="ja-JP" b="1" dirty="0" smtClean="0"/>
              <a:t>s a protocol?</a:t>
            </a:r>
            <a:endParaRPr lang="en-US" altLang="en-US" b="1" dirty="0" smtClean="0"/>
          </a:p>
        </p:txBody>
      </p:sp>
      <p:sp>
        <p:nvSpPr>
          <p:cNvPr id="43014" name="Rectangle 5"/>
          <p:cNvSpPr>
            <a:spLocks noChangeArrowheads="1"/>
          </p:cNvSpPr>
          <p:nvPr/>
        </p:nvSpPr>
        <p:spPr bwMode="auto">
          <a:xfrm>
            <a:off x="1828799" y="2081348"/>
            <a:ext cx="8908869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en-US" sz="2800" i="1" dirty="0">
                <a:solidFill>
                  <a:srgbClr val="CC0000"/>
                </a:solidFill>
                <a:latin typeface="Gill Sans MT" panose="020B0502020104020203" pitchFamily="34" charset="0"/>
              </a:rPr>
              <a:t>protocols</a:t>
            </a:r>
            <a:r>
              <a:rPr lang="en-US" altLang="en-US" sz="2800" i="1" dirty="0">
                <a:latin typeface="Gill Sans MT" panose="020B0502020104020203" pitchFamily="34" charset="0"/>
              </a:rPr>
              <a:t> define </a:t>
            </a:r>
            <a:r>
              <a:rPr lang="en-US" altLang="en-US" sz="2800" i="1" dirty="0">
                <a:solidFill>
                  <a:srgbClr val="CC0000"/>
                </a:solidFill>
                <a:latin typeface="Gill Sans MT" panose="020B0502020104020203" pitchFamily="34" charset="0"/>
              </a:rPr>
              <a:t>format</a:t>
            </a:r>
            <a:r>
              <a:rPr lang="en-US" altLang="en-US" sz="2800" i="1" dirty="0">
                <a:latin typeface="Gill Sans MT" panose="020B0502020104020203" pitchFamily="34" charset="0"/>
              </a:rPr>
              <a:t>, </a:t>
            </a:r>
            <a:r>
              <a:rPr lang="en-US" altLang="en-US" sz="2800" i="1" dirty="0">
                <a:solidFill>
                  <a:srgbClr val="CC0000"/>
                </a:solidFill>
                <a:latin typeface="Gill Sans MT" panose="020B0502020104020203" pitchFamily="34" charset="0"/>
              </a:rPr>
              <a:t>order</a:t>
            </a:r>
            <a:r>
              <a:rPr lang="en-US" altLang="en-US" sz="2800" i="1" dirty="0">
                <a:latin typeface="Gill Sans MT" panose="020B0502020104020203" pitchFamily="34" charset="0"/>
              </a:rPr>
              <a:t> of </a:t>
            </a:r>
            <a:r>
              <a:rPr lang="en-US" altLang="en-US" sz="2800" i="1" dirty="0" err="1">
                <a:solidFill>
                  <a:srgbClr val="CC0000"/>
                </a:solidFill>
                <a:latin typeface="Gill Sans MT" panose="020B0502020104020203" pitchFamily="34" charset="0"/>
              </a:rPr>
              <a:t>msgs</a:t>
            </a:r>
            <a:r>
              <a:rPr lang="en-US" altLang="en-US" sz="2800" i="1" dirty="0">
                <a:solidFill>
                  <a:srgbClr val="CC0000"/>
                </a:solidFill>
                <a:latin typeface="Gill Sans MT" panose="020B0502020104020203" pitchFamily="34" charset="0"/>
              </a:rPr>
              <a:t> sent and received</a:t>
            </a:r>
            <a:r>
              <a:rPr lang="en-US" altLang="en-US" sz="2800" i="1" dirty="0">
                <a:latin typeface="Gill Sans MT" panose="020B0502020104020203" pitchFamily="34" charset="0"/>
              </a:rPr>
              <a:t> among network entities, and </a:t>
            </a:r>
            <a:r>
              <a:rPr lang="en-US" altLang="en-US" sz="2800" i="1" dirty="0">
                <a:solidFill>
                  <a:srgbClr val="CC0000"/>
                </a:solidFill>
                <a:latin typeface="Gill Sans MT" panose="020B0502020104020203" pitchFamily="34" charset="0"/>
              </a:rPr>
              <a:t>actions taken</a:t>
            </a:r>
            <a:r>
              <a:rPr lang="en-US" altLang="en-US" sz="2800" i="1" dirty="0">
                <a:latin typeface="Gill Sans MT" panose="020B0502020104020203" pitchFamily="34" charset="0"/>
              </a:rPr>
              <a:t> on </a:t>
            </a:r>
            <a:r>
              <a:rPr lang="en-US" altLang="en-US" sz="2800" i="1" dirty="0" err="1">
                <a:latin typeface="Gill Sans MT" panose="020B0502020104020203" pitchFamily="34" charset="0"/>
              </a:rPr>
              <a:t>msg</a:t>
            </a:r>
            <a:r>
              <a:rPr lang="en-US" altLang="en-US" sz="2800" i="1" dirty="0">
                <a:latin typeface="Gill Sans MT" panose="020B0502020104020203" pitchFamily="34" charset="0"/>
              </a:rPr>
              <a:t> transmission, receipt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4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201614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A closer look at network structure:</a:t>
            </a:r>
            <a:endParaRPr lang="en-US" altLang="en-US" b="1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41513" y="1381125"/>
            <a:ext cx="4203700" cy="10477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SzPct val="75000"/>
            </a:pPr>
            <a:r>
              <a:rPr lang="en-US" altLang="en-US" i="1" smtClean="0">
                <a:solidFill>
                  <a:srgbClr val="CC0000"/>
                </a:solidFill>
              </a:rPr>
              <a:t>network edge:</a:t>
            </a:r>
          </a:p>
          <a:p>
            <a:pPr lvl="1" eaLnBrk="1" hangingPunct="1">
              <a:buSzPct val="75000"/>
            </a:pPr>
            <a:r>
              <a:rPr lang="en-US" altLang="en-US" smtClean="0">
                <a:ea typeface="MS PGothic" panose="020B0600070205080204" pitchFamily="34" charset="-128"/>
              </a:rPr>
              <a:t>hosts: clients and servers</a:t>
            </a:r>
          </a:p>
          <a:p>
            <a:pPr lvl="1" eaLnBrk="1" hangingPunct="1">
              <a:buSzPct val="75000"/>
            </a:pPr>
            <a:r>
              <a:rPr lang="en-US" altLang="en-US" smtClean="0">
                <a:ea typeface="MS PGothic" panose="020B0600070205080204" pitchFamily="34" charset="-128"/>
              </a:rPr>
              <a:t>servers often in data centers</a:t>
            </a:r>
          </a:p>
          <a:p>
            <a:pPr lvl="1" eaLnBrk="1" hangingPunct="1">
              <a:buSzPct val="75000"/>
            </a:pPr>
            <a:endParaRPr lang="en-US" altLang="en-US" smtClean="0">
              <a:ea typeface="MS PGothic" panose="020B0600070205080204" pitchFamily="34" charset="-128"/>
            </a:endParaRPr>
          </a:p>
        </p:txBody>
      </p:sp>
      <p:sp>
        <p:nvSpPr>
          <p:cNvPr id="10088" name="Rectangle 872"/>
          <p:cNvSpPr>
            <a:spLocks noChangeArrowheads="1"/>
          </p:cNvSpPr>
          <p:nvPr/>
        </p:nvSpPr>
        <p:spPr bwMode="auto">
          <a:xfrm>
            <a:off x="1943100" y="3068638"/>
            <a:ext cx="4027488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access networks, physical media:</a:t>
            </a:r>
            <a:r>
              <a:rPr lang="en-US" altLang="en-US" sz="2800">
                <a:latin typeface="Gill Sans MT" panose="020B0502020104020203" pitchFamily="34" charset="0"/>
              </a:rPr>
              <a:t> wired, wireless communication links</a:t>
            </a:r>
            <a:r>
              <a:rPr lang="en-US" altLang="en-US" sz="280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10089" name="Rectangle 873"/>
          <p:cNvSpPr>
            <a:spLocks noChangeArrowheads="1"/>
          </p:cNvSpPr>
          <p:nvPr/>
        </p:nvSpPr>
        <p:spPr bwMode="auto">
          <a:xfrm>
            <a:off x="1971675" y="4784726"/>
            <a:ext cx="38100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28650" indent="-1714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network core: </a:t>
            </a:r>
          </a:p>
          <a:p>
            <a:pPr lvl="1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anose="05000000000000000000" pitchFamily="2" charset="2"/>
              <a:buChar char="§"/>
            </a:pPr>
            <a:r>
              <a:rPr lang="en-US" altLang="en-US">
                <a:latin typeface="Gill Sans MT" panose="020B0502020104020203" pitchFamily="34" charset="0"/>
              </a:rPr>
              <a:t>interconnected routers</a:t>
            </a:r>
          </a:p>
          <a:p>
            <a:pPr lvl="1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anose="05000000000000000000" pitchFamily="2" charset="2"/>
              <a:buChar char="§"/>
            </a:pPr>
            <a:r>
              <a:rPr lang="en-US" altLang="en-US">
                <a:latin typeface="Gill Sans MT" panose="020B0502020104020203" pitchFamily="34" charset="0"/>
              </a:rPr>
              <a:t>network of networks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q"/>
            </a:pPr>
            <a:endParaRPr lang="en-US" altLang="en-US">
              <a:latin typeface="Gill Sans MT" panose="020B0502020104020203" pitchFamily="34" charset="0"/>
            </a:endParaRPr>
          </a:p>
        </p:txBody>
      </p:sp>
      <p:grpSp>
        <p:nvGrpSpPr>
          <p:cNvPr id="49159" name="Group 733"/>
          <p:cNvGrpSpPr>
            <a:grpSpLocks/>
          </p:cNvGrpSpPr>
          <p:nvPr/>
        </p:nvGrpSpPr>
        <p:grpSpPr bwMode="auto">
          <a:xfrm>
            <a:off x="6726239" y="1384300"/>
            <a:ext cx="3551237" cy="4743450"/>
            <a:chOff x="5202238" y="1384300"/>
            <a:chExt cx="3551237" cy="4743450"/>
          </a:xfrm>
        </p:grpSpPr>
        <p:sp>
          <p:nvSpPr>
            <p:cNvPr id="49161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2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3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164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49514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515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49165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6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7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8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9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0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1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2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3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4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5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6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7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8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9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0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1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2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3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4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5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6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7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8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9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0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1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2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93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194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49512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513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9195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49510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511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9196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49508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509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9197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49506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507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49198" name="Picture 603" descr="car_icon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199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49504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505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9200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4949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9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9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99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502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03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500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01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01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4948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8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9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91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94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95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92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93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02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4948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8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8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83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86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87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84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85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03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4947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7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7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75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78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79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76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77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204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205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4946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6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6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67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70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71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68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69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06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4945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5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5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59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62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63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60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61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07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4944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4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5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51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54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55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52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53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08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4944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4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4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43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46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47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44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45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09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4943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3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3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35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38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39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36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37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10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4942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2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2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27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30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31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28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9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11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4941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1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1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19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22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23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20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21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12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4940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0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41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411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414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15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412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13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13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49406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407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9214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49404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405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9215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49386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4938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0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1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2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3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4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5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6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7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8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399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400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401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402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9403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49387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388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49216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mobile network</a:t>
              </a:r>
            </a:p>
          </p:txBody>
        </p:sp>
        <p:sp>
          <p:nvSpPr>
            <p:cNvPr id="49217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global ISP</a:t>
              </a:r>
            </a:p>
          </p:txBody>
        </p:sp>
        <p:sp>
          <p:nvSpPr>
            <p:cNvPr id="49218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regional ISP</a:t>
              </a:r>
            </a:p>
          </p:txBody>
        </p:sp>
        <p:sp>
          <p:nvSpPr>
            <p:cNvPr id="49219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network</a:t>
              </a:r>
            </a:p>
          </p:txBody>
        </p:sp>
        <p:sp>
          <p:nvSpPr>
            <p:cNvPr id="49220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       network</a:t>
              </a:r>
            </a:p>
          </p:txBody>
        </p:sp>
        <p:grpSp>
          <p:nvGrpSpPr>
            <p:cNvPr id="49221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49354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5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56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7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58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9359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9384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85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60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9361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9382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83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62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63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9364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9380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81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65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366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9378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79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67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68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69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0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71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72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73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74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75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9376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77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9222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49322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23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24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25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26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9327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9352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53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28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9329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9350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51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30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31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9332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9348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49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33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334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9346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347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9335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36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37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38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39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40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41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42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43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9344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45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9223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49299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300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301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9302" name="Picture 1020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303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04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05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06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07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08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309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9316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17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18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19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20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21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310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11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12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13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14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15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24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49276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277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78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9279" name="Picture 1068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80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81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82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83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84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85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286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9293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94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95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96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97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98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87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88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89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90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91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92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25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49253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254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55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9256" name="Picture 1118" descr="screen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57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58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59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0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1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2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263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9270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71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72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73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74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75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64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5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6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7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8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69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226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49251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52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9227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49228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229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30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9231" name="Picture 1146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32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3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4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5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6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7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238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9245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46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47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48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49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50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39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40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41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42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43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44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7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62138" y="196851"/>
            <a:ext cx="8382000" cy="83502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Access networks and physical media</a:t>
            </a:r>
            <a:endParaRPr lang="en-US" altLang="en-US" b="1" dirty="0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24076" y="1371600"/>
            <a:ext cx="4010025" cy="50101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Q: How to connect end systems to edge router?</a:t>
            </a:r>
          </a:p>
          <a:p>
            <a:pPr eaLnBrk="1" hangingPunct="1">
              <a:buSzPct val="75000"/>
            </a:pPr>
            <a:r>
              <a:rPr lang="en-US" altLang="en-US" sz="2400"/>
              <a:t>residential access nets</a:t>
            </a:r>
          </a:p>
          <a:p>
            <a:pPr eaLnBrk="1" hangingPunct="1">
              <a:buSzPct val="75000"/>
            </a:pPr>
            <a:r>
              <a:rPr lang="en-US" altLang="en-US" sz="2400"/>
              <a:t>institutional access networks (school, company)</a:t>
            </a:r>
          </a:p>
          <a:p>
            <a:pPr eaLnBrk="1" hangingPunct="1">
              <a:spcAft>
                <a:spcPct val="30000"/>
              </a:spcAft>
              <a:buSzPct val="75000"/>
            </a:pPr>
            <a:r>
              <a:rPr lang="en-US" altLang="en-US" sz="2400"/>
              <a:t>mobile access networks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keep in mind: </a:t>
            </a:r>
          </a:p>
          <a:p>
            <a:pPr eaLnBrk="1" hangingPunct="1">
              <a:buSzPct val="75000"/>
            </a:pPr>
            <a:r>
              <a:rPr lang="en-US" altLang="en-US" sz="2400"/>
              <a:t>bandwidth (bits per second) of access network?</a:t>
            </a:r>
          </a:p>
          <a:p>
            <a:pPr eaLnBrk="1" hangingPunct="1">
              <a:buSzPct val="75000"/>
            </a:pPr>
            <a:r>
              <a:rPr lang="en-US" altLang="en-US" sz="2400"/>
              <a:t>shared or dedicated?</a:t>
            </a:r>
          </a:p>
        </p:txBody>
      </p:sp>
      <p:sp>
        <p:nvSpPr>
          <p:cNvPr id="51204" name="Freeform 665"/>
          <p:cNvSpPr>
            <a:spLocks/>
          </p:cNvSpPr>
          <p:nvPr/>
        </p:nvSpPr>
        <p:spPr bwMode="auto">
          <a:xfrm>
            <a:off x="6726239" y="1712913"/>
            <a:ext cx="1736725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05" name="Group 666"/>
          <p:cNvGrpSpPr>
            <a:grpSpLocks/>
          </p:cNvGrpSpPr>
          <p:nvPr/>
        </p:nvGrpSpPr>
        <p:grpSpPr bwMode="auto">
          <a:xfrm>
            <a:off x="6894513" y="3048000"/>
            <a:ext cx="1458912" cy="933450"/>
            <a:chOff x="2889" y="1631"/>
            <a:chExt cx="980" cy="743"/>
          </a:xfrm>
        </p:grpSpPr>
        <p:sp>
          <p:nvSpPr>
            <p:cNvPr id="51651" name="Rectangle 667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652" name="AutoShape 668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CCFF"/>
                </a:solidFill>
              </a:endParaRPr>
            </a:p>
          </p:txBody>
        </p:sp>
      </p:grpSp>
      <p:sp>
        <p:nvSpPr>
          <p:cNvPr id="51206" name="Freeform 669"/>
          <p:cNvSpPr>
            <a:spLocks/>
          </p:cNvSpPr>
          <p:nvPr/>
        </p:nvSpPr>
        <p:spPr bwMode="auto">
          <a:xfrm>
            <a:off x="6888163" y="4425950"/>
            <a:ext cx="3225800" cy="1665288"/>
          </a:xfrm>
          <a:custGeom>
            <a:avLst/>
            <a:gdLst>
              <a:gd name="T0" fmla="*/ 2147483647 w 2032"/>
              <a:gd name="T1" fmla="*/ 2147483647 h 1049"/>
              <a:gd name="T2" fmla="*/ 2147483647 w 2032"/>
              <a:gd name="T3" fmla="*/ 2147483647 h 1049"/>
              <a:gd name="T4" fmla="*/ 2147483647 w 2032"/>
              <a:gd name="T5" fmla="*/ 2147483647 h 1049"/>
              <a:gd name="T6" fmla="*/ 2147483647 w 2032"/>
              <a:gd name="T7" fmla="*/ 2147483647 h 1049"/>
              <a:gd name="T8" fmla="*/ 2147483647 w 2032"/>
              <a:gd name="T9" fmla="*/ 2147483647 h 1049"/>
              <a:gd name="T10" fmla="*/ 2147483647 w 2032"/>
              <a:gd name="T11" fmla="*/ 2147483647 h 1049"/>
              <a:gd name="T12" fmla="*/ 2147483647 w 2032"/>
              <a:gd name="T13" fmla="*/ 2147483647 h 1049"/>
              <a:gd name="T14" fmla="*/ 2147483647 w 2032"/>
              <a:gd name="T15" fmla="*/ 2147483647 h 1049"/>
              <a:gd name="T16" fmla="*/ 2147483647 w 2032"/>
              <a:gd name="T17" fmla="*/ 2147483647 h 1049"/>
              <a:gd name="T18" fmla="*/ 2147483647 w 2032"/>
              <a:gd name="T19" fmla="*/ 2147483647 h 1049"/>
              <a:gd name="T20" fmla="*/ 2147483647 w 2032"/>
              <a:gd name="T21" fmla="*/ 2147483647 h 1049"/>
              <a:gd name="T22" fmla="*/ 2147483647 w 2032"/>
              <a:gd name="T23" fmla="*/ 2147483647 h 1049"/>
              <a:gd name="T24" fmla="*/ 2147483647 w 2032"/>
              <a:gd name="T25" fmla="*/ 2147483647 h 1049"/>
              <a:gd name="T26" fmla="*/ 2147483647 w 2032"/>
              <a:gd name="T27" fmla="*/ 2147483647 h 1049"/>
              <a:gd name="T28" fmla="*/ 2147483647 w 2032"/>
              <a:gd name="T29" fmla="*/ 2147483647 h 1049"/>
              <a:gd name="T30" fmla="*/ 2147483647 w 2032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Line 670"/>
          <p:cNvSpPr>
            <a:spLocks noChangeShapeType="1"/>
          </p:cNvSpPr>
          <p:nvPr/>
        </p:nvSpPr>
        <p:spPr bwMode="auto">
          <a:xfrm rot="16200000">
            <a:off x="9369426" y="5162551"/>
            <a:ext cx="523875" cy="139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Line 671"/>
          <p:cNvSpPr>
            <a:spLocks noChangeShapeType="1"/>
          </p:cNvSpPr>
          <p:nvPr/>
        </p:nvSpPr>
        <p:spPr bwMode="auto">
          <a:xfrm rot="5400000" flipV="1">
            <a:off x="9515476" y="5443539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9" name="Line 672"/>
          <p:cNvSpPr>
            <a:spLocks noChangeShapeType="1"/>
          </p:cNvSpPr>
          <p:nvPr/>
        </p:nvSpPr>
        <p:spPr bwMode="auto">
          <a:xfrm rot="16200000">
            <a:off x="9701213" y="5116513"/>
            <a:ext cx="0" cy="1143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0" name="Line 674"/>
          <p:cNvSpPr>
            <a:spLocks noChangeShapeType="1"/>
          </p:cNvSpPr>
          <p:nvPr/>
        </p:nvSpPr>
        <p:spPr bwMode="auto">
          <a:xfrm>
            <a:off x="7624764" y="4776788"/>
            <a:ext cx="217487" cy="100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1" name="Line 675"/>
          <p:cNvSpPr>
            <a:spLocks noChangeShapeType="1"/>
          </p:cNvSpPr>
          <p:nvPr/>
        </p:nvSpPr>
        <p:spPr bwMode="auto">
          <a:xfrm flipV="1">
            <a:off x="7366000" y="5038726"/>
            <a:ext cx="407988" cy="746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2" name="Line 678"/>
          <p:cNvSpPr>
            <a:spLocks noChangeShapeType="1"/>
          </p:cNvSpPr>
          <p:nvPr/>
        </p:nvSpPr>
        <p:spPr bwMode="auto">
          <a:xfrm flipH="1">
            <a:off x="7791451" y="5102226"/>
            <a:ext cx="144463" cy="1698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3" name="Line 679"/>
          <p:cNvSpPr>
            <a:spLocks noChangeShapeType="1"/>
          </p:cNvSpPr>
          <p:nvPr/>
        </p:nvSpPr>
        <p:spPr bwMode="auto">
          <a:xfrm flipH="1" flipV="1">
            <a:off x="8110538" y="5110163"/>
            <a:ext cx="76200" cy="1635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4" name="Line 680"/>
          <p:cNvSpPr>
            <a:spLocks noChangeShapeType="1"/>
          </p:cNvSpPr>
          <p:nvPr/>
        </p:nvSpPr>
        <p:spPr bwMode="auto">
          <a:xfrm>
            <a:off x="8267700" y="5056189"/>
            <a:ext cx="503238" cy="2698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Line 682"/>
          <p:cNvSpPr>
            <a:spLocks noChangeShapeType="1"/>
          </p:cNvSpPr>
          <p:nvPr/>
        </p:nvSpPr>
        <p:spPr bwMode="auto">
          <a:xfrm>
            <a:off x="7808913" y="3551238"/>
            <a:ext cx="0" cy="1063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6" name="Line 683"/>
          <p:cNvSpPr>
            <a:spLocks noChangeShapeType="1"/>
          </p:cNvSpPr>
          <p:nvPr/>
        </p:nvSpPr>
        <p:spPr bwMode="auto">
          <a:xfrm flipV="1">
            <a:off x="7415214" y="3736976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217" name="Picture 684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9" y="3548064"/>
            <a:ext cx="3698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18" name="Line 685"/>
          <p:cNvSpPr>
            <a:spLocks noChangeShapeType="1"/>
          </p:cNvSpPr>
          <p:nvPr/>
        </p:nvSpPr>
        <p:spPr bwMode="auto">
          <a:xfrm rot="5400000" flipV="1">
            <a:off x="9518651" y="5440364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9" name="Line 686"/>
          <p:cNvSpPr>
            <a:spLocks noChangeShapeType="1"/>
          </p:cNvSpPr>
          <p:nvPr/>
        </p:nvSpPr>
        <p:spPr bwMode="auto">
          <a:xfrm flipV="1">
            <a:off x="7418389" y="3733801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220" name="Picture 708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975" y="3546475"/>
            <a:ext cx="36988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1" name="Freeform 709"/>
          <p:cNvSpPr>
            <a:spLocks/>
          </p:cNvSpPr>
          <p:nvPr/>
        </p:nvSpPr>
        <p:spPr bwMode="auto">
          <a:xfrm>
            <a:off x="8539163" y="3530600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2" name="Freeform 710"/>
          <p:cNvSpPr>
            <a:spLocks/>
          </p:cNvSpPr>
          <p:nvPr/>
        </p:nvSpPr>
        <p:spPr bwMode="auto">
          <a:xfrm>
            <a:off x="8547101" y="2005014"/>
            <a:ext cx="1730375" cy="1125537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3" name="Line 711"/>
          <p:cNvSpPr>
            <a:spLocks noChangeShapeType="1"/>
          </p:cNvSpPr>
          <p:nvPr/>
        </p:nvSpPr>
        <p:spPr bwMode="auto">
          <a:xfrm>
            <a:off x="8920163" y="3816350"/>
            <a:ext cx="163512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4" name="Line 712"/>
          <p:cNvSpPr>
            <a:spLocks noChangeShapeType="1"/>
          </p:cNvSpPr>
          <p:nvPr/>
        </p:nvSpPr>
        <p:spPr bwMode="auto">
          <a:xfrm>
            <a:off x="9017000" y="3736975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5" name="Line 713"/>
          <p:cNvSpPr>
            <a:spLocks noChangeShapeType="1"/>
          </p:cNvSpPr>
          <p:nvPr/>
        </p:nvSpPr>
        <p:spPr bwMode="auto">
          <a:xfrm flipV="1">
            <a:off x="9253539" y="3822701"/>
            <a:ext cx="134937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6" name="Line 714"/>
          <p:cNvSpPr>
            <a:spLocks noChangeShapeType="1"/>
          </p:cNvSpPr>
          <p:nvPr/>
        </p:nvSpPr>
        <p:spPr bwMode="auto">
          <a:xfrm>
            <a:off x="8247064" y="2590801"/>
            <a:ext cx="509587" cy="31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7" name="Line 715"/>
          <p:cNvSpPr>
            <a:spLocks noChangeShapeType="1"/>
          </p:cNvSpPr>
          <p:nvPr/>
        </p:nvSpPr>
        <p:spPr bwMode="auto">
          <a:xfrm>
            <a:off x="8882064" y="4700588"/>
            <a:ext cx="390525" cy="1841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8" name="Line 716"/>
          <p:cNvSpPr>
            <a:spLocks noChangeShapeType="1"/>
          </p:cNvSpPr>
          <p:nvPr/>
        </p:nvSpPr>
        <p:spPr bwMode="auto">
          <a:xfrm flipV="1">
            <a:off x="8261351" y="4687889"/>
            <a:ext cx="322263" cy="1984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9" name="Line 717"/>
          <p:cNvSpPr>
            <a:spLocks noChangeShapeType="1"/>
          </p:cNvSpPr>
          <p:nvPr/>
        </p:nvSpPr>
        <p:spPr bwMode="auto">
          <a:xfrm flipV="1">
            <a:off x="8304213" y="4979988"/>
            <a:ext cx="971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0" name="Line 718"/>
          <p:cNvSpPr>
            <a:spLocks noChangeShapeType="1"/>
          </p:cNvSpPr>
          <p:nvPr/>
        </p:nvSpPr>
        <p:spPr bwMode="auto">
          <a:xfrm flipV="1">
            <a:off x="9101139" y="2495551"/>
            <a:ext cx="123825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1" name="Line 719"/>
          <p:cNvSpPr>
            <a:spLocks noChangeShapeType="1"/>
          </p:cNvSpPr>
          <p:nvPr/>
        </p:nvSpPr>
        <p:spPr bwMode="auto">
          <a:xfrm>
            <a:off x="8929688" y="2668588"/>
            <a:ext cx="0" cy="825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2" name="Line 720"/>
          <p:cNvSpPr>
            <a:spLocks noChangeShapeType="1"/>
          </p:cNvSpPr>
          <p:nvPr/>
        </p:nvSpPr>
        <p:spPr bwMode="auto">
          <a:xfrm flipV="1">
            <a:off x="9101139" y="2565401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3" name="Line 721"/>
          <p:cNvSpPr>
            <a:spLocks noChangeShapeType="1"/>
          </p:cNvSpPr>
          <p:nvPr/>
        </p:nvSpPr>
        <p:spPr bwMode="auto">
          <a:xfrm>
            <a:off x="9466263" y="2563813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4" name="Line 722"/>
          <p:cNvSpPr>
            <a:spLocks noChangeShapeType="1"/>
          </p:cNvSpPr>
          <p:nvPr/>
        </p:nvSpPr>
        <p:spPr bwMode="auto">
          <a:xfrm>
            <a:off x="9120188" y="2870200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5" name="Line 723"/>
          <p:cNvSpPr>
            <a:spLocks noChangeShapeType="1"/>
          </p:cNvSpPr>
          <p:nvPr/>
        </p:nvSpPr>
        <p:spPr bwMode="auto">
          <a:xfrm>
            <a:off x="9674225" y="2860675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6" name="Line 724"/>
          <p:cNvSpPr>
            <a:spLocks noChangeShapeType="1"/>
          </p:cNvSpPr>
          <p:nvPr/>
        </p:nvSpPr>
        <p:spPr bwMode="auto">
          <a:xfrm flipH="1">
            <a:off x="8820151" y="2936875"/>
            <a:ext cx="98425" cy="7048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7" name="Line 725"/>
          <p:cNvSpPr>
            <a:spLocks noChangeShapeType="1"/>
          </p:cNvSpPr>
          <p:nvPr/>
        </p:nvSpPr>
        <p:spPr bwMode="auto">
          <a:xfrm flipH="1">
            <a:off x="9412289" y="2936876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8" name="Line 726"/>
          <p:cNvSpPr>
            <a:spLocks noChangeShapeType="1"/>
          </p:cNvSpPr>
          <p:nvPr/>
        </p:nvSpPr>
        <p:spPr bwMode="auto">
          <a:xfrm flipV="1">
            <a:off x="8796338" y="4078288"/>
            <a:ext cx="227012" cy="4365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9" name="Line 727"/>
          <p:cNvSpPr>
            <a:spLocks noChangeShapeType="1"/>
          </p:cNvSpPr>
          <p:nvPr/>
        </p:nvSpPr>
        <p:spPr bwMode="auto">
          <a:xfrm>
            <a:off x="9869488" y="2859088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0" name="Line 728"/>
          <p:cNvSpPr>
            <a:spLocks noChangeShapeType="1"/>
          </p:cNvSpPr>
          <p:nvPr/>
        </p:nvSpPr>
        <p:spPr bwMode="auto">
          <a:xfrm>
            <a:off x="7813675" y="2406650"/>
            <a:ext cx="152400" cy="952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1" name="Oval 407"/>
          <p:cNvSpPr>
            <a:spLocks noChangeArrowheads="1"/>
          </p:cNvSpPr>
          <p:nvPr/>
        </p:nvSpPr>
        <p:spPr bwMode="auto">
          <a:xfrm>
            <a:off x="7878763" y="2565400"/>
            <a:ext cx="387350" cy="95250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42" name="Rectangle 410"/>
          <p:cNvSpPr>
            <a:spLocks noChangeArrowheads="1"/>
          </p:cNvSpPr>
          <p:nvPr/>
        </p:nvSpPr>
        <p:spPr bwMode="auto">
          <a:xfrm>
            <a:off x="7878764" y="2555875"/>
            <a:ext cx="388937" cy="58738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43" name="Oval 411"/>
          <p:cNvSpPr>
            <a:spLocks noChangeArrowheads="1"/>
          </p:cNvSpPr>
          <p:nvPr/>
        </p:nvSpPr>
        <p:spPr bwMode="auto">
          <a:xfrm>
            <a:off x="7877175" y="2490789"/>
            <a:ext cx="387350" cy="111125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51244" name="Group 732"/>
          <p:cNvGrpSpPr>
            <a:grpSpLocks/>
          </p:cNvGrpSpPr>
          <p:nvPr/>
        </p:nvGrpSpPr>
        <p:grpSpPr bwMode="auto">
          <a:xfrm>
            <a:off x="7954964" y="2519364"/>
            <a:ext cx="219075" cy="52387"/>
            <a:chOff x="2468" y="1332"/>
            <a:chExt cx="310" cy="60"/>
          </a:xfrm>
        </p:grpSpPr>
        <p:sp>
          <p:nvSpPr>
            <p:cNvPr id="51649" name="Freeform 733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0"/>
                <a:gd name="T13" fmla="*/ 0 h 60"/>
                <a:gd name="T14" fmla="*/ 310 w 310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50" name="Freeform 734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60"/>
                <a:gd name="T14" fmla="*/ 282 w 282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45" name="Line 735"/>
          <p:cNvSpPr>
            <a:spLocks noChangeShapeType="1"/>
          </p:cNvSpPr>
          <p:nvPr/>
        </p:nvSpPr>
        <p:spPr bwMode="auto">
          <a:xfrm>
            <a:off x="7878763" y="2543176"/>
            <a:ext cx="0" cy="746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6" name="Line 736"/>
          <p:cNvSpPr>
            <a:spLocks noChangeShapeType="1"/>
          </p:cNvSpPr>
          <p:nvPr/>
        </p:nvSpPr>
        <p:spPr bwMode="auto">
          <a:xfrm>
            <a:off x="8264525" y="2546351"/>
            <a:ext cx="0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47" name="Group 737"/>
          <p:cNvGrpSpPr>
            <a:grpSpLocks/>
          </p:cNvGrpSpPr>
          <p:nvPr/>
        </p:nvGrpSpPr>
        <p:grpSpPr bwMode="auto">
          <a:xfrm>
            <a:off x="8726489" y="2493964"/>
            <a:ext cx="390525" cy="174625"/>
            <a:chOff x="4334" y="1470"/>
            <a:chExt cx="246" cy="107"/>
          </a:xfrm>
        </p:grpSpPr>
        <p:sp>
          <p:nvSpPr>
            <p:cNvPr id="51641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42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43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644" name="Group 741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647" name="Freeform 74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48" name="Freeform 74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645" name="Line 744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6" name="Line 745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48" name="Group 746"/>
          <p:cNvGrpSpPr>
            <a:grpSpLocks/>
          </p:cNvGrpSpPr>
          <p:nvPr/>
        </p:nvGrpSpPr>
        <p:grpSpPr bwMode="auto">
          <a:xfrm>
            <a:off x="8737601" y="2757489"/>
            <a:ext cx="390525" cy="174625"/>
            <a:chOff x="4334" y="1470"/>
            <a:chExt cx="246" cy="107"/>
          </a:xfrm>
        </p:grpSpPr>
        <p:sp>
          <p:nvSpPr>
            <p:cNvPr id="51633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34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35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636" name="Group 750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639" name="Freeform 75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40" name="Freeform 75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637" name="Line 753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8" name="Line 754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49" name="Group 755"/>
          <p:cNvGrpSpPr>
            <a:grpSpLocks/>
          </p:cNvGrpSpPr>
          <p:nvPr/>
        </p:nvGrpSpPr>
        <p:grpSpPr bwMode="auto">
          <a:xfrm>
            <a:off x="9286876" y="2759076"/>
            <a:ext cx="390525" cy="174625"/>
            <a:chOff x="4334" y="1470"/>
            <a:chExt cx="246" cy="107"/>
          </a:xfrm>
        </p:grpSpPr>
        <p:sp>
          <p:nvSpPr>
            <p:cNvPr id="51625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26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27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628" name="Group 759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631" name="Freeform 76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32" name="Freeform 76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629" name="Line 762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0" name="Line 763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0" name="Group 764"/>
          <p:cNvGrpSpPr>
            <a:grpSpLocks/>
          </p:cNvGrpSpPr>
          <p:nvPr/>
        </p:nvGrpSpPr>
        <p:grpSpPr bwMode="auto">
          <a:xfrm>
            <a:off x="9213851" y="2393951"/>
            <a:ext cx="390525" cy="174625"/>
            <a:chOff x="4334" y="1470"/>
            <a:chExt cx="246" cy="107"/>
          </a:xfrm>
        </p:grpSpPr>
        <p:sp>
          <p:nvSpPr>
            <p:cNvPr id="51617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18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19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620" name="Group 768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623" name="Freeform 76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24" name="Freeform 77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621" name="Line 771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22" name="Line 772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1" name="Group 773"/>
          <p:cNvGrpSpPr>
            <a:grpSpLocks/>
          </p:cNvGrpSpPr>
          <p:nvPr/>
        </p:nvGrpSpPr>
        <p:grpSpPr bwMode="auto">
          <a:xfrm>
            <a:off x="9261476" y="3644901"/>
            <a:ext cx="492125" cy="206375"/>
            <a:chOff x="4334" y="1470"/>
            <a:chExt cx="246" cy="107"/>
          </a:xfrm>
        </p:grpSpPr>
        <p:sp>
          <p:nvSpPr>
            <p:cNvPr id="51609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10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11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612" name="Group 77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615" name="Freeform 77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16" name="Freeform 77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613" name="Line 78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14" name="Line 781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52" name="Line 782"/>
          <p:cNvSpPr>
            <a:spLocks noChangeShapeType="1"/>
          </p:cNvSpPr>
          <p:nvPr/>
        </p:nvSpPr>
        <p:spPr bwMode="auto">
          <a:xfrm>
            <a:off x="7951788" y="3743325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53" name="Group 783"/>
          <p:cNvGrpSpPr>
            <a:grpSpLocks/>
          </p:cNvGrpSpPr>
          <p:nvPr/>
        </p:nvGrpSpPr>
        <p:grpSpPr bwMode="auto">
          <a:xfrm>
            <a:off x="8610601" y="3632201"/>
            <a:ext cx="492125" cy="206375"/>
            <a:chOff x="4334" y="1470"/>
            <a:chExt cx="246" cy="107"/>
          </a:xfrm>
        </p:grpSpPr>
        <p:sp>
          <p:nvSpPr>
            <p:cNvPr id="51601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02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603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604" name="Group 78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607" name="Freeform 78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08" name="Freeform 78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605" name="Line 79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06" name="Line 791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4" name="Group 792"/>
          <p:cNvGrpSpPr>
            <a:grpSpLocks/>
          </p:cNvGrpSpPr>
          <p:nvPr/>
        </p:nvGrpSpPr>
        <p:grpSpPr bwMode="auto">
          <a:xfrm>
            <a:off x="8921751" y="3911601"/>
            <a:ext cx="492125" cy="206375"/>
            <a:chOff x="4334" y="1470"/>
            <a:chExt cx="246" cy="107"/>
          </a:xfrm>
        </p:grpSpPr>
        <p:sp>
          <p:nvSpPr>
            <p:cNvPr id="51593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94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95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596" name="Group 79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599" name="Freeform 79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00" name="Freeform 79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597" name="Line 79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98" name="Line 80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5" name="Group 801"/>
          <p:cNvGrpSpPr>
            <a:grpSpLocks/>
          </p:cNvGrpSpPr>
          <p:nvPr/>
        </p:nvGrpSpPr>
        <p:grpSpPr bwMode="auto">
          <a:xfrm>
            <a:off x="9115425" y="4806951"/>
            <a:ext cx="622300" cy="244475"/>
            <a:chOff x="4334" y="1470"/>
            <a:chExt cx="246" cy="107"/>
          </a:xfrm>
        </p:grpSpPr>
        <p:sp>
          <p:nvSpPr>
            <p:cNvPr id="51585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86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87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588" name="Group 805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591" name="Freeform 80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92" name="Freeform 80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589" name="Line 808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90" name="Line 809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6" name="Group 810"/>
          <p:cNvGrpSpPr>
            <a:grpSpLocks/>
          </p:cNvGrpSpPr>
          <p:nvPr/>
        </p:nvGrpSpPr>
        <p:grpSpPr bwMode="auto">
          <a:xfrm>
            <a:off x="8489950" y="4508501"/>
            <a:ext cx="622300" cy="244475"/>
            <a:chOff x="4334" y="1470"/>
            <a:chExt cx="246" cy="107"/>
          </a:xfrm>
        </p:grpSpPr>
        <p:sp>
          <p:nvSpPr>
            <p:cNvPr id="51577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78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79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580" name="Group 814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583" name="Freeform 81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84" name="Freeform 81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581" name="Line 817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82" name="Line 818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7" name="Group 819"/>
          <p:cNvGrpSpPr>
            <a:grpSpLocks/>
          </p:cNvGrpSpPr>
          <p:nvPr/>
        </p:nvGrpSpPr>
        <p:grpSpPr bwMode="auto">
          <a:xfrm>
            <a:off x="7766050" y="4851401"/>
            <a:ext cx="622300" cy="244475"/>
            <a:chOff x="4334" y="1470"/>
            <a:chExt cx="246" cy="107"/>
          </a:xfrm>
        </p:grpSpPr>
        <p:sp>
          <p:nvSpPr>
            <p:cNvPr id="51569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70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71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572" name="Group 823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575" name="Freeform 82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76" name="Freeform 82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573" name="Line 826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74" name="Line 827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8" name="Group 828"/>
          <p:cNvGrpSpPr>
            <a:grpSpLocks/>
          </p:cNvGrpSpPr>
          <p:nvPr/>
        </p:nvGrpSpPr>
        <p:grpSpPr bwMode="auto">
          <a:xfrm>
            <a:off x="7575551" y="3644900"/>
            <a:ext cx="390525" cy="171450"/>
            <a:chOff x="4334" y="1470"/>
            <a:chExt cx="246" cy="107"/>
          </a:xfrm>
        </p:grpSpPr>
        <p:sp>
          <p:nvSpPr>
            <p:cNvPr id="51561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62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563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564" name="Group 832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51567" name="Freeform 8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68" name="Freeform 8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565" name="Line 835"/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66" name="Line 836"/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59" name="Group 837"/>
          <p:cNvGrpSpPr>
            <a:grpSpLocks/>
          </p:cNvGrpSpPr>
          <p:nvPr/>
        </p:nvGrpSpPr>
        <p:grpSpPr bwMode="auto">
          <a:xfrm>
            <a:off x="7548564" y="1744663"/>
            <a:ext cx="517525" cy="508000"/>
            <a:chOff x="2922" y="1424"/>
            <a:chExt cx="326" cy="320"/>
          </a:xfrm>
        </p:grpSpPr>
        <p:sp>
          <p:nvSpPr>
            <p:cNvPr id="51553" name="Oval 838"/>
            <p:cNvSpPr>
              <a:spLocks noChangeArrowheads="1"/>
            </p:cNvSpPr>
            <p:nvPr/>
          </p:nvSpPr>
          <p:spPr bwMode="auto">
            <a:xfrm>
              <a:off x="2922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554" name="Group 839"/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51556" name="Oval 84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557" name="Oval 84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558" name="Oval 84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559" name="Oval 84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560" name="Freeform 844"/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0"/>
                  <a:gd name="T31" fmla="*/ 0 h 956"/>
                  <a:gd name="T32" fmla="*/ 1180 w 1180"/>
                  <a:gd name="T33" fmla="*/ 956 h 9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cmpd="sng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555" name="Freeform 845"/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80"/>
                <a:gd name="T31" fmla="*/ 0 h 956"/>
                <a:gd name="T32" fmla="*/ 1180 w 1180"/>
                <a:gd name="T33" fmla="*/ 956 h 9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60" name="Group 846"/>
          <p:cNvGrpSpPr>
            <a:grpSpLocks/>
          </p:cNvGrpSpPr>
          <p:nvPr/>
        </p:nvGrpSpPr>
        <p:grpSpPr bwMode="auto">
          <a:xfrm>
            <a:off x="7662864" y="1989139"/>
            <a:ext cx="282575" cy="477837"/>
            <a:chOff x="3748" y="1253"/>
            <a:chExt cx="178" cy="301"/>
          </a:xfrm>
        </p:grpSpPr>
        <p:sp>
          <p:nvSpPr>
            <p:cNvPr id="51537" name="Line 270"/>
            <p:cNvSpPr>
              <a:spLocks noChangeShapeType="1"/>
            </p:cNvSpPr>
            <p:nvPr/>
          </p:nvSpPr>
          <p:spPr bwMode="auto">
            <a:xfrm flipH="1">
              <a:off x="3748" y="1276"/>
              <a:ext cx="89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38" name="Line 271"/>
            <p:cNvSpPr>
              <a:spLocks noChangeShapeType="1"/>
            </p:cNvSpPr>
            <p:nvPr/>
          </p:nvSpPr>
          <p:spPr bwMode="auto">
            <a:xfrm>
              <a:off x="3837" y="1276"/>
              <a:ext cx="89" cy="2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39" name="Line 272"/>
            <p:cNvSpPr>
              <a:spLocks noChangeShapeType="1"/>
            </p:cNvSpPr>
            <p:nvPr/>
          </p:nvSpPr>
          <p:spPr bwMode="auto">
            <a:xfrm>
              <a:off x="3748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0" name="Line 273"/>
            <p:cNvSpPr>
              <a:spLocks noChangeShapeType="1"/>
            </p:cNvSpPr>
            <p:nvPr/>
          </p:nvSpPr>
          <p:spPr bwMode="auto">
            <a:xfrm flipH="1">
              <a:off x="3837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1" name="Line 274"/>
            <p:cNvSpPr>
              <a:spLocks noChangeShapeType="1"/>
            </p:cNvSpPr>
            <p:nvPr/>
          </p:nvSpPr>
          <p:spPr bwMode="auto">
            <a:xfrm>
              <a:off x="3837" y="1282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2" name="Line 275"/>
            <p:cNvSpPr>
              <a:spLocks noChangeShapeType="1"/>
            </p:cNvSpPr>
            <p:nvPr/>
          </p:nvSpPr>
          <p:spPr bwMode="auto">
            <a:xfrm flipV="1">
              <a:off x="3748" y="1501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3" name="Line 276"/>
            <p:cNvSpPr>
              <a:spLocks noChangeShapeType="1"/>
            </p:cNvSpPr>
            <p:nvPr/>
          </p:nvSpPr>
          <p:spPr bwMode="auto">
            <a:xfrm flipH="1" flipV="1">
              <a:off x="3837" y="1501"/>
              <a:ext cx="89" cy="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4" name="Line 277"/>
            <p:cNvSpPr>
              <a:spLocks noChangeShapeType="1"/>
            </p:cNvSpPr>
            <p:nvPr/>
          </p:nvSpPr>
          <p:spPr bwMode="auto">
            <a:xfrm>
              <a:off x="3786" y="1418"/>
              <a:ext cx="51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5" name="Line 278"/>
            <p:cNvSpPr>
              <a:spLocks noChangeShapeType="1"/>
            </p:cNvSpPr>
            <p:nvPr/>
          </p:nvSpPr>
          <p:spPr bwMode="auto">
            <a:xfrm flipV="1">
              <a:off x="3837" y="1418"/>
              <a:ext cx="54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6" name="Line 279"/>
            <p:cNvSpPr>
              <a:spLocks noChangeShapeType="1"/>
            </p:cNvSpPr>
            <p:nvPr/>
          </p:nvSpPr>
          <p:spPr bwMode="auto">
            <a:xfrm>
              <a:off x="3768" y="1455"/>
              <a:ext cx="66" cy="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7" name="Line 280"/>
            <p:cNvSpPr>
              <a:spLocks noChangeShapeType="1"/>
            </p:cNvSpPr>
            <p:nvPr/>
          </p:nvSpPr>
          <p:spPr bwMode="auto">
            <a:xfrm flipV="1">
              <a:off x="3837" y="1461"/>
              <a:ext cx="6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8" name="Line 281"/>
            <p:cNvSpPr>
              <a:spLocks noChangeShapeType="1"/>
            </p:cNvSpPr>
            <p:nvPr/>
          </p:nvSpPr>
          <p:spPr bwMode="auto">
            <a:xfrm flipV="1">
              <a:off x="3837" y="1381"/>
              <a:ext cx="34" cy="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49" name="Line 282"/>
            <p:cNvSpPr>
              <a:spLocks noChangeShapeType="1"/>
            </p:cNvSpPr>
            <p:nvPr/>
          </p:nvSpPr>
          <p:spPr bwMode="auto">
            <a:xfrm flipV="1">
              <a:off x="3837" y="1329"/>
              <a:ext cx="21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50" name="Line 283"/>
            <p:cNvSpPr>
              <a:spLocks noChangeShapeType="1"/>
            </p:cNvSpPr>
            <p:nvPr/>
          </p:nvSpPr>
          <p:spPr bwMode="auto">
            <a:xfrm>
              <a:off x="3798" y="1377"/>
              <a:ext cx="42" cy="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51" name="Line 284"/>
            <p:cNvSpPr>
              <a:spLocks noChangeShapeType="1"/>
            </p:cNvSpPr>
            <p:nvPr/>
          </p:nvSpPr>
          <p:spPr bwMode="auto">
            <a:xfrm>
              <a:off x="3817" y="1327"/>
              <a:ext cx="24" cy="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552" name="Oval 862"/>
            <p:cNvSpPr>
              <a:spLocks noChangeArrowheads="1"/>
            </p:cNvSpPr>
            <p:nvPr/>
          </p:nvSpPr>
          <p:spPr bwMode="auto">
            <a:xfrm>
              <a:off x="3821" y="1253"/>
              <a:ext cx="30" cy="2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1261" name="Group 863"/>
          <p:cNvGrpSpPr>
            <a:grpSpLocks/>
          </p:cNvGrpSpPr>
          <p:nvPr/>
        </p:nvGrpSpPr>
        <p:grpSpPr bwMode="auto">
          <a:xfrm>
            <a:off x="6842126" y="1997075"/>
            <a:ext cx="519113" cy="128588"/>
            <a:chOff x="2199" y="955"/>
            <a:chExt cx="2547" cy="506"/>
          </a:xfrm>
        </p:grpSpPr>
        <p:sp>
          <p:nvSpPr>
            <p:cNvPr id="51531" name="Freeform 864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2" name="Freeform 865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3" name="Freeform 866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4" name="Freeform 867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5" name="Freeform 868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25 w 646"/>
                <a:gd name="T1" fmla="*/ 932 h 300"/>
                <a:gd name="T2" fmla="*/ 605 w 646"/>
                <a:gd name="T3" fmla="*/ 787 h 300"/>
                <a:gd name="T4" fmla="*/ 752 w 646"/>
                <a:gd name="T5" fmla="*/ 594 h 300"/>
                <a:gd name="T6" fmla="*/ 776 w 646"/>
                <a:gd name="T7" fmla="*/ 332 h 300"/>
                <a:gd name="T8" fmla="*/ 569 w 646"/>
                <a:gd name="T9" fmla="*/ 18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6" name="Freeform 869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62" name="Group 870"/>
          <p:cNvGrpSpPr>
            <a:grpSpLocks/>
          </p:cNvGrpSpPr>
          <p:nvPr/>
        </p:nvGrpSpPr>
        <p:grpSpPr bwMode="auto">
          <a:xfrm>
            <a:off x="7065963" y="1539875"/>
            <a:ext cx="519112" cy="128588"/>
            <a:chOff x="2199" y="955"/>
            <a:chExt cx="2547" cy="506"/>
          </a:xfrm>
        </p:grpSpPr>
        <p:sp>
          <p:nvSpPr>
            <p:cNvPr id="51525" name="Freeform 87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6" name="Freeform 87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7" name="Freeform 87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8" name="Freeform 87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9" name="Freeform 87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25 w 646"/>
                <a:gd name="T1" fmla="*/ 932 h 300"/>
                <a:gd name="T2" fmla="*/ 605 w 646"/>
                <a:gd name="T3" fmla="*/ 787 h 300"/>
                <a:gd name="T4" fmla="*/ 752 w 646"/>
                <a:gd name="T5" fmla="*/ 594 h 300"/>
                <a:gd name="T6" fmla="*/ 776 w 646"/>
                <a:gd name="T7" fmla="*/ 332 h 300"/>
                <a:gd name="T8" fmla="*/ 569 w 646"/>
                <a:gd name="T9" fmla="*/ 18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0" name="Freeform 87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63" name="Line 877"/>
          <p:cNvSpPr>
            <a:spLocks noChangeShapeType="1"/>
          </p:cNvSpPr>
          <p:nvPr/>
        </p:nvSpPr>
        <p:spPr bwMode="auto">
          <a:xfrm flipH="1" flipV="1">
            <a:off x="7150100" y="2027238"/>
            <a:ext cx="39688" cy="6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64" name="Group 885"/>
          <p:cNvGrpSpPr>
            <a:grpSpLocks/>
          </p:cNvGrpSpPr>
          <p:nvPr/>
        </p:nvGrpSpPr>
        <p:grpSpPr bwMode="auto">
          <a:xfrm>
            <a:off x="6916738" y="3527425"/>
            <a:ext cx="519112" cy="128588"/>
            <a:chOff x="2199" y="955"/>
            <a:chExt cx="2547" cy="506"/>
          </a:xfrm>
        </p:grpSpPr>
        <p:sp>
          <p:nvSpPr>
            <p:cNvPr id="51519" name="Freeform 886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0" name="Freeform 887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1" name="Freeform 888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2" name="Freeform 889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3" name="Freeform 890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25 w 646"/>
                <a:gd name="T1" fmla="*/ 932 h 300"/>
                <a:gd name="T2" fmla="*/ 605 w 646"/>
                <a:gd name="T3" fmla="*/ 787 h 300"/>
                <a:gd name="T4" fmla="*/ 752 w 646"/>
                <a:gd name="T5" fmla="*/ 594 h 300"/>
                <a:gd name="T6" fmla="*/ 776 w 646"/>
                <a:gd name="T7" fmla="*/ 332 h 300"/>
                <a:gd name="T8" fmla="*/ 569 w 646"/>
                <a:gd name="T9" fmla="*/ 18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4" name="Freeform 891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65" name="Line 892"/>
          <p:cNvSpPr>
            <a:spLocks noChangeShapeType="1"/>
          </p:cNvSpPr>
          <p:nvPr/>
        </p:nvSpPr>
        <p:spPr bwMode="auto">
          <a:xfrm>
            <a:off x="7302500" y="3119438"/>
            <a:ext cx="20638" cy="55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66" name="Group 893"/>
          <p:cNvGrpSpPr>
            <a:grpSpLocks/>
          </p:cNvGrpSpPr>
          <p:nvPr/>
        </p:nvGrpSpPr>
        <p:grpSpPr bwMode="auto">
          <a:xfrm>
            <a:off x="8531226" y="5005389"/>
            <a:ext cx="519113" cy="128587"/>
            <a:chOff x="2199" y="955"/>
            <a:chExt cx="2547" cy="506"/>
          </a:xfrm>
        </p:grpSpPr>
        <p:sp>
          <p:nvSpPr>
            <p:cNvPr id="51513" name="Freeform 894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4" name="Freeform 895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5" name="Freeform 896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6" name="Freeform 897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7" name="Freeform 898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25 w 646"/>
                <a:gd name="T1" fmla="*/ 932 h 300"/>
                <a:gd name="T2" fmla="*/ 605 w 646"/>
                <a:gd name="T3" fmla="*/ 787 h 300"/>
                <a:gd name="T4" fmla="*/ 752 w 646"/>
                <a:gd name="T5" fmla="*/ 594 h 300"/>
                <a:gd name="T6" fmla="*/ 776 w 646"/>
                <a:gd name="T7" fmla="*/ 332 h 300"/>
                <a:gd name="T8" fmla="*/ 569 w 646"/>
                <a:gd name="T9" fmla="*/ 18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8" name="Freeform 899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67" name="Group 900"/>
          <p:cNvGrpSpPr>
            <a:grpSpLocks/>
          </p:cNvGrpSpPr>
          <p:nvPr/>
        </p:nvGrpSpPr>
        <p:grpSpPr bwMode="auto">
          <a:xfrm>
            <a:off x="8769351" y="5429250"/>
            <a:ext cx="519113" cy="128588"/>
            <a:chOff x="2199" y="955"/>
            <a:chExt cx="2547" cy="506"/>
          </a:xfrm>
        </p:grpSpPr>
        <p:sp>
          <p:nvSpPr>
            <p:cNvPr id="51507" name="Freeform 90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8" name="Freeform 90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9" name="Freeform 90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0" name="Freeform 90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1" name="Freeform 90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25 w 646"/>
                <a:gd name="T1" fmla="*/ 932 h 300"/>
                <a:gd name="T2" fmla="*/ 605 w 646"/>
                <a:gd name="T3" fmla="*/ 787 h 300"/>
                <a:gd name="T4" fmla="*/ 752 w 646"/>
                <a:gd name="T5" fmla="*/ 594 h 300"/>
                <a:gd name="T6" fmla="*/ 776 w 646"/>
                <a:gd name="T7" fmla="*/ 332 h 300"/>
                <a:gd name="T8" fmla="*/ 569 w 646"/>
                <a:gd name="T9" fmla="*/ 18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2" name="Freeform 90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68" name="Group 907"/>
          <p:cNvGrpSpPr>
            <a:grpSpLocks/>
          </p:cNvGrpSpPr>
          <p:nvPr/>
        </p:nvGrpSpPr>
        <p:grpSpPr bwMode="auto">
          <a:xfrm>
            <a:off x="8345488" y="5408614"/>
            <a:ext cx="519112" cy="128587"/>
            <a:chOff x="2199" y="955"/>
            <a:chExt cx="2547" cy="506"/>
          </a:xfrm>
        </p:grpSpPr>
        <p:sp>
          <p:nvSpPr>
            <p:cNvPr id="51501" name="Freeform 908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2" name="Freeform 909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3" name="Freeform 910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4" name="Freeform 911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5" name="Freeform 912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25 w 646"/>
                <a:gd name="T1" fmla="*/ 932 h 300"/>
                <a:gd name="T2" fmla="*/ 605 w 646"/>
                <a:gd name="T3" fmla="*/ 787 h 300"/>
                <a:gd name="T4" fmla="*/ 752 w 646"/>
                <a:gd name="T5" fmla="*/ 594 h 300"/>
                <a:gd name="T6" fmla="*/ 776 w 646"/>
                <a:gd name="T7" fmla="*/ 332 h 300"/>
                <a:gd name="T8" fmla="*/ 569 w 646"/>
                <a:gd name="T9" fmla="*/ 18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6" name="Freeform 913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1269" name="Picture 915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25" y="5056189"/>
            <a:ext cx="43338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1" name="Line 918"/>
          <p:cNvSpPr>
            <a:spLocks noChangeShapeType="1"/>
          </p:cNvSpPr>
          <p:nvPr/>
        </p:nvSpPr>
        <p:spPr bwMode="auto">
          <a:xfrm rot="5400000" flipV="1">
            <a:off x="9515476" y="5440364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272" name="Group 919"/>
          <p:cNvGrpSpPr>
            <a:grpSpLocks/>
          </p:cNvGrpSpPr>
          <p:nvPr/>
        </p:nvGrpSpPr>
        <p:grpSpPr bwMode="auto">
          <a:xfrm flipH="1">
            <a:off x="7299325" y="4533901"/>
            <a:ext cx="414338" cy="373063"/>
            <a:chOff x="2839" y="3501"/>
            <a:chExt cx="755" cy="803"/>
          </a:xfrm>
        </p:grpSpPr>
        <p:pic>
          <p:nvPicPr>
            <p:cNvPr id="51499" name="Picture 920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00" name="Freeform 92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1273" name="Group 922"/>
          <p:cNvGrpSpPr>
            <a:grpSpLocks/>
          </p:cNvGrpSpPr>
          <p:nvPr/>
        </p:nvGrpSpPr>
        <p:grpSpPr bwMode="auto">
          <a:xfrm flipH="1">
            <a:off x="6981825" y="4954588"/>
            <a:ext cx="482600" cy="406400"/>
            <a:chOff x="2839" y="3501"/>
            <a:chExt cx="755" cy="803"/>
          </a:xfrm>
        </p:grpSpPr>
        <p:pic>
          <p:nvPicPr>
            <p:cNvPr id="51497" name="Picture 923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98" name="Freeform 92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1274" name="Group 925"/>
          <p:cNvGrpSpPr>
            <a:grpSpLocks/>
          </p:cNvGrpSpPr>
          <p:nvPr/>
        </p:nvGrpSpPr>
        <p:grpSpPr bwMode="auto">
          <a:xfrm flipH="1">
            <a:off x="7459664" y="5256213"/>
            <a:ext cx="427037" cy="349250"/>
            <a:chOff x="2839" y="3501"/>
            <a:chExt cx="755" cy="803"/>
          </a:xfrm>
        </p:grpSpPr>
        <p:pic>
          <p:nvPicPr>
            <p:cNvPr id="51495" name="Picture 926" descr="desktop_computer_stylized_medium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96" name="Freeform 927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1275" name="Group 928"/>
          <p:cNvGrpSpPr>
            <a:grpSpLocks/>
          </p:cNvGrpSpPr>
          <p:nvPr/>
        </p:nvGrpSpPr>
        <p:grpSpPr bwMode="auto">
          <a:xfrm>
            <a:off x="8074025" y="5238750"/>
            <a:ext cx="427038" cy="350838"/>
            <a:chOff x="2839" y="3501"/>
            <a:chExt cx="755" cy="803"/>
          </a:xfrm>
        </p:grpSpPr>
        <p:pic>
          <p:nvPicPr>
            <p:cNvPr id="51493" name="Picture 929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94" name="Freeform 930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51276" name="Picture 931" descr="car_icon_small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063" y="1720851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77" name="Group 932"/>
          <p:cNvGrpSpPr>
            <a:grpSpLocks/>
          </p:cNvGrpSpPr>
          <p:nvPr/>
        </p:nvGrpSpPr>
        <p:grpSpPr bwMode="auto">
          <a:xfrm>
            <a:off x="7142164" y="1558926"/>
            <a:ext cx="415925" cy="373063"/>
            <a:chOff x="2756" y="1866"/>
            <a:chExt cx="462" cy="463"/>
          </a:xfrm>
        </p:grpSpPr>
        <p:pic>
          <p:nvPicPr>
            <p:cNvPr id="51491" name="Picture 933" descr="iphone_stylized_small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492" name="Picture 934" descr="antenna_radiation_stylized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6" y="1866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78" name="Picture 936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88" y="5057776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79" name="Group 938"/>
          <p:cNvGrpSpPr>
            <a:grpSpLocks/>
          </p:cNvGrpSpPr>
          <p:nvPr/>
        </p:nvGrpSpPr>
        <p:grpSpPr bwMode="auto">
          <a:xfrm>
            <a:off x="9764713" y="5002213"/>
            <a:ext cx="227012" cy="481012"/>
            <a:chOff x="4140" y="429"/>
            <a:chExt cx="1425" cy="2396"/>
          </a:xfrm>
        </p:grpSpPr>
        <p:sp>
          <p:nvSpPr>
            <p:cNvPr id="51459" name="Freeform 93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60" name="Rectangle 940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61" name="Freeform 94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62" name="Freeform 94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63" name="Rectangle 943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464" name="Group 94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489" name="AutoShape 94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90" name="AutoShape 946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65" name="Rectangle 947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466" name="Group 94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487" name="AutoShape 949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88" name="AutoShape 950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67" name="Rectangle 951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68" name="Rectangle 952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469" name="Group 95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485" name="AutoShape 954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86" name="AutoShape 955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70" name="Freeform 95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1471" name="Group 95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483" name="AutoShape 958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84" name="AutoShape 959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72" name="Rectangle 960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73" name="Freeform 96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4" name="Freeform 96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5" name="Oval 963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76" name="Freeform 96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7" name="AutoShape 965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78" name="AutoShape 966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79" name="Oval 967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80" name="Oval 968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51481" name="Oval 969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82" name="Rectangle 970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1280" name="Group 971"/>
          <p:cNvGrpSpPr>
            <a:grpSpLocks/>
          </p:cNvGrpSpPr>
          <p:nvPr/>
        </p:nvGrpSpPr>
        <p:grpSpPr bwMode="auto">
          <a:xfrm>
            <a:off x="9448801" y="5303838"/>
            <a:ext cx="227013" cy="481012"/>
            <a:chOff x="4140" y="429"/>
            <a:chExt cx="1425" cy="2396"/>
          </a:xfrm>
        </p:grpSpPr>
        <p:sp>
          <p:nvSpPr>
            <p:cNvPr id="51427" name="Freeform 97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8" name="Rectangle 973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29" name="Freeform 97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0" name="Freeform 97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1" name="Rectangle 976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432" name="Group 97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457" name="AutoShape 97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58" name="AutoShape 979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33" name="Rectangle 980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434" name="Group 98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455" name="AutoShape 982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56" name="AutoShape 983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35" name="Rectangle 984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36" name="Rectangle 985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437" name="Group 98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453" name="AutoShape 987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54" name="AutoShape 988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38" name="Freeform 98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1439" name="Group 99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451" name="AutoShape 991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52" name="AutoShape 992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1440" name="Rectangle 993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41" name="Freeform 99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2" name="Freeform 99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3" name="Oval 996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44" name="Freeform 99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5" name="AutoShape 998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46" name="AutoShape 999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47" name="Oval 1000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48" name="Oval 1001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51449" name="Oval 1002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450" name="Rectangle 1003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1281" name="Group 1004"/>
          <p:cNvGrpSpPr>
            <a:grpSpLocks/>
          </p:cNvGrpSpPr>
          <p:nvPr/>
        </p:nvGrpSpPr>
        <p:grpSpPr bwMode="auto">
          <a:xfrm>
            <a:off x="6826250" y="2043114"/>
            <a:ext cx="534988" cy="407987"/>
            <a:chOff x="877" y="1008"/>
            <a:chExt cx="2747" cy="2591"/>
          </a:xfrm>
        </p:grpSpPr>
        <p:pic>
          <p:nvPicPr>
            <p:cNvPr id="51404" name="Picture 1005" descr="antenna_stylized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405" name="Picture 1006" descr="laptop_keyboar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06" name="Freeform 100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1407" name="Picture 1008" descr="screen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408" name="Freeform 100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9" name="Freeform 101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0" name="Freeform 101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1" name="Freeform 101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2" name="Freeform 101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3" name="Freeform 101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1414" name="Group 101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21" name="Freeform 101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22" name="Freeform 101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23" name="Freeform 101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24" name="Freeform 101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25" name="Freeform 102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26" name="Freeform 102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415" name="Freeform 102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6" name="Freeform 102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7" name="Freeform 102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8" name="Freeform 102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9" name="Freeform 102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0" name="Freeform 102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1282" name="Picture 1030" descr="laptop_keyboar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8421689" y="57356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3" name="Freeform 1031"/>
          <p:cNvSpPr>
            <a:spLocks/>
          </p:cNvSpPr>
          <p:nvPr/>
        </p:nvSpPr>
        <p:spPr bwMode="auto">
          <a:xfrm>
            <a:off x="8550275" y="5580063"/>
            <a:ext cx="312738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1284" name="Picture 1032" descr="screen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151" y="55848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5" name="Freeform 1033"/>
          <p:cNvSpPr>
            <a:spLocks/>
          </p:cNvSpPr>
          <p:nvPr/>
        </p:nvSpPr>
        <p:spPr bwMode="auto">
          <a:xfrm>
            <a:off x="8607426" y="5573714"/>
            <a:ext cx="265113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6" name="Freeform 1034"/>
          <p:cNvSpPr>
            <a:spLocks/>
          </p:cNvSpPr>
          <p:nvPr/>
        </p:nvSpPr>
        <p:spPr bwMode="auto">
          <a:xfrm>
            <a:off x="8548689" y="5573714"/>
            <a:ext cx="73025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7" name="Freeform 1035"/>
          <p:cNvSpPr>
            <a:spLocks/>
          </p:cNvSpPr>
          <p:nvPr/>
        </p:nvSpPr>
        <p:spPr bwMode="auto">
          <a:xfrm>
            <a:off x="8791576" y="5602289"/>
            <a:ext cx="79375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8" name="Freeform 1036"/>
          <p:cNvSpPr>
            <a:spLocks/>
          </p:cNvSpPr>
          <p:nvPr/>
        </p:nvSpPr>
        <p:spPr bwMode="auto">
          <a:xfrm>
            <a:off x="8547101" y="5726113"/>
            <a:ext cx="29051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9" name="Freeform 1037"/>
          <p:cNvSpPr>
            <a:spLocks/>
          </p:cNvSpPr>
          <p:nvPr/>
        </p:nvSpPr>
        <p:spPr bwMode="auto">
          <a:xfrm>
            <a:off x="8799513" y="5603876"/>
            <a:ext cx="74612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0" name="Freeform 1038"/>
          <p:cNvSpPr>
            <a:spLocks/>
          </p:cNvSpPr>
          <p:nvPr/>
        </p:nvSpPr>
        <p:spPr bwMode="auto">
          <a:xfrm>
            <a:off x="8547101" y="57356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91" name="Group 1039"/>
          <p:cNvGrpSpPr>
            <a:grpSpLocks/>
          </p:cNvGrpSpPr>
          <p:nvPr/>
        </p:nvGrpSpPr>
        <p:grpSpPr bwMode="auto">
          <a:xfrm>
            <a:off x="8543926" y="5800725"/>
            <a:ext cx="87313" cy="38100"/>
            <a:chOff x="1740" y="2642"/>
            <a:chExt cx="752" cy="327"/>
          </a:xfrm>
        </p:grpSpPr>
        <p:sp>
          <p:nvSpPr>
            <p:cNvPr id="51398" name="Freeform 1040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9" name="Freeform 1041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0" name="Freeform 1042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1" name="Freeform 1043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2" name="Freeform 1044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3" name="Freeform 1045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92" name="Freeform 1046"/>
          <p:cNvSpPr>
            <a:spLocks/>
          </p:cNvSpPr>
          <p:nvPr/>
        </p:nvSpPr>
        <p:spPr bwMode="auto">
          <a:xfrm>
            <a:off x="8693151" y="5807076"/>
            <a:ext cx="10636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3" name="Freeform 1047"/>
          <p:cNvSpPr>
            <a:spLocks/>
          </p:cNvSpPr>
          <p:nvPr/>
        </p:nvSpPr>
        <p:spPr bwMode="auto">
          <a:xfrm>
            <a:off x="8421688" y="5813426"/>
            <a:ext cx="271462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4" name="Freeform 1048"/>
          <p:cNvSpPr>
            <a:spLocks/>
          </p:cNvSpPr>
          <p:nvPr/>
        </p:nvSpPr>
        <p:spPr bwMode="auto">
          <a:xfrm>
            <a:off x="8423275" y="5799139"/>
            <a:ext cx="1588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5" name="Freeform 1049"/>
          <p:cNvSpPr>
            <a:spLocks/>
          </p:cNvSpPr>
          <p:nvPr/>
        </p:nvSpPr>
        <p:spPr bwMode="auto">
          <a:xfrm>
            <a:off x="8423276" y="5738813"/>
            <a:ext cx="125413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6" name="Freeform 1050"/>
          <p:cNvSpPr>
            <a:spLocks/>
          </p:cNvSpPr>
          <p:nvPr/>
        </p:nvSpPr>
        <p:spPr bwMode="auto">
          <a:xfrm>
            <a:off x="8431214" y="5802314"/>
            <a:ext cx="257175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7" name="Freeform 1051"/>
          <p:cNvSpPr>
            <a:spLocks/>
          </p:cNvSpPr>
          <p:nvPr/>
        </p:nvSpPr>
        <p:spPr bwMode="auto">
          <a:xfrm flipV="1">
            <a:off x="8688389" y="5797551"/>
            <a:ext cx="10477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298" name="Picture 1054" descr="laptop_keyboar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105650" y="3290888"/>
            <a:ext cx="3635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99" name="Freeform 1055"/>
          <p:cNvSpPr>
            <a:spLocks/>
          </p:cNvSpPr>
          <p:nvPr/>
        </p:nvSpPr>
        <p:spPr bwMode="auto">
          <a:xfrm>
            <a:off x="7226300" y="3135313"/>
            <a:ext cx="292100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1300" name="Picture 1056" descr="screen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588" y="3140075"/>
            <a:ext cx="2667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01" name="Freeform 1057"/>
          <p:cNvSpPr>
            <a:spLocks/>
          </p:cNvSpPr>
          <p:nvPr/>
        </p:nvSpPr>
        <p:spPr bwMode="auto">
          <a:xfrm>
            <a:off x="7280275" y="3128964"/>
            <a:ext cx="247650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2" name="Freeform 1058"/>
          <p:cNvSpPr>
            <a:spLocks/>
          </p:cNvSpPr>
          <p:nvPr/>
        </p:nvSpPr>
        <p:spPr bwMode="auto">
          <a:xfrm>
            <a:off x="7224713" y="3128964"/>
            <a:ext cx="68262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3" name="Freeform 1059"/>
          <p:cNvSpPr>
            <a:spLocks/>
          </p:cNvSpPr>
          <p:nvPr/>
        </p:nvSpPr>
        <p:spPr bwMode="auto">
          <a:xfrm>
            <a:off x="7451726" y="3157539"/>
            <a:ext cx="74613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4" name="Freeform 1060"/>
          <p:cNvSpPr>
            <a:spLocks/>
          </p:cNvSpPr>
          <p:nvPr/>
        </p:nvSpPr>
        <p:spPr bwMode="auto">
          <a:xfrm>
            <a:off x="7223126" y="3281363"/>
            <a:ext cx="27146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5" name="Freeform 1061"/>
          <p:cNvSpPr>
            <a:spLocks/>
          </p:cNvSpPr>
          <p:nvPr/>
        </p:nvSpPr>
        <p:spPr bwMode="auto">
          <a:xfrm>
            <a:off x="7459663" y="3159126"/>
            <a:ext cx="69850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6" name="Freeform 1062"/>
          <p:cNvSpPr>
            <a:spLocks/>
          </p:cNvSpPr>
          <p:nvPr/>
        </p:nvSpPr>
        <p:spPr bwMode="auto">
          <a:xfrm>
            <a:off x="7223125" y="3290888"/>
            <a:ext cx="242888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307" name="Group 1063"/>
          <p:cNvGrpSpPr>
            <a:grpSpLocks/>
          </p:cNvGrpSpPr>
          <p:nvPr/>
        </p:nvGrpSpPr>
        <p:grpSpPr bwMode="auto">
          <a:xfrm>
            <a:off x="7219951" y="3355975"/>
            <a:ext cx="80963" cy="38100"/>
            <a:chOff x="1740" y="2642"/>
            <a:chExt cx="752" cy="327"/>
          </a:xfrm>
        </p:grpSpPr>
        <p:sp>
          <p:nvSpPr>
            <p:cNvPr id="51392" name="Freeform 1064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3" name="Freeform 1065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4" name="Freeform 1066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5" name="Freeform 1067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6" name="Freeform 1068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7" name="Freeform 1069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08" name="Freeform 1070"/>
          <p:cNvSpPr>
            <a:spLocks/>
          </p:cNvSpPr>
          <p:nvPr/>
        </p:nvSpPr>
        <p:spPr bwMode="auto">
          <a:xfrm>
            <a:off x="7359651" y="3362326"/>
            <a:ext cx="10001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9" name="Freeform 1071"/>
          <p:cNvSpPr>
            <a:spLocks/>
          </p:cNvSpPr>
          <p:nvPr/>
        </p:nvSpPr>
        <p:spPr bwMode="auto">
          <a:xfrm>
            <a:off x="7107238" y="3368676"/>
            <a:ext cx="254000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0" name="Freeform 1072"/>
          <p:cNvSpPr>
            <a:spLocks/>
          </p:cNvSpPr>
          <p:nvPr/>
        </p:nvSpPr>
        <p:spPr bwMode="auto">
          <a:xfrm>
            <a:off x="7107239" y="3354389"/>
            <a:ext cx="1587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1" name="Freeform 1073"/>
          <p:cNvSpPr>
            <a:spLocks/>
          </p:cNvSpPr>
          <p:nvPr/>
        </p:nvSpPr>
        <p:spPr bwMode="auto">
          <a:xfrm>
            <a:off x="7107239" y="3294063"/>
            <a:ext cx="117475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2" name="Freeform 1074"/>
          <p:cNvSpPr>
            <a:spLocks/>
          </p:cNvSpPr>
          <p:nvPr/>
        </p:nvSpPr>
        <p:spPr bwMode="auto">
          <a:xfrm>
            <a:off x="7115175" y="3357564"/>
            <a:ext cx="241300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3" name="Freeform 1075"/>
          <p:cNvSpPr>
            <a:spLocks/>
          </p:cNvSpPr>
          <p:nvPr/>
        </p:nvSpPr>
        <p:spPr bwMode="auto">
          <a:xfrm flipV="1">
            <a:off x="7354889" y="3352801"/>
            <a:ext cx="9842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314" name="Group 1076"/>
          <p:cNvGrpSpPr>
            <a:grpSpLocks/>
          </p:cNvGrpSpPr>
          <p:nvPr/>
        </p:nvGrpSpPr>
        <p:grpSpPr bwMode="auto">
          <a:xfrm flipH="1">
            <a:off x="7464425" y="3222626"/>
            <a:ext cx="414338" cy="373063"/>
            <a:chOff x="2839" y="3501"/>
            <a:chExt cx="755" cy="803"/>
          </a:xfrm>
        </p:grpSpPr>
        <p:pic>
          <p:nvPicPr>
            <p:cNvPr id="51390" name="Picture 1077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91" name="Freeform 107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51315" name="Picture 1081" descr="laptop_keyboar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8853489" y="56721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16" name="Freeform 1082"/>
          <p:cNvSpPr>
            <a:spLocks/>
          </p:cNvSpPr>
          <p:nvPr/>
        </p:nvSpPr>
        <p:spPr bwMode="auto">
          <a:xfrm>
            <a:off x="8982075" y="5516563"/>
            <a:ext cx="312738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1317" name="Picture 1083" descr="screen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951" y="55213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18" name="Freeform 1084"/>
          <p:cNvSpPr>
            <a:spLocks/>
          </p:cNvSpPr>
          <p:nvPr/>
        </p:nvSpPr>
        <p:spPr bwMode="auto">
          <a:xfrm>
            <a:off x="9039226" y="5510214"/>
            <a:ext cx="265113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9" name="Freeform 1085"/>
          <p:cNvSpPr>
            <a:spLocks/>
          </p:cNvSpPr>
          <p:nvPr/>
        </p:nvSpPr>
        <p:spPr bwMode="auto">
          <a:xfrm>
            <a:off x="8980489" y="5510214"/>
            <a:ext cx="73025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0" name="Freeform 1086"/>
          <p:cNvSpPr>
            <a:spLocks/>
          </p:cNvSpPr>
          <p:nvPr/>
        </p:nvSpPr>
        <p:spPr bwMode="auto">
          <a:xfrm>
            <a:off x="9223376" y="5538789"/>
            <a:ext cx="79375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1" name="Freeform 1087"/>
          <p:cNvSpPr>
            <a:spLocks/>
          </p:cNvSpPr>
          <p:nvPr/>
        </p:nvSpPr>
        <p:spPr bwMode="auto">
          <a:xfrm>
            <a:off x="8978901" y="5662613"/>
            <a:ext cx="29051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2" name="Freeform 1088"/>
          <p:cNvSpPr>
            <a:spLocks/>
          </p:cNvSpPr>
          <p:nvPr/>
        </p:nvSpPr>
        <p:spPr bwMode="auto">
          <a:xfrm>
            <a:off x="9231313" y="5540376"/>
            <a:ext cx="74612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3" name="Freeform 1089"/>
          <p:cNvSpPr>
            <a:spLocks/>
          </p:cNvSpPr>
          <p:nvPr/>
        </p:nvSpPr>
        <p:spPr bwMode="auto">
          <a:xfrm>
            <a:off x="8978901" y="56721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324" name="Group 1090"/>
          <p:cNvGrpSpPr>
            <a:grpSpLocks/>
          </p:cNvGrpSpPr>
          <p:nvPr/>
        </p:nvGrpSpPr>
        <p:grpSpPr bwMode="auto">
          <a:xfrm>
            <a:off x="8975726" y="5737225"/>
            <a:ext cx="87313" cy="38100"/>
            <a:chOff x="1740" y="2642"/>
            <a:chExt cx="752" cy="327"/>
          </a:xfrm>
        </p:grpSpPr>
        <p:sp>
          <p:nvSpPr>
            <p:cNvPr id="51384" name="Freeform 1091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5" name="Freeform 1092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6" name="Freeform 1093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7" name="Freeform 1094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8" name="Freeform 1095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9" name="Freeform 1096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25" name="Freeform 1097"/>
          <p:cNvSpPr>
            <a:spLocks/>
          </p:cNvSpPr>
          <p:nvPr/>
        </p:nvSpPr>
        <p:spPr bwMode="auto">
          <a:xfrm>
            <a:off x="9124951" y="5743576"/>
            <a:ext cx="10636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6" name="Freeform 1098"/>
          <p:cNvSpPr>
            <a:spLocks/>
          </p:cNvSpPr>
          <p:nvPr/>
        </p:nvSpPr>
        <p:spPr bwMode="auto">
          <a:xfrm>
            <a:off x="8853488" y="5749926"/>
            <a:ext cx="271462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7" name="Freeform 1099"/>
          <p:cNvSpPr>
            <a:spLocks/>
          </p:cNvSpPr>
          <p:nvPr/>
        </p:nvSpPr>
        <p:spPr bwMode="auto">
          <a:xfrm>
            <a:off x="8855075" y="5735639"/>
            <a:ext cx="1588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8" name="Freeform 1100"/>
          <p:cNvSpPr>
            <a:spLocks/>
          </p:cNvSpPr>
          <p:nvPr/>
        </p:nvSpPr>
        <p:spPr bwMode="auto">
          <a:xfrm>
            <a:off x="8855076" y="5675313"/>
            <a:ext cx="125413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9" name="Freeform 1101"/>
          <p:cNvSpPr>
            <a:spLocks/>
          </p:cNvSpPr>
          <p:nvPr/>
        </p:nvSpPr>
        <p:spPr bwMode="auto">
          <a:xfrm>
            <a:off x="8863014" y="5738814"/>
            <a:ext cx="257175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0" name="Freeform 1102"/>
          <p:cNvSpPr>
            <a:spLocks/>
          </p:cNvSpPr>
          <p:nvPr/>
        </p:nvSpPr>
        <p:spPr bwMode="auto">
          <a:xfrm flipV="1">
            <a:off x="9120189" y="5734051"/>
            <a:ext cx="10477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331" name="Group 1103"/>
          <p:cNvGrpSpPr>
            <a:grpSpLocks/>
          </p:cNvGrpSpPr>
          <p:nvPr/>
        </p:nvGrpSpPr>
        <p:grpSpPr bwMode="auto">
          <a:xfrm>
            <a:off x="7875589" y="2493963"/>
            <a:ext cx="390525" cy="169862"/>
            <a:chOff x="4650" y="1129"/>
            <a:chExt cx="246" cy="95"/>
          </a:xfrm>
        </p:grpSpPr>
        <p:sp>
          <p:nvSpPr>
            <p:cNvPr id="5137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7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7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379" name="Group 1107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1382" name="Freeform 110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83" name="Freeform 110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380" name="Line 1110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1" name="Line 1111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332" name="Group 1112"/>
          <p:cNvGrpSpPr>
            <a:grpSpLocks/>
          </p:cNvGrpSpPr>
          <p:nvPr/>
        </p:nvGrpSpPr>
        <p:grpSpPr bwMode="auto">
          <a:xfrm>
            <a:off x="7575551" y="3641726"/>
            <a:ext cx="390525" cy="169863"/>
            <a:chOff x="4650" y="1129"/>
            <a:chExt cx="246" cy="95"/>
          </a:xfrm>
        </p:grpSpPr>
        <p:sp>
          <p:nvSpPr>
            <p:cNvPr id="5136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6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7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371" name="Group 1116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1374" name="Freeform 111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75" name="Freeform 111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372" name="Line 1119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3" name="Line 1120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333" name="Group 878"/>
          <p:cNvGrpSpPr>
            <a:grpSpLocks/>
          </p:cNvGrpSpPr>
          <p:nvPr/>
        </p:nvGrpSpPr>
        <p:grpSpPr bwMode="auto">
          <a:xfrm>
            <a:off x="7053263" y="3016250"/>
            <a:ext cx="519112" cy="128588"/>
            <a:chOff x="2199" y="955"/>
            <a:chExt cx="2547" cy="506"/>
          </a:xfrm>
        </p:grpSpPr>
        <p:sp>
          <p:nvSpPr>
            <p:cNvPr id="51362" name="Freeform 879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3" name="Freeform 880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4" name="Freeform 881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5" name="Freeform 882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6" name="Freeform 883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25 w 646"/>
                <a:gd name="T1" fmla="*/ 932 h 300"/>
                <a:gd name="T2" fmla="*/ 605 w 646"/>
                <a:gd name="T3" fmla="*/ 787 h 300"/>
                <a:gd name="T4" fmla="*/ 752 w 646"/>
                <a:gd name="T5" fmla="*/ 594 h 300"/>
                <a:gd name="T6" fmla="*/ 776 w 646"/>
                <a:gd name="T7" fmla="*/ 332 h 300"/>
                <a:gd name="T8" fmla="*/ 569 w 646"/>
                <a:gd name="T9" fmla="*/ 187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7" name="Freeform 884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334" name="Group 1121"/>
          <p:cNvGrpSpPr>
            <a:grpSpLocks/>
          </p:cNvGrpSpPr>
          <p:nvPr/>
        </p:nvGrpSpPr>
        <p:grpSpPr bwMode="auto">
          <a:xfrm>
            <a:off x="7772400" y="4852988"/>
            <a:ext cx="617538" cy="247650"/>
            <a:chOff x="2356" y="1300"/>
            <a:chExt cx="555" cy="194"/>
          </a:xfrm>
        </p:grpSpPr>
        <p:sp>
          <p:nvSpPr>
            <p:cNvPr id="5135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5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5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357" name="Group 1125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1360" name="Freeform 11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61" name="Freeform 11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358" name="Line 1128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9" name="Line 1129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335" name="Group 1130"/>
          <p:cNvGrpSpPr>
            <a:grpSpLocks/>
          </p:cNvGrpSpPr>
          <p:nvPr/>
        </p:nvGrpSpPr>
        <p:grpSpPr bwMode="auto">
          <a:xfrm>
            <a:off x="8493125" y="4510088"/>
            <a:ext cx="617538" cy="247650"/>
            <a:chOff x="2356" y="1300"/>
            <a:chExt cx="555" cy="194"/>
          </a:xfrm>
        </p:grpSpPr>
        <p:sp>
          <p:nvSpPr>
            <p:cNvPr id="51346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47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48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349" name="Group 113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1352" name="Freeform 113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53" name="Freeform 113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350" name="Line 1137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1" name="Line 1138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336" name="Group 1139"/>
          <p:cNvGrpSpPr>
            <a:grpSpLocks/>
          </p:cNvGrpSpPr>
          <p:nvPr/>
        </p:nvGrpSpPr>
        <p:grpSpPr bwMode="auto">
          <a:xfrm>
            <a:off x="9109075" y="4811713"/>
            <a:ext cx="617538" cy="247650"/>
            <a:chOff x="2356" y="1300"/>
            <a:chExt cx="555" cy="194"/>
          </a:xfrm>
        </p:grpSpPr>
        <p:sp>
          <p:nvSpPr>
            <p:cNvPr id="5133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3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4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1341" name="Group 1143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1344" name="Freeform 114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45" name="Freeform 114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342" name="Line 1146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3" name="Line 1147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6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itle 41"/>
          <p:cNvSpPr>
            <a:spLocks noGrp="1"/>
          </p:cNvSpPr>
          <p:nvPr>
            <p:ph type="title" idx="4294967295"/>
          </p:nvPr>
        </p:nvSpPr>
        <p:spPr>
          <a:xfrm>
            <a:off x="1927225" y="228601"/>
            <a:ext cx="7772400" cy="83502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Access net: </a:t>
            </a:r>
            <a:r>
              <a:rPr lang="en-US" altLang="en-US" sz="3600" b="1" dirty="0" smtClean="0"/>
              <a:t>Digital Subscriber Line </a:t>
            </a:r>
            <a:r>
              <a:rPr lang="en-US" altLang="en-US" sz="3600" b="1" dirty="0"/>
              <a:t>(DSL</a:t>
            </a:r>
            <a:r>
              <a:rPr lang="en-US" altLang="en-US" sz="3600" dirty="0"/>
              <a:t>)</a:t>
            </a:r>
          </a:p>
        </p:txBody>
      </p:sp>
      <p:sp>
        <p:nvSpPr>
          <p:cNvPr id="53252" name="Freeform 3"/>
          <p:cNvSpPr>
            <a:spLocks/>
          </p:cNvSpPr>
          <p:nvPr/>
        </p:nvSpPr>
        <p:spPr bwMode="auto">
          <a:xfrm>
            <a:off x="5829300" y="1501776"/>
            <a:ext cx="2216150" cy="1477963"/>
          </a:xfrm>
          <a:custGeom>
            <a:avLst/>
            <a:gdLst>
              <a:gd name="T0" fmla="*/ 2147483647 w 1396"/>
              <a:gd name="T1" fmla="*/ 2147483647 h 931"/>
              <a:gd name="T2" fmla="*/ 2147483647 w 1396"/>
              <a:gd name="T3" fmla="*/ 2147483647 h 931"/>
              <a:gd name="T4" fmla="*/ 2147483647 w 1396"/>
              <a:gd name="T5" fmla="*/ 2147483647 h 931"/>
              <a:gd name="T6" fmla="*/ 2147483647 w 1396"/>
              <a:gd name="T7" fmla="*/ 2147483647 h 931"/>
              <a:gd name="T8" fmla="*/ 2147483647 w 1396"/>
              <a:gd name="T9" fmla="*/ 2147483647 h 931"/>
              <a:gd name="T10" fmla="*/ 2147483647 w 1396"/>
              <a:gd name="T11" fmla="*/ 2147483647 h 931"/>
              <a:gd name="T12" fmla="*/ 2147483647 w 1396"/>
              <a:gd name="T13" fmla="*/ 2147483647 h 931"/>
              <a:gd name="T14" fmla="*/ 2147483647 w 1396"/>
              <a:gd name="T15" fmla="*/ 2147483647 h 931"/>
              <a:gd name="T16" fmla="*/ 2147483647 w 1396"/>
              <a:gd name="T17" fmla="*/ 2147483647 h 931"/>
              <a:gd name="T18" fmla="*/ 2147483647 w 1396"/>
              <a:gd name="T19" fmla="*/ 2147483647 h 931"/>
              <a:gd name="T20" fmla="*/ 2147483647 w 1396"/>
              <a:gd name="T21" fmla="*/ 2147483647 h 931"/>
              <a:gd name="T22" fmla="*/ 2147483647 w 1396"/>
              <a:gd name="T23" fmla="*/ 2147483647 h 931"/>
              <a:gd name="T24" fmla="*/ 2147483647 w 1396"/>
              <a:gd name="T25" fmla="*/ 2147483647 h 931"/>
              <a:gd name="T26" fmla="*/ 2147483647 w 1396"/>
              <a:gd name="T27" fmla="*/ 2147483647 h 931"/>
              <a:gd name="T28" fmla="*/ 2147483647 w 1396"/>
              <a:gd name="T29" fmla="*/ 2147483647 h 931"/>
              <a:gd name="T30" fmla="*/ 2147483647 w 1396"/>
              <a:gd name="T31" fmla="*/ 2147483647 h 9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96"/>
              <a:gd name="T49" fmla="*/ 0 h 931"/>
              <a:gd name="T50" fmla="*/ 1396 w 1396"/>
              <a:gd name="T51" fmla="*/ 931 h 9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96" h="931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3" name="Oval 9"/>
          <p:cNvSpPr>
            <a:spLocks noChangeArrowheads="1"/>
          </p:cNvSpPr>
          <p:nvPr/>
        </p:nvSpPr>
        <p:spPr bwMode="auto">
          <a:xfrm>
            <a:off x="6829426" y="2208214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4" name="Oval 12"/>
          <p:cNvSpPr>
            <a:spLocks noChangeArrowheads="1"/>
          </p:cNvSpPr>
          <p:nvPr/>
        </p:nvSpPr>
        <p:spPr bwMode="auto">
          <a:xfrm>
            <a:off x="7210426" y="1836739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5" name="Line 15"/>
          <p:cNvSpPr>
            <a:spLocks noChangeShapeType="1"/>
          </p:cNvSpPr>
          <p:nvPr/>
        </p:nvSpPr>
        <p:spPr bwMode="auto">
          <a:xfrm flipV="1">
            <a:off x="6916738" y="1978025"/>
            <a:ext cx="317500" cy="33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6" name="Line 16"/>
          <p:cNvSpPr>
            <a:spLocks noChangeShapeType="1"/>
          </p:cNvSpPr>
          <p:nvPr/>
        </p:nvSpPr>
        <p:spPr bwMode="auto">
          <a:xfrm>
            <a:off x="7310438" y="1954213"/>
            <a:ext cx="400050" cy="590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7" name="Rectangle 44"/>
          <p:cNvSpPr>
            <a:spLocks noChangeArrowheads="1"/>
          </p:cNvSpPr>
          <p:nvPr/>
        </p:nvSpPr>
        <p:spPr bwMode="auto">
          <a:xfrm>
            <a:off x="6108701" y="1957389"/>
            <a:ext cx="955675" cy="7000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8" name="Text Box 45"/>
          <p:cNvSpPr txBox="1">
            <a:spLocks noChangeArrowheads="1"/>
          </p:cNvSpPr>
          <p:nvPr/>
        </p:nvSpPr>
        <p:spPr bwMode="auto">
          <a:xfrm>
            <a:off x="5564189" y="1476375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600"/>
              <a:t>central office</a:t>
            </a:r>
          </a:p>
        </p:txBody>
      </p:sp>
      <p:grpSp>
        <p:nvGrpSpPr>
          <p:cNvPr id="53259" name="Group 137"/>
          <p:cNvGrpSpPr>
            <a:grpSpLocks/>
          </p:cNvGrpSpPr>
          <p:nvPr/>
        </p:nvGrpSpPr>
        <p:grpSpPr bwMode="auto">
          <a:xfrm>
            <a:off x="6667500" y="2905126"/>
            <a:ext cx="2178050" cy="1147763"/>
            <a:chOff x="3240" y="1830"/>
            <a:chExt cx="1372" cy="723"/>
          </a:xfrm>
        </p:grpSpPr>
        <p:sp>
          <p:nvSpPr>
            <p:cNvPr id="53304" name="Freeform 28"/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145855 w 765"/>
                <a:gd name="T1" fmla="*/ 931 h 459"/>
                <a:gd name="T2" fmla="*/ 99268 w 765"/>
                <a:gd name="T3" fmla="*/ 6562 h 459"/>
                <a:gd name="T4" fmla="*/ 32950 w 765"/>
                <a:gd name="T5" fmla="*/ 9426 h 459"/>
                <a:gd name="T6" fmla="*/ 4821 w 765"/>
                <a:gd name="T7" fmla="*/ 31576 h 459"/>
                <a:gd name="T8" fmla="*/ 61950 w 765"/>
                <a:gd name="T9" fmla="*/ 41713 h 459"/>
                <a:gd name="T10" fmla="*/ 119240 w 765"/>
                <a:gd name="T11" fmla="*/ 40071 h 459"/>
                <a:gd name="T12" fmla="*/ 201010 w 765"/>
                <a:gd name="T13" fmla="*/ 41713 h 459"/>
                <a:gd name="T14" fmla="*/ 240274 w 765"/>
                <a:gd name="T15" fmla="*/ 40797 h 459"/>
                <a:gd name="T16" fmla="*/ 258901 w 765"/>
                <a:gd name="T17" fmla="*/ 34980 h 459"/>
                <a:gd name="T18" fmla="*/ 258196 w 765"/>
                <a:gd name="T19" fmla="*/ 14847 h 459"/>
                <a:gd name="T20" fmla="*/ 227858 w 765"/>
                <a:gd name="T21" fmla="*/ 3221 h 459"/>
                <a:gd name="T22" fmla="*/ 145855 w 765"/>
                <a:gd name="T23" fmla="*/ 931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5" name="Line 31"/>
            <p:cNvSpPr>
              <a:spLocks noChangeShapeType="1"/>
            </p:cNvSpPr>
            <p:nvPr/>
          </p:nvSpPr>
          <p:spPr bwMode="auto">
            <a:xfrm flipV="1">
              <a:off x="3763" y="2053"/>
              <a:ext cx="10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6" name="Line 32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7" name="Line 33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8" name="Line 34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9" name="Line 35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0" name="Line 36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3311" name="Group 37"/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5334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4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3344" name="Group 4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3347" name="Freeform 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48" name="Freeform 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3345" name="Line 4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46" name="Line 4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312" name="Group 46"/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5333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3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3336" name="Group 5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3339" name="Freeform 5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40" name="Freeform 5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3337" name="Line 5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38" name="Line 5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313" name="Group 55"/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5332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2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2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3328" name="Group 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3331" name="Freeform 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32" name="Freeform 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3329" name="Line 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30" name="Line 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314" name="Group 64"/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5331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1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31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3320" name="Group 6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3323" name="Freeform 6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24" name="Freeform 7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3321" name="Line 7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22" name="Line 7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3315" name="Line 73"/>
            <p:cNvSpPr>
              <a:spLocks noChangeShapeType="1"/>
            </p:cNvSpPr>
            <p:nvPr/>
          </p:nvSpPr>
          <p:spPr bwMode="auto">
            <a:xfrm>
              <a:off x="4422" y="2370"/>
              <a:ext cx="153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6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/>
                <a:t>ISP</a:t>
              </a:r>
            </a:p>
          </p:txBody>
        </p:sp>
      </p:grpSp>
      <p:sp>
        <p:nvSpPr>
          <p:cNvPr id="53260" name="Line 14"/>
          <p:cNvSpPr>
            <a:spLocks noChangeShapeType="1"/>
          </p:cNvSpPr>
          <p:nvPr/>
        </p:nvSpPr>
        <p:spPr bwMode="auto">
          <a:xfrm flipV="1">
            <a:off x="4214814" y="2363788"/>
            <a:ext cx="1938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1" name="Text Box 17"/>
          <p:cNvSpPr txBox="1">
            <a:spLocks noChangeArrowheads="1"/>
          </p:cNvSpPr>
          <p:nvPr/>
        </p:nvSpPr>
        <p:spPr bwMode="auto">
          <a:xfrm>
            <a:off x="7466014" y="1530350"/>
            <a:ext cx="107473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600"/>
              <a:t>telephone</a:t>
            </a:r>
          </a:p>
          <a:p>
            <a:pPr>
              <a:lnSpc>
                <a:spcPct val="85000"/>
              </a:lnSpc>
            </a:pPr>
            <a:r>
              <a:rPr lang="en-US" altLang="en-US" sz="1600"/>
              <a:t>network</a:t>
            </a:r>
          </a:p>
        </p:txBody>
      </p:sp>
      <p:grpSp>
        <p:nvGrpSpPr>
          <p:cNvPr id="53262" name="Group 108"/>
          <p:cNvGrpSpPr>
            <a:grpSpLocks/>
          </p:cNvGrpSpPr>
          <p:nvPr/>
        </p:nvGrpSpPr>
        <p:grpSpPr bwMode="auto">
          <a:xfrm>
            <a:off x="6165850" y="2074863"/>
            <a:ext cx="368300" cy="519112"/>
            <a:chOff x="1852" y="2562"/>
            <a:chExt cx="355" cy="471"/>
          </a:xfrm>
        </p:grpSpPr>
        <p:sp>
          <p:nvSpPr>
            <p:cNvPr id="53298" name="Freeform 109"/>
            <p:cNvSpPr>
              <a:spLocks/>
            </p:cNvSpPr>
            <p:nvPr/>
          </p:nvSpPr>
          <p:spPr bwMode="auto">
            <a:xfrm>
              <a:off x="1852" y="2621"/>
              <a:ext cx="318" cy="412"/>
            </a:xfrm>
            <a:custGeom>
              <a:avLst/>
              <a:gdLst>
                <a:gd name="T0" fmla="*/ 0 w 318"/>
                <a:gd name="T1" fmla="*/ 412 h 412"/>
                <a:gd name="T2" fmla="*/ 3 w 318"/>
                <a:gd name="T3" fmla="*/ 1 h 412"/>
                <a:gd name="T4" fmla="*/ 74 w 318"/>
                <a:gd name="T5" fmla="*/ 0 h 412"/>
                <a:gd name="T6" fmla="*/ 254 w 318"/>
                <a:gd name="T7" fmla="*/ 111 h 412"/>
                <a:gd name="T8" fmla="*/ 318 w 318"/>
                <a:gd name="T9" fmla="*/ 115 h 412"/>
                <a:gd name="T10" fmla="*/ 318 w 318"/>
                <a:gd name="T11" fmla="*/ 308 h 412"/>
                <a:gd name="T12" fmla="*/ 246 w 318"/>
                <a:gd name="T13" fmla="*/ 308 h 412"/>
                <a:gd name="T14" fmla="*/ 74 w 318"/>
                <a:gd name="T15" fmla="*/ 412 h 412"/>
                <a:gd name="T16" fmla="*/ 0 w 318"/>
                <a:gd name="T17" fmla="*/ 412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299" name="Freeform 110"/>
            <p:cNvSpPr>
              <a:spLocks/>
            </p:cNvSpPr>
            <p:nvPr/>
          </p:nvSpPr>
          <p:spPr bwMode="auto">
            <a:xfrm>
              <a:off x="1854" y="2562"/>
              <a:ext cx="353" cy="369"/>
            </a:xfrm>
            <a:custGeom>
              <a:avLst/>
              <a:gdLst>
                <a:gd name="T0" fmla="*/ 0 w 353"/>
                <a:gd name="T1" fmla="*/ 59 h 369"/>
                <a:gd name="T2" fmla="*/ 32 w 353"/>
                <a:gd name="T3" fmla="*/ 0 h 369"/>
                <a:gd name="T4" fmla="*/ 105 w 353"/>
                <a:gd name="T5" fmla="*/ 0 h 369"/>
                <a:gd name="T6" fmla="*/ 276 w 353"/>
                <a:gd name="T7" fmla="*/ 113 h 369"/>
                <a:gd name="T8" fmla="*/ 353 w 353"/>
                <a:gd name="T9" fmla="*/ 113 h 369"/>
                <a:gd name="T10" fmla="*/ 353 w 353"/>
                <a:gd name="T11" fmla="*/ 315 h 369"/>
                <a:gd name="T12" fmla="*/ 318 w 353"/>
                <a:gd name="T13" fmla="*/ 369 h 369"/>
                <a:gd name="T14" fmla="*/ 315 w 353"/>
                <a:gd name="T15" fmla="*/ 173 h 369"/>
                <a:gd name="T16" fmla="*/ 254 w 353"/>
                <a:gd name="T17" fmla="*/ 173 h 369"/>
                <a:gd name="T18" fmla="*/ 75 w 353"/>
                <a:gd name="T19" fmla="*/ 60 h 369"/>
                <a:gd name="T20" fmla="*/ 0 w 353"/>
                <a:gd name="T21" fmla="*/ 59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300" name="Line 111"/>
            <p:cNvSpPr>
              <a:spLocks noChangeShapeType="1"/>
            </p:cNvSpPr>
            <p:nvPr/>
          </p:nvSpPr>
          <p:spPr bwMode="auto">
            <a:xfrm flipH="1">
              <a:off x="2167" y="2674"/>
              <a:ext cx="3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1" name="Line 112"/>
            <p:cNvSpPr>
              <a:spLocks noChangeShapeType="1"/>
            </p:cNvSpPr>
            <p:nvPr/>
          </p:nvSpPr>
          <p:spPr bwMode="auto">
            <a:xfrm>
              <a:off x="1880" y="283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2" name="Freeform 113"/>
            <p:cNvSpPr>
              <a:spLocks/>
            </p:cNvSpPr>
            <p:nvPr/>
          </p:nvSpPr>
          <p:spPr bwMode="auto">
            <a:xfrm>
              <a:off x="1874" y="2670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3" name="Freeform 114"/>
            <p:cNvSpPr>
              <a:spLocks/>
            </p:cNvSpPr>
            <p:nvPr/>
          </p:nvSpPr>
          <p:spPr bwMode="auto">
            <a:xfrm flipV="1">
              <a:off x="1874" y="2884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263" name="Text Box 115"/>
          <p:cNvSpPr txBox="1">
            <a:spLocks noChangeArrowheads="1"/>
          </p:cNvSpPr>
          <p:nvPr/>
        </p:nvSpPr>
        <p:spPr bwMode="auto">
          <a:xfrm>
            <a:off x="5845176" y="2619375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/>
              <a:t>DSLAM</a:t>
            </a:r>
          </a:p>
        </p:txBody>
      </p:sp>
      <p:grpSp>
        <p:nvGrpSpPr>
          <p:cNvPr id="53264" name="Group 118"/>
          <p:cNvGrpSpPr>
            <a:grpSpLocks/>
          </p:cNvGrpSpPr>
          <p:nvPr/>
        </p:nvGrpSpPr>
        <p:grpSpPr bwMode="auto">
          <a:xfrm>
            <a:off x="4906964" y="1362076"/>
            <a:ext cx="796925" cy="658813"/>
            <a:chOff x="1671" y="1861"/>
            <a:chExt cx="502" cy="415"/>
          </a:xfrm>
        </p:grpSpPr>
        <p:sp>
          <p:nvSpPr>
            <p:cNvPr id="53296" name="Rectangle 116"/>
            <p:cNvSpPr>
              <a:spLocks noChangeArrowheads="1"/>
            </p:cNvSpPr>
            <p:nvPr/>
          </p:nvSpPr>
          <p:spPr bwMode="auto"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7" name="AutoShape 117"/>
            <p:cNvSpPr>
              <a:spLocks noChangeArrowheads="1"/>
            </p:cNvSpPr>
            <p:nvPr/>
          </p:nvSpPr>
          <p:spPr bwMode="auto">
            <a:xfrm>
              <a:off x="1671" y="1861"/>
              <a:ext cx="502" cy="129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3265" name="Freeform 119"/>
          <p:cNvSpPr>
            <a:spLocks/>
          </p:cNvSpPr>
          <p:nvPr/>
        </p:nvSpPr>
        <p:spPr bwMode="auto">
          <a:xfrm>
            <a:off x="5510214" y="1951038"/>
            <a:ext cx="674687" cy="239712"/>
          </a:xfrm>
          <a:custGeom>
            <a:avLst/>
            <a:gdLst>
              <a:gd name="T0" fmla="*/ 0 w 425"/>
              <a:gd name="T1" fmla="*/ 0 h 151"/>
              <a:gd name="T2" fmla="*/ 0 w 425"/>
              <a:gd name="T3" fmla="*/ 2147483647 h 151"/>
              <a:gd name="T4" fmla="*/ 2147483647 w 425"/>
              <a:gd name="T5" fmla="*/ 2147483647 h 151"/>
              <a:gd name="T6" fmla="*/ 0 60000 65536"/>
              <a:gd name="T7" fmla="*/ 0 60000 65536"/>
              <a:gd name="T8" fmla="*/ 0 60000 65536"/>
              <a:gd name="T9" fmla="*/ 0 w 425"/>
              <a:gd name="T10" fmla="*/ 0 h 151"/>
              <a:gd name="T11" fmla="*/ 425 w 425"/>
              <a:gd name="T12" fmla="*/ 151 h 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" h="151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6" name="Line 120"/>
          <p:cNvSpPr>
            <a:spLocks noChangeShapeType="1"/>
          </p:cNvSpPr>
          <p:nvPr/>
        </p:nvSpPr>
        <p:spPr bwMode="auto">
          <a:xfrm>
            <a:off x="6538914" y="2316163"/>
            <a:ext cx="377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7" name="Freeform 123"/>
          <p:cNvSpPr>
            <a:spLocks/>
          </p:cNvSpPr>
          <p:nvPr/>
        </p:nvSpPr>
        <p:spPr bwMode="auto">
          <a:xfrm>
            <a:off x="6538913" y="2384425"/>
            <a:ext cx="463550" cy="1009650"/>
          </a:xfrm>
          <a:custGeom>
            <a:avLst/>
            <a:gdLst>
              <a:gd name="T0" fmla="*/ 0 w 292"/>
              <a:gd name="T1" fmla="*/ 0 h 636"/>
              <a:gd name="T2" fmla="*/ 2147483647 w 292"/>
              <a:gd name="T3" fmla="*/ 0 h 636"/>
              <a:gd name="T4" fmla="*/ 2147483647 w 292"/>
              <a:gd name="T5" fmla="*/ 2147483647 h 636"/>
              <a:gd name="T6" fmla="*/ 2147483647 w 292"/>
              <a:gd name="T7" fmla="*/ 2147483647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636"/>
              <a:gd name="T14" fmla="*/ 292 w 292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636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" name="Group 135"/>
          <p:cNvGrpSpPr>
            <a:grpSpLocks/>
          </p:cNvGrpSpPr>
          <p:nvPr/>
        </p:nvGrpSpPr>
        <p:grpSpPr bwMode="auto">
          <a:xfrm>
            <a:off x="2301875" y="2441576"/>
            <a:ext cx="3117850" cy="1611313"/>
            <a:chOff x="490" y="1538"/>
            <a:chExt cx="1964" cy="1015"/>
          </a:xfrm>
        </p:grpSpPr>
        <p:sp>
          <p:nvSpPr>
            <p:cNvPr id="53294" name="Text Box 124"/>
            <p:cNvSpPr txBox="1">
              <a:spLocks noChangeArrowheads="1"/>
            </p:cNvSpPr>
            <p:nvPr/>
          </p:nvSpPr>
          <p:spPr bwMode="auto"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voice, data transmitted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at different frequencies over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600" i="1">
                  <a:solidFill>
                    <a:srgbClr val="CC0000"/>
                  </a:solidFill>
                </a:rPr>
                <a:t>dedicated </a:t>
              </a:r>
              <a:r>
                <a:rPr lang="en-US" altLang="en-US" sz="1600" i="1"/>
                <a:t>line to central office</a:t>
              </a:r>
            </a:p>
          </p:txBody>
        </p:sp>
        <p:sp>
          <p:nvSpPr>
            <p:cNvPr id="53295" name="Line 125"/>
            <p:cNvSpPr>
              <a:spLocks noChangeShapeType="1"/>
            </p:cNvSpPr>
            <p:nvPr/>
          </p:nvSpPr>
          <p:spPr bwMode="auto">
            <a:xfrm flipV="1">
              <a:off x="2093" y="1538"/>
              <a:ext cx="361" cy="5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4384" name="Rectangle 52"/>
          <p:cNvSpPr>
            <a:spLocks noChangeArrowheads="1"/>
          </p:cNvSpPr>
          <p:nvPr/>
        </p:nvSpPr>
        <p:spPr bwMode="auto">
          <a:xfrm>
            <a:off x="1524000" y="3995738"/>
            <a:ext cx="91186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</a:pPr>
            <a:endParaRPr lang="en-US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use </a:t>
            </a:r>
            <a:r>
              <a:rPr lang="en-US" altLang="en-US" i="1" dirty="0">
                <a:solidFill>
                  <a:srgbClr val="CC0000"/>
                </a:solidFill>
                <a:latin typeface="Gill Sans MT" panose="020B0502020104020203" pitchFamily="34" charset="0"/>
              </a:rPr>
              <a:t>existing</a:t>
            </a:r>
            <a:r>
              <a:rPr lang="en-US" altLang="en-US" dirty="0">
                <a:latin typeface="Gill Sans MT" panose="020B0502020104020203" pitchFamily="34" charset="0"/>
              </a:rPr>
              <a:t> telephone line to central office </a:t>
            </a:r>
            <a:r>
              <a:rPr lang="en-US" altLang="en-US" dirty="0" smtClean="0">
                <a:latin typeface="Gill Sans MT" panose="020B0502020104020203" pitchFamily="34" charset="0"/>
              </a:rPr>
              <a:t>DSL access multiplexer</a:t>
            </a:r>
            <a:endParaRPr lang="en-US" altLang="en-US" dirty="0">
              <a:latin typeface="Gill Sans MT" panose="020B0502020104020203" pitchFamily="34" charset="0"/>
            </a:endParaRPr>
          </a:p>
          <a:p>
            <a:pPr lvl="2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Gill Sans MT" panose="020B0502020104020203" pitchFamily="34" charset="0"/>
              </a:rPr>
              <a:t>data over DSL phone line goes to Internet</a:t>
            </a:r>
          </a:p>
          <a:p>
            <a:pPr lvl="2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Gill Sans MT" panose="020B0502020104020203" pitchFamily="34" charset="0"/>
              </a:rPr>
              <a:t>voice over DSL phone line goes to telephone net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&lt; 2.5 Mbps upstream transmission rate (typically &lt; 1 Mbps)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&lt; 24 Mbps downstream transmission rate (typically &lt; 10 Mbps)</a:t>
            </a:r>
          </a:p>
        </p:txBody>
      </p:sp>
      <p:sp>
        <p:nvSpPr>
          <p:cNvPr id="53270" name="Rectangle 90"/>
          <p:cNvSpPr>
            <a:spLocks noChangeArrowheads="1"/>
          </p:cNvSpPr>
          <p:nvPr/>
        </p:nvSpPr>
        <p:spPr bwMode="auto">
          <a:xfrm>
            <a:off x="2762251" y="181451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3271" name="Line 7"/>
          <p:cNvSpPr>
            <a:spLocks noChangeShapeType="1"/>
          </p:cNvSpPr>
          <p:nvPr/>
        </p:nvSpPr>
        <p:spPr bwMode="auto">
          <a:xfrm flipV="1">
            <a:off x="3248026" y="2365375"/>
            <a:ext cx="365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72" name="Text Box 39"/>
          <p:cNvSpPr txBox="1">
            <a:spLocks noChangeArrowheads="1"/>
          </p:cNvSpPr>
          <p:nvPr/>
        </p:nvSpPr>
        <p:spPr bwMode="auto">
          <a:xfrm>
            <a:off x="3506823" y="2471739"/>
            <a:ext cx="780983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400"/>
              <a:t>DSL</a:t>
            </a:r>
          </a:p>
          <a:p>
            <a:pPr algn="ctr">
              <a:lnSpc>
                <a:spcPct val="80000"/>
              </a:lnSpc>
            </a:pPr>
            <a:r>
              <a:rPr lang="en-US" altLang="en-US" sz="1400"/>
              <a:t>modem</a:t>
            </a:r>
          </a:p>
        </p:txBody>
      </p:sp>
      <p:sp>
        <p:nvSpPr>
          <p:cNvPr id="53273" name="Text Box 41"/>
          <p:cNvSpPr txBox="1">
            <a:spLocks noChangeArrowheads="1"/>
          </p:cNvSpPr>
          <p:nvPr/>
        </p:nvSpPr>
        <p:spPr bwMode="auto">
          <a:xfrm>
            <a:off x="4185017" y="2495550"/>
            <a:ext cx="712054" cy="26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400"/>
              <a:t>splitter</a:t>
            </a:r>
          </a:p>
        </p:txBody>
      </p:sp>
      <p:grpSp>
        <p:nvGrpSpPr>
          <p:cNvPr id="53274" name="Group 94"/>
          <p:cNvGrpSpPr>
            <a:grpSpLocks/>
          </p:cNvGrpSpPr>
          <p:nvPr/>
        </p:nvGrpSpPr>
        <p:grpSpPr bwMode="auto">
          <a:xfrm>
            <a:off x="3603626" y="2252663"/>
            <a:ext cx="614363" cy="220662"/>
            <a:chOff x="322" y="890"/>
            <a:chExt cx="872" cy="339"/>
          </a:xfrm>
        </p:grpSpPr>
        <p:sp>
          <p:nvSpPr>
            <p:cNvPr id="53288" name="Rectangle 95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89" name="Rectangle 96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0" name="Rectangle 97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1" name="Rectangle 98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2" name="Rectangle 99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3" name="AutoShape 100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275" name="AutoShape 102"/>
          <p:cNvSpPr>
            <a:spLocks noChangeArrowheads="1"/>
          </p:cNvSpPr>
          <p:nvPr/>
        </p:nvSpPr>
        <p:spPr bwMode="auto">
          <a:xfrm>
            <a:off x="2479676" y="1403351"/>
            <a:ext cx="2498725" cy="468313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3276" name="Rectangle 103"/>
          <p:cNvSpPr>
            <a:spLocks noChangeArrowheads="1"/>
          </p:cNvSpPr>
          <p:nvPr/>
        </p:nvSpPr>
        <p:spPr bwMode="auto">
          <a:xfrm>
            <a:off x="4457700" y="2303463"/>
            <a:ext cx="166688" cy="144462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3277" name="Freeform 104"/>
          <p:cNvSpPr>
            <a:spLocks/>
          </p:cNvSpPr>
          <p:nvPr/>
        </p:nvSpPr>
        <p:spPr bwMode="auto">
          <a:xfrm>
            <a:off x="3933825" y="1858964"/>
            <a:ext cx="604838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3278" name="Object 3"/>
          <p:cNvGraphicFramePr>
            <a:graphicFrameLocks noChangeAspect="1"/>
          </p:cNvGraphicFramePr>
          <p:nvPr/>
        </p:nvGraphicFramePr>
        <p:xfrm>
          <a:off x="3594100" y="1655764"/>
          <a:ext cx="49053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Clip" r:id="rId3" imgW="681706" imgH="480401" progId="MS_ClipArt_Gallery.2">
                  <p:embed/>
                </p:oleObj>
              </mc:Choice>
              <mc:Fallback>
                <p:oleObj name="Clip" r:id="rId3" imgW="681706" imgH="480401" progId="MS_ClipArt_Gallery.2">
                  <p:embed/>
                  <p:pic>
                    <p:nvPicPr>
                      <p:cNvPr id="5327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1655764"/>
                        <a:ext cx="49053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9" name="Line 130"/>
          <p:cNvSpPr>
            <a:spLocks noChangeShapeType="1"/>
          </p:cNvSpPr>
          <p:nvPr/>
        </p:nvSpPr>
        <p:spPr bwMode="auto">
          <a:xfrm flipH="1">
            <a:off x="4221163" y="2365375"/>
            <a:ext cx="23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0" name="AutoShape 131"/>
          <p:cNvSpPr>
            <a:spLocks noChangeArrowheads="1"/>
          </p:cNvSpPr>
          <p:nvPr/>
        </p:nvSpPr>
        <p:spPr bwMode="auto">
          <a:xfrm>
            <a:off x="5969000" y="1703389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5" name="Group 136"/>
          <p:cNvGrpSpPr>
            <a:grpSpLocks/>
          </p:cNvGrpSpPr>
          <p:nvPr/>
        </p:nvGrpSpPr>
        <p:grpSpPr bwMode="auto">
          <a:xfrm>
            <a:off x="5202239" y="2867025"/>
            <a:ext cx="1323975" cy="1174750"/>
            <a:chOff x="2317" y="1806"/>
            <a:chExt cx="834" cy="740"/>
          </a:xfrm>
        </p:grpSpPr>
        <p:sp>
          <p:nvSpPr>
            <p:cNvPr id="53286" name="Line 132"/>
            <p:cNvSpPr>
              <a:spLocks noChangeShapeType="1"/>
            </p:cNvSpPr>
            <p:nvPr/>
          </p:nvSpPr>
          <p:spPr bwMode="auto">
            <a:xfrm flipV="1">
              <a:off x="2671" y="1806"/>
              <a:ext cx="268" cy="4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7" name="Text Box 133"/>
            <p:cNvSpPr txBox="1">
              <a:spLocks noChangeArrowheads="1"/>
            </p:cNvSpPr>
            <p:nvPr/>
          </p:nvSpPr>
          <p:spPr bwMode="auto"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DSL access 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multiplexer</a:t>
              </a:r>
            </a:p>
          </p:txBody>
        </p:sp>
      </p:grpSp>
      <p:grpSp>
        <p:nvGrpSpPr>
          <p:cNvPr id="53282" name="Group 141"/>
          <p:cNvGrpSpPr>
            <a:grpSpLocks/>
          </p:cNvGrpSpPr>
          <p:nvPr/>
        </p:nvGrpSpPr>
        <p:grpSpPr bwMode="auto">
          <a:xfrm>
            <a:off x="2667000" y="2043114"/>
            <a:ext cx="642938" cy="644525"/>
            <a:chOff x="-44" y="1473"/>
            <a:chExt cx="981" cy="1105"/>
          </a:xfrm>
        </p:grpSpPr>
        <p:pic>
          <p:nvPicPr>
            <p:cNvPr id="53284" name="Picture 142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85" name="Freeform 14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8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38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41"/>
          <p:cNvSpPr>
            <a:spLocks/>
          </p:cNvSpPr>
          <p:nvPr/>
        </p:nvSpPr>
        <p:spPr bwMode="auto">
          <a:xfrm>
            <a:off x="1905001" y="239714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latin typeface="Gill Sans MT" panose="020B0502020104020203" pitchFamily="34" charset="0"/>
              </a:rPr>
              <a:t>Access net: cable network</a:t>
            </a:r>
          </a:p>
        </p:txBody>
      </p:sp>
      <p:sp>
        <p:nvSpPr>
          <p:cNvPr id="54275" name="Rectangle 60"/>
          <p:cNvSpPr>
            <a:spLocks noChangeArrowheads="1"/>
          </p:cNvSpPr>
          <p:nvPr/>
        </p:nvSpPr>
        <p:spPr bwMode="auto">
          <a:xfrm>
            <a:off x="2181226" y="1651001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4276" name="Line 7"/>
          <p:cNvSpPr>
            <a:spLocks noChangeShapeType="1"/>
          </p:cNvSpPr>
          <p:nvPr/>
        </p:nvSpPr>
        <p:spPr bwMode="auto">
          <a:xfrm flipV="1">
            <a:off x="2482851" y="2201864"/>
            <a:ext cx="3651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277" name="Text Box 39"/>
          <p:cNvSpPr txBox="1">
            <a:spLocks noChangeArrowheads="1"/>
          </p:cNvSpPr>
          <p:nvPr/>
        </p:nvSpPr>
        <p:spPr bwMode="auto">
          <a:xfrm>
            <a:off x="2641635" y="2352676"/>
            <a:ext cx="780983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400"/>
              <a:t>cable</a:t>
            </a:r>
          </a:p>
          <a:p>
            <a:pPr algn="ctr">
              <a:lnSpc>
                <a:spcPct val="80000"/>
              </a:lnSpc>
            </a:pPr>
            <a:r>
              <a:rPr lang="en-US" altLang="en-US" sz="1400"/>
              <a:t>modem</a:t>
            </a:r>
          </a:p>
        </p:txBody>
      </p:sp>
      <p:sp>
        <p:nvSpPr>
          <p:cNvPr id="54278" name="Text Box 41"/>
          <p:cNvSpPr txBox="1">
            <a:spLocks noChangeArrowheads="1"/>
          </p:cNvSpPr>
          <p:nvPr/>
        </p:nvSpPr>
        <p:spPr bwMode="auto">
          <a:xfrm>
            <a:off x="3308717" y="2354263"/>
            <a:ext cx="712054" cy="26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400"/>
              <a:t>splitter</a:t>
            </a:r>
          </a:p>
        </p:txBody>
      </p:sp>
      <p:grpSp>
        <p:nvGrpSpPr>
          <p:cNvPr id="54279" name="Group 64"/>
          <p:cNvGrpSpPr>
            <a:grpSpLocks/>
          </p:cNvGrpSpPr>
          <p:nvPr/>
        </p:nvGrpSpPr>
        <p:grpSpPr bwMode="auto">
          <a:xfrm>
            <a:off x="2828926" y="2078038"/>
            <a:ext cx="614363" cy="220662"/>
            <a:chOff x="322" y="890"/>
            <a:chExt cx="872" cy="339"/>
          </a:xfrm>
        </p:grpSpPr>
        <p:sp>
          <p:nvSpPr>
            <p:cNvPr id="54435" name="Rectangle 65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436" name="Rectangle 66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437" name="Rectangle 67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438" name="Rectangle 68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439" name="Rectangle 69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440" name="AutoShape 70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80" name="AutoShape 72"/>
          <p:cNvSpPr>
            <a:spLocks noChangeArrowheads="1"/>
          </p:cNvSpPr>
          <p:nvPr/>
        </p:nvSpPr>
        <p:spPr bwMode="auto">
          <a:xfrm>
            <a:off x="1943100" y="1239838"/>
            <a:ext cx="2268538" cy="468312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4281" name="Rectangle 73"/>
          <p:cNvSpPr>
            <a:spLocks noChangeArrowheads="1"/>
          </p:cNvSpPr>
          <p:nvPr/>
        </p:nvSpPr>
        <p:spPr bwMode="auto">
          <a:xfrm>
            <a:off x="3559175" y="2139951"/>
            <a:ext cx="166688" cy="144463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4282" name="Freeform 74"/>
          <p:cNvSpPr>
            <a:spLocks/>
          </p:cNvSpPr>
          <p:nvPr/>
        </p:nvSpPr>
        <p:spPr bwMode="auto">
          <a:xfrm>
            <a:off x="3168651" y="1695451"/>
            <a:ext cx="479425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Line 95"/>
          <p:cNvSpPr>
            <a:spLocks noChangeShapeType="1"/>
          </p:cNvSpPr>
          <p:nvPr/>
        </p:nvSpPr>
        <p:spPr bwMode="auto">
          <a:xfrm flipH="1">
            <a:off x="3467101" y="2201863"/>
            <a:ext cx="239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4284" name="Picture 96" descr="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1355725"/>
            <a:ext cx="75565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4285" name="Group 117"/>
          <p:cNvGrpSpPr>
            <a:grpSpLocks/>
          </p:cNvGrpSpPr>
          <p:nvPr/>
        </p:nvGrpSpPr>
        <p:grpSpPr bwMode="auto">
          <a:xfrm>
            <a:off x="4200525" y="1470025"/>
            <a:ext cx="850900" cy="527050"/>
            <a:chOff x="-490" y="1664"/>
            <a:chExt cx="1429" cy="842"/>
          </a:xfrm>
        </p:grpSpPr>
        <p:sp>
          <p:nvSpPr>
            <p:cNvPr id="54419" name="AutoShape 11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4420" name="Group 116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4421" name="Rectangle 99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422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4423" name="Group 103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4429" name="Rectangle 104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30" name="Rectangle 105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31" name="Rectangle 106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32" name="Rectangle 107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33" name="Rectangle 108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34" name="AutoShape 109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4424" name="Picture 110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425" name="Rectangle 112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426" name="Freeform 113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27" name="Line 114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4428" name="Picture 115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4286" name="Group 118"/>
          <p:cNvGrpSpPr>
            <a:grpSpLocks/>
          </p:cNvGrpSpPr>
          <p:nvPr/>
        </p:nvGrpSpPr>
        <p:grpSpPr bwMode="auto">
          <a:xfrm>
            <a:off x="5102225" y="1463675"/>
            <a:ext cx="850900" cy="527050"/>
            <a:chOff x="-490" y="1664"/>
            <a:chExt cx="1429" cy="842"/>
          </a:xfrm>
        </p:grpSpPr>
        <p:sp>
          <p:nvSpPr>
            <p:cNvPr id="54403" name="AutoShape 119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4404" name="Group 120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4405" name="Rectangle 121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406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4407" name="Group 123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4413" name="Rectangle 124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14" name="Rectangle 125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15" name="Rectangle 126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16" name="Rectangle 127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17" name="Rectangle 128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18" name="AutoShape 129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4408" name="Picture 130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409" name="Rectangle 131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410" name="Freeform 132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11" name="Line 133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4412" name="Picture 134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4287" name="Group 135"/>
          <p:cNvGrpSpPr>
            <a:grpSpLocks/>
          </p:cNvGrpSpPr>
          <p:nvPr/>
        </p:nvGrpSpPr>
        <p:grpSpPr bwMode="auto">
          <a:xfrm>
            <a:off x="4287838" y="2309813"/>
            <a:ext cx="850900" cy="527050"/>
            <a:chOff x="-490" y="1664"/>
            <a:chExt cx="1429" cy="842"/>
          </a:xfrm>
        </p:grpSpPr>
        <p:sp>
          <p:nvSpPr>
            <p:cNvPr id="54387" name="AutoShape 136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4388" name="Group 137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4389" name="Rectangle 138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390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4391" name="Group 140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4397" name="Rectangle 141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98" name="Rectangle 142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99" name="Rectangle 143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00" name="Rectangle 144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01" name="Rectangle 145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402" name="AutoShape 146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4392" name="Picture 147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93" name="Rectangle 148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394" name="Freeform 149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95" name="Line 150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4396" name="Picture 151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4288" name="Group 152"/>
          <p:cNvGrpSpPr>
            <a:grpSpLocks/>
          </p:cNvGrpSpPr>
          <p:nvPr/>
        </p:nvGrpSpPr>
        <p:grpSpPr bwMode="auto">
          <a:xfrm>
            <a:off x="5154613" y="2319338"/>
            <a:ext cx="850900" cy="527050"/>
            <a:chOff x="-490" y="1664"/>
            <a:chExt cx="1429" cy="842"/>
          </a:xfrm>
        </p:grpSpPr>
        <p:sp>
          <p:nvSpPr>
            <p:cNvPr id="54371" name="AutoShape 153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4372" name="Group 154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4373" name="Rectangle 155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374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4375" name="Group 157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4381" name="Rectangle 158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82" name="Rectangle 159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83" name="Rectangle 160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84" name="Rectangle 161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85" name="Rectangle 162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86" name="AutoShape 163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4376" name="Picture 164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77" name="Rectangle 165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378" name="Freeform 166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79" name="Line 167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4380" name="Picture 168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54289" name="Line 169"/>
          <p:cNvSpPr>
            <a:spLocks noChangeShapeType="1"/>
          </p:cNvSpPr>
          <p:nvPr/>
        </p:nvSpPr>
        <p:spPr bwMode="auto">
          <a:xfrm>
            <a:off x="3741739" y="2212975"/>
            <a:ext cx="369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4290" name="Group 170"/>
          <p:cNvGrpSpPr>
            <a:grpSpLocks/>
          </p:cNvGrpSpPr>
          <p:nvPr/>
        </p:nvGrpSpPr>
        <p:grpSpPr bwMode="auto">
          <a:xfrm>
            <a:off x="6243638" y="1471613"/>
            <a:ext cx="850900" cy="527050"/>
            <a:chOff x="-490" y="1664"/>
            <a:chExt cx="1429" cy="842"/>
          </a:xfrm>
        </p:grpSpPr>
        <p:sp>
          <p:nvSpPr>
            <p:cNvPr id="54355" name="AutoShape 17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4356" name="Group 172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4357" name="Rectangle 173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358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4359" name="Group 175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4365" name="Rectangle 176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66" name="Rectangle 177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67" name="Rectangle 178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68" name="Rectangle 179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69" name="Rectangle 180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370" name="AutoShape 181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4360" name="Picture 182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61" name="Rectangle 183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362" name="Freeform 184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63" name="Line 185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4364" name="Picture 186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54291" name="Text Box 204"/>
          <p:cNvSpPr txBox="1">
            <a:spLocks noChangeArrowheads="1"/>
          </p:cNvSpPr>
          <p:nvPr/>
        </p:nvSpPr>
        <p:spPr bwMode="auto">
          <a:xfrm>
            <a:off x="5854700" y="15414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969696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54292" name="Line 205"/>
          <p:cNvSpPr>
            <a:spLocks noChangeShapeType="1"/>
          </p:cNvSpPr>
          <p:nvPr/>
        </p:nvSpPr>
        <p:spPr bwMode="auto">
          <a:xfrm flipH="1">
            <a:off x="4835526" y="1882776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3" name="Line 206"/>
          <p:cNvSpPr>
            <a:spLocks noChangeShapeType="1"/>
          </p:cNvSpPr>
          <p:nvPr/>
        </p:nvSpPr>
        <p:spPr bwMode="auto">
          <a:xfrm flipH="1">
            <a:off x="5740401" y="1882776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4" name="Line 207"/>
          <p:cNvSpPr>
            <a:spLocks noChangeShapeType="1"/>
          </p:cNvSpPr>
          <p:nvPr/>
        </p:nvSpPr>
        <p:spPr bwMode="auto">
          <a:xfrm flipH="1">
            <a:off x="6877051" y="1882776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5" name="Freeform 208"/>
          <p:cNvSpPr>
            <a:spLocks/>
          </p:cNvSpPr>
          <p:nvPr/>
        </p:nvSpPr>
        <p:spPr bwMode="auto">
          <a:xfrm>
            <a:off x="5826125" y="221932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6" name="Freeform 209"/>
          <p:cNvSpPr>
            <a:spLocks/>
          </p:cNvSpPr>
          <p:nvPr/>
        </p:nvSpPr>
        <p:spPr bwMode="auto">
          <a:xfrm>
            <a:off x="4959350" y="221297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7" name="Rectangle 44"/>
          <p:cNvSpPr>
            <a:spLocks noChangeArrowheads="1"/>
          </p:cNvSpPr>
          <p:nvPr/>
        </p:nvSpPr>
        <p:spPr bwMode="auto">
          <a:xfrm>
            <a:off x="7170739" y="1787525"/>
            <a:ext cx="955675" cy="700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98" name="Text Box 45"/>
          <p:cNvSpPr txBox="1">
            <a:spLocks noChangeArrowheads="1"/>
          </p:cNvSpPr>
          <p:nvPr/>
        </p:nvSpPr>
        <p:spPr bwMode="auto">
          <a:xfrm>
            <a:off x="6681789" y="1250950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600"/>
              <a:t>cable headend</a:t>
            </a:r>
          </a:p>
        </p:txBody>
      </p:sp>
      <p:sp>
        <p:nvSpPr>
          <p:cNvPr id="54299" name="Freeform 216"/>
          <p:cNvSpPr>
            <a:spLocks/>
          </p:cNvSpPr>
          <p:nvPr/>
        </p:nvSpPr>
        <p:spPr bwMode="auto">
          <a:xfrm>
            <a:off x="7427913" y="1970089"/>
            <a:ext cx="330200" cy="454025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FFFF99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300" name="Freeform 217"/>
          <p:cNvSpPr>
            <a:spLocks/>
          </p:cNvSpPr>
          <p:nvPr/>
        </p:nvSpPr>
        <p:spPr bwMode="auto">
          <a:xfrm>
            <a:off x="7429501" y="1905000"/>
            <a:ext cx="366713" cy="4064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301" name="Line 218"/>
          <p:cNvSpPr>
            <a:spLocks noChangeShapeType="1"/>
          </p:cNvSpPr>
          <p:nvPr/>
        </p:nvSpPr>
        <p:spPr bwMode="auto">
          <a:xfrm flipH="1">
            <a:off x="7754939" y="2028826"/>
            <a:ext cx="34925" cy="68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2" name="Line 219"/>
          <p:cNvSpPr>
            <a:spLocks noChangeShapeType="1"/>
          </p:cNvSpPr>
          <p:nvPr/>
        </p:nvSpPr>
        <p:spPr bwMode="auto">
          <a:xfrm>
            <a:off x="7456489" y="2200275"/>
            <a:ext cx="26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3" name="Freeform 220"/>
          <p:cNvSpPr>
            <a:spLocks/>
          </p:cNvSpPr>
          <p:nvPr/>
        </p:nvSpPr>
        <p:spPr bwMode="auto">
          <a:xfrm>
            <a:off x="7450139" y="2024064"/>
            <a:ext cx="274637" cy="115887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4" name="Freeform 221"/>
          <p:cNvSpPr>
            <a:spLocks/>
          </p:cNvSpPr>
          <p:nvPr/>
        </p:nvSpPr>
        <p:spPr bwMode="auto">
          <a:xfrm flipV="1">
            <a:off x="7450139" y="2260600"/>
            <a:ext cx="274637" cy="114300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5" name="AutoShape 225"/>
          <p:cNvSpPr>
            <a:spLocks noChangeArrowheads="1"/>
          </p:cNvSpPr>
          <p:nvPr/>
        </p:nvSpPr>
        <p:spPr bwMode="auto">
          <a:xfrm>
            <a:off x="7031038" y="1524000"/>
            <a:ext cx="1206500" cy="261938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4941888" y="3186113"/>
            <a:ext cx="2043112" cy="958850"/>
            <a:chOff x="2505" y="826"/>
            <a:chExt cx="1287" cy="604"/>
          </a:xfrm>
        </p:grpSpPr>
        <p:sp>
          <p:nvSpPr>
            <p:cNvPr id="54351" name="Line 38"/>
            <p:cNvSpPr>
              <a:spLocks noChangeShapeType="1"/>
            </p:cNvSpPr>
            <p:nvPr/>
          </p:nvSpPr>
          <p:spPr bwMode="auto">
            <a:xfrm flipH="1">
              <a:off x="2505" y="1115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52" name="Freeform 39"/>
            <p:cNvSpPr>
              <a:spLocks/>
            </p:cNvSpPr>
            <p:nvPr/>
          </p:nvSpPr>
          <p:spPr bwMode="auto">
            <a:xfrm>
              <a:off x="2548" y="826"/>
              <a:ext cx="562" cy="266"/>
            </a:xfrm>
            <a:custGeom>
              <a:avLst/>
              <a:gdLst>
                <a:gd name="T0" fmla="*/ 4 w 562"/>
                <a:gd name="T1" fmla="*/ 264 h 266"/>
                <a:gd name="T2" fmla="*/ 52 w 562"/>
                <a:gd name="T3" fmla="*/ 6 h 266"/>
                <a:gd name="T4" fmla="*/ 108 w 562"/>
                <a:gd name="T5" fmla="*/ 266 h 266"/>
                <a:gd name="T6" fmla="*/ 174 w 562"/>
                <a:gd name="T7" fmla="*/ 0 h 266"/>
                <a:gd name="T8" fmla="*/ 228 w 562"/>
                <a:gd name="T9" fmla="*/ 264 h 266"/>
                <a:gd name="T10" fmla="*/ 288 w 562"/>
                <a:gd name="T11" fmla="*/ 8 h 266"/>
                <a:gd name="T12" fmla="*/ 354 w 562"/>
                <a:gd name="T13" fmla="*/ 266 h 266"/>
                <a:gd name="T14" fmla="*/ 402 w 562"/>
                <a:gd name="T15" fmla="*/ 8 h 266"/>
                <a:gd name="T16" fmla="*/ 464 w 562"/>
                <a:gd name="T17" fmla="*/ 264 h 266"/>
                <a:gd name="T18" fmla="*/ 506 w 562"/>
                <a:gd name="T19" fmla="*/ 6 h 266"/>
                <a:gd name="T20" fmla="*/ 556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53" name="Freeform 40"/>
            <p:cNvSpPr>
              <a:spLocks/>
            </p:cNvSpPr>
            <p:nvPr/>
          </p:nvSpPr>
          <p:spPr bwMode="auto">
            <a:xfrm>
              <a:off x="3523" y="830"/>
              <a:ext cx="269" cy="266"/>
            </a:xfrm>
            <a:custGeom>
              <a:avLst/>
              <a:gdLst>
                <a:gd name="T0" fmla="*/ 0 w 562"/>
                <a:gd name="T1" fmla="*/ 264 h 266"/>
                <a:gd name="T2" fmla="*/ 0 w 562"/>
                <a:gd name="T3" fmla="*/ 6 h 266"/>
                <a:gd name="T4" fmla="*/ 0 w 562"/>
                <a:gd name="T5" fmla="*/ 266 h 266"/>
                <a:gd name="T6" fmla="*/ 0 w 562"/>
                <a:gd name="T7" fmla="*/ 0 h 266"/>
                <a:gd name="T8" fmla="*/ 0 w 562"/>
                <a:gd name="T9" fmla="*/ 264 h 266"/>
                <a:gd name="T10" fmla="*/ 0 w 562"/>
                <a:gd name="T11" fmla="*/ 8 h 266"/>
                <a:gd name="T12" fmla="*/ 0 w 562"/>
                <a:gd name="T13" fmla="*/ 266 h 266"/>
                <a:gd name="T14" fmla="*/ 0 w 562"/>
                <a:gd name="T15" fmla="*/ 8 h 266"/>
                <a:gd name="T16" fmla="*/ 0 w 562"/>
                <a:gd name="T17" fmla="*/ 264 h 266"/>
                <a:gd name="T18" fmla="*/ 0 w 562"/>
                <a:gd name="T19" fmla="*/ 6 h 266"/>
                <a:gd name="T20" fmla="*/ 0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54" name="Line 41"/>
            <p:cNvSpPr>
              <a:spLocks noChangeShapeType="1"/>
            </p:cNvSpPr>
            <p:nvPr/>
          </p:nvSpPr>
          <p:spPr bwMode="auto">
            <a:xfrm flipH="1">
              <a:off x="3433" y="1137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42"/>
          <p:cNvGrpSpPr>
            <a:grpSpLocks/>
          </p:cNvGrpSpPr>
          <p:nvPr/>
        </p:nvGrpSpPr>
        <p:grpSpPr bwMode="auto">
          <a:xfrm>
            <a:off x="4232276" y="3343275"/>
            <a:ext cx="3021013" cy="2114550"/>
            <a:chOff x="2606" y="951"/>
            <a:chExt cx="1903" cy="1332"/>
          </a:xfrm>
        </p:grpSpPr>
        <p:sp>
          <p:nvSpPr>
            <p:cNvPr id="54321" name="Text Box 43"/>
            <p:cNvSpPr txBox="1">
              <a:spLocks noChangeArrowheads="1"/>
            </p:cNvSpPr>
            <p:nvPr/>
          </p:nvSpPr>
          <p:spPr bwMode="auto"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600"/>
                <a:t>Channels</a:t>
              </a:r>
            </a:p>
          </p:txBody>
        </p:sp>
        <p:sp>
          <p:nvSpPr>
            <p:cNvPr id="54322" name="Line 44"/>
            <p:cNvSpPr>
              <a:spLocks noChangeShapeType="1"/>
            </p:cNvSpPr>
            <p:nvPr/>
          </p:nvSpPr>
          <p:spPr bwMode="auto">
            <a:xfrm>
              <a:off x="2994" y="951"/>
              <a:ext cx="0" cy="9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3" name="Line 45"/>
            <p:cNvSpPr>
              <a:spLocks noChangeShapeType="1"/>
            </p:cNvSpPr>
            <p:nvPr/>
          </p:nvSpPr>
          <p:spPr bwMode="auto">
            <a:xfrm flipV="1">
              <a:off x="2988" y="1935"/>
              <a:ext cx="1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4" name="Text Box 46"/>
            <p:cNvSpPr txBox="1">
              <a:spLocks noChangeArrowheads="1"/>
            </p:cNvSpPr>
            <p:nvPr/>
          </p:nvSpPr>
          <p:spPr bwMode="auto"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V</a:t>
              </a:r>
            </a:p>
            <a:p>
              <a:pPr algn="ctr" eaLnBrk="1" hangingPunct="1"/>
              <a:r>
                <a:rPr lang="en-US" altLang="en-US" sz="1000"/>
                <a:t>I</a:t>
              </a:r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E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</p:txBody>
        </p:sp>
        <p:sp>
          <p:nvSpPr>
            <p:cNvPr id="54325" name="Line 47"/>
            <p:cNvSpPr>
              <a:spLocks noChangeShapeType="1"/>
            </p:cNvSpPr>
            <p:nvPr/>
          </p:nvSpPr>
          <p:spPr bwMode="auto">
            <a:xfrm>
              <a:off x="3150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6" name="Text Box 48"/>
            <p:cNvSpPr txBox="1">
              <a:spLocks noChangeArrowheads="1"/>
            </p:cNvSpPr>
            <p:nvPr/>
          </p:nvSpPr>
          <p:spPr bwMode="auto"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V</a:t>
              </a:r>
            </a:p>
            <a:p>
              <a:pPr algn="ctr" eaLnBrk="1" hangingPunct="1"/>
              <a:r>
                <a:rPr lang="en-US" altLang="en-US" sz="1000"/>
                <a:t>I</a:t>
              </a:r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E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</p:txBody>
        </p:sp>
        <p:sp>
          <p:nvSpPr>
            <p:cNvPr id="54327" name="Text Box 49"/>
            <p:cNvSpPr txBox="1">
              <a:spLocks noChangeArrowheads="1"/>
            </p:cNvSpPr>
            <p:nvPr/>
          </p:nvSpPr>
          <p:spPr bwMode="auto"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V</a:t>
              </a:r>
            </a:p>
            <a:p>
              <a:pPr algn="ctr" eaLnBrk="1" hangingPunct="1"/>
              <a:r>
                <a:rPr lang="en-US" altLang="en-US" sz="1000"/>
                <a:t>I</a:t>
              </a:r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E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</p:txBody>
        </p:sp>
        <p:sp>
          <p:nvSpPr>
            <p:cNvPr id="54328" name="Text Box 50"/>
            <p:cNvSpPr txBox="1">
              <a:spLocks noChangeArrowheads="1"/>
            </p:cNvSpPr>
            <p:nvPr/>
          </p:nvSpPr>
          <p:spPr bwMode="auto"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V</a:t>
              </a:r>
            </a:p>
            <a:p>
              <a:pPr algn="ctr" eaLnBrk="1" hangingPunct="1"/>
              <a:r>
                <a:rPr lang="en-US" altLang="en-US" sz="1000"/>
                <a:t>I</a:t>
              </a:r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E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</p:txBody>
        </p:sp>
        <p:sp>
          <p:nvSpPr>
            <p:cNvPr id="54329" name="Text Box 51"/>
            <p:cNvSpPr txBox="1">
              <a:spLocks noChangeArrowheads="1"/>
            </p:cNvSpPr>
            <p:nvPr/>
          </p:nvSpPr>
          <p:spPr bwMode="auto"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V</a:t>
              </a:r>
            </a:p>
            <a:p>
              <a:pPr algn="ctr" eaLnBrk="1" hangingPunct="1"/>
              <a:r>
                <a:rPr lang="en-US" altLang="en-US" sz="1000"/>
                <a:t>I</a:t>
              </a:r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E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</p:txBody>
        </p:sp>
        <p:sp>
          <p:nvSpPr>
            <p:cNvPr id="54330" name="Text Box 52"/>
            <p:cNvSpPr txBox="1">
              <a:spLocks noChangeArrowheads="1"/>
            </p:cNvSpPr>
            <p:nvPr/>
          </p:nvSpPr>
          <p:spPr bwMode="auto"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V</a:t>
              </a:r>
            </a:p>
            <a:p>
              <a:pPr algn="ctr" eaLnBrk="1" hangingPunct="1"/>
              <a:r>
                <a:rPr lang="en-US" altLang="en-US" sz="1000"/>
                <a:t>I</a:t>
              </a:r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E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</p:txBody>
        </p:sp>
        <p:sp>
          <p:nvSpPr>
            <p:cNvPr id="54331" name="Text Box 53"/>
            <p:cNvSpPr txBox="1">
              <a:spLocks noChangeArrowheads="1"/>
            </p:cNvSpPr>
            <p:nvPr/>
          </p:nvSpPr>
          <p:spPr bwMode="auto"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000"/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A</a:t>
              </a:r>
            </a:p>
            <a:p>
              <a:pPr algn="ctr" eaLnBrk="1" hangingPunct="1"/>
              <a:r>
                <a:rPr lang="en-US" altLang="en-US" sz="1000"/>
                <a:t>T</a:t>
              </a:r>
            </a:p>
            <a:p>
              <a:pPr algn="ctr" eaLnBrk="1" hangingPunct="1"/>
              <a:r>
                <a:rPr lang="en-US" altLang="en-US" sz="1000"/>
                <a:t>A</a:t>
              </a:r>
            </a:p>
          </p:txBody>
        </p:sp>
        <p:sp>
          <p:nvSpPr>
            <p:cNvPr id="54332" name="Text Box 54"/>
            <p:cNvSpPr txBox="1">
              <a:spLocks noChangeArrowheads="1"/>
            </p:cNvSpPr>
            <p:nvPr/>
          </p:nvSpPr>
          <p:spPr bwMode="auto"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000"/>
            </a:p>
            <a:p>
              <a:pPr algn="ctr" eaLnBrk="1" hangingPunct="1"/>
              <a:r>
                <a:rPr lang="en-US" altLang="en-US" sz="1000"/>
                <a:t>D</a:t>
              </a:r>
            </a:p>
            <a:p>
              <a:pPr algn="ctr" eaLnBrk="1" hangingPunct="1"/>
              <a:r>
                <a:rPr lang="en-US" altLang="en-US" sz="1000"/>
                <a:t>A</a:t>
              </a:r>
            </a:p>
            <a:p>
              <a:pPr algn="ctr" eaLnBrk="1" hangingPunct="1"/>
              <a:r>
                <a:rPr lang="en-US" altLang="en-US" sz="1000"/>
                <a:t>T</a:t>
              </a:r>
            </a:p>
            <a:p>
              <a:pPr algn="ctr" eaLnBrk="1" hangingPunct="1"/>
              <a:r>
                <a:rPr lang="en-US" altLang="en-US" sz="1000"/>
                <a:t>A</a:t>
              </a:r>
            </a:p>
          </p:txBody>
        </p:sp>
        <p:sp>
          <p:nvSpPr>
            <p:cNvPr id="54333" name="Text Box 55"/>
            <p:cNvSpPr txBox="1">
              <a:spLocks noChangeArrowheads="1"/>
            </p:cNvSpPr>
            <p:nvPr/>
          </p:nvSpPr>
          <p:spPr bwMode="auto"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000"/>
            </a:p>
            <a:p>
              <a:pPr algn="ctr" eaLnBrk="1" hangingPunct="1"/>
              <a:r>
                <a:rPr lang="en-US" altLang="en-US" sz="1000"/>
                <a:t>C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  <a:p>
              <a:pPr algn="ctr" eaLnBrk="1" hangingPunct="1"/>
              <a:r>
                <a:rPr lang="en-US" altLang="en-US" sz="1000"/>
                <a:t>N</a:t>
              </a:r>
            </a:p>
            <a:p>
              <a:pPr algn="ctr" eaLnBrk="1" hangingPunct="1"/>
              <a:r>
                <a:rPr lang="en-US" altLang="en-US" sz="1000"/>
                <a:t>T</a:t>
              </a:r>
            </a:p>
            <a:p>
              <a:pPr algn="ctr" eaLnBrk="1" hangingPunct="1"/>
              <a:r>
                <a:rPr lang="en-US" altLang="en-US" sz="1000"/>
                <a:t>R</a:t>
              </a:r>
            </a:p>
            <a:p>
              <a:pPr algn="ctr" eaLnBrk="1" hangingPunct="1"/>
              <a:r>
                <a:rPr lang="en-US" altLang="en-US" sz="1000"/>
                <a:t>O</a:t>
              </a:r>
            </a:p>
            <a:p>
              <a:pPr algn="ctr" eaLnBrk="1" hangingPunct="1"/>
              <a:r>
                <a:rPr lang="en-US" altLang="en-US" sz="1000"/>
                <a:t>L</a:t>
              </a:r>
            </a:p>
          </p:txBody>
        </p:sp>
        <p:sp>
          <p:nvSpPr>
            <p:cNvPr id="54334" name="Line 56"/>
            <p:cNvSpPr>
              <a:spLocks noChangeShapeType="1"/>
            </p:cNvSpPr>
            <p:nvPr/>
          </p:nvSpPr>
          <p:spPr bwMode="auto">
            <a:xfrm>
              <a:off x="333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5" name="Line 57"/>
            <p:cNvSpPr>
              <a:spLocks noChangeShapeType="1"/>
            </p:cNvSpPr>
            <p:nvPr/>
          </p:nvSpPr>
          <p:spPr bwMode="auto">
            <a:xfrm>
              <a:off x="351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6" name="Line 58"/>
            <p:cNvSpPr>
              <a:spLocks noChangeShapeType="1"/>
            </p:cNvSpPr>
            <p:nvPr/>
          </p:nvSpPr>
          <p:spPr bwMode="auto">
            <a:xfrm>
              <a:off x="3698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7" name="Line 59"/>
            <p:cNvSpPr>
              <a:spLocks noChangeShapeType="1"/>
            </p:cNvSpPr>
            <p:nvPr/>
          </p:nvSpPr>
          <p:spPr bwMode="auto">
            <a:xfrm>
              <a:off x="3886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8" name="Line 60"/>
            <p:cNvSpPr>
              <a:spLocks noChangeShapeType="1"/>
            </p:cNvSpPr>
            <p:nvPr/>
          </p:nvSpPr>
          <p:spPr bwMode="auto">
            <a:xfrm>
              <a:off x="4062" y="187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9" name="Line 61"/>
            <p:cNvSpPr>
              <a:spLocks noChangeShapeType="1"/>
            </p:cNvSpPr>
            <p:nvPr/>
          </p:nvSpPr>
          <p:spPr bwMode="auto">
            <a:xfrm>
              <a:off x="4218" y="186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0" name="Line 62"/>
            <p:cNvSpPr>
              <a:spLocks noChangeShapeType="1"/>
            </p:cNvSpPr>
            <p:nvPr/>
          </p:nvSpPr>
          <p:spPr bwMode="auto">
            <a:xfrm>
              <a:off x="4362" y="185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1" name="Text Box 63"/>
            <p:cNvSpPr txBox="1">
              <a:spLocks noChangeArrowheads="1"/>
            </p:cNvSpPr>
            <p:nvPr/>
          </p:nvSpPr>
          <p:spPr bwMode="auto"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1</a:t>
              </a:r>
            </a:p>
          </p:txBody>
        </p:sp>
        <p:sp>
          <p:nvSpPr>
            <p:cNvPr id="54342" name="Text Box 64"/>
            <p:cNvSpPr txBox="1">
              <a:spLocks noChangeArrowheads="1"/>
            </p:cNvSpPr>
            <p:nvPr/>
          </p:nvSpPr>
          <p:spPr bwMode="auto"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2</a:t>
              </a:r>
            </a:p>
          </p:txBody>
        </p:sp>
        <p:sp>
          <p:nvSpPr>
            <p:cNvPr id="54343" name="Text Box 65"/>
            <p:cNvSpPr txBox="1">
              <a:spLocks noChangeArrowheads="1"/>
            </p:cNvSpPr>
            <p:nvPr/>
          </p:nvSpPr>
          <p:spPr bwMode="auto"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3</a:t>
              </a:r>
            </a:p>
          </p:txBody>
        </p:sp>
        <p:sp>
          <p:nvSpPr>
            <p:cNvPr id="54344" name="Text Box 66"/>
            <p:cNvSpPr txBox="1">
              <a:spLocks noChangeArrowheads="1"/>
            </p:cNvSpPr>
            <p:nvPr/>
          </p:nvSpPr>
          <p:spPr bwMode="auto"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4</a:t>
              </a:r>
            </a:p>
          </p:txBody>
        </p:sp>
        <p:sp>
          <p:nvSpPr>
            <p:cNvPr id="54345" name="Text Box 67"/>
            <p:cNvSpPr txBox="1">
              <a:spLocks noChangeArrowheads="1"/>
            </p:cNvSpPr>
            <p:nvPr/>
          </p:nvSpPr>
          <p:spPr bwMode="auto"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5</a:t>
              </a:r>
            </a:p>
          </p:txBody>
        </p:sp>
        <p:sp>
          <p:nvSpPr>
            <p:cNvPr id="54346" name="Text Box 68"/>
            <p:cNvSpPr txBox="1">
              <a:spLocks noChangeArrowheads="1"/>
            </p:cNvSpPr>
            <p:nvPr/>
          </p:nvSpPr>
          <p:spPr bwMode="auto"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6</a:t>
              </a:r>
            </a:p>
          </p:txBody>
        </p:sp>
        <p:sp>
          <p:nvSpPr>
            <p:cNvPr id="54347" name="Text Box 69"/>
            <p:cNvSpPr txBox="1">
              <a:spLocks noChangeArrowheads="1"/>
            </p:cNvSpPr>
            <p:nvPr/>
          </p:nvSpPr>
          <p:spPr bwMode="auto"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7</a:t>
              </a:r>
            </a:p>
          </p:txBody>
        </p:sp>
        <p:sp>
          <p:nvSpPr>
            <p:cNvPr id="54348" name="Text Box 70"/>
            <p:cNvSpPr txBox="1">
              <a:spLocks noChangeArrowheads="1"/>
            </p:cNvSpPr>
            <p:nvPr/>
          </p:nvSpPr>
          <p:spPr bwMode="auto"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8</a:t>
              </a:r>
            </a:p>
          </p:txBody>
        </p:sp>
        <p:sp>
          <p:nvSpPr>
            <p:cNvPr id="54349" name="Text Box 71"/>
            <p:cNvSpPr txBox="1">
              <a:spLocks noChangeArrowheads="1"/>
            </p:cNvSpPr>
            <p:nvPr/>
          </p:nvSpPr>
          <p:spPr bwMode="auto"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/>
                <a:t>9</a:t>
              </a:r>
            </a:p>
          </p:txBody>
        </p:sp>
        <p:sp>
          <p:nvSpPr>
            <p:cNvPr id="54350" name="Freeform 72"/>
            <p:cNvSpPr>
              <a:spLocks/>
            </p:cNvSpPr>
            <p:nvPr/>
          </p:nvSpPr>
          <p:spPr bwMode="auto">
            <a:xfrm>
              <a:off x="2606" y="969"/>
              <a:ext cx="375" cy="969"/>
            </a:xfrm>
            <a:custGeom>
              <a:avLst/>
              <a:gdLst>
                <a:gd name="T0" fmla="*/ 375 w 375"/>
                <a:gd name="T1" fmla="*/ 0 h 969"/>
                <a:gd name="T2" fmla="*/ 0 w 375"/>
                <a:gd name="T3" fmla="*/ 485 h 969"/>
                <a:gd name="T4" fmla="*/ 375 w 375"/>
                <a:gd name="T5" fmla="*/ 969 h 969"/>
                <a:gd name="T6" fmla="*/ 375 w 375"/>
                <a:gd name="T7" fmla="*/ 0 h 9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69"/>
                <a:gd name="T14" fmla="*/ 375 w 375"/>
                <a:gd name="T15" fmla="*/ 969 h 9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69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73"/>
          <p:cNvGrpSpPr>
            <a:grpSpLocks/>
          </p:cNvGrpSpPr>
          <p:nvPr/>
        </p:nvGrpSpPr>
        <p:grpSpPr bwMode="auto">
          <a:xfrm flipV="1">
            <a:off x="2563814" y="2238376"/>
            <a:ext cx="1666875" cy="2062163"/>
            <a:chOff x="1511" y="1371"/>
            <a:chExt cx="1050" cy="1299"/>
          </a:xfrm>
        </p:grpSpPr>
        <p:grpSp>
          <p:nvGrpSpPr>
            <p:cNvPr id="54315" name="Group 74"/>
            <p:cNvGrpSpPr>
              <a:grpSpLocks/>
            </p:cNvGrpSpPr>
            <p:nvPr/>
          </p:nvGrpSpPr>
          <p:grpSpPr bwMode="auto">
            <a:xfrm>
              <a:off x="1511" y="1371"/>
              <a:ext cx="1050" cy="198"/>
              <a:chOff x="1614" y="1494"/>
              <a:chExt cx="1050" cy="198"/>
            </a:xfrm>
          </p:grpSpPr>
          <p:sp>
            <p:nvSpPr>
              <p:cNvPr id="54317" name="Rectangle 75"/>
              <p:cNvSpPr>
                <a:spLocks noChangeArrowheads="1"/>
              </p:cNvSpPr>
              <p:nvPr/>
            </p:nvSpPr>
            <p:spPr bwMode="auto">
              <a:xfrm>
                <a:off x="2358" y="1500"/>
                <a:ext cx="168" cy="1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596" name="Freeform 76"/>
              <p:cNvSpPr>
                <a:spLocks/>
              </p:cNvSpPr>
              <p:nvPr/>
            </p:nvSpPr>
            <p:spPr bwMode="auto">
              <a:xfrm>
                <a:off x="1614" y="1494"/>
                <a:ext cx="896" cy="198"/>
              </a:xfrm>
              <a:custGeom>
                <a:avLst/>
                <a:gdLst>
                  <a:gd name="T0" fmla="*/ 18 w 896"/>
                  <a:gd name="T1" fmla="*/ 0 h 198"/>
                  <a:gd name="T2" fmla="*/ 0 w 896"/>
                  <a:gd name="T3" fmla="*/ 96 h 198"/>
                  <a:gd name="T4" fmla="*/ 18 w 896"/>
                  <a:gd name="T5" fmla="*/ 198 h 198"/>
                  <a:gd name="T6" fmla="*/ 774 w 896"/>
                  <a:gd name="T7" fmla="*/ 198 h 198"/>
                  <a:gd name="T8" fmla="*/ 750 w 896"/>
                  <a:gd name="T9" fmla="*/ 90 h 198"/>
                  <a:gd name="T10" fmla="*/ 774 w 896"/>
                  <a:gd name="T11" fmla="*/ 0 h 198"/>
                  <a:gd name="T12" fmla="*/ 18 w 896"/>
                  <a:gd name="T13" fmla="*/ 0 h 19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96"/>
                  <a:gd name="T22" fmla="*/ 0 h 198"/>
                  <a:gd name="T23" fmla="*/ 896 w 896"/>
                  <a:gd name="T24" fmla="*/ 198 h 19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96" h="198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5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/>
              <a:lstStyle/>
              <a:p>
                <a:pPr>
                  <a:defRPr/>
                </a:pPr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54319" name="Oval 77"/>
              <p:cNvSpPr>
                <a:spLocks noChangeArrowheads="1"/>
              </p:cNvSpPr>
              <p:nvPr/>
            </p:nvSpPr>
            <p:spPr bwMode="auto"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20" name="Line 78"/>
              <p:cNvSpPr>
                <a:spLocks noChangeShapeType="1"/>
              </p:cNvSpPr>
              <p:nvPr/>
            </p:nvSpPr>
            <p:spPr bwMode="auto">
              <a:xfrm>
                <a:off x="2526" y="1584"/>
                <a:ext cx="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4316" name="Freeform 79"/>
            <p:cNvSpPr>
              <a:spLocks/>
            </p:cNvSpPr>
            <p:nvPr/>
          </p:nvSpPr>
          <p:spPr bwMode="auto">
            <a:xfrm>
              <a:off x="1536" y="1563"/>
              <a:ext cx="1015" cy="1107"/>
            </a:xfrm>
            <a:custGeom>
              <a:avLst/>
              <a:gdLst>
                <a:gd name="T0" fmla="*/ 1015 w 1015"/>
                <a:gd name="T1" fmla="*/ 1107 h 1107"/>
                <a:gd name="T2" fmla="*/ 0 w 1015"/>
                <a:gd name="T3" fmla="*/ 0 h 1107"/>
                <a:gd name="T4" fmla="*/ 905 w 1015"/>
                <a:gd name="T5" fmla="*/ 0 h 1107"/>
                <a:gd name="T6" fmla="*/ 1015 w 1015"/>
                <a:gd name="T7" fmla="*/ 1107 h 11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5"/>
                <a:gd name="T13" fmla="*/ 0 h 1107"/>
                <a:gd name="T14" fmla="*/ 1015 w 1015"/>
                <a:gd name="T15" fmla="*/ 1107 h 11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5" h="1107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sp>
        <p:nvSpPr>
          <p:cNvPr id="226628" name="Text Box 324"/>
          <p:cNvSpPr txBox="1">
            <a:spLocks noChangeArrowheads="1"/>
          </p:cNvSpPr>
          <p:nvPr/>
        </p:nvSpPr>
        <p:spPr bwMode="auto">
          <a:xfrm>
            <a:off x="2311400" y="5545139"/>
            <a:ext cx="74755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frequency division multiplexing:</a:t>
            </a:r>
            <a:r>
              <a:rPr lang="en-US" altLang="en-US">
                <a:latin typeface="Gill Sans MT" panose="020B0502020104020203" pitchFamily="34" charset="0"/>
              </a:rPr>
              <a:t> different channels transmitted</a:t>
            </a:r>
          </a:p>
          <a:p>
            <a:pPr>
              <a:lnSpc>
                <a:spcPct val="85000"/>
              </a:lnSpc>
            </a:pPr>
            <a:r>
              <a:rPr lang="en-US" altLang="en-US">
                <a:latin typeface="Gill Sans MT" panose="020B0502020104020203" pitchFamily="34" charset="0"/>
              </a:rPr>
              <a:t>in different frequency bands</a:t>
            </a:r>
          </a:p>
        </p:txBody>
      </p:sp>
      <p:grpSp>
        <p:nvGrpSpPr>
          <p:cNvPr id="54311" name="Group 326"/>
          <p:cNvGrpSpPr>
            <a:grpSpLocks/>
          </p:cNvGrpSpPr>
          <p:nvPr/>
        </p:nvGrpSpPr>
        <p:grpSpPr bwMode="auto">
          <a:xfrm>
            <a:off x="2084388" y="1928813"/>
            <a:ext cx="609600" cy="609600"/>
            <a:chOff x="-44" y="1473"/>
            <a:chExt cx="981" cy="1105"/>
          </a:xfrm>
        </p:grpSpPr>
        <p:pic>
          <p:nvPicPr>
            <p:cNvPr id="54313" name="Picture 327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314" name="Freeform 32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1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6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30400" y="2290764"/>
            <a:ext cx="3092450" cy="1417637"/>
            <a:chOff x="256" y="1443"/>
            <a:chExt cx="1948" cy="893"/>
          </a:xfrm>
        </p:grpSpPr>
        <p:sp>
          <p:nvSpPr>
            <p:cNvPr id="55474" name="Text Box 6"/>
            <p:cNvSpPr txBox="1">
              <a:spLocks noChangeArrowheads="1"/>
            </p:cNvSpPr>
            <p:nvPr/>
          </p:nvSpPr>
          <p:spPr bwMode="auto"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data, TV transmitted at different 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frequencies over </a:t>
              </a:r>
              <a:r>
                <a:rPr lang="en-US" altLang="en-US" sz="1600" i="1">
                  <a:solidFill>
                    <a:srgbClr val="CC0000"/>
                  </a:solidFill>
                </a:rPr>
                <a:t>shared </a:t>
              </a:r>
              <a:r>
                <a:rPr lang="en-US" altLang="en-US" sz="1600" i="1"/>
                <a:t>cable 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distribution network</a:t>
              </a:r>
            </a:p>
          </p:txBody>
        </p:sp>
        <p:sp>
          <p:nvSpPr>
            <p:cNvPr id="55475" name="Line 7"/>
            <p:cNvSpPr>
              <a:spLocks noChangeShapeType="1"/>
            </p:cNvSpPr>
            <p:nvPr/>
          </p:nvSpPr>
          <p:spPr bwMode="auto">
            <a:xfrm flipV="1">
              <a:off x="1452" y="1443"/>
              <a:ext cx="282" cy="47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299" name="Rectangle 9"/>
          <p:cNvSpPr>
            <a:spLocks noChangeArrowheads="1"/>
          </p:cNvSpPr>
          <p:nvPr/>
        </p:nvSpPr>
        <p:spPr bwMode="auto">
          <a:xfrm>
            <a:off x="2181226" y="1651001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5300" name="Line 7"/>
          <p:cNvSpPr>
            <a:spLocks noChangeShapeType="1"/>
          </p:cNvSpPr>
          <p:nvPr/>
        </p:nvSpPr>
        <p:spPr bwMode="auto">
          <a:xfrm flipV="1">
            <a:off x="2482851" y="2201864"/>
            <a:ext cx="3651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01" name="Text Box 39"/>
          <p:cNvSpPr txBox="1">
            <a:spLocks noChangeArrowheads="1"/>
          </p:cNvSpPr>
          <p:nvPr/>
        </p:nvSpPr>
        <p:spPr bwMode="auto">
          <a:xfrm>
            <a:off x="2641635" y="2352676"/>
            <a:ext cx="780983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400"/>
              <a:t>cable</a:t>
            </a:r>
          </a:p>
          <a:p>
            <a:pPr algn="ctr">
              <a:lnSpc>
                <a:spcPct val="80000"/>
              </a:lnSpc>
            </a:pPr>
            <a:r>
              <a:rPr lang="en-US" altLang="en-US" sz="1400"/>
              <a:t>modem</a:t>
            </a:r>
          </a:p>
        </p:txBody>
      </p:sp>
      <p:sp>
        <p:nvSpPr>
          <p:cNvPr id="55302" name="Text Box 41"/>
          <p:cNvSpPr txBox="1">
            <a:spLocks noChangeArrowheads="1"/>
          </p:cNvSpPr>
          <p:nvPr/>
        </p:nvSpPr>
        <p:spPr bwMode="auto">
          <a:xfrm>
            <a:off x="3308717" y="2354263"/>
            <a:ext cx="712054" cy="26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400"/>
              <a:t>splitter</a:t>
            </a:r>
          </a:p>
        </p:txBody>
      </p:sp>
      <p:grpSp>
        <p:nvGrpSpPr>
          <p:cNvPr id="55303" name="Group 13"/>
          <p:cNvGrpSpPr>
            <a:grpSpLocks/>
          </p:cNvGrpSpPr>
          <p:nvPr/>
        </p:nvGrpSpPr>
        <p:grpSpPr bwMode="auto">
          <a:xfrm>
            <a:off x="2828926" y="2078038"/>
            <a:ext cx="614363" cy="220662"/>
            <a:chOff x="322" y="890"/>
            <a:chExt cx="872" cy="339"/>
          </a:xfrm>
        </p:grpSpPr>
        <p:sp>
          <p:nvSpPr>
            <p:cNvPr id="55468" name="Rectangle 14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469" name="Rectangle 15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470" name="Rectangle 16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471" name="Rectangle 17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472" name="Rectangle 18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473" name="AutoShape 19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304" name="AutoShape 21"/>
          <p:cNvSpPr>
            <a:spLocks noChangeArrowheads="1"/>
          </p:cNvSpPr>
          <p:nvPr/>
        </p:nvSpPr>
        <p:spPr bwMode="auto">
          <a:xfrm>
            <a:off x="1943100" y="1239838"/>
            <a:ext cx="2268538" cy="468312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5305" name="Rectangle 22"/>
          <p:cNvSpPr>
            <a:spLocks noChangeArrowheads="1"/>
          </p:cNvSpPr>
          <p:nvPr/>
        </p:nvSpPr>
        <p:spPr bwMode="auto">
          <a:xfrm>
            <a:off x="3559175" y="2139951"/>
            <a:ext cx="166688" cy="144463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5306" name="Freeform 23"/>
          <p:cNvSpPr>
            <a:spLocks/>
          </p:cNvSpPr>
          <p:nvPr/>
        </p:nvSpPr>
        <p:spPr bwMode="auto">
          <a:xfrm>
            <a:off x="3168651" y="1695451"/>
            <a:ext cx="479425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7" name="Line 24"/>
          <p:cNvSpPr>
            <a:spLocks noChangeShapeType="1"/>
          </p:cNvSpPr>
          <p:nvPr/>
        </p:nvSpPr>
        <p:spPr bwMode="auto">
          <a:xfrm flipH="1">
            <a:off x="3467101" y="2201863"/>
            <a:ext cx="239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5308" name="Picture 25" descr="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1355725"/>
            <a:ext cx="75565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309" name="Group 26"/>
          <p:cNvGrpSpPr>
            <a:grpSpLocks/>
          </p:cNvGrpSpPr>
          <p:nvPr/>
        </p:nvGrpSpPr>
        <p:grpSpPr bwMode="auto">
          <a:xfrm>
            <a:off x="4200525" y="1470025"/>
            <a:ext cx="850900" cy="527050"/>
            <a:chOff x="-490" y="1664"/>
            <a:chExt cx="1429" cy="842"/>
          </a:xfrm>
        </p:grpSpPr>
        <p:sp>
          <p:nvSpPr>
            <p:cNvPr id="55452" name="AutoShape 27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5453" name="Group 28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5454" name="Rectangle 29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55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5456" name="Group 31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5462" name="Rectangle 32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63" name="Rectangle 33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64" name="Rectangle 34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65" name="Rectangle 35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66" name="Rectangle 36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67" name="AutoShape 37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5457" name="Picture 38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458" name="Rectangle 39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59" name="Freeform 40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60" name="Line 41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5461" name="Picture 42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5310" name="Group 43"/>
          <p:cNvGrpSpPr>
            <a:grpSpLocks/>
          </p:cNvGrpSpPr>
          <p:nvPr/>
        </p:nvGrpSpPr>
        <p:grpSpPr bwMode="auto">
          <a:xfrm>
            <a:off x="5102225" y="1463675"/>
            <a:ext cx="850900" cy="527050"/>
            <a:chOff x="-490" y="1664"/>
            <a:chExt cx="1429" cy="842"/>
          </a:xfrm>
        </p:grpSpPr>
        <p:sp>
          <p:nvSpPr>
            <p:cNvPr id="55436" name="AutoShape 44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5437" name="Group 45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5438" name="Rectangle 46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39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5440" name="Group 48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5446" name="Rectangle 49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47" name="Rectangle 50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48" name="Rectangle 51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49" name="Rectangle 52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50" name="Rectangle 53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51" name="AutoShape 5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5441" name="Picture 55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442" name="Rectangle 56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43" name="Freeform 57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44" name="Line 58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5445" name="Picture 59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5311" name="Group 60"/>
          <p:cNvGrpSpPr>
            <a:grpSpLocks/>
          </p:cNvGrpSpPr>
          <p:nvPr/>
        </p:nvGrpSpPr>
        <p:grpSpPr bwMode="auto">
          <a:xfrm>
            <a:off x="4287838" y="2309813"/>
            <a:ext cx="850900" cy="527050"/>
            <a:chOff x="-490" y="1664"/>
            <a:chExt cx="1429" cy="842"/>
          </a:xfrm>
        </p:grpSpPr>
        <p:sp>
          <p:nvSpPr>
            <p:cNvPr id="55420" name="AutoShape 6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5421" name="Group 62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5422" name="Rectangle 63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23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5424" name="Group 65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5430" name="Rectangle 66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31" name="Rectangle 67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32" name="Rectangle 68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33" name="Rectangle 69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34" name="Rectangle 70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35" name="AutoShape 71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5425" name="Picture 72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426" name="Rectangle 73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27" name="Freeform 74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28" name="Line 75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5429" name="Picture 76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5312" name="Group 77"/>
          <p:cNvGrpSpPr>
            <a:grpSpLocks/>
          </p:cNvGrpSpPr>
          <p:nvPr/>
        </p:nvGrpSpPr>
        <p:grpSpPr bwMode="auto">
          <a:xfrm>
            <a:off x="5154613" y="2319338"/>
            <a:ext cx="850900" cy="527050"/>
            <a:chOff x="-490" y="1664"/>
            <a:chExt cx="1429" cy="842"/>
          </a:xfrm>
        </p:grpSpPr>
        <p:sp>
          <p:nvSpPr>
            <p:cNvPr id="55404" name="AutoShape 78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5405" name="Group 79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5406" name="Rectangle 80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07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5408" name="Group 82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5414" name="Rectangle 83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15" name="Rectangle 84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16" name="Rectangle 85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17" name="Rectangle 86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18" name="Rectangle 87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19" name="AutoShape 88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5409" name="Picture 89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410" name="Rectangle 90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411" name="Freeform 91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12" name="Line 92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5413" name="Picture 93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55313" name="Line 94"/>
          <p:cNvSpPr>
            <a:spLocks noChangeShapeType="1"/>
          </p:cNvSpPr>
          <p:nvPr/>
        </p:nvSpPr>
        <p:spPr bwMode="auto">
          <a:xfrm>
            <a:off x="3741739" y="2212975"/>
            <a:ext cx="369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5314" name="Group 95"/>
          <p:cNvGrpSpPr>
            <a:grpSpLocks/>
          </p:cNvGrpSpPr>
          <p:nvPr/>
        </p:nvGrpSpPr>
        <p:grpSpPr bwMode="auto">
          <a:xfrm>
            <a:off x="6243638" y="1471613"/>
            <a:ext cx="850900" cy="527050"/>
            <a:chOff x="-490" y="1664"/>
            <a:chExt cx="1429" cy="842"/>
          </a:xfrm>
        </p:grpSpPr>
        <p:sp>
          <p:nvSpPr>
            <p:cNvPr id="55388" name="AutoShape 96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5389" name="Group 97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55390" name="Rectangle 98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391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55392" name="Group 100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55398" name="Rectangle 101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399" name="Rectangle 102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00" name="Rectangle 103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01" name="Rectangle 104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02" name="Rectangle 105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5403" name="AutoShape 106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55393" name="Picture 107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394" name="Rectangle 108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5395" name="Freeform 109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37 w 381"/>
                  <a:gd name="T1" fmla="*/ 274 h 274"/>
                  <a:gd name="T2" fmla="*/ 37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96" name="Line 110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5397" name="Picture 111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55315" name="Text Box 112"/>
          <p:cNvSpPr txBox="1">
            <a:spLocks noChangeArrowheads="1"/>
          </p:cNvSpPr>
          <p:nvPr/>
        </p:nvSpPr>
        <p:spPr bwMode="auto">
          <a:xfrm>
            <a:off x="5854700" y="15414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969696"/>
                </a:solidFill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55316" name="Line 113"/>
          <p:cNvSpPr>
            <a:spLocks noChangeShapeType="1"/>
          </p:cNvSpPr>
          <p:nvPr/>
        </p:nvSpPr>
        <p:spPr bwMode="auto">
          <a:xfrm flipH="1">
            <a:off x="4835526" y="1882776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7" name="Line 114"/>
          <p:cNvSpPr>
            <a:spLocks noChangeShapeType="1"/>
          </p:cNvSpPr>
          <p:nvPr/>
        </p:nvSpPr>
        <p:spPr bwMode="auto">
          <a:xfrm flipH="1">
            <a:off x="5740401" y="1882776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8" name="Line 115"/>
          <p:cNvSpPr>
            <a:spLocks noChangeShapeType="1"/>
          </p:cNvSpPr>
          <p:nvPr/>
        </p:nvSpPr>
        <p:spPr bwMode="auto">
          <a:xfrm flipH="1">
            <a:off x="6877051" y="1882776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9" name="Freeform 116"/>
          <p:cNvSpPr>
            <a:spLocks/>
          </p:cNvSpPr>
          <p:nvPr/>
        </p:nvSpPr>
        <p:spPr bwMode="auto">
          <a:xfrm>
            <a:off x="5826125" y="221932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0" name="Freeform 117"/>
          <p:cNvSpPr>
            <a:spLocks/>
          </p:cNvSpPr>
          <p:nvPr/>
        </p:nvSpPr>
        <p:spPr bwMode="auto">
          <a:xfrm>
            <a:off x="4959350" y="221297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1" name="Rectangle 44"/>
          <p:cNvSpPr>
            <a:spLocks noChangeArrowheads="1"/>
          </p:cNvSpPr>
          <p:nvPr/>
        </p:nvSpPr>
        <p:spPr bwMode="auto">
          <a:xfrm>
            <a:off x="7170739" y="1787525"/>
            <a:ext cx="955675" cy="700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322" name="Text Box 45"/>
          <p:cNvSpPr txBox="1">
            <a:spLocks noChangeArrowheads="1"/>
          </p:cNvSpPr>
          <p:nvPr/>
        </p:nvSpPr>
        <p:spPr bwMode="auto">
          <a:xfrm>
            <a:off x="6681789" y="1250950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600"/>
              <a:t>cable headend</a:t>
            </a:r>
          </a:p>
        </p:txBody>
      </p:sp>
      <p:sp>
        <p:nvSpPr>
          <p:cNvPr id="55323" name="Freeform 120"/>
          <p:cNvSpPr>
            <a:spLocks/>
          </p:cNvSpPr>
          <p:nvPr/>
        </p:nvSpPr>
        <p:spPr bwMode="auto">
          <a:xfrm>
            <a:off x="7427913" y="1970089"/>
            <a:ext cx="330200" cy="454025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FFFF99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24" name="Freeform 121"/>
          <p:cNvSpPr>
            <a:spLocks/>
          </p:cNvSpPr>
          <p:nvPr/>
        </p:nvSpPr>
        <p:spPr bwMode="auto">
          <a:xfrm>
            <a:off x="7429501" y="1905000"/>
            <a:ext cx="366713" cy="4064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25" name="Line 122"/>
          <p:cNvSpPr>
            <a:spLocks noChangeShapeType="1"/>
          </p:cNvSpPr>
          <p:nvPr/>
        </p:nvSpPr>
        <p:spPr bwMode="auto">
          <a:xfrm flipH="1">
            <a:off x="7754939" y="2028826"/>
            <a:ext cx="34925" cy="68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6" name="Line 123"/>
          <p:cNvSpPr>
            <a:spLocks noChangeShapeType="1"/>
          </p:cNvSpPr>
          <p:nvPr/>
        </p:nvSpPr>
        <p:spPr bwMode="auto">
          <a:xfrm>
            <a:off x="7456489" y="2200275"/>
            <a:ext cx="26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7" name="Freeform 124"/>
          <p:cNvSpPr>
            <a:spLocks/>
          </p:cNvSpPr>
          <p:nvPr/>
        </p:nvSpPr>
        <p:spPr bwMode="auto">
          <a:xfrm>
            <a:off x="7450139" y="2024064"/>
            <a:ext cx="274637" cy="115887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8" name="Freeform 125"/>
          <p:cNvSpPr>
            <a:spLocks/>
          </p:cNvSpPr>
          <p:nvPr/>
        </p:nvSpPr>
        <p:spPr bwMode="auto">
          <a:xfrm flipV="1">
            <a:off x="7450139" y="2260600"/>
            <a:ext cx="274637" cy="114300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29" name="Text Box 126"/>
          <p:cNvSpPr txBox="1">
            <a:spLocks noChangeArrowheads="1"/>
          </p:cNvSpPr>
          <p:nvPr/>
        </p:nvSpPr>
        <p:spPr bwMode="auto">
          <a:xfrm>
            <a:off x="7235826" y="2449513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/>
              <a:t>CMTS</a:t>
            </a:r>
          </a:p>
        </p:txBody>
      </p:sp>
      <p:sp>
        <p:nvSpPr>
          <p:cNvPr id="55330" name="AutoShape 127"/>
          <p:cNvSpPr>
            <a:spLocks noChangeArrowheads="1"/>
          </p:cNvSpPr>
          <p:nvPr/>
        </p:nvSpPr>
        <p:spPr bwMode="auto">
          <a:xfrm>
            <a:off x="7031038" y="1524000"/>
            <a:ext cx="1206500" cy="261938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55331" name="Group 128"/>
          <p:cNvGrpSpPr>
            <a:grpSpLocks/>
          </p:cNvGrpSpPr>
          <p:nvPr/>
        </p:nvGrpSpPr>
        <p:grpSpPr bwMode="auto">
          <a:xfrm>
            <a:off x="6667500" y="2905126"/>
            <a:ext cx="2178050" cy="1147763"/>
            <a:chOff x="3240" y="1830"/>
            <a:chExt cx="1372" cy="723"/>
          </a:xfrm>
        </p:grpSpPr>
        <p:sp>
          <p:nvSpPr>
            <p:cNvPr id="55343" name="Freeform 129"/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145855 w 765"/>
                <a:gd name="T1" fmla="*/ 931 h 459"/>
                <a:gd name="T2" fmla="*/ 99268 w 765"/>
                <a:gd name="T3" fmla="*/ 6562 h 459"/>
                <a:gd name="T4" fmla="*/ 32950 w 765"/>
                <a:gd name="T5" fmla="*/ 9426 h 459"/>
                <a:gd name="T6" fmla="*/ 4821 w 765"/>
                <a:gd name="T7" fmla="*/ 31576 h 459"/>
                <a:gd name="T8" fmla="*/ 61950 w 765"/>
                <a:gd name="T9" fmla="*/ 41713 h 459"/>
                <a:gd name="T10" fmla="*/ 119240 w 765"/>
                <a:gd name="T11" fmla="*/ 40071 h 459"/>
                <a:gd name="T12" fmla="*/ 201010 w 765"/>
                <a:gd name="T13" fmla="*/ 41713 h 459"/>
                <a:gd name="T14" fmla="*/ 240274 w 765"/>
                <a:gd name="T15" fmla="*/ 40797 h 459"/>
                <a:gd name="T16" fmla="*/ 258901 w 765"/>
                <a:gd name="T17" fmla="*/ 34980 h 459"/>
                <a:gd name="T18" fmla="*/ 258196 w 765"/>
                <a:gd name="T19" fmla="*/ 14847 h 459"/>
                <a:gd name="T20" fmla="*/ 227858 w 765"/>
                <a:gd name="T21" fmla="*/ 3221 h 459"/>
                <a:gd name="T22" fmla="*/ 145855 w 765"/>
                <a:gd name="T23" fmla="*/ 931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4" name="Line 130"/>
            <p:cNvSpPr>
              <a:spLocks noChangeShapeType="1"/>
            </p:cNvSpPr>
            <p:nvPr/>
          </p:nvSpPr>
          <p:spPr bwMode="auto">
            <a:xfrm flipV="1">
              <a:off x="3763" y="2053"/>
              <a:ext cx="10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5" name="Line 131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6" name="Line 132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7" name="Line 133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8" name="Line 134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9" name="Line 135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350" name="Group 136"/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5538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8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8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5383" name="Group 14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5386" name="Freeform 14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387" name="Freeform 14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5384" name="Line 14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85" name="Line 14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351" name="Group 145"/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5537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7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7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5375" name="Group 14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5378" name="Freeform 15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379" name="Freeform 15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5376" name="Line 15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77" name="Line 15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352" name="Group 154"/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5536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6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6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5367" name="Group 15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5370" name="Freeform 15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371" name="Freeform 16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5368" name="Line 16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69" name="Line 16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353" name="Group 163"/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5535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5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5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5359" name="Group 16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5362" name="Freeform 16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363" name="Freeform 16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5360" name="Line 17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61" name="Line 17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354" name="Line 172"/>
            <p:cNvSpPr>
              <a:spLocks noChangeShapeType="1"/>
            </p:cNvSpPr>
            <p:nvPr/>
          </p:nvSpPr>
          <p:spPr bwMode="auto">
            <a:xfrm>
              <a:off x="4422" y="2370"/>
              <a:ext cx="153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55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/>
                <a:t>ISP</a:t>
              </a:r>
            </a:p>
          </p:txBody>
        </p:sp>
      </p:grpSp>
      <p:sp>
        <p:nvSpPr>
          <p:cNvPr id="55332" name="Freeform 174"/>
          <p:cNvSpPr>
            <a:spLocks/>
          </p:cNvSpPr>
          <p:nvPr/>
        </p:nvSpPr>
        <p:spPr bwMode="auto">
          <a:xfrm>
            <a:off x="7775576" y="2193925"/>
            <a:ext cx="206375" cy="927100"/>
          </a:xfrm>
          <a:custGeom>
            <a:avLst/>
            <a:gdLst>
              <a:gd name="T0" fmla="*/ 0 w 130"/>
              <a:gd name="T1" fmla="*/ 0 h 584"/>
              <a:gd name="T2" fmla="*/ 2147483647 w 130"/>
              <a:gd name="T3" fmla="*/ 0 h 584"/>
              <a:gd name="T4" fmla="*/ 2147483647 w 130"/>
              <a:gd name="T5" fmla="*/ 2147483647 h 584"/>
              <a:gd name="T6" fmla="*/ 0 60000 65536"/>
              <a:gd name="T7" fmla="*/ 0 60000 65536"/>
              <a:gd name="T8" fmla="*/ 0 60000 65536"/>
              <a:gd name="T9" fmla="*/ 0 w 130"/>
              <a:gd name="T10" fmla="*/ 0 h 584"/>
              <a:gd name="T11" fmla="*/ 130 w 130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0" h="584">
                <a:moveTo>
                  <a:pt x="0" y="0"/>
                </a:moveTo>
                <a:lnTo>
                  <a:pt x="130" y="0"/>
                </a:lnTo>
                <a:lnTo>
                  <a:pt x="130" y="58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" name="Group 175"/>
          <p:cNvGrpSpPr>
            <a:grpSpLocks/>
          </p:cNvGrpSpPr>
          <p:nvPr/>
        </p:nvGrpSpPr>
        <p:grpSpPr bwMode="auto">
          <a:xfrm>
            <a:off x="7734301" y="2355850"/>
            <a:ext cx="2517775" cy="508000"/>
            <a:chOff x="3912" y="1484"/>
            <a:chExt cx="1586" cy="320"/>
          </a:xfrm>
        </p:grpSpPr>
        <p:sp>
          <p:nvSpPr>
            <p:cNvPr id="55341" name="Line 176"/>
            <p:cNvSpPr>
              <a:spLocks noChangeShapeType="1"/>
            </p:cNvSpPr>
            <p:nvPr/>
          </p:nvSpPr>
          <p:spPr bwMode="auto">
            <a:xfrm flipH="1" flipV="1">
              <a:off x="3912" y="1497"/>
              <a:ext cx="711" cy="9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42" name="Text Box 177"/>
            <p:cNvSpPr txBox="1">
              <a:spLocks noChangeArrowheads="1"/>
            </p:cNvSpPr>
            <p:nvPr/>
          </p:nvSpPr>
          <p:spPr bwMode="auto">
            <a:xfrm>
              <a:off x="4307" y="1484"/>
              <a:ext cx="1191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cable modem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600" i="1"/>
                <a:t>termination system</a:t>
              </a:r>
            </a:p>
          </p:txBody>
        </p:sp>
      </p:grpSp>
      <p:sp>
        <p:nvSpPr>
          <p:cNvPr id="55334" name="Rectangle 3"/>
          <p:cNvSpPr>
            <a:spLocks noChangeArrowheads="1"/>
          </p:cNvSpPr>
          <p:nvPr/>
        </p:nvSpPr>
        <p:spPr bwMode="auto">
          <a:xfrm>
            <a:off x="1912076" y="4220281"/>
            <a:ext cx="8401050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rgbClr val="000099"/>
                </a:solidFill>
                <a:latin typeface="Gill Sans MT" panose="020B0502020104020203" pitchFamily="34" charset="0"/>
              </a:rPr>
              <a:t>HFC: hybrid fiber coax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Gill Sans MT" panose="020B0502020104020203" pitchFamily="34" charset="0"/>
              </a:rPr>
              <a:t>asymmetric: up to 30Mbps downstream transmission rate, 2 Mbps upstream transmission rate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rgbClr val="000099"/>
                </a:solidFill>
                <a:latin typeface="Gill Sans MT" panose="020B0502020104020203" pitchFamily="34" charset="0"/>
              </a:rPr>
              <a:t>network </a:t>
            </a:r>
            <a:r>
              <a:rPr lang="en-US" altLang="en-US" dirty="0">
                <a:latin typeface="Gill Sans MT" panose="020B0502020104020203" pitchFamily="34" charset="0"/>
              </a:rPr>
              <a:t>of cable, fiber attaches homes to ISP router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Gill Sans MT" panose="020B0502020104020203" pitchFamily="34" charset="0"/>
              </a:rPr>
              <a:t>homes </a:t>
            </a:r>
            <a:r>
              <a:rPr lang="en-US" altLang="en-US" i="1" dirty="0">
                <a:solidFill>
                  <a:srgbClr val="CC0000"/>
                </a:solidFill>
                <a:latin typeface="Gill Sans MT" panose="020B0502020104020203" pitchFamily="34" charset="0"/>
              </a:rPr>
              <a:t>share access network</a:t>
            </a:r>
            <a:r>
              <a:rPr lang="en-US" alt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dirty="0">
                <a:latin typeface="Gill Sans MT" panose="020B0502020104020203" pitchFamily="34" charset="0"/>
              </a:rPr>
              <a:t>to cable headend 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Gill Sans MT" panose="020B0502020104020203" pitchFamily="34" charset="0"/>
              </a:rPr>
              <a:t>unlike DSL, which has dedicated access to central office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None/>
            </a:pPr>
            <a:endParaRPr lang="en-US" altLang="en-US" sz="2000" dirty="0">
              <a:latin typeface="Gill Sans MT" panose="020B0502020104020203" pitchFamily="34" charset="0"/>
            </a:endParaRPr>
          </a:p>
        </p:txBody>
      </p:sp>
      <p:sp>
        <p:nvSpPr>
          <p:cNvPr id="55335" name="Title 41"/>
          <p:cNvSpPr>
            <a:spLocks/>
          </p:cNvSpPr>
          <p:nvPr/>
        </p:nvSpPr>
        <p:spPr bwMode="auto">
          <a:xfrm>
            <a:off x="1905001" y="239714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latin typeface="Gill Sans MT" panose="020B0502020104020203" pitchFamily="34" charset="0"/>
              </a:rPr>
              <a:t>Access net: cable network</a:t>
            </a:r>
          </a:p>
        </p:txBody>
      </p:sp>
      <p:grpSp>
        <p:nvGrpSpPr>
          <p:cNvPr id="55337" name="Group 181"/>
          <p:cNvGrpSpPr>
            <a:grpSpLocks/>
          </p:cNvGrpSpPr>
          <p:nvPr/>
        </p:nvGrpSpPr>
        <p:grpSpPr bwMode="auto">
          <a:xfrm>
            <a:off x="2084388" y="1928813"/>
            <a:ext cx="609600" cy="609600"/>
            <a:chOff x="-44" y="1473"/>
            <a:chExt cx="981" cy="1105"/>
          </a:xfrm>
        </p:grpSpPr>
        <p:pic>
          <p:nvPicPr>
            <p:cNvPr id="55339" name="Picture 182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40" name="Freeform 18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6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41"/>
          <p:cNvSpPr>
            <a:spLocks/>
          </p:cNvSpPr>
          <p:nvPr/>
        </p:nvSpPr>
        <p:spPr bwMode="auto">
          <a:xfrm>
            <a:off x="1905001" y="239714"/>
            <a:ext cx="6151562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b="1" dirty="0">
                <a:latin typeface="Gill Sans MT" panose="020B0502020104020203" pitchFamily="34" charset="0"/>
              </a:rPr>
              <a:t>Access net: home network</a:t>
            </a:r>
          </a:p>
        </p:txBody>
      </p:sp>
      <p:sp>
        <p:nvSpPr>
          <p:cNvPr id="56324" name="AutoShape 99"/>
          <p:cNvSpPr>
            <a:spLocks noChangeArrowheads="1"/>
          </p:cNvSpPr>
          <p:nvPr/>
        </p:nvSpPr>
        <p:spPr bwMode="auto">
          <a:xfrm>
            <a:off x="2278063" y="1158875"/>
            <a:ext cx="5649912" cy="7683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289" name="Text Box 26"/>
          <p:cNvSpPr txBox="1">
            <a:spLocks noChangeArrowheads="1"/>
          </p:cNvSpPr>
          <p:nvPr/>
        </p:nvSpPr>
        <p:spPr bwMode="auto">
          <a:xfrm>
            <a:off x="7429500" y="3178175"/>
            <a:ext cx="28971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/>
              <a:t>to/from headend or central office</a:t>
            </a:r>
          </a:p>
        </p:txBody>
      </p:sp>
      <p:sp>
        <p:nvSpPr>
          <p:cNvPr id="56326" name="Rectangle 87"/>
          <p:cNvSpPr>
            <a:spLocks noChangeArrowheads="1"/>
          </p:cNvSpPr>
          <p:nvPr/>
        </p:nvSpPr>
        <p:spPr bwMode="auto">
          <a:xfrm>
            <a:off x="2713038" y="1912939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56327" name="Group 105"/>
          <p:cNvGrpSpPr>
            <a:grpSpLocks/>
          </p:cNvGrpSpPr>
          <p:nvPr/>
        </p:nvGrpSpPr>
        <p:grpSpPr bwMode="auto">
          <a:xfrm>
            <a:off x="5811839" y="3252788"/>
            <a:ext cx="3000375" cy="361950"/>
            <a:chOff x="2434" y="2109"/>
            <a:chExt cx="1890" cy="228"/>
          </a:xfrm>
        </p:grpSpPr>
        <p:grpSp>
          <p:nvGrpSpPr>
            <p:cNvPr id="56394" name="Group 91"/>
            <p:cNvGrpSpPr>
              <a:grpSpLocks/>
            </p:cNvGrpSpPr>
            <p:nvPr/>
          </p:nvGrpSpPr>
          <p:grpSpPr bwMode="auto"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56397" name="Rectangle 92"/>
              <p:cNvSpPr>
                <a:spLocks noChangeArrowheads="1"/>
              </p:cNvSpPr>
              <p:nvPr/>
            </p:nvSpPr>
            <p:spPr bwMode="auto"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398" name="Rectangle 93"/>
              <p:cNvSpPr>
                <a:spLocks noChangeArrowheads="1"/>
              </p:cNvSpPr>
              <p:nvPr/>
            </p:nvSpPr>
            <p:spPr bwMode="auto"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399" name="Rectangle 94"/>
              <p:cNvSpPr>
                <a:spLocks noChangeArrowheads="1"/>
              </p:cNvSpPr>
              <p:nvPr/>
            </p:nvSpPr>
            <p:spPr bwMode="auto"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400" name="Rectangle 95"/>
              <p:cNvSpPr>
                <a:spLocks noChangeArrowheads="1"/>
              </p:cNvSpPr>
              <p:nvPr/>
            </p:nvSpPr>
            <p:spPr bwMode="auto"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401" name="Rectangle 96"/>
              <p:cNvSpPr>
                <a:spLocks noChangeArrowheads="1"/>
              </p:cNvSpPr>
              <p:nvPr/>
            </p:nvSpPr>
            <p:spPr bwMode="auto"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402" name="AutoShape 97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395" name="Line 102"/>
            <p:cNvSpPr>
              <a:spLocks noChangeShapeType="1"/>
            </p:cNvSpPr>
            <p:nvPr/>
          </p:nvSpPr>
          <p:spPr bwMode="auto">
            <a:xfrm flipH="1">
              <a:off x="3361" y="2258"/>
              <a:ext cx="9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96" name="Line 104"/>
            <p:cNvSpPr>
              <a:spLocks noChangeShapeType="1"/>
            </p:cNvSpPr>
            <p:nvPr/>
          </p:nvSpPr>
          <p:spPr bwMode="auto">
            <a:xfrm flipH="1">
              <a:off x="2434" y="226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328" name="Group 107"/>
          <p:cNvGrpSpPr>
            <a:grpSpLocks/>
          </p:cNvGrpSpPr>
          <p:nvPr/>
        </p:nvGrpSpPr>
        <p:grpSpPr bwMode="auto">
          <a:xfrm>
            <a:off x="4797426" y="3227388"/>
            <a:ext cx="1065213" cy="455612"/>
            <a:chOff x="2356" y="1300"/>
            <a:chExt cx="555" cy="194"/>
          </a:xfrm>
        </p:grpSpPr>
        <p:sp>
          <p:nvSpPr>
            <p:cNvPr id="56386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6387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6388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6389" name="Group 111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6392" name="Freeform 11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93" name="Freeform 11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6390" name="Line 114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91" name="Line 115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29" name="Line 116"/>
          <p:cNvSpPr>
            <a:spLocks noChangeShapeType="1"/>
          </p:cNvSpPr>
          <p:nvPr/>
        </p:nvSpPr>
        <p:spPr bwMode="auto">
          <a:xfrm flipH="1">
            <a:off x="3959226" y="3463925"/>
            <a:ext cx="822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0" name="Group 119"/>
          <p:cNvGrpSpPr>
            <a:grpSpLocks/>
          </p:cNvGrpSpPr>
          <p:nvPr/>
        </p:nvGrpSpPr>
        <p:grpSpPr bwMode="auto">
          <a:xfrm>
            <a:off x="3338514" y="2884489"/>
            <a:ext cx="1068387" cy="820737"/>
            <a:chOff x="2967" y="478"/>
            <a:chExt cx="788" cy="625"/>
          </a:xfrm>
        </p:grpSpPr>
        <p:pic>
          <p:nvPicPr>
            <p:cNvPr id="56384" name="Picture 120" descr="access_point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85" name="Picture 121" descr="antenna_radiation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331" name="Line 122"/>
          <p:cNvSpPr>
            <a:spLocks noChangeShapeType="1"/>
          </p:cNvSpPr>
          <p:nvPr/>
        </p:nvSpPr>
        <p:spPr bwMode="auto">
          <a:xfrm flipH="1" flipV="1">
            <a:off x="5280025" y="27670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138"/>
          <p:cNvGrpSpPr>
            <a:grpSpLocks/>
          </p:cNvGrpSpPr>
          <p:nvPr/>
        </p:nvGrpSpPr>
        <p:grpSpPr bwMode="auto">
          <a:xfrm>
            <a:off x="6850063" y="3703639"/>
            <a:ext cx="2527300" cy="1265237"/>
            <a:chOff x="3355" y="2333"/>
            <a:chExt cx="1592" cy="797"/>
          </a:xfrm>
        </p:grpSpPr>
        <p:sp>
          <p:nvSpPr>
            <p:cNvPr id="56382" name="Text Box 39"/>
            <p:cNvSpPr txBox="1">
              <a:spLocks noChangeArrowheads="1"/>
            </p:cNvSpPr>
            <p:nvPr/>
          </p:nvSpPr>
          <p:spPr bwMode="auto">
            <a:xfrm>
              <a:off x="3355" y="2934"/>
              <a:ext cx="1592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800"/>
                <a:t>cable or DSL modem</a:t>
              </a:r>
            </a:p>
          </p:txBody>
        </p:sp>
        <p:sp>
          <p:nvSpPr>
            <p:cNvPr id="56383" name="Line 129"/>
            <p:cNvSpPr>
              <a:spLocks noChangeShapeType="1"/>
            </p:cNvSpPr>
            <p:nvPr/>
          </p:nvSpPr>
          <p:spPr bwMode="auto">
            <a:xfrm>
              <a:off x="3449" y="2333"/>
              <a:ext cx="0" cy="59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39"/>
          <p:cNvGrpSpPr>
            <a:grpSpLocks/>
          </p:cNvGrpSpPr>
          <p:nvPr/>
        </p:nvGrpSpPr>
        <p:grpSpPr bwMode="auto">
          <a:xfrm>
            <a:off x="5584826" y="3695700"/>
            <a:ext cx="2593975" cy="1778000"/>
            <a:chOff x="2558" y="2328"/>
            <a:chExt cx="1634" cy="1120"/>
          </a:xfrm>
        </p:grpSpPr>
        <p:sp>
          <p:nvSpPr>
            <p:cNvPr id="56380" name="Text Box 39"/>
            <p:cNvSpPr txBox="1">
              <a:spLocks noChangeArrowheads="1"/>
            </p:cNvSpPr>
            <p:nvPr/>
          </p:nvSpPr>
          <p:spPr bwMode="auto">
            <a:xfrm>
              <a:off x="2558" y="3252"/>
              <a:ext cx="163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800"/>
                <a:t>router, firewall, NAT</a:t>
              </a:r>
            </a:p>
          </p:txBody>
        </p:sp>
        <p:sp>
          <p:nvSpPr>
            <p:cNvPr id="56381" name="Line 133"/>
            <p:cNvSpPr>
              <a:spLocks noChangeShapeType="1"/>
            </p:cNvSpPr>
            <p:nvPr/>
          </p:nvSpPr>
          <p:spPr bwMode="auto">
            <a:xfrm>
              <a:off x="2645" y="2328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141"/>
          <p:cNvGrpSpPr>
            <a:grpSpLocks/>
          </p:cNvGrpSpPr>
          <p:nvPr/>
        </p:nvGrpSpPr>
        <p:grpSpPr bwMode="auto">
          <a:xfrm>
            <a:off x="5129213" y="4576764"/>
            <a:ext cx="2927350" cy="1392237"/>
            <a:chOff x="2062" y="2532"/>
            <a:chExt cx="1844" cy="1210"/>
          </a:xfrm>
        </p:grpSpPr>
        <p:sp>
          <p:nvSpPr>
            <p:cNvPr id="56378" name="Line 134"/>
            <p:cNvSpPr>
              <a:spLocks noChangeShapeType="1"/>
            </p:cNvSpPr>
            <p:nvPr/>
          </p:nvSpPr>
          <p:spPr bwMode="auto">
            <a:xfrm>
              <a:off x="2064" y="2532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9" name="Text Box 39"/>
            <p:cNvSpPr txBox="1">
              <a:spLocks noChangeArrowheads="1"/>
            </p:cNvSpPr>
            <p:nvPr/>
          </p:nvSpPr>
          <p:spPr bwMode="auto">
            <a:xfrm>
              <a:off x="2062" y="3471"/>
              <a:ext cx="184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800"/>
                <a:t>wired Ethernet (100 Mbps)</a:t>
              </a:r>
            </a:p>
          </p:txBody>
        </p:sp>
      </p:grpSp>
      <p:grpSp>
        <p:nvGrpSpPr>
          <p:cNvPr id="10" name="Group 140"/>
          <p:cNvGrpSpPr>
            <a:grpSpLocks/>
          </p:cNvGrpSpPr>
          <p:nvPr/>
        </p:nvGrpSpPr>
        <p:grpSpPr bwMode="auto">
          <a:xfrm>
            <a:off x="1947863" y="3725862"/>
            <a:ext cx="1966912" cy="2047874"/>
            <a:chOff x="267" y="2347"/>
            <a:chExt cx="1239" cy="1290"/>
          </a:xfrm>
        </p:grpSpPr>
        <p:sp>
          <p:nvSpPr>
            <p:cNvPr id="56376" name="Line 136"/>
            <p:cNvSpPr>
              <a:spLocks noChangeShapeType="1"/>
            </p:cNvSpPr>
            <p:nvPr/>
          </p:nvSpPr>
          <p:spPr bwMode="auto">
            <a:xfrm>
              <a:off x="1360" y="2347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7" name="Text Box 39"/>
            <p:cNvSpPr txBox="1">
              <a:spLocks noChangeArrowheads="1"/>
            </p:cNvSpPr>
            <p:nvPr/>
          </p:nvSpPr>
          <p:spPr bwMode="auto">
            <a:xfrm>
              <a:off x="267" y="3300"/>
              <a:ext cx="123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80000"/>
                </a:lnSpc>
              </a:pPr>
              <a:r>
                <a:rPr lang="en-US" altLang="en-US" sz="1800"/>
                <a:t>wireless access </a:t>
              </a:r>
            </a:p>
            <a:p>
              <a:pPr algn="r">
                <a:lnSpc>
                  <a:spcPct val="80000"/>
                </a:lnSpc>
              </a:pPr>
              <a:r>
                <a:rPr lang="en-US" altLang="en-US" sz="1800"/>
                <a:t>point (54 Mbps)</a:t>
              </a:r>
            </a:p>
          </p:txBody>
        </p:sp>
      </p:grpSp>
      <p:sp>
        <p:nvSpPr>
          <p:cNvPr id="11406" name="Text Box 142"/>
          <p:cNvSpPr txBox="1">
            <a:spLocks noChangeArrowheads="1"/>
          </p:cNvSpPr>
          <p:nvPr/>
        </p:nvSpPr>
        <p:spPr bwMode="auto">
          <a:xfrm>
            <a:off x="2562226" y="1303339"/>
            <a:ext cx="1103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2000"/>
              <a:t>wireless</a:t>
            </a:r>
          </a:p>
          <a:p>
            <a:pPr algn="r"/>
            <a:r>
              <a:rPr lang="en-US" altLang="en-US" sz="2000"/>
              <a:t>devices</a:t>
            </a:r>
          </a:p>
        </p:txBody>
      </p:sp>
      <p:grpSp>
        <p:nvGrpSpPr>
          <p:cNvPr id="56337" name="Group 143"/>
          <p:cNvGrpSpPr>
            <a:grpSpLocks/>
          </p:cNvGrpSpPr>
          <p:nvPr/>
        </p:nvGrpSpPr>
        <p:grpSpPr bwMode="auto">
          <a:xfrm>
            <a:off x="2908301" y="1954214"/>
            <a:ext cx="733425" cy="758825"/>
            <a:chOff x="2751" y="1851"/>
            <a:chExt cx="462" cy="478"/>
          </a:xfrm>
        </p:grpSpPr>
        <p:pic>
          <p:nvPicPr>
            <p:cNvPr id="56374" name="Picture 144" descr="iphone_stylized_small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75" name="Picture 145" descr="antenna_radiation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338" name="Line 146"/>
          <p:cNvSpPr>
            <a:spLocks noChangeShapeType="1"/>
          </p:cNvSpPr>
          <p:nvPr/>
        </p:nvSpPr>
        <p:spPr bwMode="auto">
          <a:xfrm>
            <a:off x="5203825" y="3679825"/>
            <a:ext cx="1270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11" name="Oval 147"/>
          <p:cNvSpPr>
            <a:spLocks noChangeArrowheads="1"/>
          </p:cNvSpPr>
          <p:nvPr/>
        </p:nvSpPr>
        <p:spPr bwMode="auto">
          <a:xfrm>
            <a:off x="2805113" y="2801939"/>
            <a:ext cx="3359150" cy="1050925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2" name="Group 150"/>
          <p:cNvGrpSpPr>
            <a:grpSpLocks/>
          </p:cNvGrpSpPr>
          <p:nvPr/>
        </p:nvGrpSpPr>
        <p:grpSpPr bwMode="auto">
          <a:xfrm>
            <a:off x="1660526" y="3532188"/>
            <a:ext cx="1630363" cy="717550"/>
            <a:chOff x="86" y="2225"/>
            <a:chExt cx="1027" cy="452"/>
          </a:xfrm>
        </p:grpSpPr>
        <p:sp>
          <p:nvSpPr>
            <p:cNvPr id="56372" name="Text Box 148"/>
            <p:cNvSpPr txBox="1">
              <a:spLocks noChangeArrowheads="1"/>
            </p:cNvSpPr>
            <p:nvPr/>
          </p:nvSpPr>
          <p:spPr bwMode="auto">
            <a:xfrm>
              <a:off x="86" y="2357"/>
              <a:ext cx="102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en-US" sz="1600"/>
                <a:t>often combined 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600"/>
                <a:t>in single box</a:t>
              </a:r>
            </a:p>
          </p:txBody>
        </p:sp>
        <p:sp>
          <p:nvSpPr>
            <p:cNvPr id="56373" name="Line 149"/>
            <p:cNvSpPr>
              <a:spLocks noChangeShapeType="1"/>
            </p:cNvSpPr>
            <p:nvPr/>
          </p:nvSpPr>
          <p:spPr bwMode="auto">
            <a:xfrm flipV="1">
              <a:off x="590" y="2225"/>
              <a:ext cx="238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341" name="Group 151"/>
          <p:cNvGrpSpPr>
            <a:grpSpLocks/>
          </p:cNvGrpSpPr>
          <p:nvPr/>
        </p:nvGrpSpPr>
        <p:grpSpPr bwMode="auto">
          <a:xfrm>
            <a:off x="3903664" y="1566863"/>
            <a:ext cx="954087" cy="1027112"/>
            <a:chOff x="877" y="1008"/>
            <a:chExt cx="2747" cy="2591"/>
          </a:xfrm>
        </p:grpSpPr>
        <p:pic>
          <p:nvPicPr>
            <p:cNvPr id="56349" name="Picture 152" descr="antenna_styliz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50" name="Picture 153" descr="laptop_keyboar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51" name="Freeform 154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6352" name="Picture 155" descr="screen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53" name="Freeform 156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4" name="Freeform 157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5" name="Freeform 158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6" name="Freeform 159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7" name="Freeform 160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8" name="Freeform 161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359" name="Group 162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6366" name="Freeform 163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67" name="Freeform 164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68" name="Freeform 165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69" name="Freeform 166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70" name="Freeform 167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71" name="Freeform 168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6360" name="Freeform 169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1" name="Freeform 170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2" name="Freeform 171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3" name="Freeform 172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4" name="Freeform 173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5" name="Freeform 174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342" name="Group 175"/>
          <p:cNvGrpSpPr>
            <a:grpSpLocks/>
          </p:cNvGrpSpPr>
          <p:nvPr/>
        </p:nvGrpSpPr>
        <p:grpSpPr bwMode="auto">
          <a:xfrm>
            <a:off x="4673600" y="2032001"/>
            <a:ext cx="1123950" cy="862013"/>
            <a:chOff x="-44" y="1473"/>
            <a:chExt cx="981" cy="1105"/>
          </a:xfrm>
        </p:grpSpPr>
        <p:pic>
          <p:nvPicPr>
            <p:cNvPr id="56347" name="Picture 176" descr="desktop_computer_stylized_medium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48" name="Freeform 17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6343" name="Group 178"/>
          <p:cNvGrpSpPr>
            <a:grpSpLocks/>
          </p:cNvGrpSpPr>
          <p:nvPr/>
        </p:nvGrpSpPr>
        <p:grpSpPr bwMode="auto">
          <a:xfrm>
            <a:off x="4614863" y="3838575"/>
            <a:ext cx="849312" cy="712788"/>
            <a:chOff x="-44" y="1473"/>
            <a:chExt cx="981" cy="1105"/>
          </a:xfrm>
        </p:grpSpPr>
        <p:pic>
          <p:nvPicPr>
            <p:cNvPr id="56345" name="Picture 179" descr="desktop_computer_stylized_medium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46" name="Freeform 18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9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9" grpId="0"/>
      <p:bldP spid="11406" grpId="0"/>
      <p:bldP spid="114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50"/>
          <p:cNvSpPr>
            <a:spLocks noGrp="1"/>
          </p:cNvSpPr>
          <p:nvPr>
            <p:ph type="title" idx="4294967295"/>
          </p:nvPr>
        </p:nvSpPr>
        <p:spPr>
          <a:xfrm>
            <a:off x="1814514" y="198439"/>
            <a:ext cx="8321675" cy="765175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Enterprise access networks (Ethernet)</a:t>
            </a:r>
          </a:p>
        </p:txBody>
      </p:sp>
      <p:sp>
        <p:nvSpPr>
          <p:cNvPr id="58371" name="Content Placeholder 52"/>
          <p:cNvSpPr>
            <a:spLocks noGrp="1"/>
          </p:cNvSpPr>
          <p:nvPr>
            <p:ph idx="4294967295"/>
          </p:nvPr>
        </p:nvSpPr>
        <p:spPr>
          <a:xfrm>
            <a:off x="1979613" y="4783138"/>
            <a:ext cx="8043862" cy="1414462"/>
          </a:xfrm>
        </p:spPr>
        <p:txBody>
          <a:bodyPr/>
          <a:lstStyle/>
          <a:p>
            <a:pPr eaLnBrk="1" hangingPunct="1"/>
            <a:r>
              <a:rPr lang="en-US" altLang="en-US" sz="2400"/>
              <a:t>typically used in companies, universities, etc</a:t>
            </a:r>
          </a:p>
          <a:p>
            <a:pPr marL="342900" lvl="1" indent="-342900">
              <a:buSzPct val="65000"/>
              <a:buFont typeface="Wingdings" panose="05000000000000000000" pitchFamily="2" charset="2"/>
              <a:buChar char="v"/>
            </a:pPr>
            <a:r>
              <a:rPr lang="en-US" altLang="en-US" smtClean="0">
                <a:ea typeface="Arial" panose="020B0604020202020204" pitchFamily="34" charset="0"/>
              </a:rPr>
              <a:t>10 Mbps, 100Mbps, 1Gbps, 10Gbps transmission rates</a:t>
            </a:r>
          </a:p>
          <a:p>
            <a:pPr marL="342900" lvl="1" indent="-342900">
              <a:buSzPct val="65000"/>
              <a:buFont typeface="Wingdings" panose="05000000000000000000" pitchFamily="2" charset="2"/>
              <a:buChar char="v"/>
            </a:pPr>
            <a:r>
              <a:rPr lang="en-US" altLang="en-US" smtClean="0">
                <a:ea typeface="Arial" panose="020B0604020202020204" pitchFamily="34" charset="0"/>
              </a:rPr>
              <a:t>today, end systems typically connect into Ethernet switch</a:t>
            </a:r>
          </a:p>
          <a:p>
            <a:pPr eaLnBrk="1" hangingPunct="1"/>
            <a:endParaRPr lang="en-US" altLang="en-US" sz="2400"/>
          </a:p>
        </p:txBody>
      </p:sp>
      <p:sp>
        <p:nvSpPr>
          <p:cNvPr id="58372" name="Line 2"/>
          <p:cNvSpPr>
            <a:spLocks noChangeShapeType="1"/>
          </p:cNvSpPr>
          <p:nvPr/>
        </p:nvSpPr>
        <p:spPr bwMode="auto">
          <a:xfrm>
            <a:off x="3741738" y="31861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3" name="Line 3"/>
          <p:cNvSpPr>
            <a:spLocks noChangeShapeType="1"/>
          </p:cNvSpPr>
          <p:nvPr/>
        </p:nvSpPr>
        <p:spPr bwMode="auto">
          <a:xfrm>
            <a:off x="4160838" y="3194050"/>
            <a:ext cx="0" cy="55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4" name="Line 4"/>
          <p:cNvSpPr>
            <a:spLocks noChangeShapeType="1"/>
          </p:cNvSpPr>
          <p:nvPr/>
        </p:nvSpPr>
        <p:spPr bwMode="auto">
          <a:xfrm flipH="1">
            <a:off x="3138488" y="3167063"/>
            <a:ext cx="696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5" name="Group 51"/>
          <p:cNvGrpSpPr>
            <a:grpSpLocks/>
          </p:cNvGrpSpPr>
          <p:nvPr/>
        </p:nvGrpSpPr>
        <p:grpSpPr bwMode="auto">
          <a:xfrm>
            <a:off x="3540126" y="2873375"/>
            <a:ext cx="1052513" cy="355600"/>
            <a:chOff x="4410" y="1365"/>
            <a:chExt cx="663" cy="224"/>
          </a:xfrm>
        </p:grpSpPr>
        <p:sp>
          <p:nvSpPr>
            <p:cNvPr id="58563" name="Rectangle 52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564" name="AutoShape 53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565" name="Freeform 54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566" name="Freeform 55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93 h 63"/>
                <a:gd name="T2" fmla="*/ 13798 w 280"/>
                <a:gd name="T3" fmla="*/ 674 h 63"/>
                <a:gd name="T4" fmla="*/ 81432 w 280"/>
                <a:gd name="T5" fmla="*/ 0 h 63"/>
                <a:gd name="T6" fmla="*/ 103965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567" name="Freeform 56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76" name="Line 59"/>
          <p:cNvSpPr>
            <a:spLocks noChangeShapeType="1"/>
          </p:cNvSpPr>
          <p:nvPr/>
        </p:nvSpPr>
        <p:spPr bwMode="auto">
          <a:xfrm flipH="1">
            <a:off x="2632075" y="2946400"/>
            <a:ext cx="1062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7" name="Line 61"/>
          <p:cNvSpPr>
            <a:spLocks noChangeShapeType="1"/>
          </p:cNvSpPr>
          <p:nvPr/>
        </p:nvSpPr>
        <p:spPr bwMode="auto">
          <a:xfrm flipV="1">
            <a:off x="3913188" y="2328864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8" name="Group 62"/>
          <p:cNvGrpSpPr>
            <a:grpSpLocks/>
          </p:cNvGrpSpPr>
          <p:nvPr/>
        </p:nvGrpSpPr>
        <p:grpSpPr bwMode="auto">
          <a:xfrm>
            <a:off x="3613151" y="1876426"/>
            <a:ext cx="873125" cy="627063"/>
            <a:chOff x="2967" y="478"/>
            <a:chExt cx="788" cy="625"/>
          </a:xfrm>
        </p:grpSpPr>
        <p:pic>
          <p:nvPicPr>
            <p:cNvPr id="58561" name="Picture 63" descr="access_point_stylized_smal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562" name="Picture 64" descr="antenna_radiation_stylize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379" name="Group 65"/>
          <p:cNvGrpSpPr>
            <a:grpSpLocks/>
          </p:cNvGrpSpPr>
          <p:nvPr/>
        </p:nvGrpSpPr>
        <p:grpSpPr bwMode="auto">
          <a:xfrm>
            <a:off x="4270375" y="1231900"/>
            <a:ext cx="622300" cy="706438"/>
            <a:chOff x="877" y="1008"/>
            <a:chExt cx="2747" cy="2591"/>
          </a:xfrm>
        </p:grpSpPr>
        <p:pic>
          <p:nvPicPr>
            <p:cNvPr id="58538" name="Picture 66" descr="antenna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539" name="Picture 67" descr="laptop_keyboar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540" name="Freeform 68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541" name="Picture 69" descr="scree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542" name="Freeform 70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43" name="Freeform 71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44" name="Freeform 72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45" name="Freeform 73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46" name="Freeform 74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47" name="Freeform 75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548" name="Group 76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8555" name="Freeform 7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56" name="Freeform 7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57" name="Freeform 7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58" name="Freeform 8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59" name="Freeform 8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60" name="Freeform 8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549" name="Freeform 83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50" name="Freeform 84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51" name="Freeform 85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52" name="Freeform 86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53" name="Freeform 87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54" name="Freeform 88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380" name="Group 89"/>
          <p:cNvGrpSpPr>
            <a:grpSpLocks/>
          </p:cNvGrpSpPr>
          <p:nvPr/>
        </p:nvGrpSpPr>
        <p:grpSpPr bwMode="auto">
          <a:xfrm>
            <a:off x="2740025" y="1511301"/>
            <a:ext cx="566738" cy="625475"/>
            <a:chOff x="877" y="1008"/>
            <a:chExt cx="2747" cy="2591"/>
          </a:xfrm>
        </p:grpSpPr>
        <p:pic>
          <p:nvPicPr>
            <p:cNvPr id="58515" name="Picture 90" descr="antenna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516" name="Picture 91" descr="laptop_keyboar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517" name="Freeform 92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518" name="Picture 93" descr="screen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519" name="Freeform 94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0" name="Freeform 95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1" name="Freeform 96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2" name="Freeform 97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3" name="Freeform 98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4" name="Freeform 99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525" name="Group 100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8532" name="Freeform 10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33" name="Freeform 10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34" name="Freeform 10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35" name="Freeform 10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36" name="Freeform 10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37" name="Freeform 10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526" name="Freeform 107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7" name="Freeform 108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8" name="Freeform 109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29" name="Freeform 110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30" name="Freeform 111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31" name="Freeform 112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381" name="Group 113"/>
          <p:cNvGrpSpPr>
            <a:grpSpLocks/>
          </p:cNvGrpSpPr>
          <p:nvPr/>
        </p:nvGrpSpPr>
        <p:grpSpPr bwMode="auto">
          <a:xfrm>
            <a:off x="3487738" y="1203325"/>
            <a:ext cx="635000" cy="615950"/>
            <a:chOff x="877" y="1008"/>
            <a:chExt cx="2747" cy="2591"/>
          </a:xfrm>
        </p:grpSpPr>
        <p:pic>
          <p:nvPicPr>
            <p:cNvPr id="58492" name="Picture 114" descr="antenna_stylize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493" name="Picture 115" descr="laptop_keyboar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94" name="Freeform 116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495" name="Picture 117" descr="screen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96" name="Freeform 118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97" name="Freeform 119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98" name="Freeform 120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99" name="Freeform 121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00" name="Freeform 122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01" name="Freeform 123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502" name="Group 124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8509" name="Freeform 125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10" name="Freeform 126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11" name="Freeform 127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12" name="Freeform 128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13" name="Freeform 129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14" name="Freeform 130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503" name="Freeform 131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04" name="Freeform 132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05" name="Freeform 133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06" name="Freeform 134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07" name="Freeform 135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508" name="Freeform 136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382" name="Group 296"/>
          <p:cNvGrpSpPr>
            <a:grpSpLocks/>
          </p:cNvGrpSpPr>
          <p:nvPr/>
        </p:nvGrpSpPr>
        <p:grpSpPr bwMode="auto">
          <a:xfrm>
            <a:off x="5953126" y="1851026"/>
            <a:ext cx="1166813" cy="479425"/>
            <a:chOff x="2356" y="1300"/>
            <a:chExt cx="555" cy="194"/>
          </a:xfrm>
        </p:grpSpPr>
        <p:sp>
          <p:nvSpPr>
            <p:cNvPr id="5848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848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848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8487" name="Group 300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8490" name="Freeform 30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491" name="Freeform 30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488" name="Line 303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89" name="Line 304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383" name="Line 305"/>
          <p:cNvSpPr>
            <a:spLocks noChangeShapeType="1"/>
          </p:cNvSpPr>
          <p:nvPr/>
        </p:nvSpPr>
        <p:spPr bwMode="auto">
          <a:xfrm flipV="1">
            <a:off x="4302126" y="2111376"/>
            <a:ext cx="1668463" cy="766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4" name="Line 306"/>
          <p:cNvSpPr>
            <a:spLocks noChangeShapeType="1"/>
          </p:cNvSpPr>
          <p:nvPr/>
        </p:nvSpPr>
        <p:spPr bwMode="auto">
          <a:xfrm>
            <a:off x="6118225" y="3005138"/>
            <a:ext cx="0" cy="652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5" name="Line 340"/>
          <p:cNvSpPr>
            <a:spLocks noChangeShapeType="1"/>
          </p:cNvSpPr>
          <p:nvPr/>
        </p:nvSpPr>
        <p:spPr bwMode="auto">
          <a:xfrm>
            <a:off x="6499225" y="2997201"/>
            <a:ext cx="0" cy="652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6" name="Group 230"/>
          <p:cNvGrpSpPr>
            <a:grpSpLocks/>
          </p:cNvGrpSpPr>
          <p:nvPr/>
        </p:nvGrpSpPr>
        <p:grpSpPr bwMode="auto">
          <a:xfrm>
            <a:off x="5956301" y="3616326"/>
            <a:ext cx="365125" cy="766763"/>
            <a:chOff x="4140" y="429"/>
            <a:chExt cx="1425" cy="2396"/>
          </a:xfrm>
        </p:grpSpPr>
        <p:sp>
          <p:nvSpPr>
            <p:cNvPr id="58452" name="Freeform 2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53" name="Rectangle 23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54" name="Freeform 2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55" name="Freeform 2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56" name="Rectangle 23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8457" name="Group 2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482" name="AutoShape 23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83" name="AutoShape 23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58" name="Rectangle 23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8459" name="Group 2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8480" name="AutoShape 24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81" name="AutoShape 2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60" name="Rectangle 24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61" name="Rectangle 24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8462" name="Group 2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8478" name="AutoShape 24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79" name="AutoShape 24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63" name="Freeform 2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464" name="Group 2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8476" name="AutoShape 25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77" name="AutoShape 25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65" name="Rectangle 25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66" name="Freeform 2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67" name="Freeform 2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68" name="Oval 25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69" name="Freeform 2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70" name="AutoShape 25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71" name="AutoShape 25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72" name="Oval 25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73" name="Oval 26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58474" name="Oval 26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75" name="Rectangle 26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8387" name="Line 342"/>
          <p:cNvSpPr>
            <a:spLocks noChangeShapeType="1"/>
          </p:cNvSpPr>
          <p:nvPr/>
        </p:nvSpPr>
        <p:spPr bwMode="auto">
          <a:xfrm>
            <a:off x="4541839" y="3208339"/>
            <a:ext cx="503237" cy="331787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8" name="Text Box 343"/>
          <p:cNvSpPr txBox="1">
            <a:spLocks noChangeArrowheads="1"/>
          </p:cNvSpPr>
          <p:nvPr/>
        </p:nvSpPr>
        <p:spPr bwMode="auto">
          <a:xfrm>
            <a:off x="4575175" y="3538538"/>
            <a:ext cx="1212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/>
              <a:t>Ethernet </a:t>
            </a:r>
          </a:p>
          <a:p>
            <a:pPr algn="ctr">
              <a:lnSpc>
                <a:spcPct val="85000"/>
              </a:lnSpc>
            </a:pPr>
            <a:r>
              <a:rPr lang="en-US" altLang="en-US" sz="2000"/>
              <a:t>switch</a:t>
            </a:r>
          </a:p>
        </p:txBody>
      </p:sp>
      <p:sp>
        <p:nvSpPr>
          <p:cNvPr id="58389" name="Line 344"/>
          <p:cNvSpPr>
            <a:spLocks noChangeShapeType="1"/>
          </p:cNvSpPr>
          <p:nvPr/>
        </p:nvSpPr>
        <p:spPr bwMode="auto">
          <a:xfrm>
            <a:off x="6831013" y="3954463"/>
            <a:ext cx="525462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0" name="Text Box 345"/>
          <p:cNvSpPr txBox="1">
            <a:spLocks noChangeArrowheads="1"/>
          </p:cNvSpPr>
          <p:nvPr/>
        </p:nvSpPr>
        <p:spPr bwMode="auto">
          <a:xfrm>
            <a:off x="7191376" y="3552825"/>
            <a:ext cx="20621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/>
              <a:t>institutional mail,</a:t>
            </a:r>
          </a:p>
          <a:p>
            <a:pPr algn="ctr">
              <a:lnSpc>
                <a:spcPct val="85000"/>
              </a:lnSpc>
            </a:pPr>
            <a:r>
              <a:rPr lang="en-US" altLang="en-US" sz="2000"/>
              <a:t>web servers</a:t>
            </a:r>
          </a:p>
        </p:txBody>
      </p:sp>
      <p:sp>
        <p:nvSpPr>
          <p:cNvPr id="58391" name="Text Box 346"/>
          <p:cNvSpPr txBox="1">
            <a:spLocks noChangeArrowheads="1"/>
          </p:cNvSpPr>
          <p:nvPr/>
        </p:nvSpPr>
        <p:spPr bwMode="auto">
          <a:xfrm>
            <a:off x="7856539" y="2986089"/>
            <a:ext cx="21875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/>
              <a:t>institutional router</a:t>
            </a:r>
          </a:p>
        </p:txBody>
      </p:sp>
      <p:sp>
        <p:nvSpPr>
          <p:cNvPr id="58392" name="Line 347"/>
          <p:cNvSpPr>
            <a:spLocks noChangeShapeType="1"/>
          </p:cNvSpPr>
          <p:nvPr/>
        </p:nvSpPr>
        <p:spPr bwMode="auto">
          <a:xfrm>
            <a:off x="7029451" y="2368551"/>
            <a:ext cx="1006475" cy="6635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3" name="Line 348"/>
          <p:cNvSpPr>
            <a:spLocks noChangeShapeType="1"/>
          </p:cNvSpPr>
          <p:nvPr/>
        </p:nvSpPr>
        <p:spPr bwMode="auto">
          <a:xfrm>
            <a:off x="7102475" y="2032000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4" name="Line 349"/>
          <p:cNvSpPr>
            <a:spLocks noChangeShapeType="1"/>
          </p:cNvSpPr>
          <p:nvPr/>
        </p:nvSpPr>
        <p:spPr bwMode="auto">
          <a:xfrm>
            <a:off x="8132763" y="2028825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5" name="Line 350"/>
          <p:cNvSpPr>
            <a:spLocks noChangeShapeType="1"/>
          </p:cNvSpPr>
          <p:nvPr/>
        </p:nvSpPr>
        <p:spPr bwMode="auto">
          <a:xfrm>
            <a:off x="7523164" y="2117725"/>
            <a:ext cx="503237" cy="3317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6" name="Text Box 351"/>
          <p:cNvSpPr txBox="1">
            <a:spLocks noChangeArrowheads="1"/>
          </p:cNvSpPr>
          <p:nvPr/>
        </p:nvSpPr>
        <p:spPr bwMode="auto">
          <a:xfrm>
            <a:off x="7989025" y="2320926"/>
            <a:ext cx="2279791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/>
              <a:t>institutional link to </a:t>
            </a:r>
          </a:p>
          <a:p>
            <a:pPr algn="ctr">
              <a:lnSpc>
                <a:spcPct val="85000"/>
              </a:lnSpc>
            </a:pPr>
            <a:r>
              <a:rPr lang="en-US" altLang="en-US" sz="2000"/>
              <a:t>ISP (Internet)</a:t>
            </a:r>
          </a:p>
          <a:p>
            <a:pPr algn="ctr">
              <a:lnSpc>
                <a:spcPct val="85000"/>
              </a:lnSpc>
            </a:pPr>
            <a:endParaRPr lang="en-US" altLang="en-US" sz="2000"/>
          </a:p>
        </p:txBody>
      </p:sp>
      <p:grpSp>
        <p:nvGrpSpPr>
          <p:cNvPr id="58397" name="Group 353"/>
          <p:cNvGrpSpPr>
            <a:grpSpLocks/>
          </p:cNvGrpSpPr>
          <p:nvPr/>
        </p:nvGrpSpPr>
        <p:grpSpPr bwMode="auto">
          <a:xfrm>
            <a:off x="5921376" y="2636838"/>
            <a:ext cx="1052513" cy="355600"/>
            <a:chOff x="4410" y="1365"/>
            <a:chExt cx="663" cy="224"/>
          </a:xfrm>
        </p:grpSpPr>
        <p:sp>
          <p:nvSpPr>
            <p:cNvPr id="58447" name="Rectangle 354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48" name="AutoShape 355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49" name="Freeform 356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450" name="Freeform 357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93 h 63"/>
                <a:gd name="T2" fmla="*/ 13798 w 280"/>
                <a:gd name="T3" fmla="*/ 674 h 63"/>
                <a:gd name="T4" fmla="*/ 81432 w 280"/>
                <a:gd name="T5" fmla="*/ 0 h 63"/>
                <a:gd name="T6" fmla="*/ 103965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451" name="Freeform 358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98" name="Line 359"/>
          <p:cNvSpPr>
            <a:spLocks noChangeShapeType="1"/>
          </p:cNvSpPr>
          <p:nvPr/>
        </p:nvSpPr>
        <p:spPr bwMode="auto">
          <a:xfrm>
            <a:off x="6507163" y="2332038"/>
            <a:ext cx="0" cy="296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99" name="Group 360"/>
          <p:cNvGrpSpPr>
            <a:grpSpLocks/>
          </p:cNvGrpSpPr>
          <p:nvPr/>
        </p:nvGrpSpPr>
        <p:grpSpPr bwMode="auto">
          <a:xfrm>
            <a:off x="6396039" y="3609976"/>
            <a:ext cx="365125" cy="766763"/>
            <a:chOff x="4140" y="429"/>
            <a:chExt cx="1425" cy="2396"/>
          </a:xfrm>
        </p:grpSpPr>
        <p:sp>
          <p:nvSpPr>
            <p:cNvPr id="58415" name="Freeform 36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16" name="Rectangle 36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17" name="Freeform 36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18" name="Freeform 36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19" name="Rectangle 36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8420" name="Group 36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445" name="AutoShape 3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46" name="AutoShape 36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21" name="Rectangle 36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8422" name="Group 37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8443" name="AutoShape 37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44" name="AutoShape 37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23" name="Rectangle 37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24" name="Rectangle 37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8425" name="Group 37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8441" name="AutoShape 37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42" name="AutoShape 37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26" name="Freeform 37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427" name="Group 37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8439" name="AutoShape 3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440" name="AutoShape 38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58428" name="Rectangle 38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29" name="Freeform 38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30" name="Freeform 38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31" name="Oval 38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32" name="Freeform 38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433" name="AutoShape 38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34" name="AutoShape 38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35" name="Oval 38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36" name="Oval 39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58437" name="Oval 39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438" name="Rectangle 39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8400" name="Line 393"/>
          <p:cNvSpPr>
            <a:spLocks noChangeShapeType="1"/>
          </p:cNvSpPr>
          <p:nvPr/>
        </p:nvSpPr>
        <p:spPr bwMode="auto">
          <a:xfrm flipH="1">
            <a:off x="5162550" y="3051175"/>
            <a:ext cx="788988" cy="50323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402" name="Group 395"/>
          <p:cNvGrpSpPr>
            <a:grpSpLocks/>
          </p:cNvGrpSpPr>
          <p:nvPr/>
        </p:nvGrpSpPr>
        <p:grpSpPr bwMode="auto">
          <a:xfrm>
            <a:off x="2130425" y="2566988"/>
            <a:ext cx="723900" cy="665162"/>
            <a:chOff x="-44" y="1473"/>
            <a:chExt cx="981" cy="1105"/>
          </a:xfrm>
        </p:grpSpPr>
        <p:pic>
          <p:nvPicPr>
            <p:cNvPr id="58413" name="Picture 396" descr="desktop_computer_stylized_medium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14" name="Freeform 39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403" name="Group 398"/>
          <p:cNvGrpSpPr>
            <a:grpSpLocks/>
          </p:cNvGrpSpPr>
          <p:nvPr/>
        </p:nvGrpSpPr>
        <p:grpSpPr bwMode="auto">
          <a:xfrm>
            <a:off x="2524125" y="3016251"/>
            <a:ext cx="723900" cy="665163"/>
            <a:chOff x="-44" y="1473"/>
            <a:chExt cx="981" cy="1105"/>
          </a:xfrm>
        </p:grpSpPr>
        <p:pic>
          <p:nvPicPr>
            <p:cNvPr id="58411" name="Picture 399" descr="desktop_computer_stylized_medium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12" name="Freeform 40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404" name="Group 401"/>
          <p:cNvGrpSpPr>
            <a:grpSpLocks/>
          </p:cNvGrpSpPr>
          <p:nvPr/>
        </p:nvGrpSpPr>
        <p:grpSpPr bwMode="auto">
          <a:xfrm>
            <a:off x="3135313" y="3592513"/>
            <a:ext cx="723900" cy="665162"/>
            <a:chOff x="-44" y="1473"/>
            <a:chExt cx="981" cy="1105"/>
          </a:xfrm>
        </p:grpSpPr>
        <p:pic>
          <p:nvPicPr>
            <p:cNvPr id="58409" name="Picture 402" descr="desktop_computer_stylized_medium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10" name="Freeform 40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8405" name="Group 404"/>
          <p:cNvGrpSpPr>
            <a:grpSpLocks/>
          </p:cNvGrpSpPr>
          <p:nvPr/>
        </p:nvGrpSpPr>
        <p:grpSpPr bwMode="auto">
          <a:xfrm>
            <a:off x="3708400" y="3606801"/>
            <a:ext cx="723900" cy="665163"/>
            <a:chOff x="-44" y="1473"/>
            <a:chExt cx="981" cy="1105"/>
          </a:xfrm>
        </p:grpSpPr>
        <p:pic>
          <p:nvPicPr>
            <p:cNvPr id="58407" name="Picture 405" descr="desktop_computer_stylized_medium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08" name="Freeform 40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17688" y="169863"/>
            <a:ext cx="8382000" cy="98425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Wireless access networks</a:t>
            </a:r>
            <a:endParaRPr lang="en-US" altLang="en-US" b="1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85939" y="1322389"/>
            <a:ext cx="8370887" cy="865187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z="2400"/>
              <a:t>shared </a:t>
            </a:r>
            <a:r>
              <a:rPr lang="en-US" altLang="en-US" sz="2400" i="1"/>
              <a:t>wireless</a:t>
            </a:r>
            <a:r>
              <a:rPr lang="en-US" altLang="en-US" sz="2400"/>
              <a:t> access network connects end system to router</a:t>
            </a:r>
          </a:p>
          <a:p>
            <a:pPr lvl="1" eaLnBrk="1" hangingPunct="1"/>
            <a:r>
              <a:rPr lang="en-US" altLang="en-US" sz="2000">
                <a:ea typeface="Arial" panose="020B0604020202020204" pitchFamily="34" charset="0"/>
              </a:rPr>
              <a:t>via base station aka </a:t>
            </a:r>
            <a:r>
              <a:rPr lang="ja-JP" altLang="en-US" sz="2000">
                <a:ea typeface="MS PGothic" panose="020B0600070205080204" pitchFamily="34" charset="-128"/>
              </a:rPr>
              <a:t>“</a:t>
            </a:r>
            <a:r>
              <a:rPr lang="en-US" altLang="ja-JP" sz="2000">
                <a:ea typeface="MS PGothic" panose="020B0600070205080204" pitchFamily="34" charset="-128"/>
              </a:rPr>
              <a:t>access point</a:t>
            </a:r>
            <a:r>
              <a:rPr lang="ja-JP" altLang="en-US" sz="2000">
                <a:ea typeface="MS PGothic" panose="020B0600070205080204" pitchFamily="34" charset="-128"/>
              </a:rPr>
              <a:t>”</a:t>
            </a:r>
            <a:endParaRPr lang="en-US" altLang="en-US" sz="2000">
              <a:ea typeface="Arial" panose="020B0604020202020204" pitchFamily="34" charset="0"/>
            </a:endParaRPr>
          </a:p>
        </p:txBody>
      </p:sp>
      <p:sp>
        <p:nvSpPr>
          <p:cNvPr id="59397" name="Rectangle 3"/>
          <p:cNvSpPr>
            <a:spLocks noChangeArrowheads="1"/>
          </p:cNvSpPr>
          <p:nvPr/>
        </p:nvSpPr>
        <p:spPr bwMode="auto">
          <a:xfrm>
            <a:off x="1865314" y="2214564"/>
            <a:ext cx="407987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wireless LANs: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latin typeface="Gill Sans MT" panose="020B0502020104020203" pitchFamily="34" charset="0"/>
              </a:rPr>
              <a:t>within building (100 ft)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latin typeface="Gill Sans MT" panose="020B0502020104020203" pitchFamily="34" charset="0"/>
              </a:rPr>
              <a:t>802.11b/g (WiFi): 11, 54 Mbps transmission rate</a:t>
            </a:r>
          </a:p>
        </p:txBody>
      </p:sp>
      <p:sp>
        <p:nvSpPr>
          <p:cNvPr id="59398" name="Rectangle 3"/>
          <p:cNvSpPr>
            <a:spLocks noChangeArrowheads="1"/>
          </p:cNvSpPr>
          <p:nvPr/>
        </p:nvSpPr>
        <p:spPr bwMode="auto">
          <a:xfrm>
            <a:off x="6164264" y="1819276"/>
            <a:ext cx="4619625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endParaRPr lang="en-US" altLang="en-US">
              <a:latin typeface="Gill Sans MT" panose="020B0502020104020203" pitchFamily="34" charset="0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  <a:latin typeface="Gill Sans MT" panose="020B0502020104020203" pitchFamily="34" charset="0"/>
              </a:rPr>
              <a:t>wide-area wireless access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latin typeface="Gill Sans MT" panose="020B0502020104020203" pitchFamily="34" charset="0"/>
              </a:rPr>
              <a:t>provided by telco (cellular) operator, 10</a:t>
            </a:r>
            <a:r>
              <a:rPr lang="ja-JP" altLang="en-US" sz="2000">
                <a:latin typeface="Gill Sans MT" panose="020B0502020104020203" pitchFamily="34" charset="0"/>
              </a:rPr>
              <a:t>’</a:t>
            </a:r>
            <a:r>
              <a:rPr lang="en-US" altLang="ja-JP" sz="2000">
                <a:latin typeface="Gill Sans MT" panose="020B0502020104020203" pitchFamily="34" charset="0"/>
              </a:rPr>
              <a:t>s km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latin typeface="Gill Sans MT" panose="020B0502020104020203" pitchFamily="34" charset="0"/>
              </a:rPr>
              <a:t>between 1 and 10 Mbps 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latin typeface="Gill Sans MT" panose="020B0502020104020203" pitchFamily="34" charset="0"/>
              </a:rPr>
              <a:t>3G, 4G:  LTE</a:t>
            </a:r>
          </a:p>
        </p:txBody>
      </p:sp>
      <p:grpSp>
        <p:nvGrpSpPr>
          <p:cNvPr id="59399" name="Group 85"/>
          <p:cNvGrpSpPr>
            <a:grpSpLocks/>
          </p:cNvGrpSpPr>
          <p:nvPr/>
        </p:nvGrpSpPr>
        <p:grpSpPr bwMode="auto">
          <a:xfrm>
            <a:off x="2482851" y="3536950"/>
            <a:ext cx="2487613" cy="1562100"/>
            <a:chOff x="2889" y="1631"/>
            <a:chExt cx="980" cy="743"/>
          </a:xfrm>
        </p:grpSpPr>
        <p:sp>
          <p:nvSpPr>
            <p:cNvPr id="59501" name="Rectangle 86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9502" name="AutoShape 87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solidFill>
                  <a:srgbClr val="00CCFF"/>
                </a:solidFill>
              </a:endParaRPr>
            </a:p>
          </p:txBody>
        </p:sp>
      </p:grpSp>
      <p:sp>
        <p:nvSpPr>
          <p:cNvPr id="59400" name="Line 110"/>
          <p:cNvSpPr>
            <a:spLocks noChangeShapeType="1"/>
          </p:cNvSpPr>
          <p:nvPr/>
        </p:nvSpPr>
        <p:spPr bwMode="auto">
          <a:xfrm>
            <a:off x="4127500" y="4941888"/>
            <a:ext cx="0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Line 116"/>
          <p:cNvSpPr>
            <a:spLocks noChangeShapeType="1"/>
          </p:cNvSpPr>
          <p:nvPr/>
        </p:nvSpPr>
        <p:spPr bwMode="auto">
          <a:xfrm flipV="1">
            <a:off x="3527425" y="4806951"/>
            <a:ext cx="28733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9402" name="Group 228"/>
          <p:cNvGrpSpPr>
            <a:grpSpLocks/>
          </p:cNvGrpSpPr>
          <p:nvPr/>
        </p:nvGrpSpPr>
        <p:grpSpPr bwMode="auto">
          <a:xfrm>
            <a:off x="3803650" y="4649788"/>
            <a:ext cx="666750" cy="284162"/>
            <a:chOff x="4650" y="1129"/>
            <a:chExt cx="246" cy="95"/>
          </a:xfrm>
        </p:grpSpPr>
        <p:sp>
          <p:nvSpPr>
            <p:cNvPr id="5949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949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949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9496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59499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00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497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98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403" name="Group 246"/>
          <p:cNvGrpSpPr>
            <a:grpSpLocks/>
          </p:cNvGrpSpPr>
          <p:nvPr/>
        </p:nvGrpSpPr>
        <p:grpSpPr bwMode="auto">
          <a:xfrm>
            <a:off x="3051175" y="4416426"/>
            <a:ext cx="863600" cy="588963"/>
            <a:chOff x="2967" y="478"/>
            <a:chExt cx="788" cy="625"/>
          </a:xfrm>
        </p:grpSpPr>
        <p:pic>
          <p:nvPicPr>
            <p:cNvPr id="59491" name="Picture 247" descr="access_point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2" name="Picture 248" descr="antenna_radiation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404" name="Group 390"/>
          <p:cNvGrpSpPr>
            <a:grpSpLocks/>
          </p:cNvGrpSpPr>
          <p:nvPr/>
        </p:nvGrpSpPr>
        <p:grpSpPr bwMode="auto">
          <a:xfrm>
            <a:off x="2965450" y="3648076"/>
            <a:ext cx="757238" cy="682625"/>
            <a:chOff x="877" y="1008"/>
            <a:chExt cx="2747" cy="2591"/>
          </a:xfrm>
        </p:grpSpPr>
        <p:pic>
          <p:nvPicPr>
            <p:cNvPr id="59468" name="Picture 391" descr="antenna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69" name="Picture 392" descr="laptop_keyboar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70" name="Freeform 393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9471" name="Picture 394" descr="screen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72" name="Freeform 395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73" name="Freeform 396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74" name="Freeform 397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75" name="Freeform 398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76" name="Freeform 399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77" name="Freeform 400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478" name="Group 401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9485" name="Freeform 402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86" name="Freeform 403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87" name="Freeform 404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88" name="Freeform 405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89" name="Freeform 406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90" name="Freeform 407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479" name="Freeform 408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80" name="Freeform 409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81" name="Freeform 410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82" name="Freeform 411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83" name="Freeform 412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84" name="Freeform 413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405" name="Group 445"/>
          <p:cNvGrpSpPr>
            <a:grpSpLocks/>
          </p:cNvGrpSpPr>
          <p:nvPr/>
        </p:nvGrpSpPr>
        <p:grpSpPr bwMode="auto">
          <a:xfrm>
            <a:off x="6670676" y="4071939"/>
            <a:ext cx="2709863" cy="1951037"/>
            <a:chOff x="3652" y="2846"/>
            <a:chExt cx="1253" cy="934"/>
          </a:xfrm>
        </p:grpSpPr>
        <p:sp>
          <p:nvSpPr>
            <p:cNvPr id="59409" name="Freeform 84"/>
            <p:cNvSpPr>
              <a:spLocks/>
            </p:cNvSpPr>
            <p:nvPr/>
          </p:nvSpPr>
          <p:spPr bwMode="auto">
            <a:xfrm>
              <a:off x="3652" y="2949"/>
              <a:ext cx="1094" cy="675"/>
            </a:xfrm>
            <a:custGeom>
              <a:avLst/>
              <a:gdLst>
                <a:gd name="T0" fmla="*/ 1116 w 1036"/>
                <a:gd name="T1" fmla="*/ 11 h 675"/>
                <a:gd name="T2" fmla="*/ 673 w 1036"/>
                <a:gd name="T3" fmla="*/ 53 h 675"/>
                <a:gd name="T4" fmla="*/ 356 w 1036"/>
                <a:gd name="T5" fmla="*/ 129 h 675"/>
                <a:gd name="T6" fmla="*/ 264 w 1036"/>
                <a:gd name="T7" fmla="*/ 229 h 675"/>
                <a:gd name="T8" fmla="*/ 37 w 1036"/>
                <a:gd name="T9" fmla="*/ 297 h 675"/>
                <a:gd name="T10" fmla="*/ 29 w 1036"/>
                <a:gd name="T11" fmla="*/ 459 h 675"/>
                <a:gd name="T12" fmla="*/ 227 w 1036"/>
                <a:gd name="T13" fmla="*/ 489 h 675"/>
                <a:gd name="T14" fmla="*/ 792 w 1036"/>
                <a:gd name="T15" fmla="*/ 489 h 675"/>
                <a:gd name="T16" fmla="*/ 1030 w 1036"/>
                <a:gd name="T17" fmla="*/ 555 h 675"/>
                <a:gd name="T18" fmla="*/ 1296 w 1036"/>
                <a:gd name="T19" fmla="*/ 657 h 675"/>
                <a:gd name="T20" fmla="*/ 1499 w 1036"/>
                <a:gd name="T21" fmla="*/ 661 h 675"/>
                <a:gd name="T22" fmla="*/ 1640 w 1036"/>
                <a:gd name="T23" fmla="*/ 603 h 675"/>
                <a:gd name="T24" fmla="*/ 1711 w 1036"/>
                <a:gd name="T25" fmla="*/ 445 h 675"/>
                <a:gd name="T26" fmla="*/ 1755 w 1036"/>
                <a:gd name="T27" fmla="*/ 291 h 675"/>
                <a:gd name="T28" fmla="*/ 1760 w 1036"/>
                <a:gd name="T29" fmla="*/ 107 h 675"/>
                <a:gd name="T30" fmla="*/ 1610 w 1036"/>
                <a:gd name="T31" fmla="*/ 17 h 675"/>
                <a:gd name="T32" fmla="*/ 1337 w 1036"/>
                <a:gd name="T33" fmla="*/ 3 h 675"/>
                <a:gd name="T34" fmla="*/ 1116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0" name="Line 93"/>
            <p:cNvSpPr>
              <a:spLocks noChangeShapeType="1"/>
            </p:cNvSpPr>
            <p:nvPr/>
          </p:nvSpPr>
          <p:spPr bwMode="auto">
            <a:xfrm>
              <a:off x="4337" y="3386"/>
              <a:ext cx="96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59411" name="Picture 133" descr="car_icon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" y="2956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9412" name="Group 134"/>
            <p:cNvGrpSpPr>
              <a:grpSpLocks/>
            </p:cNvGrpSpPr>
            <p:nvPr/>
          </p:nvGrpSpPr>
          <p:grpSpPr bwMode="auto">
            <a:xfrm>
              <a:off x="3911" y="2846"/>
              <a:ext cx="262" cy="243"/>
              <a:chOff x="2751" y="1851"/>
              <a:chExt cx="462" cy="478"/>
            </a:xfrm>
          </p:grpSpPr>
          <p:pic>
            <p:nvPicPr>
              <p:cNvPr id="59466" name="Picture 135" descr="iphone_stylized_small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9467" name="Picture 136" descr="antenna_radiation_stylize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9413" name="Group 252"/>
            <p:cNvGrpSpPr>
              <a:grpSpLocks/>
            </p:cNvGrpSpPr>
            <p:nvPr/>
          </p:nvGrpSpPr>
          <p:grpSpPr bwMode="auto">
            <a:xfrm>
              <a:off x="4193" y="3034"/>
              <a:ext cx="288" cy="398"/>
              <a:chOff x="742" y="2409"/>
              <a:chExt cx="576" cy="881"/>
            </a:xfrm>
          </p:grpSpPr>
          <p:grpSp>
            <p:nvGrpSpPr>
              <p:cNvPr id="59448" name="Group 25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5945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2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3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4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5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6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7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8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59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60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61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62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63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64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59465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59449" name="Picture 269" descr="cell_tower_radiation copy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50" name="Oval 27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59414" name="Group 342"/>
            <p:cNvGrpSpPr>
              <a:grpSpLocks/>
            </p:cNvGrpSpPr>
            <p:nvPr/>
          </p:nvGrpSpPr>
          <p:grpSpPr bwMode="auto">
            <a:xfrm>
              <a:off x="3715" y="3159"/>
              <a:ext cx="337" cy="257"/>
              <a:chOff x="877" y="1008"/>
              <a:chExt cx="2747" cy="2591"/>
            </a:xfrm>
          </p:grpSpPr>
          <p:pic>
            <p:nvPicPr>
              <p:cNvPr id="59425" name="Picture 343" descr="antenna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9426" name="Picture 344" descr="laptop_keyboar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27" name="Freeform 3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9428" name="Picture 346" descr="screen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29" name="Freeform 3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0" name="Freeform 3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1" name="Freeform 3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2" name="Freeform 3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3" name="Freeform 3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4" name="Freeform 3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435" name="Group 3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9442" name="Freeform 3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43" name="Freeform 3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44" name="Freeform 3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45" name="Freeform 3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46" name="Freeform 3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47" name="Freeform 3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436" name="Freeform 3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7" name="Freeform 3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8" name="Freeform 3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39" name="Freeform 3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40" name="Freeform 3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41" name="Freeform 3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415" name="Group 237"/>
            <p:cNvGrpSpPr>
              <a:grpSpLocks/>
            </p:cNvGrpSpPr>
            <p:nvPr/>
          </p:nvGrpSpPr>
          <p:grpSpPr bwMode="auto">
            <a:xfrm>
              <a:off x="4377" y="3439"/>
              <a:ext cx="246" cy="107"/>
              <a:chOff x="4650" y="1129"/>
              <a:chExt cx="246" cy="95"/>
            </a:xfrm>
          </p:grpSpPr>
          <p:sp>
            <p:nvSpPr>
              <p:cNvPr id="5941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41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41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9420" name="Group 24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59423" name="Freeform 2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24" name="Freeform 2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421" name="Line 24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22" name="Line 24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416" name="Line 444"/>
            <p:cNvSpPr>
              <a:spLocks noChangeShapeType="1"/>
            </p:cNvSpPr>
            <p:nvPr/>
          </p:nvSpPr>
          <p:spPr bwMode="auto">
            <a:xfrm>
              <a:off x="4514" y="3542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406" name="Text Box 446"/>
          <p:cNvSpPr txBox="1">
            <a:spLocks noChangeArrowheads="1"/>
          </p:cNvSpPr>
          <p:nvPr/>
        </p:nvSpPr>
        <p:spPr bwMode="auto">
          <a:xfrm>
            <a:off x="3568700" y="518636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i="1"/>
              <a:t>to Internet</a:t>
            </a:r>
          </a:p>
        </p:txBody>
      </p:sp>
      <p:sp>
        <p:nvSpPr>
          <p:cNvPr id="59407" name="Text Box 447"/>
          <p:cNvSpPr txBox="1">
            <a:spLocks noChangeArrowheads="1"/>
          </p:cNvSpPr>
          <p:nvPr/>
        </p:nvSpPr>
        <p:spPr bwMode="auto">
          <a:xfrm>
            <a:off x="8235950" y="588486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i="1"/>
              <a:t>to Internet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2366" y="377825"/>
            <a:ext cx="7772400" cy="879475"/>
          </a:xfrm>
        </p:spPr>
        <p:txBody>
          <a:bodyPr/>
          <a:lstStyle/>
          <a:p>
            <a:pPr eaLnBrk="1" hangingPunct="1"/>
            <a:r>
              <a:rPr lang="en-US" altLang="en-US" sz="4000" b="1" dirty="0" smtClean="0"/>
              <a:t>Physical media</a:t>
            </a:r>
            <a:endParaRPr lang="en-US" altLang="en-US" b="1" dirty="0" smtClean="0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89611" y="1482725"/>
            <a:ext cx="8765178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CC0000"/>
                </a:solidFill>
              </a:rPr>
              <a:t>bit: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propagates </a:t>
            </a:r>
            <a:r>
              <a:rPr lang="en-US" altLang="en-US" sz="2400" dirty="0" smtClean="0"/>
              <a:t>between transmitter/receiver </a:t>
            </a:r>
            <a:r>
              <a:rPr lang="en-US" altLang="en-US" sz="2400" dirty="0"/>
              <a:t>pairs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CC0000"/>
                </a:solidFill>
              </a:rPr>
              <a:t>physical link:</a:t>
            </a:r>
            <a:r>
              <a:rPr lang="en-US" altLang="en-US" sz="2400" dirty="0"/>
              <a:t> what lies between transmitter &amp; receiver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CC0000"/>
                </a:solidFill>
              </a:rPr>
              <a:t>guided media: </a:t>
            </a:r>
          </a:p>
          <a:p>
            <a:pPr lvl="1" eaLnBrk="1" hangingPunct="1"/>
            <a:r>
              <a:rPr lang="en-US" altLang="en-US" dirty="0" smtClean="0">
                <a:ea typeface="Arial" panose="020B0604020202020204" pitchFamily="34" charset="0"/>
              </a:rPr>
              <a:t>signals propagate in solid media: copper, fiber, </a:t>
            </a:r>
            <a:r>
              <a:rPr lang="en-US" altLang="en-US" dirty="0" smtClean="0">
                <a:ea typeface="Arial" panose="020B0604020202020204" pitchFamily="34" charset="0"/>
              </a:rPr>
              <a:t>coax</a:t>
            </a:r>
            <a:endParaRPr lang="en-US" altLang="en-US" dirty="0" smtClean="0">
              <a:ea typeface="Arial" panose="020B0604020202020204" pitchFamily="34" charset="0"/>
            </a:endParaRP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CC0000"/>
                </a:solidFill>
              </a:rPr>
              <a:t>unguided media:</a:t>
            </a:r>
            <a:r>
              <a:rPr lang="en-US" altLang="en-US" sz="2400" dirty="0"/>
              <a:t> </a:t>
            </a:r>
          </a:p>
          <a:p>
            <a:pPr lvl="1" eaLnBrk="1" hangingPunct="1"/>
            <a:r>
              <a:rPr lang="en-US" altLang="en-US" dirty="0" smtClean="0">
                <a:ea typeface="Arial" panose="020B0604020202020204" pitchFamily="34" charset="0"/>
              </a:rPr>
              <a:t>signals propagate freely, e.g., radio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6" descr="f-pi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929" y="4977403"/>
            <a:ext cx="23717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233362"/>
            <a:ext cx="8382000" cy="8794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Physical </a:t>
            </a:r>
            <a:r>
              <a:rPr lang="en-US" altLang="en-US" sz="3600" b="1" dirty="0" smtClean="0"/>
              <a:t>media</a:t>
            </a:r>
            <a:endParaRPr lang="en-US" altLang="en-US" b="1" dirty="0" smtClean="0"/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954178" y="1389221"/>
            <a:ext cx="3555989" cy="43275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coaxial cable:</a:t>
            </a:r>
            <a:endParaRPr lang="en-US" altLang="en-US" sz="2400" i="1" dirty="0">
              <a:solidFill>
                <a:srgbClr val="CC0000"/>
              </a:solidFill>
            </a:endParaRPr>
          </a:p>
          <a:p>
            <a:pPr eaLnBrk="1" hangingPunct="1">
              <a:buSzPct val="75000"/>
            </a:pPr>
            <a:r>
              <a:rPr lang="en-US" altLang="en-US" sz="2400" dirty="0"/>
              <a:t>two concentric copper </a:t>
            </a:r>
            <a:r>
              <a:rPr lang="en-US" altLang="en-US" sz="2400" dirty="0" smtClean="0"/>
              <a:t>conductors</a:t>
            </a:r>
          </a:p>
          <a:p>
            <a:pPr eaLnBrk="1" hangingPunct="1">
              <a:buSzPct val="75000"/>
            </a:pPr>
            <a:r>
              <a:rPr lang="en-US" altLang="en-US" sz="2400" dirty="0" smtClean="0"/>
              <a:t>Cable TVs</a:t>
            </a:r>
            <a:endParaRPr lang="en-US" altLang="en-US" sz="2400" dirty="0"/>
          </a:p>
        </p:txBody>
      </p:sp>
      <p:pic>
        <p:nvPicPr>
          <p:cNvPr id="64518" name="Picture 4" descr="coa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360" y="3249625"/>
            <a:ext cx="3342972" cy="1450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9" name="Rectangle 5"/>
          <p:cNvSpPr>
            <a:spLocks noChangeArrowheads="1"/>
          </p:cNvSpPr>
          <p:nvPr/>
        </p:nvSpPr>
        <p:spPr bwMode="auto">
          <a:xfrm>
            <a:off x="7603332" y="1389221"/>
            <a:ext cx="4230688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en-US" sz="2800" i="1" dirty="0">
                <a:solidFill>
                  <a:srgbClr val="CC0000"/>
                </a:solidFill>
                <a:latin typeface="Gill Sans MT" panose="020B0502020104020203" pitchFamily="34" charset="0"/>
              </a:rPr>
              <a:t>fiber optic cable:</a:t>
            </a:r>
            <a:endParaRPr lang="en-US" altLang="en-US" i="1" dirty="0">
              <a:solidFill>
                <a:srgbClr val="CC0000"/>
              </a:solidFill>
              <a:latin typeface="Gill Sans MT" panose="020B0502020104020203" pitchFamily="34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glass fiber carrying light pulses, each pulse a bit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high-speed operation: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Gill Sans MT" panose="020B0502020104020203" pitchFamily="34" charset="0"/>
              </a:rPr>
              <a:t>high-speed point-to-point transmission (e.g., 10</a:t>
            </a:r>
            <a:r>
              <a:rPr lang="ja-JP" altLang="en-US" sz="2000" dirty="0">
                <a:latin typeface="Gill Sans MT" panose="020B0502020104020203" pitchFamily="34" charset="0"/>
              </a:rPr>
              <a:t>’</a:t>
            </a:r>
            <a:r>
              <a:rPr lang="en-US" altLang="ja-JP" sz="2000" dirty="0">
                <a:latin typeface="Gill Sans MT" panose="020B0502020104020203" pitchFamily="34" charset="0"/>
              </a:rPr>
              <a:t>s-100</a:t>
            </a:r>
            <a:r>
              <a:rPr lang="ja-JP" altLang="en-US" sz="2000" dirty="0">
                <a:latin typeface="Gill Sans MT" panose="020B0502020104020203" pitchFamily="34" charset="0"/>
              </a:rPr>
              <a:t>’</a:t>
            </a:r>
            <a:r>
              <a:rPr lang="en-US" altLang="ja-JP" sz="2000" dirty="0">
                <a:latin typeface="Gill Sans MT" panose="020B0502020104020203" pitchFamily="34" charset="0"/>
              </a:rPr>
              <a:t>s </a:t>
            </a:r>
            <a:r>
              <a:rPr lang="en-US" altLang="ja-JP" sz="2000" dirty="0" err="1">
                <a:latin typeface="Gill Sans MT" panose="020B0502020104020203" pitchFamily="34" charset="0"/>
              </a:rPr>
              <a:t>Gpbs</a:t>
            </a:r>
            <a:r>
              <a:rPr lang="en-US" altLang="ja-JP" sz="2000" dirty="0">
                <a:latin typeface="Gill Sans MT" panose="020B0502020104020203" pitchFamily="34" charset="0"/>
              </a:rPr>
              <a:t> transmission rate)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low error rate: 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Gill Sans MT" panose="020B0502020104020203" pitchFamily="34" charset="0"/>
              </a:rPr>
              <a:t>repeaters spaced far apart 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Gill Sans MT" panose="020B0502020104020203" pitchFamily="34" charset="0"/>
              </a:rPr>
              <a:t>immune to electromagnetic noise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248194" y="1576400"/>
            <a:ext cx="3705984" cy="3346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 smtClean="0">
                <a:solidFill>
                  <a:srgbClr val="CC0000"/>
                </a:solidFill>
              </a:rPr>
              <a:t>twisted pair (TP</a:t>
            </a:r>
            <a:r>
              <a:rPr lang="en-US" altLang="en-US" sz="2400" i="1" dirty="0" smtClean="0">
                <a:solidFill>
                  <a:srgbClr val="FF0000"/>
                </a:solidFill>
              </a:rPr>
              <a:t>)</a:t>
            </a:r>
            <a:endParaRPr lang="en-US" altLang="en-US" sz="2400" i="1" dirty="0" smtClean="0"/>
          </a:p>
          <a:p>
            <a:pPr>
              <a:buSzPct val="75000"/>
            </a:pPr>
            <a:r>
              <a:rPr lang="en-US" altLang="en-US" sz="2400" dirty="0" smtClean="0"/>
              <a:t>4 pairs of insulated copper wires</a:t>
            </a:r>
          </a:p>
          <a:p>
            <a:pPr>
              <a:buSzPct val="75000"/>
            </a:pPr>
            <a:r>
              <a:rPr lang="en-US" altLang="en-US" sz="2400" dirty="0" smtClean="0"/>
              <a:t>Each pair twisted</a:t>
            </a:r>
          </a:p>
          <a:p>
            <a:pPr lvl="1">
              <a:buSzPct val="75000"/>
            </a:pPr>
            <a:r>
              <a:rPr lang="en-US" altLang="en-US" sz="2000" dirty="0" smtClean="0">
                <a:ea typeface="Arial" panose="020B0604020202020204" pitchFamily="34" charset="0"/>
              </a:rPr>
              <a:t>Category 5: 100 Mbps, 1 </a:t>
            </a:r>
            <a:r>
              <a:rPr lang="en-US" altLang="en-US" sz="2000" dirty="0" err="1" smtClean="0">
                <a:ea typeface="Arial" panose="020B0604020202020204" pitchFamily="34" charset="0"/>
              </a:rPr>
              <a:t>Gpbs</a:t>
            </a:r>
            <a:r>
              <a:rPr lang="en-US" altLang="en-US" sz="2000" dirty="0" smtClean="0">
                <a:ea typeface="Arial" panose="020B0604020202020204" pitchFamily="34" charset="0"/>
              </a:rPr>
              <a:t> Ethernet</a:t>
            </a:r>
          </a:p>
          <a:p>
            <a:pPr lvl="1">
              <a:buSzPct val="75000"/>
            </a:pPr>
            <a:r>
              <a:rPr lang="en-US" altLang="en-US" sz="2000" dirty="0" smtClean="0">
                <a:ea typeface="Arial" panose="020B0604020202020204" pitchFamily="34" charset="0"/>
              </a:rPr>
              <a:t>Category 6: 10Gbps</a:t>
            </a:r>
            <a:endParaRPr lang="en-US" altLang="en-US" sz="2000" dirty="0">
              <a:ea typeface="Arial" panose="020B0604020202020204" pitchFamily="34" charset="0"/>
            </a:endParaRP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36" y="5173821"/>
            <a:ext cx="2276475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1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42863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Physical media: </a:t>
            </a:r>
            <a:r>
              <a:rPr lang="en-US" altLang="en-US" sz="3600" b="1" dirty="0" smtClean="0"/>
              <a:t>Unguided</a:t>
            </a:r>
            <a:endParaRPr lang="en-US" altLang="en-US" b="1" dirty="0" smtClean="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7399" y="1138100"/>
            <a:ext cx="8693331" cy="3237957"/>
          </a:xfrm>
        </p:spPr>
        <p:txBody>
          <a:bodyPr>
            <a:normAutofit/>
          </a:bodyPr>
          <a:lstStyle/>
          <a:p>
            <a:pPr eaLnBrk="1" hangingPunct="1">
              <a:buSzPct val="75000"/>
            </a:pPr>
            <a:r>
              <a:rPr lang="en-US" altLang="en-US" sz="2400" dirty="0"/>
              <a:t>signal carried in electromagnetic spectrum</a:t>
            </a:r>
          </a:p>
          <a:p>
            <a:pPr eaLnBrk="1" hangingPunct="1">
              <a:buSzPct val="75000"/>
            </a:pPr>
            <a:r>
              <a:rPr lang="en-US" altLang="en-US" sz="2400" dirty="0"/>
              <a:t>no physical </a:t>
            </a:r>
            <a:r>
              <a:rPr lang="ja-JP" altLang="en-US" sz="2400" dirty="0"/>
              <a:t>“</a:t>
            </a:r>
            <a:r>
              <a:rPr lang="en-US" altLang="ja-JP" sz="2400" dirty="0"/>
              <a:t>wire</a:t>
            </a:r>
            <a:r>
              <a:rPr lang="ja-JP" altLang="en-US" sz="2400" dirty="0"/>
              <a:t>”</a:t>
            </a:r>
            <a:endParaRPr lang="en-US" altLang="ja-JP" sz="2400" dirty="0"/>
          </a:p>
          <a:p>
            <a:pPr eaLnBrk="1" hangingPunct="1">
              <a:buSzPct val="75000"/>
            </a:pPr>
            <a:r>
              <a:rPr lang="en-US" altLang="en-US" sz="2400" dirty="0" smtClean="0"/>
              <a:t>Bidirectional</a:t>
            </a:r>
          </a:p>
          <a:p>
            <a:pPr eaLnBrk="1" hangingPunct="1">
              <a:buSzPct val="75000"/>
            </a:pPr>
            <a:r>
              <a:rPr lang="en-US" altLang="en-US" sz="2400" dirty="0" smtClean="0"/>
              <a:t>Microwaves</a:t>
            </a:r>
          </a:p>
          <a:p>
            <a:pPr eaLnBrk="1" hangingPunct="1">
              <a:buSzPct val="75000"/>
            </a:pPr>
            <a:r>
              <a:rPr lang="en-US" altLang="en-US" sz="2400" dirty="0" smtClean="0"/>
              <a:t>Radio waves</a:t>
            </a:r>
          </a:p>
          <a:p>
            <a:pPr eaLnBrk="1" hangingPunct="1">
              <a:buSzPct val="75000"/>
            </a:pPr>
            <a:r>
              <a:rPr lang="en-US" altLang="en-US" sz="2400" dirty="0" smtClean="0"/>
              <a:t>Infrared </a:t>
            </a:r>
          </a:p>
          <a:p>
            <a:pPr eaLnBrk="1" hangingPunct="1">
              <a:buSzPct val="75000"/>
            </a:pPr>
            <a:endParaRPr lang="en-US" altLang="en-US" sz="2400" dirty="0"/>
          </a:p>
        </p:txBody>
      </p:sp>
      <p:sp>
        <p:nvSpPr>
          <p:cNvPr id="66565" name="Rectangle 4"/>
          <p:cNvSpPr>
            <a:spLocks noChangeArrowheads="1"/>
          </p:cNvSpPr>
          <p:nvPr/>
        </p:nvSpPr>
        <p:spPr bwMode="auto">
          <a:xfrm>
            <a:off x="2213066" y="5418365"/>
            <a:ext cx="44577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en-US" altLang="en-US" sz="2000" dirty="0">
              <a:latin typeface="Gill Sans MT" panose="020B050202010402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0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sp>
        <p:nvSpPr>
          <p:cNvPr id="86019" name="Rectangle 3"/>
          <p:cNvSpPr txBox="1">
            <a:spLocks noChangeArrowheads="1"/>
          </p:cNvSpPr>
          <p:nvPr/>
        </p:nvSpPr>
        <p:spPr bwMode="auto">
          <a:xfrm>
            <a:off x="822960" y="1263650"/>
            <a:ext cx="9757954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End systems connect to Internet via </a:t>
            </a:r>
            <a:r>
              <a:rPr lang="en-US" altLang="en-US" dirty="0">
                <a:solidFill>
                  <a:srgbClr val="C00000"/>
                </a:solidFill>
                <a:latin typeface="Gill Sans MT" panose="020B0502020104020203" pitchFamily="34" charset="0"/>
              </a:rPr>
              <a:t>access ISPs </a:t>
            </a:r>
            <a:r>
              <a:rPr lang="en-US" altLang="en-US" dirty="0">
                <a:latin typeface="Gill Sans MT" panose="020B0502020104020203" pitchFamily="34" charset="0"/>
              </a:rPr>
              <a:t>(Internet Service Providers)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Gill Sans MT" panose="020B0502020104020203" pitchFamily="34" charset="0"/>
              </a:rPr>
              <a:t>Residential, company and university ISPs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Access ISPs in turn must be interconnected. 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So that any two hosts can send packets to each other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Resulting network of networks is very complex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Evolution was driven by </a:t>
            </a:r>
            <a:r>
              <a:rPr lang="en-US" altLang="en-US" dirty="0">
                <a:solidFill>
                  <a:srgbClr val="C00000"/>
                </a:solidFill>
                <a:latin typeface="Gill Sans MT" panose="020B0502020104020203" pitchFamily="34" charset="0"/>
              </a:rPr>
              <a:t>economics</a:t>
            </a:r>
            <a:r>
              <a:rPr lang="en-US" altLang="en-US" dirty="0">
                <a:latin typeface="Gill Sans MT" panose="020B0502020104020203" pitchFamily="34" charset="0"/>
              </a:rPr>
              <a:t> and </a:t>
            </a:r>
            <a:r>
              <a:rPr lang="en-US" altLang="en-US" dirty="0">
                <a:solidFill>
                  <a:srgbClr val="C00000"/>
                </a:solidFill>
                <a:latin typeface="Gill Sans MT" panose="020B0502020104020203" pitchFamily="34" charset="0"/>
              </a:rPr>
              <a:t>national policies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dirty="0">
                <a:latin typeface="Gill Sans MT" panose="020B0502020104020203" pitchFamily="34" charset="0"/>
              </a:rPr>
              <a:t>Let</a:t>
            </a:r>
            <a:r>
              <a:rPr lang="ja-JP" altLang="en-US" dirty="0">
                <a:latin typeface="Gill Sans MT" panose="020B0502020104020203" pitchFamily="34" charset="0"/>
              </a:rPr>
              <a:t>’</a:t>
            </a:r>
            <a:r>
              <a:rPr lang="en-US" altLang="ja-JP" dirty="0">
                <a:latin typeface="Gill Sans MT" panose="020B0502020104020203" pitchFamily="34" charset="0"/>
              </a:rPr>
              <a:t>s take a stepwise approach to describe current Internet structure</a:t>
            </a:r>
            <a:endParaRPr lang="en-US" altLang="en-US" dirty="0">
              <a:latin typeface="Gill Sans MT" panose="020B050202010402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0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97075" y="1073150"/>
            <a:ext cx="8204200" cy="673100"/>
          </a:xfrm>
        </p:spPr>
        <p:txBody>
          <a:bodyPr/>
          <a:lstStyle/>
          <a:p>
            <a:pPr marL="0" indent="0">
              <a:buSzPct val="75000"/>
              <a:buNone/>
            </a:pPr>
            <a:r>
              <a:rPr lang="en-US" altLang="en-US" sz="2400" i="1" dirty="0">
                <a:solidFill>
                  <a:srgbClr val="CC0000"/>
                </a:solidFill>
              </a:rPr>
              <a:t>Option: </a:t>
            </a:r>
            <a:r>
              <a:rPr lang="en-US" altLang="en-US" sz="2400" i="1" dirty="0"/>
              <a:t>connect each access ISP to every other access ISP? </a:t>
            </a:r>
          </a:p>
          <a:p>
            <a:pPr marL="0" indent="0">
              <a:buSzPct val="75000"/>
              <a:buNone/>
            </a:pPr>
            <a:endParaRPr lang="en-US" altLang="en-US" sz="2400" dirty="0"/>
          </a:p>
        </p:txBody>
      </p:sp>
      <p:grpSp>
        <p:nvGrpSpPr>
          <p:cNvPr id="90116" name="Group 5"/>
          <p:cNvGrpSpPr>
            <a:grpSpLocks/>
          </p:cNvGrpSpPr>
          <p:nvPr/>
        </p:nvGrpSpPr>
        <p:grpSpPr bwMode="auto">
          <a:xfrm>
            <a:off x="1974851" y="1849438"/>
            <a:ext cx="8437563" cy="4559300"/>
            <a:chOff x="154891" y="1905681"/>
            <a:chExt cx="8436427" cy="4559651"/>
          </a:xfrm>
        </p:grpSpPr>
        <p:grpSp>
          <p:nvGrpSpPr>
            <p:cNvPr id="90171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9022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4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2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9022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2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3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9021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0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4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9021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8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5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9021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6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6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9021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4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7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9021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2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8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9020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0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79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9020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8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80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9020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6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81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9020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4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82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9020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2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83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9019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0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84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9019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98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85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9019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96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0186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9019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94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sp>
          <p:nvSpPr>
            <p:cNvPr id="90187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0188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0189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0190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0191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0192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grpSp>
        <p:nvGrpSpPr>
          <p:cNvPr id="19" name="Group 25"/>
          <p:cNvGrpSpPr>
            <a:grpSpLocks/>
          </p:cNvGrpSpPr>
          <p:nvPr/>
        </p:nvGrpSpPr>
        <p:grpSpPr bwMode="auto">
          <a:xfrm>
            <a:off x="2432050" y="2281239"/>
            <a:ext cx="7361238" cy="3768725"/>
            <a:chOff x="888125" y="2295063"/>
            <a:chExt cx="7361771" cy="3769689"/>
          </a:xfrm>
        </p:grpSpPr>
        <p:cxnSp>
          <p:nvCxnSpPr>
            <p:cNvPr id="90151" name="Straight Connector 7"/>
            <p:cNvCxnSpPr>
              <a:cxnSpLocks noChangeShapeType="1"/>
              <a:stCxn id="90217" idx="0"/>
            </p:cNvCxnSpPr>
            <p:nvPr/>
          </p:nvCxnSpPr>
          <p:spPr bwMode="auto">
            <a:xfrm flipV="1">
              <a:off x="1661409" y="2570969"/>
              <a:ext cx="577293" cy="2802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2" name="Straight Connector 188"/>
            <p:cNvCxnSpPr>
              <a:cxnSpLocks noChangeShapeType="1"/>
              <a:stCxn id="90217" idx="0"/>
            </p:cNvCxnSpPr>
            <p:nvPr/>
          </p:nvCxnSpPr>
          <p:spPr bwMode="auto">
            <a:xfrm flipH="1" flipV="1">
              <a:off x="1509155" y="3032403"/>
              <a:ext cx="171469" cy="2327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3" name="Straight Connector 190"/>
            <p:cNvCxnSpPr>
              <a:cxnSpLocks noChangeShapeType="1"/>
              <a:stCxn id="90217" idx="0"/>
            </p:cNvCxnSpPr>
            <p:nvPr/>
          </p:nvCxnSpPr>
          <p:spPr bwMode="auto">
            <a:xfrm flipH="1" flipV="1">
              <a:off x="1185287" y="3451504"/>
              <a:ext cx="495337" cy="1908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4" name="Straight Connector 192"/>
            <p:cNvCxnSpPr>
              <a:cxnSpLocks noChangeShapeType="1"/>
              <a:stCxn id="90217" idx="0"/>
            </p:cNvCxnSpPr>
            <p:nvPr/>
          </p:nvCxnSpPr>
          <p:spPr bwMode="auto">
            <a:xfrm flipH="1" flipV="1">
              <a:off x="1181567" y="4298698"/>
              <a:ext cx="499057" cy="1060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5" name="Straight Connector 195"/>
            <p:cNvCxnSpPr>
              <a:cxnSpLocks noChangeShapeType="1"/>
              <a:stCxn id="90217" idx="0"/>
            </p:cNvCxnSpPr>
            <p:nvPr/>
          </p:nvCxnSpPr>
          <p:spPr bwMode="auto">
            <a:xfrm flipH="1" flipV="1">
              <a:off x="1386886" y="4980292"/>
              <a:ext cx="293738" cy="379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6" name="Straight Connector 197"/>
            <p:cNvCxnSpPr>
              <a:cxnSpLocks noChangeShapeType="1"/>
              <a:endCxn id="90217" idx="0"/>
            </p:cNvCxnSpPr>
            <p:nvPr/>
          </p:nvCxnSpPr>
          <p:spPr bwMode="auto">
            <a:xfrm flipH="1" flipV="1">
              <a:off x="1661409" y="5373637"/>
              <a:ext cx="1526432" cy="593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7" name="Straight Connector 199"/>
            <p:cNvCxnSpPr>
              <a:cxnSpLocks noChangeShapeType="1"/>
              <a:endCxn id="90217" idx="0"/>
            </p:cNvCxnSpPr>
            <p:nvPr/>
          </p:nvCxnSpPr>
          <p:spPr bwMode="auto">
            <a:xfrm flipH="1" flipV="1">
              <a:off x="1680624" y="5359527"/>
              <a:ext cx="2723702" cy="703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8" name="Straight Connector 201"/>
            <p:cNvCxnSpPr>
              <a:cxnSpLocks noChangeShapeType="1"/>
              <a:endCxn id="90217" idx="0"/>
            </p:cNvCxnSpPr>
            <p:nvPr/>
          </p:nvCxnSpPr>
          <p:spPr bwMode="auto">
            <a:xfrm flipH="1" flipV="1">
              <a:off x="1680624" y="5359527"/>
              <a:ext cx="3605885" cy="619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9" name="Straight Connector 203"/>
            <p:cNvCxnSpPr>
              <a:cxnSpLocks noChangeShapeType="1"/>
              <a:endCxn id="90217" idx="0"/>
            </p:cNvCxnSpPr>
            <p:nvPr/>
          </p:nvCxnSpPr>
          <p:spPr bwMode="auto">
            <a:xfrm flipH="1">
              <a:off x="1680624" y="5184745"/>
              <a:ext cx="6569272" cy="1747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60" name="Straight Connector 204"/>
            <p:cNvCxnSpPr>
              <a:cxnSpLocks noChangeShapeType="1"/>
              <a:endCxn id="90217" idx="0"/>
            </p:cNvCxnSpPr>
            <p:nvPr/>
          </p:nvCxnSpPr>
          <p:spPr bwMode="auto">
            <a:xfrm flipH="1" flipV="1">
              <a:off x="1680624" y="5359527"/>
              <a:ext cx="5742435" cy="486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61" name="Straight Connector 207"/>
            <p:cNvCxnSpPr>
              <a:cxnSpLocks noChangeShapeType="1"/>
              <a:endCxn id="90217" idx="0"/>
            </p:cNvCxnSpPr>
            <p:nvPr/>
          </p:nvCxnSpPr>
          <p:spPr bwMode="auto">
            <a:xfrm flipH="1">
              <a:off x="1680624" y="4311835"/>
              <a:ext cx="6338019" cy="1047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62" name="Straight Connector 209"/>
            <p:cNvCxnSpPr>
              <a:cxnSpLocks noChangeShapeType="1"/>
              <a:endCxn id="90217" idx="0"/>
            </p:cNvCxnSpPr>
            <p:nvPr/>
          </p:nvCxnSpPr>
          <p:spPr bwMode="auto">
            <a:xfrm flipH="1">
              <a:off x="1680624" y="3273553"/>
              <a:ext cx="5749312" cy="2085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63" name="Straight Connector 211"/>
            <p:cNvCxnSpPr>
              <a:cxnSpLocks noChangeShapeType="1"/>
              <a:endCxn id="90217" idx="0"/>
            </p:cNvCxnSpPr>
            <p:nvPr/>
          </p:nvCxnSpPr>
          <p:spPr bwMode="auto">
            <a:xfrm flipH="1">
              <a:off x="1680624" y="2784308"/>
              <a:ext cx="4942318" cy="2575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64" name="Straight Connector 213"/>
            <p:cNvCxnSpPr>
              <a:cxnSpLocks noChangeShapeType="1"/>
              <a:endCxn id="90217" idx="0"/>
            </p:cNvCxnSpPr>
            <p:nvPr/>
          </p:nvCxnSpPr>
          <p:spPr bwMode="auto">
            <a:xfrm flipH="1">
              <a:off x="1680624" y="2295063"/>
              <a:ext cx="2971398" cy="3064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65" name="Straight Connector 215"/>
            <p:cNvCxnSpPr>
              <a:cxnSpLocks noChangeShapeType="1"/>
              <a:endCxn id="90217" idx="0"/>
            </p:cNvCxnSpPr>
            <p:nvPr/>
          </p:nvCxnSpPr>
          <p:spPr bwMode="auto">
            <a:xfrm flipH="1">
              <a:off x="1680624" y="2295321"/>
              <a:ext cx="2025496" cy="3064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0166" name="TextBox 24"/>
            <p:cNvSpPr txBox="1">
              <a:spLocks noChangeArrowheads="1"/>
            </p:cNvSpPr>
            <p:nvPr/>
          </p:nvSpPr>
          <p:spPr bwMode="auto"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/>
                <a:t>…</a:t>
              </a:r>
            </a:p>
          </p:txBody>
        </p:sp>
        <p:sp>
          <p:nvSpPr>
            <p:cNvPr id="90167" name="TextBox 218"/>
            <p:cNvSpPr txBox="1">
              <a:spLocks noChangeArrowheads="1"/>
            </p:cNvSpPr>
            <p:nvPr/>
          </p:nvSpPr>
          <p:spPr bwMode="auto"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/>
                <a:t>…</a:t>
              </a:r>
            </a:p>
          </p:txBody>
        </p:sp>
        <p:sp>
          <p:nvSpPr>
            <p:cNvPr id="90168" name="TextBox 219"/>
            <p:cNvSpPr txBox="1">
              <a:spLocks noChangeArrowheads="1"/>
            </p:cNvSpPr>
            <p:nvPr/>
          </p:nvSpPr>
          <p:spPr bwMode="auto"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…</a:t>
              </a:r>
            </a:p>
          </p:txBody>
        </p:sp>
        <p:sp>
          <p:nvSpPr>
            <p:cNvPr id="90169" name="TextBox 220"/>
            <p:cNvSpPr txBox="1">
              <a:spLocks noChangeArrowheads="1"/>
            </p:cNvSpPr>
            <p:nvPr/>
          </p:nvSpPr>
          <p:spPr bwMode="auto"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…</a:t>
              </a:r>
            </a:p>
          </p:txBody>
        </p:sp>
        <p:sp>
          <p:nvSpPr>
            <p:cNvPr id="90170" name="TextBox 221"/>
            <p:cNvSpPr txBox="1">
              <a:spLocks noChangeArrowheads="1"/>
            </p:cNvSpPr>
            <p:nvPr/>
          </p:nvSpPr>
          <p:spPr bwMode="auto"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…</a:t>
              </a:r>
            </a:p>
          </p:txBody>
        </p:sp>
      </p:grpSp>
      <p:grpSp>
        <p:nvGrpSpPr>
          <p:cNvPr id="20" name="Group 223"/>
          <p:cNvGrpSpPr>
            <a:grpSpLocks/>
          </p:cNvGrpSpPr>
          <p:nvPr/>
        </p:nvGrpSpPr>
        <p:grpSpPr bwMode="auto">
          <a:xfrm>
            <a:off x="2682875" y="2305050"/>
            <a:ext cx="7094538" cy="3695700"/>
            <a:chOff x="862570" y="2361120"/>
            <a:chExt cx="7094553" cy="3695520"/>
          </a:xfrm>
        </p:grpSpPr>
        <p:cxnSp>
          <p:nvCxnSpPr>
            <p:cNvPr id="90136" name="Straight Connector 224"/>
            <p:cNvCxnSpPr>
              <a:cxnSpLocks noChangeShapeType="1"/>
            </p:cNvCxnSpPr>
            <p:nvPr/>
          </p:nvCxnSpPr>
          <p:spPr bwMode="auto">
            <a:xfrm flipH="1">
              <a:off x="1446332" y="2897188"/>
              <a:ext cx="4736982" cy="2535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7" name="Straight Connector 225"/>
            <p:cNvCxnSpPr>
              <a:cxnSpLocks noChangeShapeType="1"/>
            </p:cNvCxnSpPr>
            <p:nvPr/>
          </p:nvCxnSpPr>
          <p:spPr bwMode="auto">
            <a:xfrm flipH="1">
              <a:off x="2972043" y="2885760"/>
              <a:ext cx="3213953" cy="304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8" name="Straight Connector 226"/>
            <p:cNvCxnSpPr>
              <a:cxnSpLocks noChangeShapeType="1"/>
            </p:cNvCxnSpPr>
            <p:nvPr/>
          </p:nvCxnSpPr>
          <p:spPr bwMode="auto">
            <a:xfrm flipH="1">
              <a:off x="4328465" y="2877120"/>
              <a:ext cx="1866171" cy="3179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9" name="Straight Connector 227"/>
            <p:cNvCxnSpPr>
              <a:cxnSpLocks noChangeShapeType="1"/>
            </p:cNvCxnSpPr>
            <p:nvPr/>
          </p:nvCxnSpPr>
          <p:spPr bwMode="auto">
            <a:xfrm flipH="1">
              <a:off x="5270184" y="2877120"/>
              <a:ext cx="915812" cy="3058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0" name="Straight Connector 228"/>
            <p:cNvCxnSpPr>
              <a:cxnSpLocks noChangeShapeType="1"/>
            </p:cNvCxnSpPr>
            <p:nvPr/>
          </p:nvCxnSpPr>
          <p:spPr bwMode="auto">
            <a:xfrm>
              <a:off x="6167438" y="2901156"/>
              <a:ext cx="1141702" cy="2801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1" name="Straight Connector 229"/>
            <p:cNvCxnSpPr>
              <a:cxnSpLocks noChangeShapeType="1"/>
            </p:cNvCxnSpPr>
            <p:nvPr/>
          </p:nvCxnSpPr>
          <p:spPr bwMode="auto">
            <a:xfrm>
              <a:off x="6171406" y="2889250"/>
              <a:ext cx="1785717" cy="2355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2" name="Straight Connector 230"/>
            <p:cNvCxnSpPr>
              <a:cxnSpLocks noChangeShapeType="1"/>
            </p:cNvCxnSpPr>
            <p:nvPr/>
          </p:nvCxnSpPr>
          <p:spPr bwMode="auto">
            <a:xfrm>
              <a:off x="6179344" y="2881313"/>
              <a:ext cx="1587707" cy="1386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3" name="Straight Connector 231"/>
            <p:cNvCxnSpPr>
              <a:cxnSpLocks noChangeShapeType="1"/>
            </p:cNvCxnSpPr>
            <p:nvPr/>
          </p:nvCxnSpPr>
          <p:spPr bwMode="auto">
            <a:xfrm>
              <a:off x="6179344" y="2897188"/>
              <a:ext cx="602786" cy="2909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4" name="Straight Connector 232"/>
            <p:cNvCxnSpPr>
              <a:cxnSpLocks noChangeShapeType="1"/>
            </p:cNvCxnSpPr>
            <p:nvPr/>
          </p:nvCxnSpPr>
          <p:spPr bwMode="auto">
            <a:xfrm>
              <a:off x="4584546" y="2364240"/>
              <a:ext cx="1558252" cy="51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5" name="Straight Connector 233"/>
            <p:cNvCxnSpPr>
              <a:cxnSpLocks noChangeShapeType="1"/>
            </p:cNvCxnSpPr>
            <p:nvPr/>
          </p:nvCxnSpPr>
          <p:spPr bwMode="auto">
            <a:xfrm>
              <a:off x="3691549" y="2361120"/>
              <a:ext cx="2485808" cy="533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6" name="Straight Connector 234"/>
            <p:cNvCxnSpPr>
              <a:cxnSpLocks noChangeShapeType="1"/>
            </p:cNvCxnSpPr>
            <p:nvPr/>
          </p:nvCxnSpPr>
          <p:spPr bwMode="auto">
            <a:xfrm>
              <a:off x="2081460" y="2548080"/>
              <a:ext cx="4078617" cy="33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7" name="Straight Connector 235"/>
            <p:cNvCxnSpPr>
              <a:cxnSpLocks noChangeShapeType="1"/>
            </p:cNvCxnSpPr>
            <p:nvPr/>
          </p:nvCxnSpPr>
          <p:spPr bwMode="auto">
            <a:xfrm flipV="1">
              <a:off x="1309418" y="2903040"/>
              <a:ext cx="4842020" cy="30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8" name="Straight Connector 236"/>
            <p:cNvCxnSpPr>
              <a:cxnSpLocks noChangeShapeType="1"/>
            </p:cNvCxnSpPr>
            <p:nvPr/>
          </p:nvCxnSpPr>
          <p:spPr bwMode="auto">
            <a:xfrm flipV="1">
              <a:off x="934801" y="2894400"/>
              <a:ext cx="5242556" cy="377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49" name="Straight Connector 237"/>
            <p:cNvCxnSpPr>
              <a:cxnSpLocks noChangeShapeType="1"/>
            </p:cNvCxnSpPr>
            <p:nvPr/>
          </p:nvCxnSpPr>
          <p:spPr bwMode="auto">
            <a:xfrm flipV="1">
              <a:off x="862570" y="2901156"/>
              <a:ext cx="5296930" cy="13866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50" name="Straight Connector 238"/>
            <p:cNvCxnSpPr>
              <a:cxnSpLocks noChangeShapeType="1"/>
            </p:cNvCxnSpPr>
            <p:nvPr/>
          </p:nvCxnSpPr>
          <p:spPr bwMode="auto">
            <a:xfrm flipV="1">
              <a:off x="1101367" y="2901156"/>
              <a:ext cx="5077977" cy="2026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239"/>
          <p:cNvGrpSpPr>
            <a:grpSpLocks/>
          </p:cNvGrpSpPr>
          <p:nvPr/>
        </p:nvGrpSpPr>
        <p:grpSpPr bwMode="auto">
          <a:xfrm>
            <a:off x="2619375" y="2195514"/>
            <a:ext cx="7158038" cy="3798887"/>
            <a:chOff x="799176" y="2251902"/>
            <a:chExt cx="7158126" cy="3799069"/>
          </a:xfrm>
        </p:grpSpPr>
        <p:cxnSp>
          <p:nvCxnSpPr>
            <p:cNvPr id="90121" name="Straight Connector 240"/>
            <p:cNvCxnSpPr>
              <a:cxnSpLocks noChangeShapeType="1"/>
            </p:cNvCxnSpPr>
            <p:nvPr/>
          </p:nvCxnSpPr>
          <p:spPr bwMode="auto">
            <a:xfrm>
              <a:off x="2012365" y="2732956"/>
              <a:ext cx="3121627" cy="3204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2" name="Straight Connector 241"/>
            <p:cNvCxnSpPr>
              <a:cxnSpLocks noChangeShapeType="1"/>
            </p:cNvCxnSpPr>
            <p:nvPr/>
          </p:nvCxnSpPr>
          <p:spPr bwMode="auto">
            <a:xfrm>
              <a:off x="2009682" y="2721528"/>
              <a:ext cx="2384511" cy="3329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3" name="Straight Connector 242"/>
            <p:cNvCxnSpPr>
              <a:cxnSpLocks noChangeShapeType="1"/>
            </p:cNvCxnSpPr>
            <p:nvPr/>
          </p:nvCxnSpPr>
          <p:spPr bwMode="auto">
            <a:xfrm>
              <a:off x="2001042" y="2712888"/>
              <a:ext cx="1091382" cy="3197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4" name="Straight Connector 243"/>
            <p:cNvCxnSpPr>
              <a:cxnSpLocks noChangeShapeType="1"/>
            </p:cNvCxnSpPr>
            <p:nvPr/>
          </p:nvCxnSpPr>
          <p:spPr bwMode="auto">
            <a:xfrm flipH="1">
              <a:off x="1471306" y="2712888"/>
              <a:ext cx="538376" cy="269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5" name="Straight Connector 244"/>
            <p:cNvCxnSpPr>
              <a:cxnSpLocks noChangeShapeType="1"/>
            </p:cNvCxnSpPr>
            <p:nvPr/>
          </p:nvCxnSpPr>
          <p:spPr bwMode="auto">
            <a:xfrm flipH="1">
              <a:off x="1007181" y="2736924"/>
              <a:ext cx="1021059" cy="2069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6" name="Straight Connector 245"/>
            <p:cNvCxnSpPr>
              <a:cxnSpLocks noChangeShapeType="1"/>
            </p:cNvCxnSpPr>
            <p:nvPr/>
          </p:nvCxnSpPr>
          <p:spPr bwMode="auto">
            <a:xfrm flipH="1">
              <a:off x="799176" y="2725018"/>
              <a:ext cx="1225097" cy="1413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7" name="Straight Connector 246"/>
            <p:cNvCxnSpPr>
              <a:cxnSpLocks noChangeShapeType="1"/>
            </p:cNvCxnSpPr>
            <p:nvPr/>
          </p:nvCxnSpPr>
          <p:spPr bwMode="auto">
            <a:xfrm flipH="1">
              <a:off x="932218" y="2704755"/>
              <a:ext cx="1107153" cy="588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8" name="Straight Connector 247"/>
            <p:cNvCxnSpPr>
              <a:cxnSpLocks noChangeShapeType="1"/>
            </p:cNvCxnSpPr>
            <p:nvPr/>
          </p:nvCxnSpPr>
          <p:spPr bwMode="auto">
            <a:xfrm flipH="1">
              <a:off x="1293642" y="2704755"/>
              <a:ext cx="745729" cy="216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29" name="Straight Connector 248"/>
            <p:cNvCxnSpPr>
              <a:cxnSpLocks noChangeShapeType="1"/>
            </p:cNvCxnSpPr>
            <p:nvPr/>
          </p:nvCxnSpPr>
          <p:spPr bwMode="auto">
            <a:xfrm flipH="1">
              <a:off x="2052880" y="2251902"/>
              <a:ext cx="1141349" cy="460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0" name="Straight Connector 249"/>
            <p:cNvCxnSpPr>
              <a:cxnSpLocks noChangeShapeType="1"/>
            </p:cNvCxnSpPr>
            <p:nvPr/>
          </p:nvCxnSpPr>
          <p:spPr bwMode="auto">
            <a:xfrm flipH="1">
              <a:off x="2018321" y="2332076"/>
              <a:ext cx="2284094" cy="398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1" name="Straight Connector 250"/>
            <p:cNvCxnSpPr>
              <a:cxnSpLocks noChangeShapeType="1"/>
            </p:cNvCxnSpPr>
            <p:nvPr/>
          </p:nvCxnSpPr>
          <p:spPr bwMode="auto">
            <a:xfrm flipH="1" flipV="1">
              <a:off x="2035602" y="2721528"/>
              <a:ext cx="4016700" cy="14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2" name="Straight Connector 251"/>
            <p:cNvCxnSpPr>
              <a:cxnSpLocks noChangeShapeType="1"/>
            </p:cNvCxnSpPr>
            <p:nvPr/>
          </p:nvCxnSpPr>
          <p:spPr bwMode="auto">
            <a:xfrm flipH="1" flipV="1">
              <a:off x="2044240" y="2738808"/>
              <a:ext cx="4755057" cy="529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3" name="Straight Connector 252"/>
            <p:cNvCxnSpPr>
              <a:cxnSpLocks noChangeShapeType="1"/>
            </p:cNvCxnSpPr>
            <p:nvPr/>
          </p:nvCxnSpPr>
          <p:spPr bwMode="auto">
            <a:xfrm flipH="1" flipV="1">
              <a:off x="2018321" y="2730168"/>
              <a:ext cx="5710381" cy="15549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4" name="Straight Connector 253"/>
            <p:cNvCxnSpPr>
              <a:cxnSpLocks noChangeShapeType="1"/>
            </p:cNvCxnSpPr>
            <p:nvPr/>
          </p:nvCxnSpPr>
          <p:spPr bwMode="auto">
            <a:xfrm flipH="1" flipV="1">
              <a:off x="2036178" y="2736924"/>
              <a:ext cx="5921124" cy="2462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135" name="Straight Connector 254"/>
            <p:cNvCxnSpPr>
              <a:cxnSpLocks noChangeShapeType="1"/>
            </p:cNvCxnSpPr>
            <p:nvPr/>
          </p:nvCxnSpPr>
          <p:spPr bwMode="auto">
            <a:xfrm flipH="1" flipV="1">
              <a:off x="2016335" y="2736924"/>
              <a:ext cx="5165304" cy="3000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021139" y="3403600"/>
            <a:ext cx="4268787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/>
              <a:t>connecting each access ISP to each other directly </a:t>
            </a:r>
            <a:r>
              <a:rPr lang="en-US" altLang="en-US" i="1">
                <a:solidFill>
                  <a:srgbClr val="CC0000"/>
                </a:solidFill>
              </a:rPr>
              <a:t>doesn’t scale: </a:t>
            </a:r>
            <a:r>
              <a:rPr lang="en-US" altLang="en-US"/>
              <a:t>O(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) connections.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1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grpSp>
        <p:nvGrpSpPr>
          <p:cNvPr id="92163" name="Group 5"/>
          <p:cNvGrpSpPr>
            <a:grpSpLocks/>
          </p:cNvGrpSpPr>
          <p:nvPr/>
        </p:nvGrpSpPr>
        <p:grpSpPr bwMode="auto">
          <a:xfrm>
            <a:off x="1974851" y="1849438"/>
            <a:ext cx="8437563" cy="4559300"/>
            <a:chOff x="154891" y="1905681"/>
            <a:chExt cx="8436427" cy="4559651"/>
          </a:xfrm>
        </p:grpSpPr>
        <p:grpSp>
          <p:nvGrpSpPr>
            <p:cNvPr id="92263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9231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6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64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9231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4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65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9231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2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66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9230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0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67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9230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8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68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9230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6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69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9230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4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0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9230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2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1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9229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0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2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9229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8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3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9229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6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4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9229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4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5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9229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2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6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9228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0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7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9228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88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2278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9228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86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sp>
          <p:nvSpPr>
            <p:cNvPr id="92279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2280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2281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2282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2283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2284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92164" name="Rectangle 3"/>
          <p:cNvSpPr txBox="1">
            <a:spLocks noChangeArrowheads="1"/>
          </p:cNvSpPr>
          <p:nvPr/>
        </p:nvSpPr>
        <p:spPr bwMode="auto">
          <a:xfrm>
            <a:off x="1997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  <a:latin typeface="Gill Sans MT" panose="020B0502020104020203" pitchFamily="34" charset="0"/>
              </a:rPr>
              <a:t>Option: </a:t>
            </a:r>
            <a:r>
              <a:rPr lang="en-US" altLang="en-US" i="1">
                <a:latin typeface="Gill Sans MT" panose="020B0502020104020203" pitchFamily="34" charset="0"/>
              </a:rPr>
              <a:t>connect each access ISP to a global transit ISP? </a:t>
            </a:r>
            <a:r>
              <a:rPr lang="en-US" altLang="en-US" i="1">
                <a:solidFill>
                  <a:srgbClr val="C00000"/>
                </a:solidFill>
              </a:rPr>
              <a:t>Customer</a:t>
            </a:r>
            <a:r>
              <a:rPr lang="en-US" altLang="en-US" i="1"/>
              <a:t> and </a:t>
            </a:r>
            <a:r>
              <a:rPr lang="en-US" altLang="en-US" i="1">
                <a:solidFill>
                  <a:srgbClr val="C00000"/>
                </a:solidFill>
              </a:rPr>
              <a:t>provider </a:t>
            </a:r>
            <a:r>
              <a:rPr lang="en-US" altLang="en-US" i="1"/>
              <a:t>ISPs have economic agreement.</a:t>
            </a:r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92165" name="Oval 3"/>
          <p:cNvSpPr>
            <a:spLocks noChangeArrowheads="1"/>
          </p:cNvSpPr>
          <p:nvPr/>
        </p:nvSpPr>
        <p:spPr bwMode="auto">
          <a:xfrm>
            <a:off x="4240214" y="3192464"/>
            <a:ext cx="3709987" cy="1862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92166" name="Group 133"/>
          <p:cNvGrpSpPr>
            <a:grpSpLocks/>
          </p:cNvGrpSpPr>
          <p:nvPr/>
        </p:nvGrpSpPr>
        <p:grpSpPr bwMode="auto">
          <a:xfrm>
            <a:off x="4662489" y="4392614"/>
            <a:ext cx="617537" cy="250825"/>
            <a:chOff x="2356" y="1300"/>
            <a:chExt cx="555" cy="194"/>
          </a:xfrm>
        </p:grpSpPr>
        <p:sp>
          <p:nvSpPr>
            <p:cNvPr id="9225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5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5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58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61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62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59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0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167" name="Group 133"/>
          <p:cNvGrpSpPr>
            <a:grpSpLocks/>
          </p:cNvGrpSpPr>
          <p:nvPr/>
        </p:nvGrpSpPr>
        <p:grpSpPr bwMode="auto">
          <a:xfrm>
            <a:off x="5656264" y="3706814"/>
            <a:ext cx="617537" cy="250825"/>
            <a:chOff x="2356" y="1300"/>
            <a:chExt cx="555" cy="194"/>
          </a:xfrm>
        </p:grpSpPr>
        <p:sp>
          <p:nvSpPr>
            <p:cNvPr id="92247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48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49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50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53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54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51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2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168" name="Group 133"/>
          <p:cNvGrpSpPr>
            <a:grpSpLocks/>
          </p:cNvGrpSpPr>
          <p:nvPr/>
        </p:nvGrpSpPr>
        <p:grpSpPr bwMode="auto">
          <a:xfrm>
            <a:off x="6230939" y="4013201"/>
            <a:ext cx="617537" cy="250825"/>
            <a:chOff x="2356" y="1300"/>
            <a:chExt cx="555" cy="194"/>
          </a:xfrm>
        </p:grpSpPr>
        <p:sp>
          <p:nvSpPr>
            <p:cNvPr id="92239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40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41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42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45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46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43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44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169" name="Group 133"/>
          <p:cNvGrpSpPr>
            <a:grpSpLocks/>
          </p:cNvGrpSpPr>
          <p:nvPr/>
        </p:nvGrpSpPr>
        <p:grpSpPr bwMode="auto">
          <a:xfrm>
            <a:off x="6769100" y="3538539"/>
            <a:ext cx="617538" cy="250825"/>
            <a:chOff x="2356" y="1300"/>
            <a:chExt cx="555" cy="194"/>
          </a:xfrm>
        </p:grpSpPr>
        <p:sp>
          <p:nvSpPr>
            <p:cNvPr id="92231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32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33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34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37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38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35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36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170" name="Group 133"/>
          <p:cNvGrpSpPr>
            <a:grpSpLocks/>
          </p:cNvGrpSpPr>
          <p:nvPr/>
        </p:nvGrpSpPr>
        <p:grpSpPr bwMode="auto">
          <a:xfrm>
            <a:off x="5337175" y="4121151"/>
            <a:ext cx="617538" cy="250825"/>
            <a:chOff x="2356" y="1300"/>
            <a:chExt cx="555" cy="194"/>
          </a:xfrm>
        </p:grpSpPr>
        <p:sp>
          <p:nvSpPr>
            <p:cNvPr id="9222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2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2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26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29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30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27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28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171" name="Group 133"/>
          <p:cNvGrpSpPr>
            <a:grpSpLocks/>
          </p:cNvGrpSpPr>
          <p:nvPr/>
        </p:nvGrpSpPr>
        <p:grpSpPr bwMode="auto">
          <a:xfrm>
            <a:off x="5892800" y="4610101"/>
            <a:ext cx="617538" cy="250825"/>
            <a:chOff x="2356" y="1300"/>
            <a:chExt cx="555" cy="194"/>
          </a:xfrm>
        </p:grpSpPr>
        <p:sp>
          <p:nvSpPr>
            <p:cNvPr id="9221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1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1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18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21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22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19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20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172" name="Group 133"/>
          <p:cNvGrpSpPr>
            <a:grpSpLocks/>
          </p:cNvGrpSpPr>
          <p:nvPr/>
        </p:nvGrpSpPr>
        <p:grpSpPr bwMode="auto">
          <a:xfrm>
            <a:off x="6913564" y="4411664"/>
            <a:ext cx="617537" cy="250825"/>
            <a:chOff x="2356" y="1300"/>
            <a:chExt cx="555" cy="194"/>
          </a:xfrm>
        </p:grpSpPr>
        <p:sp>
          <p:nvSpPr>
            <p:cNvPr id="92207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08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09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10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13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14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11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12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173" name="Group 133"/>
          <p:cNvGrpSpPr>
            <a:grpSpLocks/>
          </p:cNvGrpSpPr>
          <p:nvPr/>
        </p:nvGrpSpPr>
        <p:grpSpPr bwMode="auto">
          <a:xfrm>
            <a:off x="5026025" y="3351214"/>
            <a:ext cx="617538" cy="250825"/>
            <a:chOff x="2356" y="1300"/>
            <a:chExt cx="555" cy="194"/>
          </a:xfrm>
        </p:grpSpPr>
        <p:sp>
          <p:nvSpPr>
            <p:cNvPr id="92199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00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01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92202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92205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06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03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4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92174" name="Straight Connector 10"/>
          <p:cNvCxnSpPr>
            <a:cxnSpLocks noChangeShapeType="1"/>
            <a:stCxn id="92204" idx="0"/>
            <a:endCxn id="92235" idx="0"/>
          </p:cNvCxnSpPr>
          <p:nvPr/>
        </p:nvCxnSpPr>
        <p:spPr bwMode="auto">
          <a:xfrm>
            <a:off x="5638800" y="3432175"/>
            <a:ext cx="1131888" cy="18573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5" name="Straight Connector 297"/>
          <p:cNvCxnSpPr>
            <a:cxnSpLocks noChangeShapeType="1"/>
            <a:endCxn id="92241" idx="1"/>
          </p:cNvCxnSpPr>
          <p:nvPr/>
        </p:nvCxnSpPr>
        <p:spPr bwMode="auto">
          <a:xfrm>
            <a:off x="6180138" y="3924301"/>
            <a:ext cx="139700" cy="1127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6" name="Straight Connector 298"/>
          <p:cNvCxnSpPr>
            <a:cxnSpLocks noChangeShapeType="1"/>
            <a:endCxn id="92243" idx="1"/>
          </p:cNvCxnSpPr>
          <p:nvPr/>
        </p:nvCxnSpPr>
        <p:spPr bwMode="auto">
          <a:xfrm flipV="1">
            <a:off x="5949950" y="4200526"/>
            <a:ext cx="280988" cy="619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7" name="Straight Connector 299"/>
          <p:cNvCxnSpPr>
            <a:cxnSpLocks noChangeShapeType="1"/>
          </p:cNvCxnSpPr>
          <p:nvPr/>
        </p:nvCxnSpPr>
        <p:spPr bwMode="auto">
          <a:xfrm flipV="1">
            <a:off x="5607050" y="3962401"/>
            <a:ext cx="223838" cy="1492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8" name="Straight Connector 300"/>
          <p:cNvCxnSpPr>
            <a:cxnSpLocks noChangeShapeType="1"/>
          </p:cNvCxnSpPr>
          <p:nvPr/>
        </p:nvCxnSpPr>
        <p:spPr bwMode="auto">
          <a:xfrm flipV="1">
            <a:off x="5262563" y="4367214"/>
            <a:ext cx="222250" cy="14763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79" name="Straight Connector 301"/>
          <p:cNvCxnSpPr>
            <a:cxnSpLocks noChangeShapeType="1"/>
            <a:stCxn id="92217" idx="0"/>
          </p:cNvCxnSpPr>
          <p:nvPr/>
        </p:nvCxnSpPr>
        <p:spPr bwMode="auto">
          <a:xfrm flipV="1">
            <a:off x="6199188" y="4267200"/>
            <a:ext cx="292100" cy="3429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0" name="Straight Connector 302"/>
          <p:cNvCxnSpPr>
            <a:cxnSpLocks noChangeShapeType="1"/>
          </p:cNvCxnSpPr>
          <p:nvPr/>
        </p:nvCxnSpPr>
        <p:spPr bwMode="auto">
          <a:xfrm flipH="1" flipV="1">
            <a:off x="6767513" y="4248151"/>
            <a:ext cx="412750" cy="1682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1" name="Straight Connector 303"/>
          <p:cNvCxnSpPr>
            <a:cxnSpLocks noChangeShapeType="1"/>
          </p:cNvCxnSpPr>
          <p:nvPr/>
        </p:nvCxnSpPr>
        <p:spPr bwMode="auto">
          <a:xfrm flipV="1">
            <a:off x="6751638" y="3776663"/>
            <a:ext cx="328612" cy="2667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2" name="Straight Connector 304"/>
          <p:cNvCxnSpPr>
            <a:cxnSpLocks noChangeShapeType="1"/>
            <a:endCxn id="92199" idx="4"/>
          </p:cNvCxnSpPr>
          <p:nvPr/>
        </p:nvCxnSpPr>
        <p:spPr bwMode="auto">
          <a:xfrm flipH="1" flipV="1">
            <a:off x="5334000" y="3602039"/>
            <a:ext cx="476250" cy="1174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3" name="Straight Connector 22"/>
          <p:cNvCxnSpPr>
            <a:cxnSpLocks noChangeShapeType="1"/>
            <a:endCxn id="92201" idx="1"/>
          </p:cNvCxnSpPr>
          <p:nvPr/>
        </p:nvCxnSpPr>
        <p:spPr bwMode="auto">
          <a:xfrm>
            <a:off x="3886201" y="2578101"/>
            <a:ext cx="1230313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4" name="Straight Connector 305"/>
          <p:cNvCxnSpPr>
            <a:cxnSpLocks noChangeShapeType="1"/>
            <a:endCxn id="92203" idx="0"/>
          </p:cNvCxnSpPr>
          <p:nvPr/>
        </p:nvCxnSpPr>
        <p:spPr bwMode="auto">
          <a:xfrm>
            <a:off x="3141663" y="2909888"/>
            <a:ext cx="1885950" cy="51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5" name="Straight Connector 306"/>
          <p:cNvCxnSpPr>
            <a:cxnSpLocks noChangeShapeType="1"/>
            <a:endCxn id="92203" idx="1"/>
          </p:cNvCxnSpPr>
          <p:nvPr/>
        </p:nvCxnSpPr>
        <p:spPr bwMode="auto">
          <a:xfrm>
            <a:off x="2754313" y="3278188"/>
            <a:ext cx="227330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6" name="Straight Connector 307"/>
          <p:cNvCxnSpPr>
            <a:cxnSpLocks noChangeShapeType="1"/>
            <a:endCxn id="92259" idx="0"/>
          </p:cNvCxnSpPr>
          <p:nvPr/>
        </p:nvCxnSpPr>
        <p:spPr bwMode="auto">
          <a:xfrm>
            <a:off x="2690814" y="4260850"/>
            <a:ext cx="1971675" cy="211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7" name="Straight Connector 308"/>
          <p:cNvCxnSpPr>
            <a:cxnSpLocks noChangeShapeType="1"/>
            <a:endCxn id="92255" idx="2"/>
          </p:cNvCxnSpPr>
          <p:nvPr/>
        </p:nvCxnSpPr>
        <p:spPr bwMode="auto">
          <a:xfrm flipV="1">
            <a:off x="2917826" y="4573588"/>
            <a:ext cx="1744663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8" name="Straight Connector 309"/>
          <p:cNvCxnSpPr>
            <a:cxnSpLocks noChangeShapeType="1"/>
            <a:endCxn id="92255" idx="3"/>
          </p:cNvCxnSpPr>
          <p:nvPr/>
        </p:nvCxnSpPr>
        <p:spPr bwMode="auto">
          <a:xfrm flipV="1">
            <a:off x="3321051" y="4622800"/>
            <a:ext cx="1431925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89" name="Straight Connector 310"/>
          <p:cNvCxnSpPr>
            <a:cxnSpLocks noChangeShapeType="1"/>
            <a:stCxn id="92286" idx="0"/>
            <a:endCxn id="92255" idx="4"/>
          </p:cNvCxnSpPr>
          <p:nvPr/>
        </p:nvCxnSpPr>
        <p:spPr bwMode="auto">
          <a:xfrm flipV="1">
            <a:off x="4913313" y="4643438"/>
            <a:ext cx="57150" cy="1211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0" name="Straight Connector 311"/>
          <p:cNvCxnSpPr>
            <a:cxnSpLocks noChangeShapeType="1"/>
          </p:cNvCxnSpPr>
          <p:nvPr/>
        </p:nvCxnSpPr>
        <p:spPr bwMode="auto">
          <a:xfrm flipV="1">
            <a:off x="6140450" y="4872038"/>
            <a:ext cx="6350" cy="1135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1" name="Straight Connector 312"/>
          <p:cNvCxnSpPr>
            <a:cxnSpLocks noChangeShapeType="1"/>
            <a:stCxn id="92289" idx="1"/>
          </p:cNvCxnSpPr>
          <p:nvPr/>
        </p:nvCxnSpPr>
        <p:spPr bwMode="auto">
          <a:xfrm flipH="1" flipV="1">
            <a:off x="6448426" y="4821238"/>
            <a:ext cx="506413" cy="1058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2" name="Straight Connector 313"/>
          <p:cNvCxnSpPr>
            <a:cxnSpLocks noChangeShapeType="1"/>
          </p:cNvCxnSpPr>
          <p:nvPr/>
        </p:nvCxnSpPr>
        <p:spPr bwMode="auto">
          <a:xfrm flipH="1" flipV="1">
            <a:off x="7356475" y="4648201"/>
            <a:ext cx="1722438" cy="1020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3" name="Straight Connector 314"/>
          <p:cNvCxnSpPr>
            <a:cxnSpLocks noChangeShapeType="1"/>
            <a:endCxn id="92212" idx="1"/>
          </p:cNvCxnSpPr>
          <p:nvPr/>
        </p:nvCxnSpPr>
        <p:spPr bwMode="auto">
          <a:xfrm flipH="1" flipV="1">
            <a:off x="7526339" y="4600575"/>
            <a:ext cx="224472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4" name="Straight Connector 315"/>
          <p:cNvCxnSpPr>
            <a:cxnSpLocks noChangeShapeType="1"/>
            <a:endCxn id="92212" idx="0"/>
          </p:cNvCxnSpPr>
          <p:nvPr/>
        </p:nvCxnSpPr>
        <p:spPr bwMode="auto">
          <a:xfrm flipH="1">
            <a:off x="7526338" y="4295775"/>
            <a:ext cx="2017712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5" name="Straight Connector 316"/>
          <p:cNvCxnSpPr>
            <a:cxnSpLocks noChangeShapeType="1"/>
          </p:cNvCxnSpPr>
          <p:nvPr/>
        </p:nvCxnSpPr>
        <p:spPr bwMode="auto">
          <a:xfrm flipH="1">
            <a:off x="7385050" y="3227389"/>
            <a:ext cx="1422400" cy="454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6" name="Straight Connector 317"/>
          <p:cNvCxnSpPr>
            <a:cxnSpLocks noChangeShapeType="1"/>
          </p:cNvCxnSpPr>
          <p:nvPr/>
        </p:nvCxnSpPr>
        <p:spPr bwMode="auto">
          <a:xfrm flipH="1">
            <a:off x="7208839" y="2803526"/>
            <a:ext cx="898525" cy="72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97" name="Straight Connector 318"/>
          <p:cNvCxnSpPr>
            <a:cxnSpLocks noChangeShapeType="1"/>
            <a:stCxn id="92297" idx="9"/>
          </p:cNvCxnSpPr>
          <p:nvPr/>
        </p:nvCxnSpPr>
        <p:spPr bwMode="auto">
          <a:xfrm>
            <a:off x="6373814" y="2381250"/>
            <a:ext cx="555625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98" name="TextBox 39958"/>
          <p:cNvSpPr txBox="1">
            <a:spLocks noChangeArrowheads="1"/>
          </p:cNvSpPr>
          <p:nvPr/>
        </p:nvSpPr>
        <p:spPr bwMode="auto">
          <a:xfrm>
            <a:off x="4411663" y="3584576"/>
            <a:ext cx="1008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/>
              <a:t>global</a:t>
            </a:r>
            <a:br>
              <a:rPr lang="en-US" altLang="en-US" i="1"/>
            </a:br>
            <a:r>
              <a:rPr lang="en-US" altLang="en-US" i="1"/>
              <a:t>ISP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2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grpSp>
        <p:nvGrpSpPr>
          <p:cNvPr id="94211" name="Group 5"/>
          <p:cNvGrpSpPr>
            <a:grpSpLocks/>
          </p:cNvGrpSpPr>
          <p:nvPr/>
        </p:nvGrpSpPr>
        <p:grpSpPr bwMode="auto">
          <a:xfrm>
            <a:off x="1974851" y="1849438"/>
            <a:ext cx="8437563" cy="4559300"/>
            <a:chOff x="154891" y="1905681"/>
            <a:chExt cx="8436427" cy="4559651"/>
          </a:xfrm>
        </p:grpSpPr>
        <p:grpSp>
          <p:nvGrpSpPr>
            <p:cNvPr id="94481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945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34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2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945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32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3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9452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30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4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9452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28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5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9452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26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6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9452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24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7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9452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22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8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9451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20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89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9451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18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90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9451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16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91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9451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14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92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9451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12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93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9450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10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94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9450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08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95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9450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06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4496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9450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04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sp>
          <p:nvSpPr>
            <p:cNvPr id="94497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4498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4499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4500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4501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4502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94212" name="Rectangle 3"/>
          <p:cNvSpPr txBox="1">
            <a:spLocks noChangeArrowheads="1"/>
          </p:cNvSpPr>
          <p:nvPr/>
        </p:nvSpPr>
        <p:spPr bwMode="auto">
          <a:xfrm>
            <a:off x="1997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latin typeface="Gill Sans MT" panose="020B0502020104020203" pitchFamily="34" charset="0"/>
              </a:rPr>
              <a:t>But if one global ISP is viable business, there will be competitors ….</a:t>
            </a:r>
          </a:p>
        </p:txBody>
      </p:sp>
      <p:grpSp>
        <p:nvGrpSpPr>
          <p:cNvPr id="94213" name="Group 8"/>
          <p:cNvGrpSpPr>
            <a:grpSpLocks/>
          </p:cNvGrpSpPr>
          <p:nvPr/>
        </p:nvGrpSpPr>
        <p:grpSpPr bwMode="auto">
          <a:xfrm>
            <a:off x="6070600" y="3746500"/>
            <a:ext cx="3225800" cy="1117600"/>
            <a:chOff x="7848600" y="2044700"/>
            <a:chExt cx="3200399" cy="1371600"/>
          </a:xfrm>
        </p:grpSpPr>
        <p:sp>
          <p:nvSpPr>
            <p:cNvPr id="94398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4399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447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7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7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7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7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8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77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78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4400" name="Straight Connector 10"/>
            <p:cNvCxnSpPr>
              <a:cxnSpLocks noChangeShapeType="1"/>
              <a:stCxn id="94478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1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2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3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4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5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6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7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408" name="Straight Connector 304"/>
            <p:cNvCxnSpPr>
              <a:cxnSpLocks noChangeShapeType="1"/>
              <a:endCxn id="94473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409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24263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B</a:t>
              </a:r>
            </a:p>
          </p:txBody>
        </p:sp>
        <p:grpSp>
          <p:nvGrpSpPr>
            <p:cNvPr id="94410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446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6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6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6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7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7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6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7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411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445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5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5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6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6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6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61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62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412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444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5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5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5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5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5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53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54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413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444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4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4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4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4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4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45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46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414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443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3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3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3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3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4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3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3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415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442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2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2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2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3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3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2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30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416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441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1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41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42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42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2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42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22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4214" name="Group 331"/>
          <p:cNvGrpSpPr>
            <a:grpSpLocks/>
          </p:cNvGrpSpPr>
          <p:nvPr/>
        </p:nvGrpSpPr>
        <p:grpSpPr bwMode="auto">
          <a:xfrm>
            <a:off x="3327400" y="2755900"/>
            <a:ext cx="3467100" cy="1193800"/>
            <a:chOff x="7848600" y="2044700"/>
            <a:chExt cx="3200399" cy="1371600"/>
          </a:xfrm>
        </p:grpSpPr>
        <p:sp>
          <p:nvSpPr>
            <p:cNvPr id="94315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4316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439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9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9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9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9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9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9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95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4317" name="Straight Connector 334"/>
            <p:cNvCxnSpPr>
              <a:cxnSpLocks noChangeShapeType="1"/>
              <a:stCxn id="94395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18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19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20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21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22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23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24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25" name="Straight Connector 342"/>
            <p:cNvCxnSpPr>
              <a:cxnSpLocks noChangeShapeType="1"/>
              <a:endCxn id="94390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326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758137" cy="45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A</a:t>
              </a:r>
            </a:p>
          </p:txBody>
        </p:sp>
        <p:grpSp>
          <p:nvGrpSpPr>
            <p:cNvPr id="94327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438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8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8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8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8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8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8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87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328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437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7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7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7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8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8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78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79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329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436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6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6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6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7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7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70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71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330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435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5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6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6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6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6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62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63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331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435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5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5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5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5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5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5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55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332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434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4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4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4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4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4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46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47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333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433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3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3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3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4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4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3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39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4215" name="Group 416"/>
          <p:cNvGrpSpPr>
            <a:grpSpLocks/>
          </p:cNvGrpSpPr>
          <p:nvPr/>
        </p:nvGrpSpPr>
        <p:grpSpPr bwMode="auto">
          <a:xfrm>
            <a:off x="3022600" y="4165600"/>
            <a:ext cx="3086100" cy="1168400"/>
            <a:chOff x="7848600" y="2044700"/>
            <a:chExt cx="3200399" cy="1371600"/>
          </a:xfrm>
        </p:grpSpPr>
        <p:sp>
          <p:nvSpPr>
            <p:cNvPr id="94232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4233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4307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11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12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4234" name="Straight Connector 419"/>
            <p:cNvCxnSpPr>
              <a:cxnSpLocks noChangeShapeType="1"/>
              <a:stCxn id="94312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35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36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37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38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39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40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41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42" name="Straight Connector 427"/>
            <p:cNvCxnSpPr>
              <a:cxnSpLocks noChangeShapeType="1"/>
              <a:endCxn id="94307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243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C</a:t>
              </a:r>
            </a:p>
          </p:txBody>
        </p:sp>
        <p:grpSp>
          <p:nvGrpSpPr>
            <p:cNvPr id="94244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42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3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3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3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30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0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245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42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2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2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2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295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96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246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42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2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2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2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2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8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247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42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2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2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2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27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8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248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42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2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2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2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27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7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249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42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2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2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2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26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6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250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425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5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25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25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425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25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25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5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94216" name="Straight Connector 12"/>
          <p:cNvCxnSpPr>
            <a:cxnSpLocks noChangeShapeType="1"/>
            <a:endCxn id="94392" idx="1"/>
          </p:cNvCxnSpPr>
          <p:nvPr/>
        </p:nvCxnSpPr>
        <p:spPr bwMode="auto">
          <a:xfrm>
            <a:off x="3906839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17" name="Straight Connector 500"/>
          <p:cNvCxnSpPr>
            <a:cxnSpLocks noChangeShapeType="1"/>
            <a:endCxn id="94394" idx="1"/>
          </p:cNvCxnSpPr>
          <p:nvPr/>
        </p:nvCxnSpPr>
        <p:spPr bwMode="auto">
          <a:xfrm>
            <a:off x="3162301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18" name="Straight Connector 501"/>
          <p:cNvCxnSpPr>
            <a:cxnSpLocks noChangeShapeType="1"/>
            <a:endCxn id="94390" idx="2"/>
          </p:cNvCxnSpPr>
          <p:nvPr/>
        </p:nvCxnSpPr>
        <p:spPr bwMode="auto">
          <a:xfrm flipV="1">
            <a:off x="2759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19" name="Straight Connector 502"/>
          <p:cNvCxnSpPr>
            <a:cxnSpLocks noChangeShapeType="1"/>
            <a:endCxn id="94360" idx="1"/>
          </p:cNvCxnSpPr>
          <p:nvPr/>
        </p:nvCxnSpPr>
        <p:spPr bwMode="auto">
          <a:xfrm>
            <a:off x="5440364" y="2411414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0" name="Straight Connector 503"/>
          <p:cNvCxnSpPr>
            <a:cxnSpLocks noChangeShapeType="1"/>
            <a:endCxn id="94360" idx="0"/>
          </p:cNvCxnSpPr>
          <p:nvPr/>
        </p:nvCxnSpPr>
        <p:spPr bwMode="auto">
          <a:xfrm flipH="1">
            <a:off x="5949951" y="2389189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1" name="Straight Connector 504"/>
          <p:cNvCxnSpPr>
            <a:cxnSpLocks noChangeShapeType="1"/>
            <a:endCxn id="94443" idx="0"/>
          </p:cNvCxnSpPr>
          <p:nvPr/>
        </p:nvCxnSpPr>
        <p:spPr bwMode="auto">
          <a:xfrm>
            <a:off x="8294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2" name="Straight Connector 505"/>
          <p:cNvCxnSpPr>
            <a:cxnSpLocks noChangeShapeType="1"/>
          </p:cNvCxnSpPr>
          <p:nvPr/>
        </p:nvCxnSpPr>
        <p:spPr bwMode="auto">
          <a:xfrm flipH="1">
            <a:off x="8661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3" name="Straight Connector 506"/>
          <p:cNvCxnSpPr>
            <a:cxnSpLocks noChangeShapeType="1"/>
            <a:stCxn id="94509" idx="4"/>
            <a:endCxn id="94438" idx="0"/>
          </p:cNvCxnSpPr>
          <p:nvPr/>
        </p:nvCxnSpPr>
        <p:spPr bwMode="auto">
          <a:xfrm flipH="1">
            <a:off x="9007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4" name="Straight Connector 507"/>
          <p:cNvCxnSpPr>
            <a:cxnSpLocks noChangeShapeType="1"/>
          </p:cNvCxnSpPr>
          <p:nvPr/>
        </p:nvCxnSpPr>
        <p:spPr bwMode="auto">
          <a:xfrm flipH="1" flipV="1">
            <a:off x="8978901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5" name="Straight Connector 508"/>
          <p:cNvCxnSpPr>
            <a:cxnSpLocks noChangeShapeType="1"/>
            <a:endCxn id="94425" idx="5"/>
          </p:cNvCxnSpPr>
          <p:nvPr/>
        </p:nvCxnSpPr>
        <p:spPr bwMode="auto">
          <a:xfrm flipH="1" flipV="1">
            <a:off x="8020050" y="4722814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6" name="Straight Connector 509"/>
          <p:cNvCxnSpPr>
            <a:cxnSpLocks noChangeShapeType="1"/>
            <a:stCxn id="94507" idx="0"/>
          </p:cNvCxnSpPr>
          <p:nvPr/>
        </p:nvCxnSpPr>
        <p:spPr bwMode="auto">
          <a:xfrm flipH="1" flipV="1">
            <a:off x="6843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7" name="Straight Connector 510"/>
          <p:cNvCxnSpPr>
            <a:cxnSpLocks noChangeShapeType="1"/>
          </p:cNvCxnSpPr>
          <p:nvPr/>
        </p:nvCxnSpPr>
        <p:spPr bwMode="auto">
          <a:xfrm flipH="1" flipV="1">
            <a:off x="5592764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8" name="Straight Connector 511"/>
          <p:cNvCxnSpPr>
            <a:cxnSpLocks noChangeShapeType="1"/>
            <a:stCxn id="94504" idx="0"/>
          </p:cNvCxnSpPr>
          <p:nvPr/>
        </p:nvCxnSpPr>
        <p:spPr bwMode="auto">
          <a:xfrm flipH="1" flipV="1">
            <a:off x="4668839" y="5192714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29" name="Straight Connector 512"/>
          <p:cNvCxnSpPr>
            <a:cxnSpLocks noChangeShapeType="1"/>
          </p:cNvCxnSpPr>
          <p:nvPr/>
        </p:nvCxnSpPr>
        <p:spPr bwMode="auto">
          <a:xfrm flipV="1">
            <a:off x="3314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30" name="Straight Connector 513"/>
          <p:cNvCxnSpPr>
            <a:cxnSpLocks noChangeShapeType="1"/>
            <a:endCxn id="94255" idx="0"/>
          </p:cNvCxnSpPr>
          <p:nvPr/>
        </p:nvCxnSpPr>
        <p:spPr bwMode="auto">
          <a:xfrm flipV="1">
            <a:off x="2886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231" name="Straight Connector 514"/>
          <p:cNvCxnSpPr>
            <a:cxnSpLocks noChangeShapeType="1"/>
            <a:endCxn id="94311" idx="1"/>
          </p:cNvCxnSpPr>
          <p:nvPr/>
        </p:nvCxnSpPr>
        <p:spPr bwMode="auto">
          <a:xfrm>
            <a:off x="2679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0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grpSp>
        <p:nvGrpSpPr>
          <p:cNvPr id="96259" name="Group 5"/>
          <p:cNvGrpSpPr>
            <a:grpSpLocks/>
          </p:cNvGrpSpPr>
          <p:nvPr/>
        </p:nvGrpSpPr>
        <p:grpSpPr bwMode="auto">
          <a:xfrm>
            <a:off x="1974851" y="1849438"/>
            <a:ext cx="8437563" cy="4559300"/>
            <a:chOff x="154891" y="1905681"/>
            <a:chExt cx="8436427" cy="4559651"/>
          </a:xfrm>
        </p:grpSpPr>
        <p:grpSp>
          <p:nvGrpSpPr>
            <p:cNvPr id="96552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9660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05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53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9660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03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54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9660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01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55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9659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99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56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9659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97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57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9659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95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58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9659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93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59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9659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91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0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9658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89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1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9658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87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2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9658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85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3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9658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83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4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9658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81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5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9657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79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6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9657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77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6567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9657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75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sp>
          <p:nvSpPr>
            <p:cNvPr id="96568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6569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6570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6571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6572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6573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96260" name="Rectangle 3"/>
          <p:cNvSpPr txBox="1">
            <a:spLocks noChangeArrowheads="1"/>
          </p:cNvSpPr>
          <p:nvPr/>
        </p:nvSpPr>
        <p:spPr bwMode="auto">
          <a:xfrm>
            <a:off x="1997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latin typeface="Gill Sans MT" panose="020B0502020104020203" pitchFamily="34" charset="0"/>
              </a:rPr>
              <a:t>But if one global ISP is viable business, there will be competitors ….  which must be interconnected</a:t>
            </a:r>
          </a:p>
        </p:txBody>
      </p:sp>
      <p:grpSp>
        <p:nvGrpSpPr>
          <p:cNvPr id="96261" name="Group 8"/>
          <p:cNvGrpSpPr>
            <a:grpSpLocks/>
          </p:cNvGrpSpPr>
          <p:nvPr/>
        </p:nvGrpSpPr>
        <p:grpSpPr bwMode="auto">
          <a:xfrm>
            <a:off x="6070600" y="3746500"/>
            <a:ext cx="3225800" cy="1117600"/>
            <a:chOff x="7848600" y="2044700"/>
            <a:chExt cx="3200399" cy="1371600"/>
          </a:xfrm>
        </p:grpSpPr>
        <p:sp>
          <p:nvSpPr>
            <p:cNvPr id="96469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6470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654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4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4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54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55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5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548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49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6471" name="Straight Connector 10"/>
            <p:cNvCxnSpPr>
              <a:cxnSpLocks noChangeShapeType="1"/>
              <a:stCxn id="96549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2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3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4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5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6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7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8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79" name="Straight Connector 304"/>
            <p:cNvCxnSpPr>
              <a:cxnSpLocks noChangeShapeType="1"/>
              <a:endCxn id="96544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480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24263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B</a:t>
              </a:r>
            </a:p>
          </p:txBody>
        </p:sp>
        <p:grpSp>
          <p:nvGrpSpPr>
            <p:cNvPr id="96481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653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3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3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53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54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4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54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4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82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652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2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3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53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53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3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532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33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83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652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2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2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52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52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2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52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25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84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651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1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1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51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51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1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516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17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85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650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0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50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50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51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1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508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0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86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649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9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9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9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50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0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500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01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87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648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8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9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9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9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9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9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93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6262" name="Group 331"/>
          <p:cNvGrpSpPr>
            <a:grpSpLocks/>
          </p:cNvGrpSpPr>
          <p:nvPr/>
        </p:nvGrpSpPr>
        <p:grpSpPr bwMode="auto">
          <a:xfrm>
            <a:off x="3327400" y="2755900"/>
            <a:ext cx="3467100" cy="1193800"/>
            <a:chOff x="7848600" y="2044700"/>
            <a:chExt cx="3200399" cy="1371600"/>
          </a:xfrm>
        </p:grpSpPr>
        <p:sp>
          <p:nvSpPr>
            <p:cNvPr id="96386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6387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646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6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6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6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6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6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65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66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6388" name="Straight Connector 334"/>
            <p:cNvCxnSpPr>
              <a:cxnSpLocks noChangeShapeType="1"/>
              <a:stCxn id="96466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89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0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1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2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3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4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5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6" name="Straight Connector 342"/>
            <p:cNvCxnSpPr>
              <a:cxnSpLocks noChangeShapeType="1"/>
              <a:endCxn id="96461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397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758137" cy="45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A</a:t>
              </a:r>
            </a:p>
          </p:txBody>
        </p:sp>
        <p:grpSp>
          <p:nvGrpSpPr>
            <p:cNvPr id="96398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645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5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5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5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5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6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5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58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99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644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4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4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4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5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5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4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50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00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643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3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3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4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4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4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4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42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01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642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3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3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3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3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3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3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34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02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642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2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2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2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2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25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26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03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641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1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1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1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1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2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17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18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404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640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0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40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40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41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1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409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10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6263" name="Group 416"/>
          <p:cNvGrpSpPr>
            <a:grpSpLocks/>
          </p:cNvGrpSpPr>
          <p:nvPr/>
        </p:nvGrpSpPr>
        <p:grpSpPr bwMode="auto">
          <a:xfrm>
            <a:off x="3022600" y="4165600"/>
            <a:ext cx="3086100" cy="1168400"/>
            <a:chOff x="7848600" y="2044700"/>
            <a:chExt cx="3200399" cy="1371600"/>
          </a:xfrm>
        </p:grpSpPr>
        <p:sp>
          <p:nvSpPr>
            <p:cNvPr id="96303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6304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6378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7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8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8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8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82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83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6305" name="Straight Connector 419"/>
            <p:cNvCxnSpPr>
              <a:cxnSpLocks noChangeShapeType="1"/>
              <a:stCxn id="9638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06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07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08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09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10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11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12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13" name="Straight Connector 427"/>
            <p:cNvCxnSpPr>
              <a:cxnSpLocks noChangeShapeType="1"/>
              <a:endCxn id="9637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314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C</a:t>
              </a:r>
            </a:p>
          </p:txBody>
        </p:sp>
        <p:grpSp>
          <p:nvGrpSpPr>
            <p:cNvPr id="96315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637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7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7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7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7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7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74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75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16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636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6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6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6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6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6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66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67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17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635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5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5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5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6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6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5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5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18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634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4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4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4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5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5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5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5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19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633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3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4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4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4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4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4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4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20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633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3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3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3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3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3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34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3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21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632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2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2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32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632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2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32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2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96264" name="Straight Connector 12"/>
          <p:cNvCxnSpPr>
            <a:cxnSpLocks noChangeShapeType="1"/>
            <a:endCxn id="96463" idx="1"/>
          </p:cNvCxnSpPr>
          <p:nvPr/>
        </p:nvCxnSpPr>
        <p:spPr bwMode="auto">
          <a:xfrm>
            <a:off x="3906839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65" name="Straight Connector 500"/>
          <p:cNvCxnSpPr>
            <a:cxnSpLocks noChangeShapeType="1"/>
            <a:endCxn id="96465" idx="1"/>
          </p:cNvCxnSpPr>
          <p:nvPr/>
        </p:nvCxnSpPr>
        <p:spPr bwMode="auto">
          <a:xfrm>
            <a:off x="3162301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66" name="Straight Connector 501"/>
          <p:cNvCxnSpPr>
            <a:cxnSpLocks noChangeShapeType="1"/>
            <a:endCxn id="96461" idx="2"/>
          </p:cNvCxnSpPr>
          <p:nvPr/>
        </p:nvCxnSpPr>
        <p:spPr bwMode="auto">
          <a:xfrm flipV="1">
            <a:off x="2759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67" name="Straight Connector 502"/>
          <p:cNvCxnSpPr>
            <a:cxnSpLocks noChangeShapeType="1"/>
            <a:endCxn id="96431" idx="1"/>
          </p:cNvCxnSpPr>
          <p:nvPr/>
        </p:nvCxnSpPr>
        <p:spPr bwMode="auto">
          <a:xfrm>
            <a:off x="5440364" y="2411414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68" name="Straight Connector 503"/>
          <p:cNvCxnSpPr>
            <a:cxnSpLocks noChangeShapeType="1"/>
            <a:endCxn id="96431" idx="0"/>
          </p:cNvCxnSpPr>
          <p:nvPr/>
        </p:nvCxnSpPr>
        <p:spPr bwMode="auto">
          <a:xfrm flipH="1">
            <a:off x="5949951" y="2389189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69" name="Straight Connector 504"/>
          <p:cNvCxnSpPr>
            <a:cxnSpLocks noChangeShapeType="1"/>
            <a:endCxn id="96514" idx="0"/>
          </p:cNvCxnSpPr>
          <p:nvPr/>
        </p:nvCxnSpPr>
        <p:spPr bwMode="auto">
          <a:xfrm>
            <a:off x="8294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0" name="Straight Connector 505"/>
          <p:cNvCxnSpPr>
            <a:cxnSpLocks noChangeShapeType="1"/>
          </p:cNvCxnSpPr>
          <p:nvPr/>
        </p:nvCxnSpPr>
        <p:spPr bwMode="auto">
          <a:xfrm flipH="1">
            <a:off x="8661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1" name="Straight Connector 506"/>
          <p:cNvCxnSpPr>
            <a:cxnSpLocks noChangeShapeType="1"/>
            <a:stCxn id="96580" idx="4"/>
            <a:endCxn id="96509" idx="0"/>
          </p:cNvCxnSpPr>
          <p:nvPr/>
        </p:nvCxnSpPr>
        <p:spPr bwMode="auto">
          <a:xfrm flipH="1">
            <a:off x="9007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2" name="Straight Connector 507"/>
          <p:cNvCxnSpPr>
            <a:cxnSpLocks noChangeShapeType="1"/>
          </p:cNvCxnSpPr>
          <p:nvPr/>
        </p:nvCxnSpPr>
        <p:spPr bwMode="auto">
          <a:xfrm flipH="1" flipV="1">
            <a:off x="8978901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3" name="Straight Connector 508"/>
          <p:cNvCxnSpPr>
            <a:cxnSpLocks noChangeShapeType="1"/>
            <a:endCxn id="96496" idx="5"/>
          </p:cNvCxnSpPr>
          <p:nvPr/>
        </p:nvCxnSpPr>
        <p:spPr bwMode="auto">
          <a:xfrm flipH="1" flipV="1">
            <a:off x="8020050" y="4722814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4" name="Straight Connector 509"/>
          <p:cNvCxnSpPr>
            <a:cxnSpLocks noChangeShapeType="1"/>
            <a:stCxn id="96578" idx="0"/>
          </p:cNvCxnSpPr>
          <p:nvPr/>
        </p:nvCxnSpPr>
        <p:spPr bwMode="auto">
          <a:xfrm flipH="1" flipV="1">
            <a:off x="6843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5" name="Straight Connector 510"/>
          <p:cNvCxnSpPr>
            <a:cxnSpLocks noChangeShapeType="1"/>
          </p:cNvCxnSpPr>
          <p:nvPr/>
        </p:nvCxnSpPr>
        <p:spPr bwMode="auto">
          <a:xfrm flipH="1" flipV="1">
            <a:off x="5592764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6" name="Straight Connector 511"/>
          <p:cNvCxnSpPr>
            <a:cxnSpLocks noChangeShapeType="1"/>
            <a:stCxn id="96575" idx="0"/>
          </p:cNvCxnSpPr>
          <p:nvPr/>
        </p:nvCxnSpPr>
        <p:spPr bwMode="auto">
          <a:xfrm flipH="1" flipV="1">
            <a:off x="4668839" y="5192714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7" name="Straight Connector 512"/>
          <p:cNvCxnSpPr>
            <a:cxnSpLocks noChangeShapeType="1"/>
          </p:cNvCxnSpPr>
          <p:nvPr/>
        </p:nvCxnSpPr>
        <p:spPr bwMode="auto">
          <a:xfrm flipV="1">
            <a:off x="3314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8" name="Straight Connector 513"/>
          <p:cNvCxnSpPr>
            <a:cxnSpLocks noChangeShapeType="1"/>
            <a:endCxn id="96326" idx="0"/>
          </p:cNvCxnSpPr>
          <p:nvPr/>
        </p:nvCxnSpPr>
        <p:spPr bwMode="auto">
          <a:xfrm flipV="1">
            <a:off x="2886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279" name="Straight Connector 514"/>
          <p:cNvCxnSpPr>
            <a:cxnSpLocks noChangeShapeType="1"/>
            <a:endCxn id="96382" idx="1"/>
          </p:cNvCxnSpPr>
          <p:nvPr/>
        </p:nvCxnSpPr>
        <p:spPr bwMode="auto">
          <a:xfrm>
            <a:off x="2679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5217" name="Group 20"/>
          <p:cNvGrpSpPr>
            <a:grpSpLocks/>
          </p:cNvGrpSpPr>
          <p:nvPr/>
        </p:nvGrpSpPr>
        <p:grpSpPr bwMode="auto">
          <a:xfrm>
            <a:off x="6237289" y="2871789"/>
            <a:ext cx="2117725" cy="1082675"/>
            <a:chOff x="4712800" y="2871032"/>
            <a:chExt cx="2117908" cy="1082781"/>
          </a:xfrm>
        </p:grpSpPr>
        <p:grpSp>
          <p:nvGrpSpPr>
            <p:cNvPr id="96298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96301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302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96299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00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33" name="Group 39937"/>
          <p:cNvGrpSpPr>
            <a:grpSpLocks/>
          </p:cNvGrpSpPr>
          <p:nvPr/>
        </p:nvGrpSpPr>
        <p:grpSpPr bwMode="auto">
          <a:xfrm>
            <a:off x="5216525" y="3789364"/>
            <a:ext cx="1538288" cy="585787"/>
            <a:chOff x="3692946" y="3789212"/>
            <a:chExt cx="1537885" cy="585306"/>
          </a:xfrm>
        </p:grpSpPr>
        <p:cxnSp>
          <p:nvCxnSpPr>
            <p:cNvPr id="96292" name="Straight Connector 515"/>
            <p:cNvCxnSpPr>
              <a:cxnSpLocks noChangeShapeType="1"/>
              <a:stCxn id="96348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96293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96296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297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96294" name="Straight Connector 519"/>
            <p:cNvCxnSpPr>
              <a:cxnSpLocks noChangeShapeType="1"/>
              <a:stCxn id="96296" idx="6"/>
              <a:endCxn id="96548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95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49" name="Group 39939"/>
          <p:cNvGrpSpPr>
            <a:grpSpLocks/>
          </p:cNvGrpSpPr>
          <p:nvPr/>
        </p:nvGrpSpPr>
        <p:grpSpPr bwMode="auto">
          <a:xfrm>
            <a:off x="3930650" y="3633789"/>
            <a:ext cx="2901950" cy="1296987"/>
            <a:chOff x="2407287" y="3633041"/>
            <a:chExt cx="2900648" cy="1297685"/>
          </a:xfrm>
        </p:grpSpPr>
        <p:cxnSp>
          <p:nvCxnSpPr>
            <p:cNvPr id="96289" name="Straight Connector 7"/>
            <p:cNvCxnSpPr>
              <a:cxnSpLocks noChangeShapeType="1"/>
              <a:stCxn id="96421" idx="5"/>
              <a:endCxn id="96546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90" name="Straight Connector 415"/>
            <p:cNvCxnSpPr>
              <a:cxnSpLocks noChangeShapeType="1"/>
              <a:endCxn id="96380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91" name="Straight Connector 523"/>
            <p:cNvCxnSpPr>
              <a:cxnSpLocks noChangeShapeType="1"/>
              <a:stCxn id="96343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57" name="Group 39945"/>
          <p:cNvGrpSpPr>
            <a:grpSpLocks/>
          </p:cNvGrpSpPr>
          <p:nvPr/>
        </p:nvGrpSpPr>
        <p:grpSpPr bwMode="auto">
          <a:xfrm>
            <a:off x="6210301" y="4864101"/>
            <a:ext cx="1914525" cy="741363"/>
            <a:chOff x="4686300" y="4864100"/>
            <a:chExt cx="1914118" cy="740879"/>
          </a:xfrm>
        </p:grpSpPr>
        <p:sp>
          <p:nvSpPr>
            <p:cNvPr id="96287" name="TextBox 39940"/>
            <p:cNvSpPr txBox="1">
              <a:spLocks noChangeArrowheads="1"/>
            </p:cNvSpPr>
            <p:nvPr/>
          </p:nvSpPr>
          <p:spPr bwMode="auto">
            <a:xfrm>
              <a:off x="4838700" y="5143500"/>
              <a:ext cx="1761718" cy="461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i="1">
                  <a:solidFill>
                    <a:srgbClr val="CC0000"/>
                  </a:solidFill>
                </a:rPr>
                <a:t>peering link</a:t>
              </a:r>
            </a:p>
          </p:txBody>
        </p:sp>
        <p:cxnSp>
          <p:nvCxnSpPr>
            <p:cNvPr id="96288" name="Straight Connector 39943"/>
            <p:cNvCxnSpPr>
              <a:cxnSpLocks noChangeShapeType="1"/>
            </p:cNvCxnSpPr>
            <p:nvPr/>
          </p:nvCxnSpPr>
          <p:spPr bwMode="auto">
            <a:xfrm>
              <a:off x="4686300" y="4864100"/>
              <a:ext cx="266700" cy="4191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65" name="Group 39950"/>
          <p:cNvGrpSpPr>
            <a:grpSpLocks/>
          </p:cNvGrpSpPr>
          <p:nvPr/>
        </p:nvGrpSpPr>
        <p:grpSpPr bwMode="auto">
          <a:xfrm>
            <a:off x="6794500" y="1701800"/>
            <a:ext cx="3403600" cy="1169988"/>
            <a:chOff x="5270500" y="1701800"/>
            <a:chExt cx="3402978" cy="1169232"/>
          </a:xfrm>
        </p:grpSpPr>
        <p:sp>
          <p:nvSpPr>
            <p:cNvPr id="96285" name="TextBox 39946"/>
            <p:cNvSpPr txBox="1">
              <a:spLocks noChangeArrowheads="1"/>
            </p:cNvSpPr>
            <p:nvPr/>
          </p:nvSpPr>
          <p:spPr bwMode="auto">
            <a:xfrm>
              <a:off x="5270500" y="1701800"/>
              <a:ext cx="3402978" cy="461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i="1">
                  <a:solidFill>
                    <a:srgbClr val="CC0000"/>
                  </a:solidFill>
                </a:rPr>
                <a:t>Internet exchange point</a:t>
              </a:r>
            </a:p>
          </p:txBody>
        </p:sp>
        <p:cxnSp>
          <p:nvCxnSpPr>
            <p:cNvPr id="96286" name="Straight Connector 39948"/>
            <p:cNvCxnSpPr>
              <a:cxnSpLocks noChangeShapeType="1"/>
              <a:endCxn id="96302" idx="0"/>
            </p:cNvCxnSpPr>
            <p:nvPr/>
          </p:nvCxnSpPr>
          <p:spPr bwMode="auto">
            <a:xfrm flipH="1">
              <a:off x="5952289" y="2159000"/>
              <a:ext cx="219911" cy="7120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9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grpSp>
        <p:nvGrpSpPr>
          <p:cNvPr id="98307" name="Group 5"/>
          <p:cNvGrpSpPr>
            <a:grpSpLocks/>
          </p:cNvGrpSpPr>
          <p:nvPr/>
        </p:nvGrpSpPr>
        <p:grpSpPr bwMode="auto">
          <a:xfrm>
            <a:off x="1974851" y="1849438"/>
            <a:ext cx="8437563" cy="4559300"/>
            <a:chOff x="154891" y="1905681"/>
            <a:chExt cx="8436427" cy="4559651"/>
          </a:xfrm>
        </p:grpSpPr>
        <p:grpSp>
          <p:nvGrpSpPr>
            <p:cNvPr id="98599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986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52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0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986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50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1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986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48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2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986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46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3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986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44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4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986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42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5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986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40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6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986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38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7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986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36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8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986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34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09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986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32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10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9862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30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11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9862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28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12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9862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26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13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9862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24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98614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9862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22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sp>
          <p:nvSpPr>
            <p:cNvPr id="98615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8616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8617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8618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8619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98620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98308" name="Rectangle 3"/>
          <p:cNvSpPr txBox="1">
            <a:spLocks noChangeArrowheads="1"/>
          </p:cNvSpPr>
          <p:nvPr/>
        </p:nvSpPr>
        <p:spPr bwMode="auto">
          <a:xfrm>
            <a:off x="1997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latin typeface="Gill Sans MT" panose="020B0502020104020203" pitchFamily="34" charset="0"/>
              </a:rPr>
              <a:t>… and regional networks may arise to connect access nets to ISPS </a:t>
            </a:r>
          </a:p>
        </p:txBody>
      </p:sp>
      <p:grpSp>
        <p:nvGrpSpPr>
          <p:cNvPr id="98309" name="Group 8"/>
          <p:cNvGrpSpPr>
            <a:grpSpLocks/>
          </p:cNvGrpSpPr>
          <p:nvPr/>
        </p:nvGrpSpPr>
        <p:grpSpPr bwMode="auto">
          <a:xfrm>
            <a:off x="6070600" y="3746500"/>
            <a:ext cx="3225800" cy="1117600"/>
            <a:chOff x="7848600" y="2044700"/>
            <a:chExt cx="3200399" cy="1371600"/>
          </a:xfrm>
        </p:grpSpPr>
        <p:sp>
          <p:nvSpPr>
            <p:cNvPr id="98516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8517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85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95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96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8518" name="Straight Connector 10"/>
            <p:cNvCxnSpPr>
              <a:cxnSpLocks noChangeShapeType="1"/>
              <a:stCxn id="98596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19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20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21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22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23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24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25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526" name="Straight Connector 304"/>
            <p:cNvCxnSpPr>
              <a:cxnSpLocks noChangeShapeType="1"/>
              <a:endCxn id="98591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8527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24263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B</a:t>
              </a:r>
            </a:p>
          </p:txBody>
        </p:sp>
        <p:grpSp>
          <p:nvGrpSpPr>
            <p:cNvPr id="98528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85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8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8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529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85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79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80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530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85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71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72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531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85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63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64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532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855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5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5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5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5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5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5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533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854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4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4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4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4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47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48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534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853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3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3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3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4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39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40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8310" name="Group 331"/>
          <p:cNvGrpSpPr>
            <a:grpSpLocks/>
          </p:cNvGrpSpPr>
          <p:nvPr/>
        </p:nvGrpSpPr>
        <p:grpSpPr bwMode="auto">
          <a:xfrm>
            <a:off x="3327400" y="2755900"/>
            <a:ext cx="3467100" cy="1193800"/>
            <a:chOff x="7848600" y="2044700"/>
            <a:chExt cx="3200399" cy="1371600"/>
          </a:xfrm>
        </p:grpSpPr>
        <p:sp>
          <p:nvSpPr>
            <p:cNvPr id="98433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8434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850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1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1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12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13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8435" name="Straight Connector 334"/>
            <p:cNvCxnSpPr>
              <a:cxnSpLocks noChangeShapeType="1"/>
              <a:stCxn id="9851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36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37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38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39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40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41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42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443" name="Straight Connector 342"/>
            <p:cNvCxnSpPr>
              <a:cxnSpLocks noChangeShapeType="1"/>
              <a:endCxn id="9850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8444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758137" cy="45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A</a:t>
              </a:r>
            </a:p>
          </p:txBody>
        </p:sp>
        <p:grpSp>
          <p:nvGrpSpPr>
            <p:cNvPr id="98445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85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5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50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50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50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05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446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84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9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9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9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97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447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848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8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8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8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9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8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89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448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847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7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7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7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8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80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81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449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846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6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7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7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7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72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73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450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846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6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6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6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6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64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65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451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845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5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5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5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5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5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57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8311" name="Group 416"/>
          <p:cNvGrpSpPr>
            <a:grpSpLocks/>
          </p:cNvGrpSpPr>
          <p:nvPr/>
        </p:nvGrpSpPr>
        <p:grpSpPr bwMode="auto">
          <a:xfrm>
            <a:off x="3022600" y="4165600"/>
            <a:ext cx="3086100" cy="1168400"/>
            <a:chOff x="7848600" y="2044700"/>
            <a:chExt cx="3200399" cy="1371600"/>
          </a:xfrm>
        </p:grpSpPr>
        <p:sp>
          <p:nvSpPr>
            <p:cNvPr id="98350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8351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98425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2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2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2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3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29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30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8352" name="Straight Connector 419"/>
            <p:cNvCxnSpPr>
              <a:cxnSpLocks noChangeShapeType="1"/>
              <a:stCxn id="9843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53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54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55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56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57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58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59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60" name="Straight Connector 427"/>
            <p:cNvCxnSpPr>
              <a:cxnSpLocks noChangeShapeType="1"/>
              <a:endCxn id="9842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8361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C</a:t>
              </a:r>
            </a:p>
          </p:txBody>
        </p:sp>
        <p:grpSp>
          <p:nvGrpSpPr>
            <p:cNvPr id="98362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9841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1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1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2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2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21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22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63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9840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1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1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1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1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13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14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64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9840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0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40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40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40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40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0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65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9839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9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9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39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39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39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9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66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838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8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8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38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39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389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9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67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837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7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7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38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38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38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8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68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9836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7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837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837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37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37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7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98312" name="Straight Connector 12"/>
          <p:cNvCxnSpPr>
            <a:cxnSpLocks noChangeShapeType="1"/>
            <a:endCxn id="98510" idx="1"/>
          </p:cNvCxnSpPr>
          <p:nvPr/>
        </p:nvCxnSpPr>
        <p:spPr bwMode="auto">
          <a:xfrm>
            <a:off x="3906839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3" name="Straight Connector 500"/>
          <p:cNvCxnSpPr>
            <a:cxnSpLocks noChangeShapeType="1"/>
            <a:stCxn id="98635" idx="8"/>
            <a:endCxn id="98333" idx="2"/>
          </p:cNvCxnSpPr>
          <p:nvPr/>
        </p:nvCxnSpPr>
        <p:spPr bwMode="auto">
          <a:xfrm>
            <a:off x="2979738" y="2990851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4" name="Straight Connector 501"/>
          <p:cNvCxnSpPr>
            <a:cxnSpLocks noChangeShapeType="1"/>
            <a:endCxn id="98333" idx="3"/>
          </p:cNvCxnSpPr>
          <p:nvPr/>
        </p:nvCxnSpPr>
        <p:spPr bwMode="auto">
          <a:xfrm>
            <a:off x="2759076" y="3271839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5" name="Straight Connector 502"/>
          <p:cNvCxnSpPr>
            <a:cxnSpLocks noChangeShapeType="1"/>
            <a:endCxn id="98478" idx="1"/>
          </p:cNvCxnSpPr>
          <p:nvPr/>
        </p:nvCxnSpPr>
        <p:spPr bwMode="auto">
          <a:xfrm>
            <a:off x="5440364" y="2411414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6" name="Straight Connector 503"/>
          <p:cNvCxnSpPr>
            <a:cxnSpLocks noChangeShapeType="1"/>
            <a:endCxn id="98478" idx="0"/>
          </p:cNvCxnSpPr>
          <p:nvPr/>
        </p:nvCxnSpPr>
        <p:spPr bwMode="auto">
          <a:xfrm flipH="1">
            <a:off x="5949951" y="2389189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7" name="Straight Connector 504"/>
          <p:cNvCxnSpPr>
            <a:cxnSpLocks noChangeShapeType="1"/>
            <a:endCxn id="98561" idx="0"/>
          </p:cNvCxnSpPr>
          <p:nvPr/>
        </p:nvCxnSpPr>
        <p:spPr bwMode="auto">
          <a:xfrm>
            <a:off x="8294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8" name="Straight Connector 505"/>
          <p:cNvCxnSpPr>
            <a:cxnSpLocks noChangeShapeType="1"/>
          </p:cNvCxnSpPr>
          <p:nvPr/>
        </p:nvCxnSpPr>
        <p:spPr bwMode="auto">
          <a:xfrm flipH="1">
            <a:off x="8661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9" name="Straight Connector 506"/>
          <p:cNvCxnSpPr>
            <a:cxnSpLocks noChangeShapeType="1"/>
            <a:stCxn id="98627" idx="4"/>
            <a:endCxn id="98556" idx="0"/>
          </p:cNvCxnSpPr>
          <p:nvPr/>
        </p:nvCxnSpPr>
        <p:spPr bwMode="auto">
          <a:xfrm flipH="1">
            <a:off x="9007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0" name="Straight Connector 507"/>
          <p:cNvCxnSpPr>
            <a:cxnSpLocks noChangeShapeType="1"/>
          </p:cNvCxnSpPr>
          <p:nvPr/>
        </p:nvCxnSpPr>
        <p:spPr bwMode="auto">
          <a:xfrm flipH="1" flipV="1">
            <a:off x="8978901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1" name="Straight Connector 508"/>
          <p:cNvCxnSpPr>
            <a:cxnSpLocks noChangeShapeType="1"/>
            <a:endCxn id="98543" idx="5"/>
          </p:cNvCxnSpPr>
          <p:nvPr/>
        </p:nvCxnSpPr>
        <p:spPr bwMode="auto">
          <a:xfrm flipH="1" flipV="1">
            <a:off x="8020050" y="4722814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2" name="Straight Connector 509"/>
          <p:cNvCxnSpPr>
            <a:cxnSpLocks noChangeShapeType="1"/>
            <a:stCxn id="98625" idx="0"/>
            <a:endCxn id="98331" idx="5"/>
          </p:cNvCxnSpPr>
          <p:nvPr/>
        </p:nvCxnSpPr>
        <p:spPr bwMode="auto">
          <a:xfrm flipH="1" flipV="1">
            <a:off x="6608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3" name="Straight Connector 510"/>
          <p:cNvCxnSpPr>
            <a:cxnSpLocks noChangeShapeType="1"/>
          </p:cNvCxnSpPr>
          <p:nvPr/>
        </p:nvCxnSpPr>
        <p:spPr bwMode="auto">
          <a:xfrm flipH="1" flipV="1">
            <a:off x="5592764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4" name="Straight Connector 511"/>
          <p:cNvCxnSpPr>
            <a:cxnSpLocks noChangeShapeType="1"/>
            <a:stCxn id="98622" idx="0"/>
          </p:cNvCxnSpPr>
          <p:nvPr/>
        </p:nvCxnSpPr>
        <p:spPr bwMode="auto">
          <a:xfrm flipV="1">
            <a:off x="4913314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5" name="Straight Connector 512"/>
          <p:cNvCxnSpPr>
            <a:cxnSpLocks noChangeShapeType="1"/>
          </p:cNvCxnSpPr>
          <p:nvPr/>
        </p:nvCxnSpPr>
        <p:spPr bwMode="auto">
          <a:xfrm flipV="1">
            <a:off x="3314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6" name="Straight Connector 513"/>
          <p:cNvCxnSpPr>
            <a:cxnSpLocks noChangeShapeType="1"/>
            <a:stCxn id="98644" idx="0"/>
          </p:cNvCxnSpPr>
          <p:nvPr/>
        </p:nvCxnSpPr>
        <p:spPr bwMode="auto">
          <a:xfrm flipV="1">
            <a:off x="2703513" y="4467226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27" name="Straight Connector 514"/>
          <p:cNvCxnSpPr>
            <a:cxnSpLocks noChangeShapeType="1"/>
            <a:endCxn id="98333" idx="5"/>
          </p:cNvCxnSpPr>
          <p:nvPr/>
        </p:nvCxnSpPr>
        <p:spPr bwMode="auto">
          <a:xfrm flipV="1">
            <a:off x="2679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8328" name="Group 20"/>
          <p:cNvGrpSpPr>
            <a:grpSpLocks/>
          </p:cNvGrpSpPr>
          <p:nvPr/>
        </p:nvGrpSpPr>
        <p:grpSpPr bwMode="auto">
          <a:xfrm>
            <a:off x="6237289" y="2871789"/>
            <a:ext cx="2117725" cy="1082675"/>
            <a:chOff x="4712800" y="2871032"/>
            <a:chExt cx="2117908" cy="1082781"/>
          </a:xfrm>
        </p:grpSpPr>
        <p:grpSp>
          <p:nvGrpSpPr>
            <p:cNvPr id="98345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98348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8349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98346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47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8329" name="Group 39937"/>
          <p:cNvGrpSpPr>
            <a:grpSpLocks/>
          </p:cNvGrpSpPr>
          <p:nvPr/>
        </p:nvGrpSpPr>
        <p:grpSpPr bwMode="auto">
          <a:xfrm>
            <a:off x="5216525" y="3789364"/>
            <a:ext cx="1538288" cy="585787"/>
            <a:chOff x="3692946" y="3789212"/>
            <a:chExt cx="1537885" cy="585306"/>
          </a:xfrm>
        </p:grpSpPr>
        <p:cxnSp>
          <p:nvCxnSpPr>
            <p:cNvPr id="98339" name="Straight Connector 515"/>
            <p:cNvCxnSpPr>
              <a:cxnSpLocks noChangeShapeType="1"/>
              <a:stCxn id="98395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98340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98343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8344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98341" name="Straight Connector 519"/>
            <p:cNvCxnSpPr>
              <a:cxnSpLocks noChangeShapeType="1"/>
              <a:stCxn id="98343" idx="6"/>
              <a:endCxn id="98595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42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8330" name="Group 39939"/>
          <p:cNvGrpSpPr>
            <a:grpSpLocks/>
          </p:cNvGrpSpPr>
          <p:nvPr/>
        </p:nvGrpSpPr>
        <p:grpSpPr bwMode="auto">
          <a:xfrm>
            <a:off x="3930650" y="3633789"/>
            <a:ext cx="2901950" cy="1296987"/>
            <a:chOff x="2407287" y="3633041"/>
            <a:chExt cx="2900648" cy="1297685"/>
          </a:xfrm>
        </p:grpSpPr>
        <p:cxnSp>
          <p:nvCxnSpPr>
            <p:cNvPr id="98336" name="Straight Connector 7"/>
            <p:cNvCxnSpPr>
              <a:cxnSpLocks noChangeShapeType="1"/>
              <a:stCxn id="98468" idx="5"/>
              <a:endCxn id="98593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37" name="Straight Connector 415"/>
            <p:cNvCxnSpPr>
              <a:cxnSpLocks noChangeShapeType="1"/>
              <a:endCxn id="98427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38" name="Straight Connector 523"/>
            <p:cNvCxnSpPr>
              <a:cxnSpLocks noChangeShapeType="1"/>
              <a:stCxn id="98390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8331" name="Oval 6"/>
          <p:cNvSpPr>
            <a:spLocks noChangeArrowheads="1"/>
          </p:cNvSpPr>
          <p:nvPr/>
        </p:nvSpPr>
        <p:spPr bwMode="auto">
          <a:xfrm>
            <a:off x="4864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8332" name="TextBox 9"/>
          <p:cNvSpPr txBox="1">
            <a:spLocks noChangeArrowheads="1"/>
          </p:cNvSpPr>
          <p:nvPr/>
        </p:nvSpPr>
        <p:spPr bwMode="auto">
          <a:xfrm>
            <a:off x="5080000" y="5334000"/>
            <a:ext cx="15247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i="1"/>
              <a:t>regional net</a:t>
            </a:r>
          </a:p>
        </p:txBody>
      </p:sp>
      <p:sp>
        <p:nvSpPr>
          <p:cNvPr id="98333" name="Oval 517"/>
          <p:cNvSpPr>
            <a:spLocks noChangeArrowheads="1"/>
          </p:cNvSpPr>
          <p:nvPr/>
        </p:nvSpPr>
        <p:spPr bwMode="auto">
          <a:xfrm rot="5400000">
            <a:off x="2391570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cxnSp>
        <p:nvCxnSpPr>
          <p:cNvPr id="98334" name="Straight Connector 39941"/>
          <p:cNvCxnSpPr>
            <a:cxnSpLocks noChangeShapeType="1"/>
            <a:stCxn id="98333" idx="0"/>
            <a:endCxn id="98456" idx="0"/>
          </p:cNvCxnSpPr>
          <p:nvPr/>
        </p:nvCxnSpPr>
        <p:spPr bwMode="auto">
          <a:xfrm flipV="1">
            <a:off x="3208339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35" name="Straight Connector 524"/>
          <p:cNvCxnSpPr>
            <a:cxnSpLocks noChangeShapeType="1"/>
            <a:endCxn id="98429" idx="1"/>
          </p:cNvCxnSpPr>
          <p:nvPr/>
        </p:nvCxnSpPr>
        <p:spPr bwMode="auto">
          <a:xfrm>
            <a:off x="3209926" y="4111626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9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grpSp>
        <p:nvGrpSpPr>
          <p:cNvPr id="100355" name="Group 5"/>
          <p:cNvGrpSpPr>
            <a:grpSpLocks/>
          </p:cNvGrpSpPr>
          <p:nvPr/>
        </p:nvGrpSpPr>
        <p:grpSpPr bwMode="auto">
          <a:xfrm>
            <a:off x="1974851" y="1849438"/>
            <a:ext cx="8437563" cy="4559300"/>
            <a:chOff x="154891" y="1905681"/>
            <a:chExt cx="8436427" cy="4559651"/>
          </a:xfrm>
        </p:grpSpPr>
        <p:grpSp>
          <p:nvGrpSpPr>
            <p:cNvPr id="100658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10071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11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59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10070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09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0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10070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07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1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10070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05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2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10070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03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3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10070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01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4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10069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99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5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10069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97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6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10069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95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7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10069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93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8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10069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91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69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10068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89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70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10068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87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71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10068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85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72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10068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83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grpSp>
          <p:nvGrpSpPr>
            <p:cNvPr id="100673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10068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81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altLang="en-US" sz="1000"/>
                  <a:t>net</a:t>
                </a:r>
              </a:p>
            </p:txBody>
          </p:sp>
        </p:grpSp>
        <p:sp>
          <p:nvSpPr>
            <p:cNvPr id="100674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100675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100676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100677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100678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100679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100356" name="Rectangle 3"/>
          <p:cNvSpPr txBox="1">
            <a:spLocks noChangeArrowheads="1"/>
          </p:cNvSpPr>
          <p:nvPr/>
        </p:nvSpPr>
        <p:spPr bwMode="auto">
          <a:xfrm>
            <a:off x="2009775" y="1011238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latin typeface="Gill Sans MT" panose="020B0502020104020203" pitchFamily="34" charset="0"/>
              </a:rPr>
              <a:t>… and content provider networks  (e.g., Google, Microsoft,   Akamai ) may run their own network, to bring services, content close to end users</a:t>
            </a:r>
          </a:p>
        </p:txBody>
      </p:sp>
      <p:grpSp>
        <p:nvGrpSpPr>
          <p:cNvPr id="100357" name="Group 8"/>
          <p:cNvGrpSpPr>
            <a:grpSpLocks/>
          </p:cNvGrpSpPr>
          <p:nvPr/>
        </p:nvGrpSpPr>
        <p:grpSpPr bwMode="auto">
          <a:xfrm>
            <a:off x="6070600" y="3746500"/>
            <a:ext cx="3225800" cy="1117600"/>
            <a:chOff x="7848600" y="2044700"/>
            <a:chExt cx="3200399" cy="1371600"/>
          </a:xfrm>
        </p:grpSpPr>
        <p:sp>
          <p:nvSpPr>
            <p:cNvPr id="100575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00576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10065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5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5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65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5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5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654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55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00577" name="Straight Connector 10"/>
            <p:cNvCxnSpPr>
              <a:cxnSpLocks noChangeShapeType="1"/>
              <a:stCxn id="100655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78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79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80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81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82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83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84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85" name="Straight Connector 304"/>
            <p:cNvCxnSpPr>
              <a:cxnSpLocks noChangeShapeType="1"/>
              <a:endCxn id="100650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586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24263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B</a:t>
              </a:r>
            </a:p>
          </p:txBody>
        </p:sp>
        <p:grpSp>
          <p:nvGrpSpPr>
            <p:cNvPr id="100587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10064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4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4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64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4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4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64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4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88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10063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3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3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63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4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4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638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39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89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0062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2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2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62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3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3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630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31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90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0061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1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2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62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2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2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622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23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91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0061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1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1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61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1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1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61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1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92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10060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0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60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60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0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0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606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07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93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10059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9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9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9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60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60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9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99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0358" name="Group 331"/>
          <p:cNvGrpSpPr>
            <a:grpSpLocks/>
          </p:cNvGrpSpPr>
          <p:nvPr/>
        </p:nvGrpSpPr>
        <p:grpSpPr bwMode="auto">
          <a:xfrm>
            <a:off x="3327400" y="2755900"/>
            <a:ext cx="3467100" cy="1193800"/>
            <a:chOff x="7848600" y="2044700"/>
            <a:chExt cx="3200399" cy="1371600"/>
          </a:xfrm>
        </p:grpSpPr>
        <p:sp>
          <p:nvSpPr>
            <p:cNvPr id="100492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00493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1005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71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72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00494" name="Straight Connector 334"/>
            <p:cNvCxnSpPr>
              <a:cxnSpLocks noChangeShapeType="1"/>
              <a:stCxn id="100572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95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96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97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98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99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00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01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502" name="Straight Connector 342"/>
            <p:cNvCxnSpPr>
              <a:cxnSpLocks noChangeShapeType="1"/>
              <a:endCxn id="100567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503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758137" cy="459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A</a:t>
              </a:r>
            </a:p>
          </p:txBody>
        </p:sp>
        <p:grpSp>
          <p:nvGrpSpPr>
            <p:cNvPr id="100504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1005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6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64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05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10055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5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5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5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5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5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5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56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06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0054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4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4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4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4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5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4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48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07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0053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3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3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3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4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4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39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40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08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0052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2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2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3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3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3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31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32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09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10051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2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2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2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2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2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23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24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510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10051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1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51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51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51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51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51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16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0359" name="Group 416"/>
          <p:cNvGrpSpPr>
            <a:grpSpLocks/>
          </p:cNvGrpSpPr>
          <p:nvPr/>
        </p:nvGrpSpPr>
        <p:grpSpPr bwMode="auto">
          <a:xfrm>
            <a:off x="3022600" y="4165600"/>
            <a:ext cx="3086100" cy="1168400"/>
            <a:chOff x="7848600" y="2044700"/>
            <a:chExt cx="3200399" cy="1371600"/>
          </a:xfrm>
        </p:grpSpPr>
        <p:sp>
          <p:nvSpPr>
            <p:cNvPr id="100409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00410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100484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8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8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8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9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9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88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89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00411" name="Straight Connector 419"/>
            <p:cNvCxnSpPr>
              <a:cxnSpLocks noChangeShapeType="1"/>
              <a:stCxn id="100489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2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3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4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5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6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7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8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19" name="Straight Connector 427"/>
            <p:cNvCxnSpPr>
              <a:cxnSpLocks noChangeShapeType="1"/>
              <a:endCxn id="100484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420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61575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 i="1"/>
                <a:t>ISP B</a:t>
              </a:r>
            </a:p>
          </p:txBody>
        </p:sp>
        <p:grpSp>
          <p:nvGrpSpPr>
            <p:cNvPr id="100421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10047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7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7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7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8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8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80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81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422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10046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6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7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7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7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7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72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73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423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0046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6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6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6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6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6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64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6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424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0045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5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5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5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5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5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5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5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425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0044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4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4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4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5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5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4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4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426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10043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3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3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3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4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4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40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4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427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10042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2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43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043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043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43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432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3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100360" name="Straight Connector 12"/>
          <p:cNvCxnSpPr>
            <a:cxnSpLocks noChangeShapeType="1"/>
            <a:endCxn id="100569" idx="1"/>
          </p:cNvCxnSpPr>
          <p:nvPr/>
        </p:nvCxnSpPr>
        <p:spPr bwMode="auto">
          <a:xfrm>
            <a:off x="3906839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1" name="Straight Connector 500"/>
          <p:cNvCxnSpPr>
            <a:cxnSpLocks noChangeShapeType="1"/>
            <a:stCxn id="100694" idx="8"/>
            <a:endCxn id="100381" idx="2"/>
          </p:cNvCxnSpPr>
          <p:nvPr/>
        </p:nvCxnSpPr>
        <p:spPr bwMode="auto">
          <a:xfrm>
            <a:off x="2979738" y="2990851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2" name="Straight Connector 501"/>
          <p:cNvCxnSpPr>
            <a:cxnSpLocks noChangeShapeType="1"/>
            <a:endCxn id="100381" idx="3"/>
          </p:cNvCxnSpPr>
          <p:nvPr/>
        </p:nvCxnSpPr>
        <p:spPr bwMode="auto">
          <a:xfrm>
            <a:off x="2759076" y="3271839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3" name="Straight Connector 502"/>
          <p:cNvCxnSpPr>
            <a:cxnSpLocks noChangeShapeType="1"/>
            <a:endCxn id="100537" idx="1"/>
          </p:cNvCxnSpPr>
          <p:nvPr/>
        </p:nvCxnSpPr>
        <p:spPr bwMode="auto">
          <a:xfrm>
            <a:off x="5440364" y="2411414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4" name="Straight Connector 503"/>
          <p:cNvCxnSpPr>
            <a:cxnSpLocks noChangeShapeType="1"/>
            <a:endCxn id="100537" idx="0"/>
          </p:cNvCxnSpPr>
          <p:nvPr/>
        </p:nvCxnSpPr>
        <p:spPr bwMode="auto">
          <a:xfrm flipH="1">
            <a:off x="5949951" y="2389189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5" name="Straight Connector 504"/>
          <p:cNvCxnSpPr>
            <a:cxnSpLocks noChangeShapeType="1"/>
            <a:endCxn id="100620" idx="0"/>
          </p:cNvCxnSpPr>
          <p:nvPr/>
        </p:nvCxnSpPr>
        <p:spPr bwMode="auto">
          <a:xfrm>
            <a:off x="8294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6" name="Straight Connector 505"/>
          <p:cNvCxnSpPr>
            <a:cxnSpLocks noChangeShapeType="1"/>
          </p:cNvCxnSpPr>
          <p:nvPr/>
        </p:nvCxnSpPr>
        <p:spPr bwMode="auto">
          <a:xfrm flipH="1">
            <a:off x="8661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7" name="Straight Connector 506"/>
          <p:cNvCxnSpPr>
            <a:cxnSpLocks noChangeShapeType="1"/>
            <a:stCxn id="100686" idx="4"/>
            <a:endCxn id="100615" idx="0"/>
          </p:cNvCxnSpPr>
          <p:nvPr/>
        </p:nvCxnSpPr>
        <p:spPr bwMode="auto">
          <a:xfrm flipH="1">
            <a:off x="9007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8" name="Straight Connector 507"/>
          <p:cNvCxnSpPr>
            <a:cxnSpLocks noChangeShapeType="1"/>
          </p:cNvCxnSpPr>
          <p:nvPr/>
        </p:nvCxnSpPr>
        <p:spPr bwMode="auto">
          <a:xfrm flipH="1" flipV="1">
            <a:off x="8978901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9" name="Straight Connector 508"/>
          <p:cNvCxnSpPr>
            <a:cxnSpLocks noChangeShapeType="1"/>
            <a:endCxn id="100602" idx="5"/>
          </p:cNvCxnSpPr>
          <p:nvPr/>
        </p:nvCxnSpPr>
        <p:spPr bwMode="auto">
          <a:xfrm flipH="1" flipV="1">
            <a:off x="8020050" y="4722814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70" name="Straight Connector 509"/>
          <p:cNvCxnSpPr>
            <a:cxnSpLocks noChangeShapeType="1"/>
            <a:stCxn id="100684" idx="0"/>
            <a:endCxn id="100379" idx="5"/>
          </p:cNvCxnSpPr>
          <p:nvPr/>
        </p:nvCxnSpPr>
        <p:spPr bwMode="auto">
          <a:xfrm flipH="1" flipV="1">
            <a:off x="6608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71" name="Straight Connector 510"/>
          <p:cNvCxnSpPr>
            <a:cxnSpLocks noChangeShapeType="1"/>
          </p:cNvCxnSpPr>
          <p:nvPr/>
        </p:nvCxnSpPr>
        <p:spPr bwMode="auto">
          <a:xfrm flipH="1" flipV="1">
            <a:off x="5592764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72" name="Straight Connector 511"/>
          <p:cNvCxnSpPr>
            <a:cxnSpLocks noChangeShapeType="1"/>
            <a:stCxn id="100681" idx="0"/>
          </p:cNvCxnSpPr>
          <p:nvPr/>
        </p:nvCxnSpPr>
        <p:spPr bwMode="auto">
          <a:xfrm flipV="1">
            <a:off x="4913314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73" name="Straight Connector 512"/>
          <p:cNvCxnSpPr>
            <a:cxnSpLocks noChangeShapeType="1"/>
          </p:cNvCxnSpPr>
          <p:nvPr/>
        </p:nvCxnSpPr>
        <p:spPr bwMode="auto">
          <a:xfrm flipV="1">
            <a:off x="3314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74" name="Straight Connector 513"/>
          <p:cNvCxnSpPr>
            <a:cxnSpLocks noChangeShapeType="1"/>
            <a:stCxn id="100703" idx="0"/>
          </p:cNvCxnSpPr>
          <p:nvPr/>
        </p:nvCxnSpPr>
        <p:spPr bwMode="auto">
          <a:xfrm flipV="1">
            <a:off x="2703513" y="4467226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75" name="Straight Connector 514"/>
          <p:cNvCxnSpPr>
            <a:cxnSpLocks noChangeShapeType="1"/>
            <a:endCxn id="100381" idx="5"/>
          </p:cNvCxnSpPr>
          <p:nvPr/>
        </p:nvCxnSpPr>
        <p:spPr bwMode="auto">
          <a:xfrm flipV="1">
            <a:off x="2679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0376" name="Group 20"/>
          <p:cNvGrpSpPr>
            <a:grpSpLocks/>
          </p:cNvGrpSpPr>
          <p:nvPr/>
        </p:nvGrpSpPr>
        <p:grpSpPr bwMode="auto">
          <a:xfrm>
            <a:off x="6237289" y="2871789"/>
            <a:ext cx="2117725" cy="1082675"/>
            <a:chOff x="4712800" y="2871032"/>
            <a:chExt cx="2117908" cy="1082781"/>
          </a:xfrm>
        </p:grpSpPr>
        <p:grpSp>
          <p:nvGrpSpPr>
            <p:cNvPr id="100404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100407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0408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100405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06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0377" name="Group 39937"/>
          <p:cNvGrpSpPr>
            <a:grpSpLocks/>
          </p:cNvGrpSpPr>
          <p:nvPr/>
        </p:nvGrpSpPr>
        <p:grpSpPr bwMode="auto">
          <a:xfrm>
            <a:off x="5216525" y="3789364"/>
            <a:ext cx="1538288" cy="585787"/>
            <a:chOff x="3692946" y="3789212"/>
            <a:chExt cx="1537885" cy="585306"/>
          </a:xfrm>
        </p:grpSpPr>
        <p:cxnSp>
          <p:nvCxnSpPr>
            <p:cNvPr id="100398" name="Straight Connector 515"/>
            <p:cNvCxnSpPr>
              <a:cxnSpLocks noChangeShapeType="1"/>
              <a:stCxn id="100454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0399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100402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0403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100400" name="Straight Connector 519"/>
            <p:cNvCxnSpPr>
              <a:cxnSpLocks noChangeShapeType="1"/>
              <a:stCxn id="100402" idx="6"/>
              <a:endCxn id="100654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401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0378" name="Group 39939"/>
          <p:cNvGrpSpPr>
            <a:grpSpLocks/>
          </p:cNvGrpSpPr>
          <p:nvPr/>
        </p:nvGrpSpPr>
        <p:grpSpPr bwMode="auto">
          <a:xfrm>
            <a:off x="3930650" y="3633789"/>
            <a:ext cx="2901950" cy="1296987"/>
            <a:chOff x="2407287" y="3633041"/>
            <a:chExt cx="2900648" cy="1297685"/>
          </a:xfrm>
        </p:grpSpPr>
        <p:cxnSp>
          <p:nvCxnSpPr>
            <p:cNvPr id="100395" name="Straight Connector 7"/>
            <p:cNvCxnSpPr>
              <a:cxnSpLocks noChangeShapeType="1"/>
              <a:stCxn id="100527" idx="5"/>
              <a:endCxn id="100652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96" name="Straight Connector 415"/>
            <p:cNvCxnSpPr>
              <a:cxnSpLocks noChangeShapeType="1"/>
              <a:endCxn id="100486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97" name="Straight Connector 523"/>
            <p:cNvCxnSpPr>
              <a:cxnSpLocks noChangeShapeType="1"/>
              <a:stCxn id="100449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0379" name="Oval 6"/>
          <p:cNvSpPr>
            <a:spLocks noChangeArrowheads="1"/>
          </p:cNvSpPr>
          <p:nvPr/>
        </p:nvSpPr>
        <p:spPr bwMode="auto">
          <a:xfrm>
            <a:off x="4864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0380" name="TextBox 9"/>
          <p:cNvSpPr txBox="1">
            <a:spLocks noChangeArrowheads="1"/>
          </p:cNvSpPr>
          <p:nvPr/>
        </p:nvSpPr>
        <p:spPr bwMode="auto">
          <a:xfrm>
            <a:off x="5080000" y="5334000"/>
            <a:ext cx="15247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i="1"/>
              <a:t>regional net</a:t>
            </a:r>
          </a:p>
        </p:txBody>
      </p:sp>
      <p:sp>
        <p:nvSpPr>
          <p:cNvPr id="100381" name="Oval 517"/>
          <p:cNvSpPr>
            <a:spLocks noChangeArrowheads="1"/>
          </p:cNvSpPr>
          <p:nvPr/>
        </p:nvSpPr>
        <p:spPr bwMode="auto">
          <a:xfrm rot="5400000">
            <a:off x="2391570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cxnSp>
        <p:nvCxnSpPr>
          <p:cNvPr id="100382" name="Straight Connector 39941"/>
          <p:cNvCxnSpPr>
            <a:cxnSpLocks noChangeShapeType="1"/>
            <a:stCxn id="100381" idx="0"/>
            <a:endCxn id="100515" idx="0"/>
          </p:cNvCxnSpPr>
          <p:nvPr/>
        </p:nvCxnSpPr>
        <p:spPr bwMode="auto">
          <a:xfrm flipV="1">
            <a:off x="3208339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83" name="Straight Connector 524"/>
          <p:cNvCxnSpPr>
            <a:cxnSpLocks noChangeShapeType="1"/>
            <a:endCxn id="100488" idx="1"/>
          </p:cNvCxnSpPr>
          <p:nvPr/>
        </p:nvCxnSpPr>
        <p:spPr bwMode="auto">
          <a:xfrm>
            <a:off x="3209926" y="4111626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384" name="Oval 11"/>
          <p:cNvSpPr>
            <a:spLocks noChangeArrowheads="1"/>
          </p:cNvSpPr>
          <p:nvPr/>
        </p:nvSpPr>
        <p:spPr bwMode="auto">
          <a:xfrm>
            <a:off x="3390900" y="3429000"/>
            <a:ext cx="6096000" cy="673100"/>
          </a:xfrm>
          <a:prstGeom prst="ellipse">
            <a:avLst/>
          </a:prstGeom>
          <a:solidFill>
            <a:srgbClr val="FF6600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0385" name="TextBox 13"/>
          <p:cNvSpPr txBox="1">
            <a:spLocks noChangeArrowheads="1"/>
          </p:cNvSpPr>
          <p:nvPr/>
        </p:nvSpPr>
        <p:spPr bwMode="auto">
          <a:xfrm>
            <a:off x="4637089" y="3541713"/>
            <a:ext cx="3627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>
                <a:solidFill>
                  <a:schemeClr val="bg1"/>
                </a:solidFill>
              </a:rPr>
              <a:t>Content provider network</a:t>
            </a:r>
          </a:p>
        </p:txBody>
      </p:sp>
      <p:cxnSp>
        <p:nvCxnSpPr>
          <p:cNvPr id="100386" name="Straight Connector 19"/>
          <p:cNvCxnSpPr>
            <a:cxnSpLocks noChangeShapeType="1"/>
            <a:stCxn id="100707" idx="2"/>
          </p:cNvCxnSpPr>
          <p:nvPr/>
        </p:nvCxnSpPr>
        <p:spPr bwMode="auto">
          <a:xfrm flipH="1">
            <a:off x="8064501" y="2867025"/>
            <a:ext cx="150813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87" name="Straight Connector 525"/>
          <p:cNvCxnSpPr>
            <a:cxnSpLocks noChangeShapeType="1"/>
            <a:endCxn id="100384" idx="7"/>
          </p:cNvCxnSpPr>
          <p:nvPr/>
        </p:nvCxnSpPr>
        <p:spPr bwMode="auto">
          <a:xfrm flipH="1">
            <a:off x="8594726" y="3221039"/>
            <a:ext cx="142875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88" name="Straight Connector 526"/>
          <p:cNvCxnSpPr>
            <a:cxnSpLocks noChangeShapeType="1"/>
          </p:cNvCxnSpPr>
          <p:nvPr/>
        </p:nvCxnSpPr>
        <p:spPr bwMode="auto">
          <a:xfrm flipH="1">
            <a:off x="7297739" y="3205164"/>
            <a:ext cx="111125" cy="2444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89" name="Straight Connector 527"/>
          <p:cNvCxnSpPr>
            <a:cxnSpLocks noChangeShapeType="1"/>
            <a:endCxn id="100384" idx="1"/>
          </p:cNvCxnSpPr>
          <p:nvPr/>
        </p:nvCxnSpPr>
        <p:spPr bwMode="auto">
          <a:xfrm>
            <a:off x="4206875" y="3008313"/>
            <a:ext cx="76200" cy="5191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0" name="Straight Connector 528"/>
          <p:cNvCxnSpPr>
            <a:cxnSpLocks noChangeShapeType="1"/>
            <a:endCxn id="100454" idx="1"/>
          </p:cNvCxnSpPr>
          <p:nvPr/>
        </p:nvCxnSpPr>
        <p:spPr bwMode="auto">
          <a:xfrm>
            <a:off x="4937126" y="4049714"/>
            <a:ext cx="239713" cy="3397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1" name="Straight Connector 529"/>
          <p:cNvCxnSpPr>
            <a:cxnSpLocks noChangeShapeType="1"/>
          </p:cNvCxnSpPr>
          <p:nvPr/>
        </p:nvCxnSpPr>
        <p:spPr bwMode="auto">
          <a:xfrm>
            <a:off x="3827464" y="2651125"/>
            <a:ext cx="14287" cy="941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2" name="Straight Connector 530"/>
          <p:cNvCxnSpPr>
            <a:cxnSpLocks noChangeShapeType="1"/>
          </p:cNvCxnSpPr>
          <p:nvPr/>
        </p:nvCxnSpPr>
        <p:spPr bwMode="auto">
          <a:xfrm flipH="1">
            <a:off x="3217864" y="3935414"/>
            <a:ext cx="528637" cy="11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3" name="Straight Connector 531"/>
          <p:cNvCxnSpPr>
            <a:cxnSpLocks noChangeShapeType="1"/>
            <a:stCxn id="100686" idx="3"/>
          </p:cNvCxnSpPr>
          <p:nvPr/>
        </p:nvCxnSpPr>
        <p:spPr bwMode="auto">
          <a:xfrm flipH="1" flipV="1">
            <a:off x="9237663" y="3903664"/>
            <a:ext cx="400050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94" name="Straight Connector 532"/>
          <p:cNvCxnSpPr>
            <a:cxnSpLocks noChangeShapeType="1"/>
            <a:stCxn id="100688" idx="4"/>
          </p:cNvCxnSpPr>
          <p:nvPr/>
        </p:nvCxnSpPr>
        <p:spPr bwMode="auto">
          <a:xfrm flipH="1" flipV="1">
            <a:off x="9148763" y="3929064"/>
            <a:ext cx="628650" cy="121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3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9588" y="165101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Internet structure: network of networks</a:t>
            </a:r>
            <a:endParaRPr lang="en-US" altLang="en-US" b="1" dirty="0" smtClean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440656" y="5153025"/>
            <a:ext cx="8435182" cy="1647826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z="2400" dirty="0"/>
              <a:t>at center: small # of well-connected large networks</a:t>
            </a:r>
          </a:p>
          <a:p>
            <a:pPr lvl="1" eaLnBrk="1" hangingPunct="1"/>
            <a:r>
              <a:rPr lang="ja-JP" altLang="en-US" sz="2000" dirty="0">
                <a:solidFill>
                  <a:srgbClr val="CC0000"/>
                </a:solidFill>
                <a:ea typeface="MS PGothic" panose="020B0600070205080204" pitchFamily="34" charset="-128"/>
              </a:rPr>
              <a:t>“</a:t>
            </a:r>
            <a:r>
              <a:rPr lang="en-US" altLang="ja-JP" sz="2000" dirty="0">
                <a:solidFill>
                  <a:srgbClr val="CC0000"/>
                </a:solidFill>
                <a:ea typeface="MS PGothic" panose="020B0600070205080204" pitchFamily="34" charset="-128"/>
              </a:rPr>
              <a:t>tier-1</a:t>
            </a:r>
            <a:r>
              <a:rPr lang="ja-JP" altLang="en-US" sz="2000" dirty="0">
                <a:solidFill>
                  <a:srgbClr val="CC0000"/>
                </a:solidFill>
                <a:ea typeface="MS PGothic" panose="020B0600070205080204" pitchFamily="34" charset="-128"/>
              </a:rPr>
              <a:t>”</a:t>
            </a:r>
            <a:r>
              <a:rPr lang="en-US" altLang="ja-JP" sz="2000" dirty="0">
                <a:solidFill>
                  <a:srgbClr val="CC0000"/>
                </a:solidFill>
                <a:ea typeface="MS PGothic" panose="020B0600070205080204" pitchFamily="34" charset="-128"/>
              </a:rPr>
              <a:t> commercial ISPs</a:t>
            </a:r>
            <a:r>
              <a:rPr lang="en-US" altLang="ja-JP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ja-JP" sz="2000" dirty="0">
                <a:ea typeface="MS PGothic" panose="020B0600070205080204" pitchFamily="34" charset="-128"/>
              </a:rPr>
              <a:t>(e.g., Level 3, Sprint, AT&amp;T, NTT), national &amp; international coverage</a:t>
            </a:r>
          </a:p>
          <a:p>
            <a:pPr lvl="1" eaLnBrk="1" hangingPunct="1"/>
            <a:r>
              <a:rPr lang="en-US" altLang="en-US" sz="2000" dirty="0">
                <a:solidFill>
                  <a:srgbClr val="CC0000"/>
                </a:solidFill>
                <a:ea typeface="Arial" panose="020B0604020202020204" pitchFamily="34" charset="0"/>
              </a:rPr>
              <a:t>content provider network </a:t>
            </a:r>
            <a:r>
              <a:rPr lang="en-US" altLang="en-US" sz="2000" dirty="0">
                <a:ea typeface="Arial" panose="020B0604020202020204" pitchFamily="34" charset="0"/>
              </a:rPr>
              <a:t>(</a:t>
            </a:r>
            <a:r>
              <a:rPr lang="en-US" altLang="en-US" sz="2000" dirty="0" err="1">
                <a:ea typeface="Arial" panose="020B0604020202020204" pitchFamily="34" charset="0"/>
              </a:rPr>
              <a:t>e.g</a:t>
            </a:r>
            <a:r>
              <a:rPr lang="en-US" altLang="en-US" sz="2000" dirty="0">
                <a:ea typeface="Arial" panose="020B0604020202020204" pitchFamily="34" charset="0"/>
              </a:rPr>
              <a:t>, Google): private network that connects it data centers to Internet, often bypassing tier-1, regional ISPs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 dirty="0">
              <a:ea typeface="Arial" panose="020B0604020202020204" pitchFamily="34" charset="0"/>
            </a:endParaRPr>
          </a:p>
        </p:txBody>
      </p:sp>
      <p:grpSp>
        <p:nvGrpSpPr>
          <p:cNvPr id="102406" name="Group 67"/>
          <p:cNvGrpSpPr>
            <a:grpSpLocks/>
          </p:cNvGrpSpPr>
          <p:nvPr/>
        </p:nvGrpSpPr>
        <p:grpSpPr bwMode="auto">
          <a:xfrm>
            <a:off x="2578100" y="1038226"/>
            <a:ext cx="7658100" cy="3984625"/>
            <a:chOff x="1066800" y="1371600"/>
            <a:chExt cx="7194549" cy="3984625"/>
          </a:xfrm>
        </p:grpSpPr>
        <p:sp>
          <p:nvSpPr>
            <p:cNvPr id="102407" name="Oval 76"/>
            <p:cNvSpPr>
              <a:spLocks noChangeArrowheads="1"/>
            </p:cNvSpPr>
            <p:nvPr/>
          </p:nvSpPr>
          <p:spPr bwMode="auto">
            <a:xfrm>
              <a:off x="1981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08" name="Oval 76"/>
            <p:cNvSpPr>
              <a:spLocks noChangeArrowheads="1"/>
            </p:cNvSpPr>
            <p:nvPr/>
          </p:nvSpPr>
          <p:spPr bwMode="auto">
            <a:xfrm>
              <a:off x="1066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09" name="Oval 76"/>
            <p:cNvSpPr>
              <a:spLocks noChangeArrowheads="1"/>
            </p:cNvSpPr>
            <p:nvPr/>
          </p:nvSpPr>
          <p:spPr bwMode="auto">
            <a:xfrm>
              <a:off x="5638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10" name="Oval 76"/>
            <p:cNvSpPr>
              <a:spLocks noChangeArrowheads="1"/>
            </p:cNvSpPr>
            <p:nvPr/>
          </p:nvSpPr>
          <p:spPr bwMode="auto">
            <a:xfrm>
              <a:off x="47244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11" name="Oval 76"/>
            <p:cNvSpPr>
              <a:spLocks noChangeArrowheads="1"/>
            </p:cNvSpPr>
            <p:nvPr/>
          </p:nvSpPr>
          <p:spPr bwMode="auto">
            <a:xfrm>
              <a:off x="38100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12" name="Oval 76"/>
            <p:cNvSpPr>
              <a:spLocks noChangeArrowheads="1"/>
            </p:cNvSpPr>
            <p:nvPr/>
          </p:nvSpPr>
          <p:spPr bwMode="auto">
            <a:xfrm>
              <a:off x="2895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13" name="Oval 76"/>
            <p:cNvSpPr>
              <a:spLocks noChangeArrowheads="1"/>
            </p:cNvSpPr>
            <p:nvPr/>
          </p:nvSpPr>
          <p:spPr bwMode="auto">
            <a:xfrm>
              <a:off x="6553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14" name="Oval 76"/>
            <p:cNvSpPr>
              <a:spLocks noChangeArrowheads="1"/>
            </p:cNvSpPr>
            <p:nvPr/>
          </p:nvSpPr>
          <p:spPr bwMode="auto">
            <a:xfrm>
              <a:off x="7467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/>
                <a:t>access</a:t>
              </a:r>
            </a:p>
            <a:p>
              <a:pPr algn="ctr"/>
              <a:r>
                <a:rPr lang="en-US" altLang="en-US" sz="1600"/>
                <a:t>ISP</a:t>
              </a:r>
            </a:p>
          </p:txBody>
        </p:sp>
        <p:sp>
          <p:nvSpPr>
            <p:cNvPr id="102415" name="Oval 33"/>
            <p:cNvSpPr>
              <a:spLocks noChangeArrowheads="1"/>
            </p:cNvSpPr>
            <p:nvPr/>
          </p:nvSpPr>
          <p:spPr bwMode="auto">
            <a:xfrm>
              <a:off x="24384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solidFill>
                    <a:srgbClr val="808080"/>
                  </a:solidFill>
                </a:rPr>
                <a:t>Regional ISP</a:t>
              </a:r>
            </a:p>
          </p:txBody>
        </p:sp>
        <p:sp>
          <p:nvSpPr>
            <p:cNvPr id="102416" name="Oval 33"/>
            <p:cNvSpPr>
              <a:spLocks noChangeArrowheads="1"/>
            </p:cNvSpPr>
            <p:nvPr/>
          </p:nvSpPr>
          <p:spPr bwMode="auto">
            <a:xfrm>
              <a:off x="48006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solidFill>
                    <a:srgbClr val="808080"/>
                  </a:solidFill>
                </a:rPr>
                <a:t>Regional ISP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133157" y="2819400"/>
              <a:ext cx="609985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801284" y="27432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102419" name="Oval 34"/>
            <p:cNvSpPr>
              <a:spLocks noChangeArrowheads="1"/>
            </p:cNvSpPr>
            <p:nvPr/>
          </p:nvSpPr>
          <p:spPr bwMode="auto">
            <a:xfrm>
              <a:off x="11430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Tier 1 ISP</a:t>
              </a:r>
              <a:endParaRPr lang="en-US" altLang="en-US"/>
            </a:p>
          </p:txBody>
        </p:sp>
        <p:sp>
          <p:nvSpPr>
            <p:cNvPr id="102420" name="Oval 34"/>
            <p:cNvSpPr>
              <a:spLocks noChangeArrowheads="1"/>
            </p:cNvSpPr>
            <p:nvPr/>
          </p:nvSpPr>
          <p:spPr bwMode="auto">
            <a:xfrm>
              <a:off x="33528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Tier 1 ISP</a:t>
              </a:r>
              <a:endParaRPr lang="en-US" altLang="en-US"/>
            </a:p>
          </p:txBody>
        </p:sp>
        <p:sp>
          <p:nvSpPr>
            <p:cNvPr id="102421" name="Oval 34"/>
            <p:cNvSpPr>
              <a:spLocks noChangeArrowheads="1"/>
            </p:cNvSpPr>
            <p:nvPr/>
          </p:nvSpPr>
          <p:spPr bwMode="auto">
            <a:xfrm>
              <a:off x="5638800" y="1600200"/>
              <a:ext cx="1981200" cy="838200"/>
            </a:xfrm>
            <a:prstGeom prst="ellipse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Google</a:t>
              </a:r>
              <a:endParaRPr lang="en-US" altLang="en-US"/>
            </a:p>
          </p:txBody>
        </p:sp>
        <p:cxnSp>
          <p:nvCxnSpPr>
            <p:cNvPr id="84" name="Straight Connector 83"/>
            <p:cNvCxnSpPr>
              <a:endCxn id="102408" idx="0"/>
            </p:cNvCxnSpPr>
            <p:nvPr/>
          </p:nvCxnSpPr>
          <p:spPr>
            <a:xfrm rot="5400000">
              <a:off x="427081" y="3398633"/>
              <a:ext cx="2362200" cy="28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02415" idx="4"/>
            </p:cNvCxnSpPr>
            <p:nvPr/>
          </p:nvCxnSpPr>
          <p:spPr>
            <a:xfrm rot="5400000">
              <a:off x="3070887" y="4425754"/>
              <a:ext cx="504825" cy="92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02415" idx="3"/>
            </p:cNvCxnSpPr>
            <p:nvPr/>
          </p:nvCxnSpPr>
          <p:spPr>
            <a:xfrm rot="5400000">
              <a:off x="2265003" y="4277579"/>
              <a:ext cx="620712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808066" y="3459105"/>
              <a:ext cx="2438400" cy="244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79" idx="2"/>
            </p:cNvCxnSpPr>
            <p:nvPr/>
          </p:nvCxnSpPr>
          <p:spPr>
            <a:xfrm rot="5400000">
              <a:off x="1333803" y="3771707"/>
              <a:ext cx="1600200" cy="6099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7315797" y="28194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cxnSp>
          <p:nvCxnSpPr>
            <p:cNvPr id="90" name="Straight Connector 89"/>
            <p:cNvCxnSpPr/>
            <p:nvPr/>
          </p:nvCxnSpPr>
          <p:spPr>
            <a:xfrm rot="16200000" flipH="1">
              <a:off x="3747986" y="42525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02416" idx="2"/>
              <a:endCxn id="102415" idx="6"/>
            </p:cNvCxnSpPr>
            <p:nvPr/>
          </p:nvCxnSpPr>
          <p:spPr>
            <a:xfrm rot="10800000">
              <a:off x="4301663" y="3824288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5400000">
              <a:off x="4931639" y="4288692"/>
              <a:ext cx="620713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rot="16200000" flipH="1">
              <a:off x="5633414" y="4425226"/>
              <a:ext cx="544513" cy="76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02416" idx="5"/>
            </p:cNvCxnSpPr>
            <p:nvPr/>
          </p:nvCxnSpPr>
          <p:spPr>
            <a:xfrm rot="16200000" flipH="1">
              <a:off x="6276143" y="4218669"/>
              <a:ext cx="620712" cy="3907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02421" idx="4"/>
            </p:cNvCxnSpPr>
            <p:nvPr/>
          </p:nvCxnSpPr>
          <p:spPr>
            <a:xfrm rot="16200000" flipH="1">
              <a:off x="5747409" y="3320741"/>
              <a:ext cx="2297113" cy="532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0800000">
              <a:off x="2971328" y="1981200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10800000">
              <a:off x="5181593" y="1981200"/>
              <a:ext cx="4981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Arc 97"/>
            <p:cNvSpPr/>
            <p:nvPr/>
          </p:nvSpPr>
          <p:spPr>
            <a:xfrm>
              <a:off x="2133157" y="1371600"/>
              <a:ext cx="4190855" cy="457200"/>
            </a:xfrm>
            <a:prstGeom prst="arc">
              <a:avLst>
                <a:gd name="adj1" fmla="val 10681875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99" name="Straight Connector 98"/>
            <p:cNvCxnSpPr/>
            <p:nvPr/>
          </p:nvCxnSpPr>
          <p:spPr>
            <a:xfrm rot="16200000" flipH="1">
              <a:off x="6972290" y="2399831"/>
              <a:ext cx="533400" cy="3057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endCxn id="79" idx="0"/>
            </p:cNvCxnSpPr>
            <p:nvPr/>
          </p:nvCxnSpPr>
          <p:spPr>
            <a:xfrm rot="16200000" flipH="1">
              <a:off x="2095457" y="2475961"/>
              <a:ext cx="457200" cy="229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16200000" flipH="1">
              <a:off x="2628635" y="3238707"/>
              <a:ext cx="457200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10800000" flipV="1">
              <a:off x="2743142" y="2209800"/>
              <a:ext cx="2972375" cy="7731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4662218" y="24237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rot="5400000">
              <a:off x="3314806" y="2856893"/>
              <a:ext cx="1143000" cy="153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rot="16200000" flipH="1">
              <a:off x="5105256" y="3276738"/>
              <a:ext cx="304800" cy="1521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rot="10800000" flipV="1">
              <a:off x="4039175" y="3124200"/>
              <a:ext cx="762109" cy="5445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02419" idx="5"/>
            </p:cNvCxnSpPr>
            <p:nvPr/>
          </p:nvCxnSpPr>
          <p:spPr>
            <a:xfrm rot="16200000" flipH="1">
              <a:off x="3070757" y="1938325"/>
              <a:ext cx="1470025" cy="21431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89" idx="2"/>
            </p:cNvCxnSpPr>
            <p:nvPr/>
          </p:nvCxnSpPr>
          <p:spPr>
            <a:xfrm rot="16200000" flipH="1">
              <a:off x="7004680" y="3891964"/>
              <a:ext cx="1458913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5400000">
              <a:off x="6052348" y="3472202"/>
              <a:ext cx="1535113" cy="11439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89" idx="1"/>
            </p:cNvCxnSpPr>
            <p:nvPr/>
          </p:nvCxnSpPr>
          <p:spPr>
            <a:xfrm rot="10800000" flipV="1">
              <a:off x="6095826" y="3048000"/>
              <a:ext cx="1219971" cy="4683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endCxn id="80" idx="3"/>
            </p:cNvCxnSpPr>
            <p:nvPr/>
          </p:nvCxnSpPr>
          <p:spPr>
            <a:xfrm rot="10800000" flipV="1">
              <a:off x="5409778" y="2362200"/>
              <a:ext cx="780007" cy="60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5053332" y="2217738"/>
              <a:ext cx="2286327" cy="685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4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57375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Protocol </a:t>
            </a:r>
            <a:r>
              <a:rPr lang="ja-JP" altLang="en-US" b="1" dirty="0" smtClean="0"/>
              <a:t>“</a:t>
            </a:r>
            <a:r>
              <a:rPr lang="en-US" altLang="ja-JP" b="1" dirty="0" smtClean="0"/>
              <a:t>layers</a:t>
            </a:r>
            <a:r>
              <a:rPr lang="ja-JP" altLang="en-US" b="1" dirty="0" smtClean="0"/>
              <a:t>”</a:t>
            </a:r>
            <a:endParaRPr lang="en-US" altLang="en-US" b="1" dirty="0" smtClean="0"/>
          </a:p>
        </p:txBody>
      </p:sp>
      <p:sp>
        <p:nvSpPr>
          <p:cNvPr id="13210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7399" y="1371600"/>
            <a:ext cx="7572375" cy="4648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Networks are complex</a:t>
            </a:r>
            <a:r>
              <a:rPr lang="en-US" altLang="en-US" i="1" dirty="0" smtClean="0">
                <a:solidFill>
                  <a:srgbClr val="CC0000"/>
                </a:solidFill>
              </a:rPr>
              <a:t>, with </a:t>
            </a:r>
            <a:r>
              <a:rPr lang="en-US" altLang="en-US" i="1" dirty="0" smtClean="0">
                <a:solidFill>
                  <a:srgbClr val="CC0000"/>
                </a:solidFill>
              </a:rPr>
              <a:t>many </a:t>
            </a:r>
            <a:r>
              <a:rPr lang="ja-JP" altLang="en-US" i="1" dirty="0" smtClean="0">
                <a:solidFill>
                  <a:srgbClr val="CC0000"/>
                </a:solidFill>
              </a:rPr>
              <a:t>“</a:t>
            </a:r>
            <a:r>
              <a:rPr lang="en-US" altLang="ja-JP" i="1" dirty="0" smtClean="0">
                <a:solidFill>
                  <a:srgbClr val="CC0000"/>
                </a:solidFill>
              </a:rPr>
              <a:t>pieces</a:t>
            </a:r>
            <a:r>
              <a:rPr lang="ja-JP" altLang="en-US" i="1" dirty="0" smtClean="0">
                <a:solidFill>
                  <a:srgbClr val="CC0000"/>
                </a:solidFill>
              </a:rPr>
              <a:t>”</a:t>
            </a:r>
            <a:r>
              <a:rPr lang="en-US" altLang="ja-JP" i="1" dirty="0" smtClean="0">
                <a:solidFill>
                  <a:srgbClr val="CC0000"/>
                </a:solidFill>
              </a:rPr>
              <a:t>:</a:t>
            </a:r>
          </a:p>
          <a:p>
            <a:pPr lvl="1" eaLnBrk="1" hangingPunct="1"/>
            <a:r>
              <a:rPr lang="en-US" altLang="en-US" sz="2800" dirty="0">
                <a:ea typeface="Arial" panose="020B0604020202020204" pitchFamily="34" charset="0"/>
              </a:rPr>
              <a:t>hosts</a:t>
            </a:r>
          </a:p>
          <a:p>
            <a:pPr lvl="1" eaLnBrk="1" hangingPunct="1"/>
            <a:r>
              <a:rPr lang="en-US" altLang="en-US" sz="2800" dirty="0">
                <a:ea typeface="Arial" panose="020B0604020202020204" pitchFamily="34" charset="0"/>
              </a:rPr>
              <a:t>routers</a:t>
            </a:r>
          </a:p>
          <a:p>
            <a:pPr lvl="1" eaLnBrk="1" hangingPunct="1"/>
            <a:r>
              <a:rPr lang="en-US" altLang="en-US" sz="2800" dirty="0">
                <a:ea typeface="Arial" panose="020B0604020202020204" pitchFamily="34" charset="0"/>
              </a:rPr>
              <a:t>links of various media</a:t>
            </a:r>
          </a:p>
          <a:p>
            <a:pPr lvl="1" eaLnBrk="1" hangingPunct="1"/>
            <a:r>
              <a:rPr lang="en-US" altLang="en-US" sz="2800" dirty="0">
                <a:ea typeface="Arial" panose="020B0604020202020204" pitchFamily="34" charset="0"/>
              </a:rPr>
              <a:t>applications</a:t>
            </a:r>
          </a:p>
          <a:p>
            <a:pPr lvl="1" eaLnBrk="1" hangingPunct="1"/>
            <a:r>
              <a:rPr lang="en-US" altLang="en-US" sz="2800" dirty="0">
                <a:ea typeface="Arial" panose="020B0604020202020204" pitchFamily="34" charset="0"/>
              </a:rPr>
              <a:t>protocols</a:t>
            </a:r>
          </a:p>
          <a:p>
            <a:pPr lvl="1" eaLnBrk="1" hangingPunct="1"/>
            <a:r>
              <a:rPr lang="en-US" altLang="en-US" sz="2800" dirty="0">
                <a:ea typeface="Arial" panose="020B0604020202020204" pitchFamily="34" charset="0"/>
              </a:rPr>
              <a:t>hardware, software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1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00225" y="1428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Organization of air travel</a:t>
            </a:r>
            <a:endParaRPr lang="en-US" altLang="en-US" b="1" dirty="0" smtClean="0"/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62200" y="5489576"/>
            <a:ext cx="7772400" cy="54292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mtClean="0"/>
              <a:t>a series of steps</a:t>
            </a:r>
          </a:p>
        </p:txBody>
      </p:sp>
      <p:grpSp>
        <p:nvGrpSpPr>
          <p:cNvPr id="134149" name="Group 4"/>
          <p:cNvGrpSpPr>
            <a:grpSpLocks/>
          </p:cNvGrpSpPr>
          <p:nvPr/>
        </p:nvGrpSpPr>
        <p:grpSpPr bwMode="auto">
          <a:xfrm>
            <a:off x="2635250" y="1587501"/>
            <a:ext cx="6508750" cy="3294063"/>
            <a:chOff x="700" y="1000"/>
            <a:chExt cx="4100" cy="2075"/>
          </a:xfrm>
        </p:grpSpPr>
        <p:sp>
          <p:nvSpPr>
            <p:cNvPr id="134151" name="Text Box 5"/>
            <p:cNvSpPr txBox="1">
              <a:spLocks noChangeArrowheads="1"/>
            </p:cNvSpPr>
            <p:nvPr/>
          </p:nvSpPr>
          <p:spPr bwMode="auto">
            <a:xfrm>
              <a:off x="846" y="1007"/>
              <a:ext cx="1307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99"/>
                  </a:solidFill>
                </a:rPr>
                <a:t>ticket (purchase)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baggage (check)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gates (load)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runway takeoff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134152" name="Text Box 6"/>
            <p:cNvSpPr txBox="1">
              <a:spLocks noChangeArrowheads="1"/>
            </p:cNvSpPr>
            <p:nvPr/>
          </p:nvSpPr>
          <p:spPr bwMode="auto">
            <a:xfrm>
              <a:off x="3242" y="1001"/>
              <a:ext cx="1280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99"/>
                  </a:solidFill>
                </a:rPr>
                <a:t>ticket (complain)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baggage (claim)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gates (unload)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runway landing</a:t>
              </a:r>
            </a:p>
            <a:p>
              <a:endParaRPr lang="en-US" altLang="en-US" sz="2000">
                <a:solidFill>
                  <a:srgbClr val="000099"/>
                </a:solidFill>
              </a:endParaRPr>
            </a:p>
            <a:p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134153" name="Text Box 7"/>
            <p:cNvSpPr txBox="1">
              <a:spLocks noChangeArrowheads="1"/>
            </p:cNvSpPr>
            <p:nvPr/>
          </p:nvSpPr>
          <p:spPr bwMode="auto">
            <a:xfrm>
              <a:off x="2074" y="2825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134154" name="Freeform 8"/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00"/>
                <a:gd name="T19" fmla="*/ 0 h 2072"/>
                <a:gd name="T20" fmla="*/ 4100 w 4100"/>
                <a:gd name="T21" fmla="*/ 2072 h 20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41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ECCE98A8-E3E7-46F7-9E61-51588CE1431C}" type="slidenum">
              <a:rPr lang="en-US" altLang="en-US" sz="1200">
                <a:latin typeface="Tahoma" panose="020B0604030504040204" pitchFamily="34" charset="0"/>
              </a:rPr>
              <a:pPr/>
              <a:t>27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16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5" name="Group 38"/>
          <p:cNvGrpSpPr>
            <a:grpSpLocks/>
          </p:cNvGrpSpPr>
          <p:nvPr/>
        </p:nvGrpSpPr>
        <p:grpSpPr bwMode="auto">
          <a:xfrm>
            <a:off x="1958976" y="1314451"/>
            <a:ext cx="8418513" cy="2835275"/>
            <a:chOff x="258" y="1214"/>
            <a:chExt cx="5303" cy="1786"/>
          </a:xfrm>
        </p:grpSpPr>
        <p:sp>
          <p:nvSpPr>
            <p:cNvPr id="136199" name="Rectangle 2"/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6200" name="Text Box 3"/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400"/>
                <a:t>ticket (purchase)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baggage (check)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gates (load)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runway (takeoff)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136201" name="Line 4"/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2" name="Line 5"/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3" name="Line 6"/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4" name="Line 7"/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5" name="Text Box 8"/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departure</a:t>
              </a:r>
            </a:p>
            <a:p>
              <a:pPr algn="ctr" eaLnBrk="1" hangingPunct="1"/>
              <a:r>
                <a:rPr lang="en-US" altLang="en-US" sz="1200"/>
                <a:t>airport</a:t>
              </a:r>
            </a:p>
          </p:txBody>
        </p:sp>
        <p:sp>
          <p:nvSpPr>
            <p:cNvPr id="136206" name="Text Box 9"/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arrival</a:t>
              </a:r>
            </a:p>
            <a:p>
              <a:pPr algn="ctr" eaLnBrk="1" hangingPunct="1"/>
              <a:r>
                <a:rPr lang="en-US" altLang="en-US" sz="1200"/>
                <a:t>airport</a:t>
              </a:r>
            </a:p>
          </p:txBody>
        </p:sp>
        <p:sp>
          <p:nvSpPr>
            <p:cNvPr id="136207" name="Text Box 10"/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intermediate air-traffic</a:t>
              </a:r>
            </a:p>
            <a:p>
              <a:pPr algn="ctr" eaLnBrk="1" hangingPunct="1"/>
              <a:r>
                <a:rPr lang="en-US" altLang="en-US" sz="1200"/>
                <a:t>control centers</a:t>
              </a:r>
            </a:p>
          </p:txBody>
        </p:sp>
        <p:pic>
          <p:nvPicPr>
            <p:cNvPr id="136208" name="Picture 11" descr="yylgaifm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209" name="Line 12"/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0" name="Line 13"/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1" name="Line 14"/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6212" name="Group 15"/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136232" name="Rectangle 16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233" name="Text Box 17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altLang="en-US" sz="1400"/>
                  <a:t>airplane routing</a:t>
                </a:r>
              </a:p>
            </p:txBody>
          </p:sp>
        </p:grpSp>
        <p:grpSp>
          <p:nvGrpSpPr>
            <p:cNvPr id="136213" name="Group 18"/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136230" name="Rectangle 19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6231" name="Text Box 20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altLang="en-US" sz="1400"/>
                  <a:t>airplane routing</a:t>
                </a:r>
              </a:p>
            </p:txBody>
          </p:sp>
        </p:grpSp>
        <p:sp>
          <p:nvSpPr>
            <p:cNvPr id="136214" name="Rectangle 21"/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6215" name="Text Box 22"/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1400"/>
                <a:t>ticket (complain)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baggage (claim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gates (unload)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runway (land)</a:t>
              </a:r>
            </a:p>
            <a:p>
              <a:pPr algn="ctr">
                <a:lnSpc>
                  <a:spcPct val="80000"/>
                </a:lnSpc>
              </a:pPr>
              <a:endParaRPr lang="en-US" altLang="en-US" sz="1400"/>
            </a:p>
            <a:p>
              <a:pPr algn="ctr">
                <a:lnSpc>
                  <a:spcPct val="80000"/>
                </a:lnSpc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136216" name="Line 23"/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7" name="Line 24"/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8" name="Line 25"/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9" name="Line 26"/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20" name="Rectangle 27"/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6221" name="Rectangle 28"/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6222" name="Rectangle 29"/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6223" name="Rectangle 30"/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6224" name="Rectangle 31"/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6225" name="Text Box 32"/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ticket</a:t>
              </a:r>
            </a:p>
          </p:txBody>
        </p:sp>
        <p:sp>
          <p:nvSpPr>
            <p:cNvPr id="136226" name="Text Box 33"/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baggage</a:t>
              </a:r>
            </a:p>
          </p:txBody>
        </p:sp>
        <p:sp>
          <p:nvSpPr>
            <p:cNvPr id="136227" name="Text Box 34"/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gate</a:t>
              </a:r>
            </a:p>
          </p:txBody>
        </p:sp>
        <p:sp>
          <p:nvSpPr>
            <p:cNvPr id="136228" name="Text Box 35"/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takeoff/landing</a:t>
              </a:r>
            </a:p>
          </p:txBody>
        </p:sp>
        <p:sp>
          <p:nvSpPr>
            <p:cNvPr id="136229" name="Text Box 36"/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200"/>
                <a:t>airplane routing</a:t>
              </a:r>
            </a:p>
          </p:txBody>
        </p:sp>
      </p:grpSp>
      <p:sp>
        <p:nvSpPr>
          <p:cNvPr id="136196" name="Rectangle 39"/>
          <p:cNvSpPr>
            <a:spLocks noGrp="1" noChangeArrowheads="1"/>
          </p:cNvSpPr>
          <p:nvPr>
            <p:ph type="title" idx="4294967295"/>
          </p:nvPr>
        </p:nvSpPr>
        <p:spPr>
          <a:xfrm>
            <a:off x="1843088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Layering of airline functionality</a:t>
            </a:r>
          </a:p>
        </p:txBody>
      </p:sp>
      <p:sp>
        <p:nvSpPr>
          <p:cNvPr id="136197" name="Rectangle 40"/>
          <p:cNvSpPr>
            <a:spLocks noGrp="1" noChangeArrowheads="1"/>
          </p:cNvSpPr>
          <p:nvPr>
            <p:ph type="body" idx="4294967295"/>
          </p:nvPr>
        </p:nvSpPr>
        <p:spPr>
          <a:xfrm>
            <a:off x="2057400" y="4441826"/>
            <a:ext cx="7613650" cy="17637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layers:</a:t>
            </a:r>
            <a:r>
              <a:rPr lang="en-US" altLang="en-US" smtClean="0">
                <a:solidFill>
                  <a:srgbClr val="FF0000"/>
                </a:solidFill>
              </a:rPr>
              <a:t> </a:t>
            </a:r>
            <a:r>
              <a:rPr lang="en-US" altLang="en-US" smtClean="0"/>
              <a:t>each layer implements a service</a:t>
            </a:r>
          </a:p>
          <a:p>
            <a:pPr lvl="1" eaLnBrk="1" hangingPunct="1"/>
            <a:r>
              <a:rPr lang="en-US" altLang="en-US" sz="2800">
                <a:ea typeface="Arial" panose="020B0604020202020204" pitchFamily="34" charset="0"/>
              </a:rPr>
              <a:t>via its own internal-layer actions</a:t>
            </a:r>
          </a:p>
          <a:p>
            <a:pPr lvl="1" eaLnBrk="1" hangingPunct="1"/>
            <a:r>
              <a:rPr lang="en-US" altLang="en-US" sz="2800">
                <a:ea typeface="Arial" panose="020B0604020202020204" pitchFamily="34" charset="0"/>
              </a:rPr>
              <a:t>relying on services provided by layer below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9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Why layering?</a:t>
            </a:r>
          </a:p>
        </p:txBody>
      </p:sp>
      <p:sp>
        <p:nvSpPr>
          <p:cNvPr id="138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70100" y="1435100"/>
            <a:ext cx="7772400" cy="46482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dirty="0"/>
              <a:t>dealing with complex systems:</a:t>
            </a:r>
          </a:p>
          <a:p>
            <a:pPr eaLnBrk="1" hangingPunct="1">
              <a:buSzPct val="75000"/>
            </a:pPr>
            <a:r>
              <a:rPr lang="en-US" altLang="en-US" dirty="0" smtClean="0"/>
              <a:t>explicit structure allows identification, relationship of complex system</a:t>
            </a:r>
            <a:r>
              <a:rPr lang="ja-JP" altLang="en-US" dirty="0" smtClean="0"/>
              <a:t>’</a:t>
            </a:r>
            <a:r>
              <a:rPr lang="en-US" altLang="ja-JP" dirty="0" smtClean="0"/>
              <a:t>s pieces</a:t>
            </a:r>
          </a:p>
          <a:p>
            <a:pPr lvl="1" eaLnBrk="1" hangingPunct="1"/>
            <a:r>
              <a:rPr lang="en-US" altLang="en-US" dirty="0" smtClean="0">
                <a:ea typeface="Arial" panose="020B0604020202020204" pitchFamily="34" charset="0"/>
              </a:rPr>
              <a:t>layered </a:t>
            </a:r>
            <a:r>
              <a:rPr lang="en-US" altLang="en-US" i="1" dirty="0" smtClean="0">
                <a:solidFill>
                  <a:srgbClr val="CC0000"/>
                </a:solidFill>
                <a:ea typeface="Arial" panose="020B0604020202020204" pitchFamily="34" charset="0"/>
              </a:rPr>
              <a:t>reference model</a:t>
            </a:r>
            <a:r>
              <a:rPr lang="en-US" altLang="en-US" dirty="0" smtClean="0">
                <a:ea typeface="Arial" panose="020B0604020202020204" pitchFamily="34" charset="0"/>
              </a:rPr>
              <a:t> for discussion</a:t>
            </a:r>
          </a:p>
          <a:p>
            <a:pPr eaLnBrk="1" hangingPunct="1">
              <a:buSzPct val="75000"/>
            </a:pPr>
            <a:r>
              <a:rPr lang="en-US" altLang="en-US" dirty="0" smtClean="0"/>
              <a:t>modularization eases maintenance, updating of system</a:t>
            </a:r>
          </a:p>
          <a:p>
            <a:pPr lvl="1" eaLnBrk="1" hangingPunct="1"/>
            <a:r>
              <a:rPr lang="en-US" altLang="en-US" dirty="0" smtClean="0">
                <a:ea typeface="Arial" panose="020B0604020202020204" pitchFamily="34" charset="0"/>
              </a:rPr>
              <a:t>change of implementation of layer</a:t>
            </a:r>
            <a:r>
              <a:rPr lang="ja-JP" altLang="en-US" dirty="0" smtClean="0">
                <a:ea typeface="MS PGothic" panose="020B0600070205080204" pitchFamily="34" charset="-128"/>
              </a:rPr>
              <a:t>’</a:t>
            </a:r>
            <a:r>
              <a:rPr lang="en-US" altLang="ja-JP" dirty="0" smtClean="0">
                <a:ea typeface="MS PGothic" panose="020B0600070205080204" pitchFamily="34" charset="-128"/>
              </a:rPr>
              <a:t>s service transparent to rest of system</a:t>
            </a:r>
          </a:p>
          <a:p>
            <a:pPr lvl="1" eaLnBrk="1" hangingPunct="1"/>
            <a:r>
              <a:rPr lang="en-US" altLang="en-US" dirty="0" smtClean="0">
                <a:ea typeface="Arial" panose="020B0604020202020204" pitchFamily="34" charset="0"/>
              </a:rPr>
              <a:t>e.g., change in gate procedure </a:t>
            </a:r>
            <a:r>
              <a:rPr lang="en-US" altLang="en-US" dirty="0" err="1" smtClean="0">
                <a:ea typeface="Arial" panose="020B0604020202020204" pitchFamily="34" charset="0"/>
              </a:rPr>
              <a:t>doesn</a:t>
            </a:r>
            <a:r>
              <a:rPr lang="ja-JP" altLang="en-US" dirty="0" smtClean="0">
                <a:ea typeface="MS PGothic" panose="020B0600070205080204" pitchFamily="34" charset="-128"/>
              </a:rPr>
              <a:t>’</a:t>
            </a:r>
            <a:r>
              <a:rPr lang="en-US" altLang="ja-JP" dirty="0" smtClean="0">
                <a:ea typeface="MS PGothic" panose="020B0600070205080204" pitchFamily="34" charset="-128"/>
              </a:rPr>
              <a:t>t affect rest of </a:t>
            </a:r>
            <a:r>
              <a:rPr lang="en-US" altLang="ja-JP" dirty="0" smtClean="0">
                <a:ea typeface="MS PGothic" panose="020B0600070205080204" pitchFamily="34" charset="-128"/>
              </a:rPr>
              <a:t>system</a:t>
            </a:r>
            <a:endParaRPr lang="en-US" altLang="ja-JP" dirty="0" smtClean="0">
              <a:ea typeface="MS PGothic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2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2"/>
          <p:cNvSpPr>
            <a:spLocks noChangeArrowheads="1"/>
          </p:cNvSpPr>
          <p:nvPr/>
        </p:nvSpPr>
        <p:spPr bwMode="auto">
          <a:xfrm>
            <a:off x="8099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40292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957388" y="114300"/>
            <a:ext cx="7772400" cy="1028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smtClean="0"/>
              <a:t>Internet protocol </a:t>
            </a:r>
            <a:r>
              <a:rPr lang="en-US" altLang="en-US" b="1" dirty="0" smtClean="0"/>
              <a:t>stack (TCP/IP Protocol Suite</a:t>
            </a:r>
            <a:endParaRPr lang="en-US" altLang="en-US" b="1" dirty="0" smtClean="0"/>
          </a:p>
        </p:txBody>
      </p:sp>
      <p:sp>
        <p:nvSpPr>
          <p:cNvPr id="140293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345475" y="1333500"/>
            <a:ext cx="6260240" cy="4648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i="1" dirty="0" smtClean="0">
                <a:solidFill>
                  <a:srgbClr val="CC0000"/>
                </a:solidFill>
              </a:rPr>
              <a:t>application:</a:t>
            </a:r>
            <a:r>
              <a:rPr lang="en-US" altLang="en-US" dirty="0" smtClean="0"/>
              <a:t> supporting network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>
                <a:ea typeface="Arial" panose="020B0604020202020204" pitchFamily="34" charset="0"/>
              </a:rPr>
              <a:t>FTP, SMTP, HTTP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i="1" dirty="0" smtClean="0">
                <a:solidFill>
                  <a:srgbClr val="CC0000"/>
                </a:solidFill>
              </a:rPr>
              <a:t>transport:</a:t>
            </a:r>
            <a:r>
              <a:rPr lang="en-US" altLang="en-US" dirty="0" smtClean="0"/>
              <a:t> process-process data transfer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>
                <a:ea typeface="Arial" panose="020B0604020202020204" pitchFamily="34" charset="0"/>
              </a:rPr>
              <a:t>TCP, UDP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i="1" dirty="0" smtClean="0">
                <a:solidFill>
                  <a:srgbClr val="CC0000"/>
                </a:solidFill>
              </a:rPr>
              <a:t>network:</a:t>
            </a:r>
            <a:r>
              <a:rPr lang="en-US" altLang="en-US" dirty="0" smtClean="0"/>
              <a:t> routing of datagrams from source to destination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>
                <a:ea typeface="Arial" panose="020B0604020202020204" pitchFamily="34" charset="0"/>
              </a:rPr>
              <a:t>IP, routing protocols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i="1" dirty="0" smtClean="0">
                <a:solidFill>
                  <a:srgbClr val="CC0000"/>
                </a:solidFill>
              </a:rPr>
              <a:t>link:</a:t>
            </a:r>
            <a:r>
              <a:rPr lang="en-US" altLang="en-US" dirty="0" smtClean="0"/>
              <a:t> data transfer between neighboring  network elements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>
                <a:ea typeface="Arial" panose="020B0604020202020204" pitchFamily="34" charset="0"/>
              </a:rPr>
              <a:t>Ethernet, 802.111 (</a:t>
            </a:r>
            <a:r>
              <a:rPr lang="en-US" altLang="en-US" dirty="0" err="1" smtClean="0">
                <a:ea typeface="Arial" panose="020B0604020202020204" pitchFamily="34" charset="0"/>
              </a:rPr>
              <a:t>WiFi</a:t>
            </a:r>
            <a:r>
              <a:rPr lang="en-US" altLang="en-US" dirty="0" smtClean="0">
                <a:ea typeface="Arial" panose="020B0604020202020204" pitchFamily="34" charset="0"/>
              </a:rPr>
              <a:t>), PPP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i="1" dirty="0" smtClean="0">
                <a:solidFill>
                  <a:srgbClr val="CC0000"/>
                </a:solidFill>
              </a:rPr>
              <a:t>physical:</a:t>
            </a:r>
            <a:r>
              <a:rPr lang="en-US" altLang="en-US" dirty="0" smtClean="0"/>
              <a:t> bits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on the wire</a:t>
            </a:r>
            <a:r>
              <a:rPr lang="ja-JP" altLang="en-US" dirty="0" smtClean="0"/>
              <a:t>”</a:t>
            </a:r>
            <a:endParaRPr lang="en-US" altLang="ja-JP" dirty="0" smtClean="0"/>
          </a:p>
          <a:p>
            <a:pPr eaLnBrk="1" hangingPunct="1">
              <a:lnSpc>
                <a:spcPct val="80000"/>
              </a:lnSpc>
            </a:pPr>
            <a:endParaRPr lang="en-US" altLang="en-US" dirty="0" smtClean="0"/>
          </a:p>
        </p:txBody>
      </p:sp>
      <p:sp>
        <p:nvSpPr>
          <p:cNvPr id="140294" name="Rectangle 6"/>
          <p:cNvSpPr>
            <a:spLocks noChangeArrowheads="1"/>
          </p:cNvSpPr>
          <p:nvPr/>
        </p:nvSpPr>
        <p:spPr bwMode="auto">
          <a:xfrm>
            <a:off x="7981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40295" name="Text Box 7"/>
          <p:cNvSpPr txBox="1">
            <a:spLocks noChangeArrowheads="1"/>
          </p:cNvSpPr>
          <p:nvPr/>
        </p:nvSpPr>
        <p:spPr bwMode="auto">
          <a:xfrm>
            <a:off x="8079337" y="1920875"/>
            <a:ext cx="1659429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/>
              <a:t>application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transport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network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link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physical</a:t>
            </a:r>
          </a:p>
        </p:txBody>
      </p:sp>
      <p:sp>
        <p:nvSpPr>
          <p:cNvPr id="140296" name="Line 8"/>
          <p:cNvSpPr>
            <a:spLocks noChangeShapeType="1"/>
          </p:cNvSpPr>
          <p:nvPr/>
        </p:nvSpPr>
        <p:spPr bwMode="auto">
          <a:xfrm>
            <a:off x="7975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297" name="Line 9"/>
          <p:cNvSpPr>
            <a:spLocks noChangeShapeType="1"/>
          </p:cNvSpPr>
          <p:nvPr/>
        </p:nvSpPr>
        <p:spPr bwMode="auto">
          <a:xfrm>
            <a:off x="7975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298" name="Line 10"/>
          <p:cNvSpPr>
            <a:spLocks noChangeShapeType="1"/>
          </p:cNvSpPr>
          <p:nvPr/>
        </p:nvSpPr>
        <p:spPr bwMode="auto">
          <a:xfrm>
            <a:off x="7975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299" name="Line 11"/>
          <p:cNvSpPr>
            <a:spLocks noChangeShapeType="1"/>
          </p:cNvSpPr>
          <p:nvPr/>
        </p:nvSpPr>
        <p:spPr bwMode="auto">
          <a:xfrm>
            <a:off x="7975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1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8029575" y="16383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924050" y="85725"/>
            <a:ext cx="6503988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ISO/OSI reference model</a:t>
            </a:r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423851" y="1422400"/>
            <a:ext cx="5838963" cy="4648200"/>
          </a:xfrm>
        </p:spPr>
        <p:txBody>
          <a:bodyPr>
            <a:normAutofit/>
          </a:bodyPr>
          <a:lstStyle/>
          <a:p>
            <a:pPr eaLnBrk="1" hangingPunct="1">
              <a:buSzPct val="75000"/>
            </a:pPr>
            <a:r>
              <a:rPr lang="en-US" altLang="en-US" i="1" dirty="0" smtClean="0">
                <a:solidFill>
                  <a:srgbClr val="CC0000"/>
                </a:solidFill>
              </a:rPr>
              <a:t>presentation:</a:t>
            </a:r>
            <a:r>
              <a:rPr lang="en-US" altLang="en-US" dirty="0" smtClean="0"/>
              <a:t> allow applications to interpret meaning of data, e.g., encryption, compression, machine-specific conventions</a:t>
            </a:r>
          </a:p>
          <a:p>
            <a:pPr eaLnBrk="1" hangingPunct="1">
              <a:buSzPct val="75000"/>
            </a:pPr>
            <a:r>
              <a:rPr lang="en-US" altLang="en-US" i="1" dirty="0" smtClean="0">
                <a:solidFill>
                  <a:srgbClr val="CC0000"/>
                </a:solidFill>
              </a:rPr>
              <a:t>session:</a:t>
            </a:r>
            <a:r>
              <a:rPr lang="en-US" altLang="en-US" dirty="0" smtClean="0"/>
              <a:t> synchronization, </a:t>
            </a:r>
            <a:r>
              <a:rPr lang="en-US" altLang="en-US" dirty="0" err="1" smtClean="0"/>
              <a:t>checkpointing</a:t>
            </a:r>
            <a:r>
              <a:rPr lang="en-US" altLang="en-US" dirty="0" smtClean="0"/>
              <a:t>, recovery of data exchange</a:t>
            </a:r>
          </a:p>
          <a:p>
            <a:pPr eaLnBrk="1" hangingPunct="1">
              <a:buSzPct val="75000"/>
            </a:pPr>
            <a:r>
              <a:rPr lang="en-US" altLang="en-US" dirty="0" smtClean="0"/>
              <a:t>Internet stack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missing</a:t>
            </a:r>
            <a:r>
              <a:rPr lang="ja-JP" altLang="en-US" dirty="0" smtClean="0"/>
              <a:t>”</a:t>
            </a:r>
            <a:r>
              <a:rPr lang="en-US" altLang="ja-JP" dirty="0" smtClean="0"/>
              <a:t> these layers!</a:t>
            </a:r>
          </a:p>
          <a:p>
            <a:pPr lvl="1" eaLnBrk="1" hangingPunct="1"/>
            <a:r>
              <a:rPr lang="en-US" altLang="en-US" dirty="0" smtClean="0">
                <a:ea typeface="Arial" panose="020B0604020202020204" pitchFamily="34" charset="0"/>
              </a:rPr>
              <a:t>these services, </a:t>
            </a:r>
            <a:r>
              <a:rPr lang="en-US" altLang="en-US" i="1" dirty="0" smtClean="0">
                <a:ea typeface="Arial" panose="020B0604020202020204" pitchFamily="34" charset="0"/>
              </a:rPr>
              <a:t>if needed,</a:t>
            </a:r>
            <a:r>
              <a:rPr lang="en-US" altLang="en-US" dirty="0" smtClean="0">
                <a:ea typeface="Arial" panose="020B0604020202020204" pitchFamily="34" charset="0"/>
              </a:rPr>
              <a:t> must be implemented in </a:t>
            </a:r>
            <a:r>
              <a:rPr lang="en-US" altLang="en-US" dirty="0" smtClean="0">
                <a:ea typeface="Arial" panose="020B0604020202020204" pitchFamily="34" charset="0"/>
              </a:rPr>
              <a:t>application</a:t>
            </a:r>
            <a:endParaRPr lang="en-US" altLang="en-US" dirty="0" smtClean="0">
              <a:ea typeface="Arial" panose="020B0604020202020204" pitchFamily="34" charset="0"/>
            </a:endParaRPr>
          </a:p>
        </p:txBody>
      </p:sp>
      <p:sp>
        <p:nvSpPr>
          <p:cNvPr id="142341" name="Rectangle 6"/>
          <p:cNvSpPr>
            <a:spLocks noChangeArrowheads="1"/>
          </p:cNvSpPr>
          <p:nvPr/>
        </p:nvSpPr>
        <p:spPr bwMode="auto">
          <a:xfrm>
            <a:off x="7915275" y="1774826"/>
            <a:ext cx="1892300" cy="35861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42" name="Text Box 7"/>
          <p:cNvSpPr txBox="1">
            <a:spLocks noChangeArrowheads="1"/>
          </p:cNvSpPr>
          <p:nvPr/>
        </p:nvSpPr>
        <p:spPr bwMode="auto">
          <a:xfrm>
            <a:off x="7872414" y="1946276"/>
            <a:ext cx="1982787" cy="345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/>
              <a:t>application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presentation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session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transport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network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link</a:t>
            </a:r>
          </a:p>
          <a:p>
            <a:pPr algn="ctr">
              <a:lnSpc>
                <a:spcPct val="70000"/>
              </a:lnSpc>
            </a:pPr>
            <a:endParaRPr lang="en-US" altLang="en-US"/>
          </a:p>
          <a:p>
            <a:pPr algn="ctr">
              <a:lnSpc>
                <a:spcPct val="70000"/>
              </a:lnSpc>
            </a:pPr>
            <a:r>
              <a:rPr lang="en-US" altLang="en-US"/>
              <a:t>physical</a:t>
            </a:r>
          </a:p>
        </p:txBody>
      </p:sp>
      <p:sp>
        <p:nvSpPr>
          <p:cNvPr id="142343" name="Line 8"/>
          <p:cNvSpPr>
            <a:spLocks noChangeShapeType="1"/>
          </p:cNvSpPr>
          <p:nvPr/>
        </p:nvSpPr>
        <p:spPr bwMode="auto">
          <a:xfrm>
            <a:off x="7894638" y="236696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44" name="Line 9"/>
          <p:cNvSpPr>
            <a:spLocks noChangeShapeType="1"/>
          </p:cNvSpPr>
          <p:nvPr/>
        </p:nvSpPr>
        <p:spPr bwMode="auto">
          <a:xfrm>
            <a:off x="7908925" y="33432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45" name="Line 10"/>
          <p:cNvSpPr>
            <a:spLocks noChangeShapeType="1"/>
          </p:cNvSpPr>
          <p:nvPr/>
        </p:nvSpPr>
        <p:spPr bwMode="auto">
          <a:xfrm>
            <a:off x="7908925" y="3883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46" name="Line 11"/>
          <p:cNvSpPr>
            <a:spLocks noChangeShapeType="1"/>
          </p:cNvSpPr>
          <p:nvPr/>
        </p:nvSpPr>
        <p:spPr bwMode="auto">
          <a:xfrm>
            <a:off x="7910513" y="4899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47" name="Line 12"/>
          <p:cNvSpPr>
            <a:spLocks noChangeShapeType="1"/>
          </p:cNvSpPr>
          <p:nvPr/>
        </p:nvSpPr>
        <p:spPr bwMode="auto">
          <a:xfrm>
            <a:off x="7894638" y="44164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48" name="Line 13"/>
          <p:cNvSpPr>
            <a:spLocks noChangeShapeType="1"/>
          </p:cNvSpPr>
          <p:nvPr/>
        </p:nvSpPr>
        <p:spPr bwMode="auto">
          <a:xfrm>
            <a:off x="7893050" y="28860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5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Freeform 99"/>
          <p:cNvSpPr>
            <a:spLocks/>
          </p:cNvSpPr>
          <p:nvPr/>
        </p:nvSpPr>
        <p:spPr bwMode="auto">
          <a:xfrm>
            <a:off x="8502650" y="4156076"/>
            <a:ext cx="655638" cy="1135063"/>
          </a:xfrm>
          <a:custGeom>
            <a:avLst/>
            <a:gdLst>
              <a:gd name="T0" fmla="*/ 2147483647 w 413"/>
              <a:gd name="T1" fmla="*/ 2147483647 h 715"/>
              <a:gd name="T2" fmla="*/ 2147483647 w 413"/>
              <a:gd name="T3" fmla="*/ 0 h 715"/>
              <a:gd name="T4" fmla="*/ 0 w 413"/>
              <a:gd name="T5" fmla="*/ 2147483647 h 715"/>
              <a:gd name="T6" fmla="*/ 2147483647 w 413"/>
              <a:gd name="T7" fmla="*/ 2147483647 h 715"/>
              <a:gd name="T8" fmla="*/ 2147483647 w 413"/>
              <a:gd name="T9" fmla="*/ 2147483647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88" name="Freeform 3"/>
          <p:cNvSpPr>
            <a:spLocks/>
          </p:cNvSpPr>
          <p:nvPr/>
        </p:nvSpPr>
        <p:spPr bwMode="auto">
          <a:xfrm>
            <a:off x="8653464" y="2246314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389" name="Group 180"/>
          <p:cNvGrpSpPr>
            <a:grpSpLocks/>
          </p:cNvGrpSpPr>
          <p:nvPr/>
        </p:nvGrpSpPr>
        <p:grpSpPr bwMode="auto">
          <a:xfrm>
            <a:off x="8853488" y="2754313"/>
            <a:ext cx="1052512" cy="355600"/>
            <a:chOff x="4410" y="1365"/>
            <a:chExt cx="663" cy="224"/>
          </a:xfrm>
        </p:grpSpPr>
        <p:sp>
          <p:nvSpPr>
            <p:cNvPr id="144523" name="Rectangle 181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24" name="AutoShape 182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25" name="Freeform 183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526" name="Freeform 184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93 h 63"/>
                <a:gd name="T2" fmla="*/ 13798 w 280"/>
                <a:gd name="T3" fmla="*/ 674 h 63"/>
                <a:gd name="T4" fmla="*/ 81432 w 280"/>
                <a:gd name="T5" fmla="*/ 0 h 63"/>
                <a:gd name="T6" fmla="*/ 103965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4527" name="Freeform 185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4390" name="Group 170"/>
          <p:cNvGrpSpPr>
            <a:grpSpLocks/>
          </p:cNvGrpSpPr>
          <p:nvPr/>
        </p:nvGrpSpPr>
        <p:grpSpPr bwMode="auto">
          <a:xfrm>
            <a:off x="8916988" y="5013326"/>
            <a:ext cx="881062" cy="422275"/>
            <a:chOff x="2356" y="1300"/>
            <a:chExt cx="555" cy="194"/>
          </a:xfrm>
        </p:grpSpPr>
        <p:sp>
          <p:nvSpPr>
            <p:cNvPr id="14451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4451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4451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144518" name="Group 17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44521" name="Freeform 17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22" name="Freeform 17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4519" name="Line 177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0" name="Line 178"/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4391" name="Freeform 2"/>
          <p:cNvSpPr>
            <a:spLocks/>
          </p:cNvSpPr>
          <p:nvPr/>
        </p:nvSpPr>
        <p:spPr bwMode="auto">
          <a:xfrm>
            <a:off x="5341939" y="1447801"/>
            <a:ext cx="4048125" cy="3833813"/>
          </a:xfrm>
          <a:custGeom>
            <a:avLst/>
            <a:gdLst>
              <a:gd name="T0" fmla="*/ 2147483647 w 2550"/>
              <a:gd name="T1" fmla="*/ 0 h 2415"/>
              <a:gd name="T2" fmla="*/ 2147483647 w 2550"/>
              <a:gd name="T3" fmla="*/ 0 h 2415"/>
              <a:gd name="T4" fmla="*/ 2147483647 w 2550"/>
              <a:gd name="T5" fmla="*/ 2147483647 h 2415"/>
              <a:gd name="T6" fmla="*/ 0 w 2550"/>
              <a:gd name="T7" fmla="*/ 2147483647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4240214" y="22383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>
                <a:solidFill>
                  <a:srgbClr val="000099"/>
                </a:solidFill>
              </a:rPr>
              <a:t>source</a:t>
            </a:r>
          </a:p>
        </p:txBody>
      </p:sp>
      <p:sp>
        <p:nvSpPr>
          <p:cNvPr id="144393" name="Freeform 10"/>
          <p:cNvSpPr>
            <a:spLocks/>
          </p:cNvSpPr>
          <p:nvPr/>
        </p:nvSpPr>
        <p:spPr bwMode="auto">
          <a:xfrm>
            <a:off x="5392738" y="650876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4" name="Rectangle 23"/>
          <p:cNvSpPr>
            <a:spLocks noChangeArrowheads="1"/>
          </p:cNvSpPr>
          <p:nvPr/>
        </p:nvSpPr>
        <p:spPr bwMode="auto">
          <a:xfrm>
            <a:off x="4168775" y="660401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44395" name="Rectangle 24"/>
          <p:cNvSpPr>
            <a:spLocks noChangeArrowheads="1"/>
          </p:cNvSpPr>
          <p:nvPr/>
        </p:nvSpPr>
        <p:spPr bwMode="auto">
          <a:xfrm>
            <a:off x="4121151" y="7318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44396" name="Line 25"/>
          <p:cNvSpPr>
            <a:spLocks noChangeShapeType="1"/>
          </p:cNvSpPr>
          <p:nvPr/>
        </p:nvSpPr>
        <p:spPr bwMode="auto">
          <a:xfrm>
            <a:off x="4121150" y="10493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397" name="Text Box 26"/>
          <p:cNvSpPr txBox="1">
            <a:spLocks noChangeArrowheads="1"/>
          </p:cNvSpPr>
          <p:nvPr/>
        </p:nvSpPr>
        <p:spPr bwMode="auto">
          <a:xfrm>
            <a:off x="4078289" y="6985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physical</a:t>
            </a:r>
          </a:p>
        </p:txBody>
      </p:sp>
      <p:sp>
        <p:nvSpPr>
          <p:cNvPr id="144398" name="Line 27"/>
          <p:cNvSpPr>
            <a:spLocks noChangeShapeType="1"/>
          </p:cNvSpPr>
          <p:nvPr/>
        </p:nvSpPr>
        <p:spPr bwMode="auto">
          <a:xfrm>
            <a:off x="4129088" y="13700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399" name="Line 28"/>
          <p:cNvSpPr>
            <a:spLocks noChangeShapeType="1"/>
          </p:cNvSpPr>
          <p:nvPr/>
        </p:nvSpPr>
        <p:spPr bwMode="auto">
          <a:xfrm>
            <a:off x="4133850" y="16510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400" name="Line 29"/>
          <p:cNvSpPr>
            <a:spLocks noChangeShapeType="1"/>
          </p:cNvSpPr>
          <p:nvPr/>
        </p:nvSpPr>
        <p:spPr bwMode="auto">
          <a:xfrm>
            <a:off x="4133850" y="19272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743200" y="1368426"/>
            <a:ext cx="1208088" cy="303213"/>
            <a:chOff x="501" y="1990"/>
            <a:chExt cx="761" cy="191"/>
          </a:xfrm>
        </p:grpSpPr>
        <p:sp>
          <p:nvSpPr>
            <p:cNvPr id="144509" name="Rectangle 40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10" name="Rectangle 41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511" name="Rectangle 42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44512" name="Rectangle 43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513" name="Line 44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14" name="Line 45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1919288" y="996950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segment</a:t>
            </a:r>
          </a:p>
        </p:txBody>
      </p:sp>
      <p:grpSp>
        <p:nvGrpSpPr>
          <p:cNvPr id="6" name="Group 178"/>
          <p:cNvGrpSpPr>
            <a:grpSpLocks/>
          </p:cNvGrpSpPr>
          <p:nvPr/>
        </p:nvGrpSpPr>
        <p:grpSpPr bwMode="auto">
          <a:xfrm>
            <a:off x="3057526" y="1033463"/>
            <a:ext cx="301625" cy="292100"/>
            <a:chOff x="1962" y="2058"/>
            <a:chExt cx="190" cy="184"/>
          </a:xfrm>
        </p:grpSpPr>
        <p:sp>
          <p:nvSpPr>
            <p:cNvPr id="144507" name="Rectangle 47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08" name="Rectangle 48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</p:grp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1719264" y="1336675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datagram</a:t>
            </a:r>
          </a:p>
        </p:txBody>
      </p:sp>
      <p:sp>
        <p:nvSpPr>
          <p:cNvPr id="144405" name="Text Box 54"/>
          <p:cNvSpPr txBox="1">
            <a:spLocks noChangeArrowheads="1"/>
          </p:cNvSpPr>
          <p:nvPr/>
        </p:nvSpPr>
        <p:spPr bwMode="auto">
          <a:xfrm>
            <a:off x="3071814" y="4157664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i="1">
                <a:solidFill>
                  <a:srgbClr val="000099"/>
                </a:solidFill>
              </a:rPr>
              <a:t>destination</a:t>
            </a:r>
          </a:p>
        </p:txBody>
      </p:sp>
      <p:sp>
        <p:nvSpPr>
          <p:cNvPr id="144406" name="Freeform 56"/>
          <p:cNvSpPr>
            <a:spLocks/>
          </p:cNvSpPr>
          <p:nvPr/>
        </p:nvSpPr>
        <p:spPr bwMode="auto">
          <a:xfrm>
            <a:off x="4503738" y="4540251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07" name="Rectangle 57"/>
          <p:cNvSpPr>
            <a:spLocks noChangeArrowheads="1"/>
          </p:cNvSpPr>
          <p:nvPr/>
        </p:nvSpPr>
        <p:spPr bwMode="auto">
          <a:xfrm>
            <a:off x="3279775" y="4546601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44408" name="Rectangle 58"/>
          <p:cNvSpPr>
            <a:spLocks noChangeArrowheads="1"/>
          </p:cNvSpPr>
          <p:nvPr/>
        </p:nvSpPr>
        <p:spPr bwMode="auto">
          <a:xfrm>
            <a:off x="3232151" y="46180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44409" name="Line 59"/>
          <p:cNvSpPr>
            <a:spLocks noChangeShapeType="1"/>
          </p:cNvSpPr>
          <p:nvPr/>
        </p:nvSpPr>
        <p:spPr bwMode="auto">
          <a:xfrm>
            <a:off x="3232150" y="49355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410" name="Text Box 60"/>
          <p:cNvSpPr txBox="1">
            <a:spLocks noChangeArrowheads="1"/>
          </p:cNvSpPr>
          <p:nvPr/>
        </p:nvSpPr>
        <p:spPr bwMode="auto">
          <a:xfrm>
            <a:off x="3189289" y="45847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altLang="en-US" sz="1800"/>
              <a:t>physical</a:t>
            </a:r>
          </a:p>
        </p:txBody>
      </p:sp>
      <p:sp>
        <p:nvSpPr>
          <p:cNvPr id="144411" name="Line 61"/>
          <p:cNvSpPr>
            <a:spLocks noChangeShapeType="1"/>
          </p:cNvSpPr>
          <p:nvPr/>
        </p:nvSpPr>
        <p:spPr bwMode="auto">
          <a:xfrm>
            <a:off x="3240088" y="52562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412" name="Line 62"/>
          <p:cNvSpPr>
            <a:spLocks noChangeShapeType="1"/>
          </p:cNvSpPr>
          <p:nvPr/>
        </p:nvSpPr>
        <p:spPr bwMode="auto">
          <a:xfrm>
            <a:off x="3244850" y="55372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413" name="Line 63"/>
          <p:cNvSpPr>
            <a:spLocks noChangeShapeType="1"/>
          </p:cNvSpPr>
          <p:nvPr/>
        </p:nvSpPr>
        <p:spPr bwMode="auto">
          <a:xfrm>
            <a:off x="3244850" y="58134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4414" name="Group 64"/>
          <p:cNvGrpSpPr>
            <a:grpSpLocks/>
          </p:cNvGrpSpPr>
          <p:nvPr/>
        </p:nvGrpSpPr>
        <p:grpSpPr bwMode="auto">
          <a:xfrm>
            <a:off x="1676400" y="5527676"/>
            <a:ext cx="1479550" cy="303213"/>
            <a:chOff x="332" y="2224"/>
            <a:chExt cx="932" cy="191"/>
          </a:xfrm>
        </p:grpSpPr>
        <p:sp>
          <p:nvSpPr>
            <p:cNvPr id="144499" name="Rectangle 65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00" name="Rectangle 66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501" name="Rectangle 67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44502" name="Rectangle 68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l</a:t>
              </a:r>
            </a:p>
          </p:txBody>
        </p:sp>
        <p:sp>
          <p:nvSpPr>
            <p:cNvPr id="144503" name="Rectangle 69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504" name="Line 70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05" name="Line 71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06" name="Line 72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415" name="Group 73"/>
          <p:cNvGrpSpPr>
            <a:grpSpLocks/>
          </p:cNvGrpSpPr>
          <p:nvPr/>
        </p:nvGrpSpPr>
        <p:grpSpPr bwMode="auto">
          <a:xfrm>
            <a:off x="1944689" y="5229226"/>
            <a:ext cx="1208087" cy="303213"/>
            <a:chOff x="501" y="1990"/>
            <a:chExt cx="761" cy="191"/>
          </a:xfrm>
        </p:grpSpPr>
        <p:sp>
          <p:nvSpPr>
            <p:cNvPr id="144493" name="Rectangle 74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94" name="Rectangle 75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495" name="Rectangle 76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44496" name="Rectangle 77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497" name="Line 78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8" name="Line 79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416" name="Group 80"/>
          <p:cNvGrpSpPr>
            <a:grpSpLocks/>
          </p:cNvGrpSpPr>
          <p:nvPr/>
        </p:nvGrpSpPr>
        <p:grpSpPr bwMode="auto">
          <a:xfrm>
            <a:off x="2247900" y="4921251"/>
            <a:ext cx="890588" cy="303213"/>
            <a:chOff x="645" y="1734"/>
            <a:chExt cx="561" cy="191"/>
          </a:xfrm>
        </p:grpSpPr>
        <p:sp>
          <p:nvSpPr>
            <p:cNvPr id="144489" name="Rectangle 81"/>
            <p:cNvSpPr>
              <a:spLocks noChangeArrowheads="1"/>
            </p:cNvSpPr>
            <p:nvPr/>
          </p:nvSpPr>
          <p:spPr bwMode="auto">
            <a:xfrm>
              <a:off x="645" y="1751"/>
              <a:ext cx="4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90" name="Rectangle 82"/>
            <p:cNvSpPr>
              <a:spLocks noChangeArrowheads="1"/>
            </p:cNvSpPr>
            <p:nvPr/>
          </p:nvSpPr>
          <p:spPr bwMode="auto"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491" name="Rectangle 83"/>
            <p:cNvSpPr>
              <a:spLocks noChangeArrowheads="1"/>
            </p:cNvSpPr>
            <p:nvPr/>
          </p:nvSpPr>
          <p:spPr bwMode="auto"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492" name="Line 84"/>
            <p:cNvSpPr>
              <a:spLocks noChangeShapeType="1"/>
            </p:cNvSpPr>
            <p:nvPr/>
          </p:nvSpPr>
          <p:spPr bwMode="auto">
            <a:xfrm>
              <a:off x="824" y="175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417" name="Group 85"/>
          <p:cNvGrpSpPr>
            <a:grpSpLocks/>
          </p:cNvGrpSpPr>
          <p:nvPr/>
        </p:nvGrpSpPr>
        <p:grpSpPr bwMode="auto">
          <a:xfrm>
            <a:off x="2454275" y="4610101"/>
            <a:ext cx="679450" cy="301625"/>
            <a:chOff x="780" y="1553"/>
            <a:chExt cx="428" cy="190"/>
          </a:xfrm>
        </p:grpSpPr>
        <p:sp>
          <p:nvSpPr>
            <p:cNvPr id="144487" name="Rectangle 8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88" name="Rectangle 8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</p:grpSp>
      <p:grpSp>
        <p:nvGrpSpPr>
          <p:cNvPr id="144418" name="Group 88"/>
          <p:cNvGrpSpPr>
            <a:grpSpLocks/>
          </p:cNvGrpSpPr>
          <p:nvPr/>
        </p:nvGrpSpPr>
        <p:grpSpPr bwMode="auto">
          <a:xfrm>
            <a:off x="7178676" y="4164013"/>
            <a:ext cx="1387475" cy="1035050"/>
            <a:chOff x="3601" y="168"/>
            <a:chExt cx="874" cy="652"/>
          </a:xfrm>
        </p:grpSpPr>
        <p:sp>
          <p:nvSpPr>
            <p:cNvPr id="144482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83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84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85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800"/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physical</a:t>
              </a:r>
            </a:p>
          </p:txBody>
        </p:sp>
        <p:sp>
          <p:nvSpPr>
            <p:cNvPr id="144486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4419" name="Group 94"/>
          <p:cNvGrpSpPr>
            <a:grpSpLocks/>
          </p:cNvGrpSpPr>
          <p:nvPr/>
        </p:nvGrpSpPr>
        <p:grpSpPr bwMode="auto">
          <a:xfrm>
            <a:off x="7345364" y="2271714"/>
            <a:ext cx="1387475" cy="733425"/>
            <a:chOff x="4696" y="597"/>
            <a:chExt cx="874" cy="462"/>
          </a:xfrm>
        </p:grpSpPr>
        <p:sp>
          <p:nvSpPr>
            <p:cNvPr id="144478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79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80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81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en-US" sz="1800"/>
                <a:t>physical</a:t>
              </a:r>
            </a:p>
          </p:txBody>
        </p:sp>
      </p:grpSp>
      <p:sp>
        <p:nvSpPr>
          <p:cNvPr id="144420" name="Freeform 114"/>
          <p:cNvSpPr>
            <a:spLocks/>
          </p:cNvSpPr>
          <p:nvPr/>
        </p:nvSpPr>
        <p:spPr bwMode="auto">
          <a:xfrm>
            <a:off x="3352800" y="533400"/>
            <a:ext cx="5264150" cy="5494338"/>
          </a:xfrm>
          <a:custGeom>
            <a:avLst/>
            <a:gdLst>
              <a:gd name="T0" fmla="*/ 2147483647 w 3316"/>
              <a:gd name="T1" fmla="*/ 0 h 3461"/>
              <a:gd name="T2" fmla="*/ 2147483647 w 3316"/>
              <a:gd name="T3" fmla="*/ 2147483647 h 3461"/>
              <a:gd name="T4" fmla="*/ 2147483647 w 3316"/>
              <a:gd name="T5" fmla="*/ 2147483647 h 3461"/>
              <a:gd name="T6" fmla="*/ 2147483647 w 3316"/>
              <a:gd name="T7" fmla="*/ 2147483647 h 3461"/>
              <a:gd name="T8" fmla="*/ 2147483647 w 3316"/>
              <a:gd name="T9" fmla="*/ 2147483647 h 3461"/>
              <a:gd name="T10" fmla="*/ 2147483647 w 3316"/>
              <a:gd name="T11" fmla="*/ 2147483647 h 3461"/>
              <a:gd name="T12" fmla="*/ 2147483647 w 3316"/>
              <a:gd name="T13" fmla="*/ 2147483647 h 3461"/>
              <a:gd name="T14" fmla="*/ 2147483647 w 3316"/>
              <a:gd name="T15" fmla="*/ 2147483647 h 3461"/>
              <a:gd name="T16" fmla="*/ 2147483647 w 3316"/>
              <a:gd name="T17" fmla="*/ 2147483647 h 3461"/>
              <a:gd name="T18" fmla="*/ 2147483647 w 3316"/>
              <a:gd name="T19" fmla="*/ 2147483647 h 3461"/>
              <a:gd name="T20" fmla="*/ 2147483647 w 3316"/>
              <a:gd name="T21" fmla="*/ 2147483647 h 3461"/>
              <a:gd name="T22" fmla="*/ 0 w 3316"/>
              <a:gd name="T23" fmla="*/ 2147483647 h 3461"/>
              <a:gd name="T24" fmla="*/ 0 w 3316"/>
              <a:gd name="T25" fmla="*/ 2147483647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4421" name="Group 115"/>
          <p:cNvGrpSpPr>
            <a:grpSpLocks/>
          </p:cNvGrpSpPr>
          <p:nvPr/>
        </p:nvGrpSpPr>
        <p:grpSpPr bwMode="auto">
          <a:xfrm>
            <a:off x="5762625" y="4546601"/>
            <a:ext cx="1479550" cy="303213"/>
            <a:chOff x="332" y="2224"/>
            <a:chExt cx="932" cy="191"/>
          </a:xfrm>
        </p:grpSpPr>
        <p:sp>
          <p:nvSpPr>
            <p:cNvPr id="144470" name="Rectangle 116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71" name="Rectangle 117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472" name="Rectangle 118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44473" name="Rectangle 119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l</a:t>
              </a:r>
            </a:p>
          </p:txBody>
        </p:sp>
        <p:sp>
          <p:nvSpPr>
            <p:cNvPr id="144474" name="Rectangle 120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475" name="Line 121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6" name="Line 122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7" name="Line 123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422" name="Group 124"/>
          <p:cNvGrpSpPr>
            <a:grpSpLocks/>
          </p:cNvGrpSpPr>
          <p:nvPr/>
        </p:nvGrpSpPr>
        <p:grpSpPr bwMode="auto">
          <a:xfrm>
            <a:off x="6021389" y="4240213"/>
            <a:ext cx="1208087" cy="303212"/>
            <a:chOff x="501" y="1990"/>
            <a:chExt cx="761" cy="191"/>
          </a:xfrm>
        </p:grpSpPr>
        <p:sp>
          <p:nvSpPr>
            <p:cNvPr id="144464" name="Rectangle 125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65" name="Rectangle 126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466" name="Rectangle 127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44467" name="Rectangle 128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468" name="Line 129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9" name="Line 130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40"/>
          <p:cNvGrpSpPr>
            <a:grpSpLocks/>
          </p:cNvGrpSpPr>
          <p:nvPr/>
        </p:nvGrpSpPr>
        <p:grpSpPr bwMode="auto">
          <a:xfrm>
            <a:off x="8793164" y="4606926"/>
            <a:ext cx="1208087" cy="303213"/>
            <a:chOff x="501" y="1990"/>
            <a:chExt cx="761" cy="191"/>
          </a:xfrm>
        </p:grpSpPr>
        <p:sp>
          <p:nvSpPr>
            <p:cNvPr id="144458" name="Rectangle 141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59" name="Rectangle 142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460" name="Rectangle 143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44461" name="Rectangle 144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462" name="Line 145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3" name="Line 146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56"/>
          <p:cNvGrpSpPr>
            <a:grpSpLocks/>
          </p:cNvGrpSpPr>
          <p:nvPr/>
        </p:nvGrpSpPr>
        <p:grpSpPr bwMode="auto">
          <a:xfrm>
            <a:off x="2462213" y="1665288"/>
            <a:ext cx="1479550" cy="303212"/>
            <a:chOff x="332" y="2224"/>
            <a:chExt cx="932" cy="191"/>
          </a:xfrm>
        </p:grpSpPr>
        <p:sp>
          <p:nvSpPr>
            <p:cNvPr id="144450" name="Rectangle 157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51" name="Rectangle 158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t</a:t>
              </a:r>
            </a:p>
          </p:txBody>
        </p:sp>
        <p:sp>
          <p:nvSpPr>
            <p:cNvPr id="144452" name="Rectangle 159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  <p:sp>
          <p:nvSpPr>
            <p:cNvPr id="144453" name="Rectangle 160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l</a:t>
              </a:r>
            </a:p>
          </p:txBody>
        </p:sp>
        <p:sp>
          <p:nvSpPr>
            <p:cNvPr id="144454" name="Rectangle 161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  <p:sp>
          <p:nvSpPr>
            <p:cNvPr id="144455" name="Line 162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6" name="Line 163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7" name="Line 164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4425" name="Text Box 166"/>
          <p:cNvSpPr txBox="1">
            <a:spLocks noChangeArrowheads="1"/>
          </p:cNvSpPr>
          <p:nvPr/>
        </p:nvSpPr>
        <p:spPr bwMode="auto">
          <a:xfrm>
            <a:off x="9445625" y="54117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router</a:t>
            </a:r>
          </a:p>
        </p:txBody>
      </p:sp>
      <p:sp>
        <p:nvSpPr>
          <p:cNvPr id="144426" name="Text Box 167"/>
          <p:cNvSpPr txBox="1">
            <a:spLocks noChangeArrowheads="1"/>
          </p:cNvSpPr>
          <p:nvPr/>
        </p:nvSpPr>
        <p:spPr bwMode="auto">
          <a:xfrm>
            <a:off x="9459913" y="3098801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/>
              <a:t>switch</a:t>
            </a:r>
          </a:p>
        </p:txBody>
      </p:sp>
      <p:sp>
        <p:nvSpPr>
          <p:cNvPr id="144427" name="Rectangle 168"/>
          <p:cNvSpPr>
            <a:spLocks noGrp="1" noChangeArrowheads="1"/>
          </p:cNvSpPr>
          <p:nvPr>
            <p:ph type="title" idx="4294967295"/>
          </p:nvPr>
        </p:nvSpPr>
        <p:spPr>
          <a:xfrm>
            <a:off x="6618289" y="168278"/>
            <a:ext cx="3805237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Encapsulation</a:t>
            </a:r>
          </a:p>
        </p:txBody>
      </p:sp>
      <p:sp>
        <p:nvSpPr>
          <p:cNvPr id="112814" name="Text Box 174"/>
          <p:cNvSpPr txBox="1">
            <a:spLocks noChangeArrowheads="1"/>
          </p:cNvSpPr>
          <p:nvPr/>
        </p:nvSpPr>
        <p:spPr bwMode="auto">
          <a:xfrm>
            <a:off x="2227263" y="692150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message</a:t>
            </a:r>
          </a:p>
        </p:txBody>
      </p:sp>
      <p:grpSp>
        <p:nvGrpSpPr>
          <p:cNvPr id="17" name="Group 175"/>
          <p:cNvGrpSpPr>
            <a:grpSpLocks/>
          </p:cNvGrpSpPr>
          <p:nvPr/>
        </p:nvGrpSpPr>
        <p:grpSpPr bwMode="auto">
          <a:xfrm>
            <a:off x="3287713" y="719139"/>
            <a:ext cx="679450" cy="301625"/>
            <a:chOff x="780" y="1553"/>
            <a:chExt cx="428" cy="190"/>
          </a:xfrm>
        </p:grpSpPr>
        <p:sp>
          <p:nvSpPr>
            <p:cNvPr id="144448" name="Rectangle 17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49" name="Rectangle 17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M</a:t>
              </a:r>
            </a:p>
          </p:txBody>
        </p:sp>
      </p:grpSp>
      <p:grpSp>
        <p:nvGrpSpPr>
          <p:cNvPr id="18" name="Group 185"/>
          <p:cNvGrpSpPr>
            <a:grpSpLocks/>
          </p:cNvGrpSpPr>
          <p:nvPr/>
        </p:nvGrpSpPr>
        <p:grpSpPr bwMode="auto">
          <a:xfrm>
            <a:off x="3052764" y="1039814"/>
            <a:ext cx="903287" cy="301625"/>
            <a:chOff x="1851" y="2046"/>
            <a:chExt cx="569" cy="190"/>
          </a:xfrm>
        </p:grpSpPr>
        <p:grpSp>
          <p:nvGrpSpPr>
            <p:cNvPr id="144442" name="Group 179"/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144446" name="Rectangle 180"/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4447" name="Rectangle 181"/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H</a:t>
                </a:r>
                <a:r>
                  <a:rPr lang="en-US" altLang="en-US" sz="1800" baseline="-25000"/>
                  <a:t>t</a:t>
                </a:r>
              </a:p>
            </p:txBody>
          </p:sp>
        </p:grpSp>
        <p:grpSp>
          <p:nvGrpSpPr>
            <p:cNvPr id="144443" name="Group 182"/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44444" name="Rectangle 183"/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4445" name="Rectangle 184"/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400"/>
                  <a:t>M</a:t>
                </a:r>
              </a:p>
            </p:txBody>
          </p:sp>
        </p:grpSp>
      </p:grpSp>
      <p:grpSp>
        <p:nvGrpSpPr>
          <p:cNvPr id="21" name="Group 187"/>
          <p:cNvGrpSpPr>
            <a:grpSpLocks/>
          </p:cNvGrpSpPr>
          <p:nvPr/>
        </p:nvGrpSpPr>
        <p:grpSpPr bwMode="auto">
          <a:xfrm>
            <a:off x="2759076" y="1363663"/>
            <a:ext cx="301625" cy="292100"/>
            <a:chOff x="1962" y="2058"/>
            <a:chExt cx="190" cy="184"/>
          </a:xfrm>
        </p:grpSpPr>
        <p:sp>
          <p:nvSpPr>
            <p:cNvPr id="144440" name="Rectangle 188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41" name="Rectangle 189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/>
                <a:t>H</a:t>
              </a:r>
              <a:r>
                <a:rPr lang="en-US" altLang="en-US" sz="1800" baseline="-25000"/>
                <a:t>n</a:t>
              </a:r>
            </a:p>
          </p:txBody>
        </p:sp>
      </p:grp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1681163" y="1643063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CC0000"/>
                </a:solidFill>
              </a:rPr>
              <a:t>frame</a:t>
            </a:r>
          </a:p>
        </p:txBody>
      </p:sp>
      <p:grpSp>
        <p:nvGrpSpPr>
          <p:cNvPr id="144433" name="Group 187"/>
          <p:cNvGrpSpPr>
            <a:grpSpLocks/>
          </p:cNvGrpSpPr>
          <p:nvPr/>
        </p:nvGrpSpPr>
        <p:grpSpPr bwMode="auto">
          <a:xfrm flipH="1">
            <a:off x="4702176" y="4970464"/>
            <a:ext cx="803275" cy="771525"/>
            <a:chOff x="-44" y="1473"/>
            <a:chExt cx="981" cy="1105"/>
          </a:xfrm>
        </p:grpSpPr>
        <p:pic>
          <p:nvPicPr>
            <p:cNvPr id="144438" name="Picture 18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439" name="Freeform 18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44434" name="Group 190"/>
          <p:cNvGrpSpPr>
            <a:grpSpLocks/>
          </p:cNvGrpSpPr>
          <p:nvPr/>
        </p:nvGrpSpPr>
        <p:grpSpPr bwMode="auto">
          <a:xfrm flipH="1">
            <a:off x="5664201" y="1087439"/>
            <a:ext cx="803275" cy="771525"/>
            <a:chOff x="-44" y="1473"/>
            <a:chExt cx="981" cy="1105"/>
          </a:xfrm>
        </p:grpSpPr>
        <p:pic>
          <p:nvPicPr>
            <p:cNvPr id="144436" name="Picture 191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437" name="Freeform 1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4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37 L -4.72222E-6 0.04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2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926 L -3.05556E-6 0.047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3.05556E-6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3.05556E-6 0.13889 L 0.40295 0.13889 L 0.40295 0.09885 L 0.57152 0.10093 L 0.57152 0.57709 L 0.66371 0.50857 L 0.66371 0.42848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46 L 0.00156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5" grpId="1"/>
      <p:bldP spid="112644" grpId="0"/>
      <p:bldP spid="112644" grpId="1"/>
      <p:bldP spid="112814" grpId="0"/>
      <p:bldP spid="112647" grpId="0"/>
      <p:bldP spid="11264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1825" y="252413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en-US" sz="4000" b="1" dirty="0"/>
              <a:t>Internet history</a:t>
            </a:r>
            <a:endParaRPr lang="en-US" altLang="en-US" b="1" dirty="0" smtClean="0"/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01825" y="1725613"/>
            <a:ext cx="8352517" cy="4419600"/>
          </a:xfrm>
        </p:spPr>
        <p:txBody>
          <a:bodyPr>
            <a:normAutofit/>
          </a:bodyPr>
          <a:lstStyle/>
          <a:p>
            <a:pPr eaLnBrk="1" hangingPunct="1">
              <a:buSzPct val="75000"/>
            </a:pPr>
            <a:r>
              <a:rPr lang="en-US" altLang="en-US" sz="2400" dirty="0" smtClean="0">
                <a:solidFill>
                  <a:srgbClr val="000099"/>
                </a:solidFill>
              </a:rPr>
              <a:t>1967</a:t>
            </a:r>
            <a:r>
              <a:rPr lang="en-US" altLang="en-US" sz="2400" dirty="0">
                <a:solidFill>
                  <a:srgbClr val="000099"/>
                </a:solidFill>
              </a:rPr>
              <a:t>: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ARPAnet</a:t>
            </a:r>
            <a:r>
              <a:rPr lang="en-US" altLang="en-US" sz="2400" dirty="0"/>
              <a:t> conceived by Advanced Research Projects Agency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1969:</a:t>
            </a:r>
            <a:r>
              <a:rPr lang="en-US" altLang="en-US" sz="2400" dirty="0"/>
              <a:t> first </a:t>
            </a:r>
            <a:r>
              <a:rPr lang="en-US" altLang="en-US" sz="2400" dirty="0" err="1"/>
              <a:t>ARPAnet</a:t>
            </a:r>
            <a:r>
              <a:rPr lang="en-US" altLang="en-US" sz="2400" dirty="0"/>
              <a:t> node </a:t>
            </a:r>
            <a:r>
              <a:rPr lang="en-US" altLang="en-US" sz="2400" dirty="0" smtClean="0"/>
              <a:t>operational</a:t>
            </a:r>
          </a:p>
          <a:p>
            <a:pPr>
              <a:buSzPct val="75000"/>
            </a:pPr>
            <a:r>
              <a:rPr lang="en-US" altLang="en-US" sz="2400" dirty="0" smtClean="0">
                <a:solidFill>
                  <a:srgbClr val="000099"/>
                </a:solidFill>
              </a:rPr>
              <a:t>1972:</a:t>
            </a:r>
            <a:r>
              <a:rPr lang="en-US" altLang="en-US" sz="2400" dirty="0" smtClean="0"/>
              <a:t> </a:t>
            </a:r>
          </a:p>
          <a:p>
            <a:pPr lvl="1"/>
            <a:r>
              <a:rPr lang="en-US" altLang="en-US" dirty="0" err="1" smtClean="0">
                <a:ea typeface="Arial" panose="020B0604020202020204" pitchFamily="34" charset="0"/>
              </a:rPr>
              <a:t>ARPAnet</a:t>
            </a:r>
            <a:r>
              <a:rPr lang="en-US" altLang="en-US" dirty="0" smtClean="0">
                <a:ea typeface="Arial" panose="020B0604020202020204" pitchFamily="34" charset="0"/>
              </a:rPr>
              <a:t> public demo</a:t>
            </a:r>
          </a:p>
          <a:p>
            <a:pPr lvl="1"/>
            <a:r>
              <a:rPr lang="en-US" altLang="en-US" dirty="0" smtClean="0">
                <a:ea typeface="Arial" panose="020B0604020202020204" pitchFamily="34" charset="0"/>
              </a:rPr>
              <a:t>NCP (Network Control Protocol) first host-host protocol </a:t>
            </a:r>
          </a:p>
          <a:p>
            <a:pPr lvl="1"/>
            <a:r>
              <a:rPr lang="en-US" altLang="en-US" dirty="0" smtClean="0">
                <a:ea typeface="Arial" panose="020B0604020202020204" pitchFamily="34" charset="0"/>
              </a:rPr>
              <a:t>first e-mail program</a:t>
            </a:r>
          </a:p>
          <a:p>
            <a:pPr lvl="1"/>
            <a:r>
              <a:rPr lang="en-US" altLang="en-US" dirty="0" err="1" smtClean="0">
                <a:ea typeface="Arial" panose="020B0604020202020204" pitchFamily="34" charset="0"/>
              </a:rPr>
              <a:t>ARPAnet</a:t>
            </a:r>
            <a:r>
              <a:rPr lang="en-US" altLang="en-US" dirty="0" smtClean="0">
                <a:ea typeface="Arial" panose="020B0604020202020204" pitchFamily="34" charset="0"/>
              </a:rPr>
              <a:t> has 15 nodes</a:t>
            </a:r>
          </a:p>
          <a:p>
            <a:pPr eaLnBrk="1" hangingPunct="1">
              <a:buSzPct val="75000"/>
            </a:pPr>
            <a:endParaRPr lang="en-US" altLang="en-US" sz="2400" dirty="0"/>
          </a:p>
          <a:p>
            <a:pPr eaLnBrk="1" hangingPunct="1">
              <a:buSzPct val="75000"/>
            </a:pPr>
            <a:endParaRPr lang="en-US" altLang="en-US" sz="2400" dirty="0"/>
          </a:p>
        </p:txBody>
      </p:sp>
      <p:sp>
        <p:nvSpPr>
          <p:cNvPr id="155654" name="Rectangle 5"/>
          <p:cNvSpPr>
            <a:spLocks noChangeArrowheads="1"/>
          </p:cNvSpPr>
          <p:nvPr/>
        </p:nvSpPr>
        <p:spPr bwMode="auto">
          <a:xfrm>
            <a:off x="2047875" y="10287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i="1" dirty="0" smtClean="0">
                <a:solidFill>
                  <a:srgbClr val="CC0000"/>
                </a:solidFill>
                <a:latin typeface="Comic Sans MS" panose="030F0702030302020204" pitchFamily="66" charset="0"/>
              </a:rPr>
              <a:t>1967-1972</a:t>
            </a:r>
            <a:r>
              <a:rPr lang="en-US" altLang="en-US" sz="2800" i="1" dirty="0">
                <a:solidFill>
                  <a:srgbClr val="CC0000"/>
                </a:solidFill>
                <a:latin typeface="Comic Sans MS" panose="030F0702030302020204" pitchFamily="66" charset="0"/>
              </a:rPr>
              <a:t>: Early packet-switching principles</a:t>
            </a:r>
            <a:endParaRPr lang="en-US" altLang="en-US" sz="2800" u="sng" dirty="0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6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22451" y="1795463"/>
            <a:ext cx="8601709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1970: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ALOHAnet</a:t>
            </a:r>
            <a:r>
              <a:rPr lang="en-US" altLang="en-US" sz="2400" dirty="0"/>
              <a:t> satellite network in Hawaii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1974:</a:t>
            </a:r>
            <a:r>
              <a:rPr lang="en-US" altLang="en-US" sz="2400" dirty="0"/>
              <a:t> Cerf and Kahn - architecture for interconnecting networks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1976:</a:t>
            </a:r>
            <a:r>
              <a:rPr lang="en-US" altLang="en-US" sz="2400" dirty="0"/>
              <a:t> Ethernet at Xerox PARC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late70</a:t>
            </a:r>
            <a:r>
              <a:rPr lang="ja-JP" altLang="en-US" sz="2400" dirty="0">
                <a:solidFill>
                  <a:srgbClr val="000099"/>
                </a:solidFill>
              </a:rPr>
              <a:t>’</a:t>
            </a:r>
            <a:r>
              <a:rPr lang="en-US" altLang="ja-JP" sz="2400" dirty="0">
                <a:solidFill>
                  <a:srgbClr val="000099"/>
                </a:solidFill>
              </a:rPr>
              <a:t>s:</a:t>
            </a:r>
            <a:r>
              <a:rPr lang="en-US" altLang="ja-JP" sz="2400" dirty="0"/>
              <a:t> proprietary architectures: </a:t>
            </a:r>
            <a:r>
              <a:rPr lang="en-US" altLang="ja-JP" sz="2400" dirty="0" err="1"/>
              <a:t>DECnet</a:t>
            </a:r>
            <a:r>
              <a:rPr lang="en-US" altLang="ja-JP" sz="2400" dirty="0"/>
              <a:t>, SNA, XNA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late 70</a:t>
            </a:r>
            <a:r>
              <a:rPr lang="ja-JP" altLang="en-US" sz="2400" dirty="0">
                <a:solidFill>
                  <a:srgbClr val="000099"/>
                </a:solidFill>
              </a:rPr>
              <a:t>’</a:t>
            </a:r>
            <a:r>
              <a:rPr lang="en-US" altLang="ja-JP" sz="2400" dirty="0">
                <a:solidFill>
                  <a:srgbClr val="000099"/>
                </a:solidFill>
              </a:rPr>
              <a:t>s:</a:t>
            </a:r>
            <a:r>
              <a:rPr lang="en-US" altLang="ja-JP" sz="2400" dirty="0"/>
              <a:t> switching fixed length packets (ATM precursor)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1979: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ARPAnet</a:t>
            </a:r>
            <a:r>
              <a:rPr lang="en-US" altLang="en-US" sz="2400" dirty="0"/>
              <a:t> has 200 nodes</a:t>
            </a:r>
          </a:p>
        </p:txBody>
      </p:sp>
      <p:sp>
        <p:nvSpPr>
          <p:cNvPr id="157700" name="Rectangle 5"/>
          <p:cNvSpPr>
            <a:spLocks noChangeArrowheads="1"/>
          </p:cNvSpPr>
          <p:nvPr/>
        </p:nvSpPr>
        <p:spPr bwMode="auto">
          <a:xfrm>
            <a:off x="2047876" y="1028700"/>
            <a:ext cx="79724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>
                <a:solidFill>
                  <a:srgbClr val="CC0000"/>
                </a:solidFill>
                <a:latin typeface="Comic Sans MS" panose="030F0702030302020204" pitchFamily="66" charset="0"/>
              </a:rPr>
              <a:t>1972-1980: Internetworking, new and proprietary nets</a:t>
            </a:r>
            <a:endParaRPr lang="en-US" altLang="en-US" sz="4000" u="sng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57702" name="Rectangle 2"/>
          <p:cNvSpPr>
            <a:spLocks noChangeArrowheads="1"/>
          </p:cNvSpPr>
          <p:nvPr/>
        </p:nvSpPr>
        <p:spPr bwMode="auto">
          <a:xfrm>
            <a:off x="1901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000" dirty="0">
                <a:latin typeface="Gill Sans MT" panose="020B0502020104020203" pitchFamily="34" charset="0"/>
              </a:rPr>
              <a:t>Internet history</a:t>
            </a:r>
            <a:endParaRPr lang="en-US" altLang="en-US" sz="4400" dirty="0">
              <a:latin typeface="Gill Sans MT" panose="020B050202010402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0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7399" y="1801813"/>
            <a:ext cx="7953375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1983:</a:t>
            </a:r>
            <a:r>
              <a:rPr lang="en-US" altLang="en-US" sz="2400" dirty="0"/>
              <a:t> deployment of TCP/IP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1982: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SMTP </a:t>
            </a:r>
            <a:r>
              <a:rPr lang="en-US" altLang="en-US" sz="2400" dirty="0"/>
              <a:t>e-mail protocol defined 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1983:</a:t>
            </a:r>
            <a:r>
              <a:rPr lang="en-US" altLang="en-US" sz="2400" dirty="0"/>
              <a:t> DNS defined for name-to-IP-address translation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1985:</a:t>
            </a:r>
            <a:r>
              <a:rPr lang="en-US" altLang="en-US" sz="2400" dirty="0"/>
              <a:t> ftp protocol defined</a:t>
            </a:r>
          </a:p>
          <a:p>
            <a:pPr eaLnBrk="1" hangingPunct="1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1988:</a:t>
            </a:r>
            <a:r>
              <a:rPr lang="en-US" altLang="en-US" sz="2400" dirty="0"/>
              <a:t> TCP congestion control</a:t>
            </a:r>
          </a:p>
        </p:txBody>
      </p:sp>
      <p:sp>
        <p:nvSpPr>
          <p:cNvPr id="159748" name="Rectangle 5"/>
          <p:cNvSpPr>
            <a:spLocks noChangeArrowheads="1"/>
          </p:cNvSpPr>
          <p:nvPr/>
        </p:nvSpPr>
        <p:spPr bwMode="auto">
          <a:xfrm>
            <a:off x="2047875" y="1028700"/>
            <a:ext cx="79629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i="1">
                <a:solidFill>
                  <a:srgbClr val="CC0000"/>
                </a:solidFill>
                <a:latin typeface="Comic Sans MS" panose="030F0702030302020204" pitchFamily="66" charset="0"/>
              </a:rPr>
              <a:t>1980-1990: new protocols, a proliferation of networks</a:t>
            </a:r>
            <a:endParaRPr lang="en-US" altLang="en-US" sz="4000" u="sng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59749" name="Rectangle 2"/>
          <p:cNvSpPr>
            <a:spLocks noChangeArrowheads="1"/>
          </p:cNvSpPr>
          <p:nvPr/>
        </p:nvSpPr>
        <p:spPr bwMode="auto">
          <a:xfrm>
            <a:off x="1901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000" dirty="0">
                <a:latin typeface="Gill Sans MT" panose="020B0502020104020203" pitchFamily="34" charset="0"/>
              </a:rPr>
              <a:t>Internet history</a:t>
            </a:r>
            <a:endParaRPr lang="en-US" altLang="en-US" sz="4400" dirty="0">
              <a:latin typeface="Gill Sans MT" panose="020B050202010402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8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43100" y="1790700"/>
            <a:ext cx="8572500" cy="4361906"/>
          </a:xfrm>
        </p:spPr>
        <p:txBody>
          <a:bodyPr>
            <a:normAutofit fontScale="92500" lnSpcReduction="20000"/>
          </a:bodyPr>
          <a:lstStyle/>
          <a:p>
            <a:pPr marL="225425" indent="-225425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early 1990</a:t>
            </a:r>
            <a:r>
              <a:rPr lang="ja-JP" altLang="en-US" sz="2400" dirty="0">
                <a:solidFill>
                  <a:srgbClr val="000099"/>
                </a:solidFill>
              </a:rPr>
              <a:t>’</a:t>
            </a:r>
            <a:r>
              <a:rPr lang="en-US" altLang="ja-JP" sz="2400" dirty="0">
                <a:solidFill>
                  <a:srgbClr val="000099"/>
                </a:solidFill>
              </a:rPr>
              <a:t>s:</a:t>
            </a:r>
            <a:r>
              <a:rPr lang="en-US" altLang="ja-JP" sz="2400" dirty="0">
                <a:solidFill>
                  <a:schemeClr val="accent2"/>
                </a:solidFill>
              </a:rPr>
              <a:t> </a:t>
            </a:r>
            <a:r>
              <a:rPr lang="en-US" altLang="ja-JP" sz="2400" dirty="0" err="1"/>
              <a:t>ARPAnet</a:t>
            </a:r>
            <a:r>
              <a:rPr lang="en-US" altLang="ja-JP" sz="2400" dirty="0"/>
              <a:t> decommissioned</a:t>
            </a:r>
          </a:p>
          <a:p>
            <a:pPr marL="225425" indent="-225425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1991: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NSF lifts restrictions on commercial use of </a:t>
            </a:r>
            <a:r>
              <a:rPr lang="en-US" altLang="en-US" sz="2400" dirty="0" err="1"/>
              <a:t>NSFnet</a:t>
            </a:r>
            <a:r>
              <a:rPr lang="en-US" altLang="en-US" sz="2400" dirty="0"/>
              <a:t> (decommissioned, 1995)</a:t>
            </a:r>
          </a:p>
          <a:p>
            <a:pPr marL="225425" indent="-225425">
              <a:buSzPct val="75000"/>
            </a:pPr>
            <a:r>
              <a:rPr lang="en-US" altLang="en-US" sz="2400" dirty="0">
                <a:solidFill>
                  <a:srgbClr val="000099"/>
                </a:solidFill>
              </a:rPr>
              <a:t>early 1990s:</a:t>
            </a:r>
            <a:r>
              <a:rPr lang="en-US" altLang="en-US" sz="2400" dirty="0"/>
              <a:t> Web</a:t>
            </a:r>
          </a:p>
          <a:p>
            <a:pPr marL="569913" lvl="1" indent="-225425"/>
            <a:r>
              <a:rPr lang="en-US" altLang="en-US" dirty="0" smtClean="0">
                <a:ea typeface="Arial" panose="020B0604020202020204" pitchFamily="34" charset="0"/>
              </a:rPr>
              <a:t>hypertext [Bush 1945, Nelson 1960</a:t>
            </a:r>
            <a:r>
              <a:rPr lang="ja-JP" altLang="en-US" dirty="0" smtClean="0">
                <a:ea typeface="MS PGothic" panose="020B0600070205080204" pitchFamily="34" charset="-128"/>
              </a:rPr>
              <a:t>’</a:t>
            </a:r>
            <a:r>
              <a:rPr lang="en-US" altLang="ja-JP" dirty="0" smtClean="0">
                <a:ea typeface="MS PGothic" panose="020B0600070205080204" pitchFamily="34" charset="-128"/>
              </a:rPr>
              <a:t>s]</a:t>
            </a:r>
          </a:p>
          <a:p>
            <a:pPr marL="569913" lvl="1" indent="-225425"/>
            <a:r>
              <a:rPr lang="en-US" altLang="en-US" dirty="0" smtClean="0">
                <a:ea typeface="Arial" panose="020B0604020202020204" pitchFamily="34" charset="0"/>
              </a:rPr>
              <a:t>HTML, HTTP: Berners-Lee</a:t>
            </a:r>
          </a:p>
          <a:p>
            <a:pPr marL="569913" lvl="1" indent="-225425"/>
            <a:r>
              <a:rPr lang="en-US" altLang="en-US" dirty="0" smtClean="0">
                <a:ea typeface="Arial" panose="020B0604020202020204" pitchFamily="34" charset="0"/>
              </a:rPr>
              <a:t>1994: Mosaic, later Netscape</a:t>
            </a:r>
          </a:p>
          <a:p>
            <a:pPr marL="569913" lvl="1" indent="-225425"/>
            <a:r>
              <a:rPr lang="en-US" altLang="en-US" dirty="0" smtClean="0">
                <a:ea typeface="Arial" panose="020B0604020202020204" pitchFamily="34" charset="0"/>
              </a:rPr>
              <a:t>late 1990</a:t>
            </a:r>
            <a:r>
              <a:rPr lang="ja-JP" altLang="en-US" dirty="0" smtClean="0">
                <a:ea typeface="MS PGothic" panose="020B0600070205080204" pitchFamily="34" charset="-128"/>
              </a:rPr>
              <a:t>’</a:t>
            </a:r>
            <a:r>
              <a:rPr lang="en-US" altLang="ja-JP" dirty="0" smtClean="0">
                <a:ea typeface="MS PGothic" panose="020B0600070205080204" pitchFamily="34" charset="-128"/>
              </a:rPr>
              <a:t>s: commercialization</a:t>
            </a:r>
            <a:r>
              <a:rPr lang="en-US" altLang="ja-JP" sz="2000" dirty="0">
                <a:ea typeface="MS PGothic" panose="020B0600070205080204" pitchFamily="34" charset="-128"/>
              </a:rPr>
              <a:t> of the Web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99"/>
                </a:solidFill>
              </a:rPr>
              <a:t>late 1990</a:t>
            </a:r>
            <a:r>
              <a:rPr lang="ja-JP" altLang="en-US" sz="2400" dirty="0" smtClean="0">
                <a:solidFill>
                  <a:srgbClr val="000099"/>
                </a:solidFill>
              </a:rPr>
              <a:t>’</a:t>
            </a:r>
            <a:r>
              <a:rPr lang="en-US" altLang="ja-JP" sz="2400" dirty="0" smtClean="0">
                <a:solidFill>
                  <a:srgbClr val="000099"/>
                </a:solidFill>
              </a:rPr>
              <a:t>s – 2000</a:t>
            </a:r>
            <a:r>
              <a:rPr lang="ja-JP" altLang="en-US" sz="2400" dirty="0" smtClean="0">
                <a:solidFill>
                  <a:srgbClr val="000099"/>
                </a:solidFill>
              </a:rPr>
              <a:t>’</a:t>
            </a:r>
            <a:r>
              <a:rPr lang="en-US" altLang="ja-JP" sz="2400" dirty="0" smtClean="0">
                <a:solidFill>
                  <a:srgbClr val="000099"/>
                </a:solidFill>
              </a:rPr>
              <a:t>s:</a:t>
            </a:r>
          </a:p>
          <a:p>
            <a:pPr>
              <a:buSzPct val="75000"/>
            </a:pPr>
            <a:r>
              <a:rPr lang="en-US" altLang="en-US" sz="2400" dirty="0" smtClean="0"/>
              <a:t>more killer apps: instant messaging, P2P file sharing</a:t>
            </a:r>
          </a:p>
          <a:p>
            <a:pPr>
              <a:buSzPct val="75000"/>
            </a:pPr>
            <a:r>
              <a:rPr lang="en-US" altLang="en-US" sz="2400" dirty="0" smtClean="0"/>
              <a:t>network security to forefront</a:t>
            </a:r>
          </a:p>
          <a:p>
            <a:pPr>
              <a:buSzPct val="75000"/>
            </a:pPr>
            <a:r>
              <a:rPr lang="en-US" altLang="en-US" sz="2400" dirty="0" smtClean="0"/>
              <a:t>est. 50 million host, 100 million+ users</a:t>
            </a:r>
          </a:p>
          <a:p>
            <a:pPr>
              <a:buSzPct val="75000"/>
            </a:pPr>
            <a:r>
              <a:rPr lang="en-US" altLang="en-US" sz="2400" dirty="0" smtClean="0"/>
              <a:t>backbone links running at </a:t>
            </a:r>
            <a:r>
              <a:rPr lang="en-US" altLang="en-US" sz="2400" dirty="0" err="1" smtClean="0"/>
              <a:t>Gbps</a:t>
            </a:r>
            <a:endParaRPr lang="en-US" altLang="en-US" sz="2400" dirty="0" smtClean="0"/>
          </a:p>
          <a:p>
            <a:pPr marL="0" indent="0">
              <a:buNone/>
            </a:pPr>
            <a:endParaRPr lang="en-US" altLang="en-US" sz="2400" dirty="0"/>
          </a:p>
        </p:txBody>
      </p:sp>
      <p:sp>
        <p:nvSpPr>
          <p:cNvPr id="161796" name="Rectangle 5"/>
          <p:cNvSpPr>
            <a:spLocks noChangeArrowheads="1"/>
          </p:cNvSpPr>
          <p:nvPr/>
        </p:nvSpPr>
        <p:spPr bwMode="auto">
          <a:xfrm>
            <a:off x="2047875" y="1028700"/>
            <a:ext cx="79629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1990, 2000</a:t>
            </a:r>
            <a:r>
              <a:rPr lang="ja-JP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’</a:t>
            </a:r>
            <a:r>
              <a:rPr lang="en-US" altLang="ja-JP" sz="2800" i="1">
                <a:solidFill>
                  <a:srgbClr val="CC0000"/>
                </a:solidFill>
                <a:latin typeface="Gill Sans MT" panose="020B0502020104020203" pitchFamily="34" charset="0"/>
              </a:rPr>
              <a:t>s: commercialization, the Web, new apps</a:t>
            </a:r>
            <a:endParaRPr lang="en-US" altLang="en-US" sz="2800" u="sng">
              <a:solidFill>
                <a:srgbClr val="CC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61797" name="Rectangle 2"/>
          <p:cNvSpPr>
            <a:spLocks noChangeArrowheads="1"/>
          </p:cNvSpPr>
          <p:nvPr/>
        </p:nvSpPr>
        <p:spPr bwMode="auto">
          <a:xfrm>
            <a:off x="1901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000" dirty="0">
                <a:latin typeface="Gill Sans MT" panose="020B0502020104020203" pitchFamily="34" charset="0"/>
              </a:rPr>
              <a:t>Internet history</a:t>
            </a:r>
            <a:endParaRPr lang="en-US" altLang="en-US" sz="4400" dirty="0">
              <a:latin typeface="Gill Sans MT" panose="020B050202010402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16126" y="1209675"/>
            <a:ext cx="7502525" cy="44577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00000"/>
                </a:solidFill>
              </a:rPr>
              <a:t>2005-present</a:t>
            </a:r>
          </a:p>
          <a:p>
            <a:pPr eaLnBrk="1" hangingPunct="1">
              <a:buSzPct val="75000"/>
            </a:pPr>
            <a:r>
              <a:rPr lang="en-US" altLang="en-US" sz="2400"/>
              <a:t>~750 million hosts</a:t>
            </a:r>
          </a:p>
          <a:p>
            <a:pPr lvl="1" eaLnBrk="1" hangingPunct="1">
              <a:buSzPct val="75000"/>
            </a:pPr>
            <a:r>
              <a:rPr lang="en-US" altLang="en-US" sz="2000">
                <a:ea typeface="MS PGothic" panose="020B0600070205080204" pitchFamily="34" charset="-128"/>
              </a:rPr>
              <a:t>Smartphones and tablets</a:t>
            </a:r>
          </a:p>
          <a:p>
            <a:pPr eaLnBrk="1" hangingPunct="1"/>
            <a:r>
              <a:rPr lang="en-US" altLang="en-US" sz="2400"/>
              <a:t>Aggressive deployment of broadband access</a:t>
            </a:r>
          </a:p>
          <a:p>
            <a:pPr eaLnBrk="1" hangingPunct="1"/>
            <a:r>
              <a:rPr lang="en-US" altLang="en-US" sz="2400"/>
              <a:t>Increasing ubiquity of high-speed wireless access</a:t>
            </a:r>
          </a:p>
          <a:p>
            <a:pPr eaLnBrk="1" hangingPunct="1"/>
            <a:r>
              <a:rPr lang="en-US" altLang="en-US" sz="2400"/>
              <a:t>Emergence of online social networks: </a:t>
            </a:r>
          </a:p>
          <a:p>
            <a:pPr lvl="1" eaLnBrk="1" hangingPunct="1"/>
            <a:r>
              <a:rPr lang="en-US" altLang="en-US" sz="2000">
                <a:ea typeface="MS PGothic" panose="020B0600070205080204" pitchFamily="34" charset="-128"/>
              </a:rPr>
              <a:t>Facebook: soon one billion users</a:t>
            </a:r>
            <a:endParaRPr lang="en-US" altLang="en-US" smtClean="0"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en-US" sz="2400"/>
              <a:t>Service providers (Google, Microsoft) create their own networks</a:t>
            </a:r>
          </a:p>
          <a:p>
            <a:pPr lvl="1" eaLnBrk="1" hangingPunct="1"/>
            <a:r>
              <a:rPr lang="en-US" altLang="en-US" smtClean="0">
                <a:ea typeface="MS PGothic" panose="020B0600070205080204" pitchFamily="34" charset="-128"/>
              </a:rPr>
              <a:t>Bypass  Internet, providing </a:t>
            </a:r>
            <a:r>
              <a:rPr lang="ja-JP" altLang="en-US" smtClean="0">
                <a:ea typeface="MS PGothic" panose="020B0600070205080204" pitchFamily="34" charset="-128"/>
              </a:rPr>
              <a:t>“</a:t>
            </a:r>
            <a:r>
              <a:rPr lang="en-US" altLang="ja-JP" smtClean="0">
                <a:ea typeface="MS PGothic" panose="020B0600070205080204" pitchFamily="34" charset="-128"/>
              </a:rPr>
              <a:t>instantaneous</a:t>
            </a:r>
            <a:r>
              <a:rPr lang="ja-JP" altLang="en-US" smtClean="0">
                <a:ea typeface="MS PGothic" panose="020B0600070205080204" pitchFamily="34" charset="-128"/>
              </a:rPr>
              <a:t>”</a:t>
            </a:r>
            <a:r>
              <a:rPr lang="en-US" altLang="ja-JP" smtClean="0">
                <a:ea typeface="MS PGothic" panose="020B0600070205080204" pitchFamily="34" charset="-128"/>
              </a:rPr>
              <a:t> access to search, emai, etc.</a:t>
            </a:r>
          </a:p>
          <a:p>
            <a:pPr eaLnBrk="1" hangingPunct="1"/>
            <a:r>
              <a:rPr lang="en-US" altLang="en-US" sz="2400"/>
              <a:t>E-commerce, universities, enterprises running their services in </a:t>
            </a:r>
            <a:r>
              <a:rPr lang="ja-JP" altLang="en-US" sz="2400"/>
              <a:t>“</a:t>
            </a:r>
            <a:r>
              <a:rPr lang="en-US" altLang="ja-JP" sz="2400"/>
              <a:t>cloud</a:t>
            </a:r>
            <a:r>
              <a:rPr lang="ja-JP" altLang="en-US" sz="2400"/>
              <a:t>”</a:t>
            </a:r>
            <a:r>
              <a:rPr lang="en-US" altLang="ja-JP" sz="2400"/>
              <a:t> (eg, Amazon EC2)</a:t>
            </a:r>
            <a:endParaRPr lang="en-US" altLang="en-US" sz="2400"/>
          </a:p>
        </p:txBody>
      </p:sp>
      <p:sp>
        <p:nvSpPr>
          <p:cNvPr id="163843" name="Rectangle 2"/>
          <p:cNvSpPr>
            <a:spLocks noChangeArrowheads="1"/>
          </p:cNvSpPr>
          <p:nvPr/>
        </p:nvSpPr>
        <p:spPr bwMode="auto">
          <a:xfrm>
            <a:off x="1901825" y="2524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000" dirty="0">
                <a:latin typeface="Gill Sans MT" panose="020B0502020104020203" pitchFamily="34" charset="0"/>
              </a:rPr>
              <a:t>Internet history</a:t>
            </a:r>
            <a:endParaRPr lang="en-US" altLang="en-US" sz="4400" dirty="0">
              <a:latin typeface="Gill Sans MT" panose="020B050202010402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94ED-3B87-4EAF-9226-49DA68E4320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7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2260</Words>
  <Application>Microsoft Office PowerPoint</Application>
  <PresentationFormat>Widescreen</PresentationFormat>
  <Paragraphs>844</Paragraphs>
  <Slides>37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MS PGothic</vt:lpstr>
      <vt:lpstr>Yu Gothic</vt:lpstr>
      <vt:lpstr>Yu Gothic Light</vt:lpstr>
      <vt:lpstr>Arial</vt:lpstr>
      <vt:lpstr>Calibri</vt:lpstr>
      <vt:lpstr>Calibri Light</vt:lpstr>
      <vt:lpstr>Comic Sans MS</vt:lpstr>
      <vt:lpstr>Gill Sans MT</vt:lpstr>
      <vt:lpstr>Tahoma</vt:lpstr>
      <vt:lpstr>Times New Roman</vt:lpstr>
      <vt:lpstr>Wingdings</vt:lpstr>
      <vt:lpstr>Office Theme</vt:lpstr>
      <vt:lpstr>Microsoft Clip Gallery</vt:lpstr>
      <vt:lpstr>Introduction</vt:lpstr>
      <vt:lpstr>Outline</vt:lpstr>
      <vt:lpstr>What’s the Internet: “nuts and bolts” view</vt:lpstr>
      <vt:lpstr>PowerPoint Presentation</vt:lpstr>
      <vt:lpstr>What’s the Internet: a service view</vt:lpstr>
      <vt:lpstr>What’s a protocol?</vt:lpstr>
      <vt:lpstr>A closer look at network structure:</vt:lpstr>
      <vt:lpstr>Access networks and physical media</vt:lpstr>
      <vt:lpstr>Access net: Digital Subscriber Line (DSL)</vt:lpstr>
      <vt:lpstr>PowerPoint Presentation</vt:lpstr>
      <vt:lpstr>PowerPoint Presentation</vt:lpstr>
      <vt:lpstr>PowerPoint Presentation</vt:lpstr>
      <vt:lpstr>Enterprise access networks (Ethernet)</vt:lpstr>
      <vt:lpstr>Wireless access networks</vt:lpstr>
      <vt:lpstr>Physical media</vt:lpstr>
      <vt:lpstr>Physical media</vt:lpstr>
      <vt:lpstr>Physical media: Unguided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Protocol “layers”</vt:lpstr>
      <vt:lpstr>Organization of air travel</vt:lpstr>
      <vt:lpstr>Layering of airline functionality</vt:lpstr>
      <vt:lpstr>Why layering?</vt:lpstr>
      <vt:lpstr>Internet protocol stack (TCP/IP Protocol Suite</vt:lpstr>
      <vt:lpstr>ISO/OSI reference model</vt:lpstr>
      <vt:lpstr>Encapsulation</vt:lpstr>
      <vt:lpstr>Internet history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Windows User</dc:creator>
  <cp:lastModifiedBy>Windows User</cp:lastModifiedBy>
  <cp:revision>9</cp:revision>
  <dcterms:created xsi:type="dcterms:W3CDTF">2018-07-23T17:57:48Z</dcterms:created>
  <dcterms:modified xsi:type="dcterms:W3CDTF">2018-07-23T21:02:17Z</dcterms:modified>
</cp:coreProperties>
</file>