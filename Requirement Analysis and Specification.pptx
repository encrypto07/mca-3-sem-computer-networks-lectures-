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66" r:id="rId7"/>
    <p:sldId id="267" r:id="rId8"/>
    <p:sldId id="268" r:id="rId9"/>
    <p:sldId id="269" r:id="rId10"/>
    <p:sldId id="270" r:id="rId11"/>
    <p:sldId id="271" r:id="rId12"/>
    <p:sldId id="272" r:id="rId13"/>
    <p:sldId id="273" r:id="rId14"/>
    <p:sldId id="260" r:id="rId15"/>
    <p:sldId id="261" r:id="rId16"/>
    <p:sldId id="274" r:id="rId17"/>
    <p:sldId id="276" r:id="rId18"/>
    <p:sldId id="2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971064-D58B-4609-897B-360F686FB7E5}" type="datetimeFigureOut">
              <a:rPr lang="en-IN" smtClean="0"/>
              <a:t>06-03-2017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2712773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971064-D58B-4609-897B-360F686FB7E5}" type="datetimeFigureOut">
              <a:rPr lang="en-IN" smtClean="0"/>
              <a:t>06-03-2017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152238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971064-D58B-4609-897B-360F686FB7E5}" type="datetimeFigureOut">
              <a:rPr lang="en-IN" smtClean="0"/>
              <a:t>06-03-2017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79899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971064-D58B-4609-897B-360F686FB7E5}" type="datetimeFigureOut">
              <a:rPr lang="en-IN" smtClean="0"/>
              <a:t>06-03-2017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106020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971064-D58B-4609-897B-360F686FB7E5}" type="datetimeFigureOut">
              <a:rPr lang="en-IN" smtClean="0"/>
              <a:t>06-03-2017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3853602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971064-D58B-4609-897B-360F686FB7E5}" type="datetimeFigureOut">
              <a:rPr lang="en-IN" smtClean="0"/>
              <a:t>06-03-2017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740275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971064-D58B-4609-897B-360F686FB7E5}" type="datetimeFigureOut">
              <a:rPr lang="en-IN" smtClean="0"/>
              <a:t>06-03-2017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2996761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971064-D58B-4609-897B-360F686FB7E5}" type="datetimeFigureOut">
              <a:rPr lang="en-IN" smtClean="0"/>
              <a:t>06-03-2017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2949710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971064-D58B-4609-897B-360F686FB7E5}" type="datetimeFigureOut">
              <a:rPr lang="en-IN" smtClean="0"/>
              <a:t>06-03-2017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3140021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971064-D58B-4609-897B-360F686FB7E5}" type="datetimeFigureOut">
              <a:rPr lang="en-IN" smtClean="0"/>
              <a:t>06-03-2017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322503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971064-D58B-4609-897B-360F686FB7E5}" type="datetimeFigureOut">
              <a:rPr lang="en-IN" smtClean="0"/>
              <a:t>06-03-2017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96C52D-C739-4790-A7A7-51A2B5289670}" type="slidenum">
              <a:rPr lang="en-IN" smtClean="0"/>
              <a:t>‹#›</a:t>
            </a:fld>
            <a:endParaRPr lang="en-IN"/>
          </a:p>
        </p:txBody>
      </p:sp>
    </p:spTree>
    <p:extLst>
      <p:ext uri="{BB962C8B-B14F-4D97-AF65-F5344CB8AC3E}">
        <p14:creationId xmlns:p14="http://schemas.microsoft.com/office/powerpoint/2010/main" val="3352113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971064-D58B-4609-897B-360F686FB7E5}" type="datetimeFigureOut">
              <a:rPr lang="en-IN" smtClean="0"/>
              <a:t>06-03-2017</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6C52D-C739-4790-A7A7-51A2B5289670}" type="slidenum">
              <a:rPr lang="en-IN" smtClean="0"/>
              <a:t>‹#›</a:t>
            </a:fld>
            <a:endParaRPr lang="en-IN"/>
          </a:p>
        </p:txBody>
      </p:sp>
    </p:spTree>
    <p:extLst>
      <p:ext uri="{BB962C8B-B14F-4D97-AF65-F5344CB8AC3E}">
        <p14:creationId xmlns:p14="http://schemas.microsoft.com/office/powerpoint/2010/main" val="4254995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Requirement Analysis and Specification</a:t>
            </a:r>
            <a:endParaRPr lang="en-IN" dirty="0"/>
          </a:p>
        </p:txBody>
      </p:sp>
      <p:sp>
        <p:nvSpPr>
          <p:cNvPr id="3" name="Subtitle 2"/>
          <p:cNvSpPr>
            <a:spLocks noGrp="1"/>
          </p:cNvSpPr>
          <p:nvPr>
            <p:ph type="subTitle" idx="1"/>
          </p:nvPr>
        </p:nvSpPr>
        <p:spPr/>
        <p:txBody>
          <a:bodyPr/>
          <a:lstStyle/>
          <a:p>
            <a:r>
              <a:rPr lang="en-US" dirty="0" smtClean="0"/>
              <a:t>Dr. </a:t>
            </a:r>
            <a:r>
              <a:rPr lang="en-US" dirty="0" err="1" smtClean="0"/>
              <a:t>Tulika</a:t>
            </a:r>
            <a:endParaRPr lang="en-IN" dirty="0"/>
          </a:p>
        </p:txBody>
      </p:sp>
    </p:spTree>
    <p:extLst>
      <p:ext uri="{BB962C8B-B14F-4D97-AF65-F5344CB8AC3E}">
        <p14:creationId xmlns:p14="http://schemas.microsoft.com/office/powerpoint/2010/main" val="2368467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5269877-7076-4ABC-AE67-DC64CE195E4E}" type="slidenum">
              <a:rPr lang="en-US" altLang="en-US"/>
              <a:pPr/>
              <a:t>2</a:t>
            </a:fld>
            <a:endParaRPr lang="en-US" altLang="en-US"/>
          </a:p>
        </p:txBody>
      </p:sp>
      <p:sp>
        <p:nvSpPr>
          <p:cNvPr id="28674" name="Rectangle 2"/>
          <p:cNvSpPr>
            <a:spLocks noGrp="1" noChangeArrowheads="1"/>
          </p:cNvSpPr>
          <p:nvPr>
            <p:ph type="title"/>
          </p:nvPr>
        </p:nvSpPr>
        <p:spPr/>
        <p:txBody>
          <a:bodyPr/>
          <a:lstStyle/>
          <a:p>
            <a:r>
              <a:rPr lang="en-US" altLang="en-US"/>
              <a:t>Requirements Analysis</a:t>
            </a:r>
          </a:p>
        </p:txBody>
      </p:sp>
      <p:sp>
        <p:nvSpPr>
          <p:cNvPr id="28675" name="Rectangle 3"/>
          <p:cNvSpPr>
            <a:spLocks noGrp="1" noChangeArrowheads="1"/>
          </p:cNvSpPr>
          <p:nvPr>
            <p:ph type="body" idx="1"/>
          </p:nvPr>
        </p:nvSpPr>
        <p:spPr/>
        <p:txBody>
          <a:bodyPr/>
          <a:lstStyle/>
          <a:p>
            <a:pPr>
              <a:lnSpc>
                <a:spcPct val="90000"/>
              </a:lnSpc>
            </a:pPr>
            <a:r>
              <a:rPr lang="en-US" altLang="en-US" sz="2400">
                <a:cs typeface="Times New Roman" pitchFamily="18" charset="0"/>
              </a:rPr>
              <a:t>Software engineering task bridging the gap between system requirements engineering and software design.</a:t>
            </a:r>
          </a:p>
          <a:p>
            <a:pPr>
              <a:lnSpc>
                <a:spcPct val="90000"/>
              </a:lnSpc>
            </a:pPr>
            <a:r>
              <a:rPr lang="en-US" altLang="en-US" sz="2400">
                <a:cs typeface="Times New Roman" pitchFamily="18" charset="0"/>
              </a:rPr>
              <a:t>Provides software designer with a model of: </a:t>
            </a:r>
          </a:p>
          <a:p>
            <a:pPr lvl="1">
              <a:lnSpc>
                <a:spcPct val="90000"/>
              </a:lnSpc>
            </a:pPr>
            <a:r>
              <a:rPr lang="en-US" altLang="en-US" sz="2000">
                <a:cs typeface="Times New Roman" pitchFamily="18" charset="0"/>
              </a:rPr>
              <a:t>system information</a:t>
            </a:r>
          </a:p>
          <a:p>
            <a:pPr lvl="1">
              <a:lnSpc>
                <a:spcPct val="90000"/>
              </a:lnSpc>
            </a:pPr>
            <a:r>
              <a:rPr lang="en-US" altLang="en-US" sz="2000">
                <a:cs typeface="Times New Roman" pitchFamily="18" charset="0"/>
              </a:rPr>
              <a:t>function</a:t>
            </a:r>
          </a:p>
          <a:p>
            <a:pPr lvl="1">
              <a:lnSpc>
                <a:spcPct val="90000"/>
              </a:lnSpc>
            </a:pPr>
            <a:r>
              <a:rPr lang="en-US" altLang="en-US" sz="2000">
                <a:cs typeface="Times New Roman" pitchFamily="18" charset="0"/>
              </a:rPr>
              <a:t>behavior</a:t>
            </a:r>
          </a:p>
          <a:p>
            <a:pPr>
              <a:lnSpc>
                <a:spcPct val="90000"/>
              </a:lnSpc>
            </a:pPr>
            <a:r>
              <a:rPr lang="en-US" altLang="en-US" sz="2400">
                <a:cs typeface="Times New Roman" pitchFamily="18" charset="0"/>
              </a:rPr>
              <a:t>Model can be translated to data, architectural, and component-level designs.</a:t>
            </a:r>
          </a:p>
          <a:p>
            <a:pPr>
              <a:lnSpc>
                <a:spcPct val="90000"/>
              </a:lnSpc>
            </a:pPr>
            <a:r>
              <a:rPr lang="en-US" altLang="en-US" sz="2400">
                <a:cs typeface="Times New Roman" pitchFamily="18" charset="0"/>
              </a:rPr>
              <a:t>Expect to do a little bit of design during analysis and a little bit of analysis during design. </a:t>
            </a:r>
            <a:endParaRPr lang="en-US" altLang="en-US" sz="2400"/>
          </a:p>
        </p:txBody>
      </p:sp>
    </p:spTree>
    <p:extLst>
      <p:ext uri="{BB962C8B-B14F-4D97-AF65-F5344CB8AC3E}">
        <p14:creationId xmlns:p14="http://schemas.microsoft.com/office/powerpoint/2010/main" val="1879940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38CD6D5-27CB-4FF4-9CA4-4ADF42635B98}" type="slidenum">
              <a:rPr lang="en-US" altLang="en-US"/>
              <a:pPr/>
              <a:t>3</a:t>
            </a:fld>
            <a:endParaRPr lang="en-US" altLang="en-US"/>
          </a:p>
        </p:txBody>
      </p:sp>
      <p:sp>
        <p:nvSpPr>
          <p:cNvPr id="3074" name="Rectangle 2"/>
          <p:cNvSpPr>
            <a:spLocks noGrp="1" noChangeArrowheads="1"/>
          </p:cNvSpPr>
          <p:nvPr>
            <p:ph type="title"/>
          </p:nvPr>
        </p:nvSpPr>
        <p:spPr/>
        <p:txBody>
          <a:bodyPr/>
          <a:lstStyle/>
          <a:p>
            <a:r>
              <a:rPr lang="en-US" altLang="en-US"/>
              <a:t>Analysis Objectives </a:t>
            </a:r>
          </a:p>
        </p:txBody>
      </p:sp>
      <p:sp>
        <p:nvSpPr>
          <p:cNvPr id="3075" name="Rectangle 3"/>
          <p:cNvSpPr>
            <a:spLocks noGrp="1" noChangeArrowheads="1"/>
          </p:cNvSpPr>
          <p:nvPr>
            <p:ph type="body" idx="1"/>
          </p:nvPr>
        </p:nvSpPr>
        <p:spPr/>
        <p:txBody>
          <a:bodyPr/>
          <a:lstStyle/>
          <a:p>
            <a:r>
              <a:rPr lang="en-US" altLang="en-US">
                <a:cs typeface="Times New Roman" pitchFamily="18" charset="0"/>
              </a:rPr>
              <a:t>Identify customer’s needs.</a:t>
            </a:r>
          </a:p>
          <a:p>
            <a:r>
              <a:rPr lang="en-US" altLang="en-US">
                <a:cs typeface="Times New Roman" pitchFamily="18" charset="0"/>
              </a:rPr>
              <a:t>Evaluate system for feasibility.</a:t>
            </a:r>
          </a:p>
          <a:p>
            <a:r>
              <a:rPr lang="en-US" altLang="en-US">
                <a:cs typeface="Times New Roman" pitchFamily="18" charset="0"/>
              </a:rPr>
              <a:t>Perform economic and technical analysis.</a:t>
            </a:r>
          </a:p>
          <a:p>
            <a:r>
              <a:rPr lang="en-US" altLang="en-US">
                <a:cs typeface="Times New Roman" pitchFamily="18" charset="0"/>
              </a:rPr>
              <a:t>Allocate functions to system elements.</a:t>
            </a:r>
          </a:p>
          <a:p>
            <a:r>
              <a:rPr lang="en-US" altLang="en-US">
                <a:cs typeface="Times New Roman" pitchFamily="18" charset="0"/>
              </a:rPr>
              <a:t>Establish schedule and constraints.</a:t>
            </a:r>
          </a:p>
          <a:p>
            <a:r>
              <a:rPr lang="en-US" altLang="en-US">
                <a:cs typeface="Times New Roman" pitchFamily="18" charset="0"/>
              </a:rPr>
              <a:t>Create system definitions.</a:t>
            </a:r>
            <a:endParaRPr lang="en-US" altLang="en-US"/>
          </a:p>
        </p:txBody>
      </p:sp>
    </p:spTree>
    <p:extLst>
      <p:ext uri="{BB962C8B-B14F-4D97-AF65-F5344CB8AC3E}">
        <p14:creationId xmlns:p14="http://schemas.microsoft.com/office/powerpoint/2010/main" val="2768861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5A1648C-2C51-45C1-89DF-98BA9456D354}" type="slidenum">
              <a:rPr lang="en-US" altLang="en-US"/>
              <a:pPr/>
              <a:t>4</a:t>
            </a:fld>
            <a:endParaRPr lang="en-US" altLang="en-US"/>
          </a:p>
        </p:txBody>
      </p:sp>
      <p:sp>
        <p:nvSpPr>
          <p:cNvPr id="29698" name="Rectangle 2"/>
          <p:cNvSpPr>
            <a:spLocks noGrp="1" noChangeArrowheads="1"/>
          </p:cNvSpPr>
          <p:nvPr>
            <p:ph type="title"/>
          </p:nvPr>
        </p:nvSpPr>
        <p:spPr/>
        <p:txBody>
          <a:bodyPr>
            <a:normAutofit fontScale="90000"/>
          </a:bodyPr>
          <a:lstStyle/>
          <a:p>
            <a:r>
              <a:rPr lang="en-US" altLang="en-US" sz="4000"/>
              <a:t>Software Requirements Analysis Phases</a:t>
            </a:r>
          </a:p>
        </p:txBody>
      </p:sp>
      <p:sp>
        <p:nvSpPr>
          <p:cNvPr id="29699" name="Rectangle 3"/>
          <p:cNvSpPr>
            <a:spLocks noGrp="1" noChangeArrowheads="1"/>
          </p:cNvSpPr>
          <p:nvPr>
            <p:ph type="body" idx="1"/>
          </p:nvPr>
        </p:nvSpPr>
        <p:spPr/>
        <p:txBody>
          <a:bodyPr/>
          <a:lstStyle/>
          <a:p>
            <a:r>
              <a:rPr lang="en-US" altLang="en-US">
                <a:cs typeface="Times New Roman" pitchFamily="18" charset="0"/>
              </a:rPr>
              <a:t>Problem recognition</a:t>
            </a:r>
          </a:p>
          <a:p>
            <a:r>
              <a:rPr lang="en-US" altLang="en-US">
                <a:cs typeface="Times New Roman" pitchFamily="18" charset="0"/>
              </a:rPr>
              <a:t>Evaluation and synthesis</a:t>
            </a:r>
          </a:p>
          <a:p>
            <a:pPr lvl="1"/>
            <a:r>
              <a:rPr lang="en-US" altLang="en-US">
                <a:cs typeface="Times New Roman" pitchFamily="18" charset="0"/>
              </a:rPr>
              <a:t>focus is on what not how</a:t>
            </a:r>
          </a:p>
          <a:p>
            <a:r>
              <a:rPr lang="en-US" altLang="en-US">
                <a:cs typeface="Times New Roman" pitchFamily="18" charset="0"/>
              </a:rPr>
              <a:t>Modeling</a:t>
            </a:r>
          </a:p>
          <a:p>
            <a:r>
              <a:rPr lang="en-US" altLang="en-US">
                <a:cs typeface="Times New Roman" pitchFamily="18" charset="0"/>
              </a:rPr>
              <a:t>Specification</a:t>
            </a:r>
          </a:p>
          <a:p>
            <a:r>
              <a:rPr lang="en-US" altLang="en-US">
                <a:cs typeface="Times New Roman" pitchFamily="18" charset="0"/>
              </a:rPr>
              <a:t>Review</a:t>
            </a:r>
            <a:endParaRPr lang="en-US" altLang="en-US"/>
          </a:p>
        </p:txBody>
      </p:sp>
    </p:spTree>
    <p:extLst>
      <p:ext uri="{BB962C8B-B14F-4D97-AF65-F5344CB8AC3E}">
        <p14:creationId xmlns:p14="http://schemas.microsoft.com/office/powerpoint/2010/main" val="4164471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AA2DC95-27E4-4356-9BF5-638114105950}" type="slidenum">
              <a:rPr lang="en-US" altLang="en-US"/>
              <a:pPr/>
              <a:t>5</a:t>
            </a:fld>
            <a:endParaRPr lang="en-US" altLang="en-US"/>
          </a:p>
        </p:txBody>
      </p:sp>
      <p:sp>
        <p:nvSpPr>
          <p:cNvPr id="4098" name="Rectangle 2"/>
          <p:cNvSpPr>
            <a:spLocks noGrp="1" noChangeArrowheads="1"/>
          </p:cNvSpPr>
          <p:nvPr>
            <p:ph type="title"/>
          </p:nvPr>
        </p:nvSpPr>
        <p:spPr/>
        <p:txBody>
          <a:bodyPr/>
          <a:lstStyle/>
          <a:p>
            <a:r>
              <a:rPr lang="en-US" altLang="en-US"/>
              <a:t>Management Questions</a:t>
            </a:r>
          </a:p>
        </p:txBody>
      </p:sp>
      <p:sp>
        <p:nvSpPr>
          <p:cNvPr id="4099" name="Rectangle 3"/>
          <p:cNvSpPr>
            <a:spLocks noGrp="1" noChangeArrowheads="1"/>
          </p:cNvSpPr>
          <p:nvPr>
            <p:ph type="body" idx="1"/>
          </p:nvPr>
        </p:nvSpPr>
        <p:spPr/>
        <p:txBody>
          <a:bodyPr/>
          <a:lstStyle/>
          <a:p>
            <a:r>
              <a:rPr lang="en-US" altLang="en-US">
                <a:cs typeface="Times New Roman" pitchFamily="18" charset="0"/>
              </a:rPr>
              <a:t>How much effort put towards analysis?</a:t>
            </a:r>
          </a:p>
          <a:p>
            <a:r>
              <a:rPr lang="en-US" altLang="en-US">
                <a:cs typeface="Times New Roman" pitchFamily="18" charset="0"/>
              </a:rPr>
              <a:t>Who does the analysis?</a:t>
            </a:r>
          </a:p>
          <a:p>
            <a:r>
              <a:rPr lang="en-US" altLang="en-US">
                <a:cs typeface="Times New Roman" pitchFamily="18" charset="0"/>
              </a:rPr>
              <a:t>Why is it so difficult?</a:t>
            </a:r>
          </a:p>
          <a:p>
            <a:r>
              <a:rPr lang="en-US" altLang="en-US">
                <a:cs typeface="Times New Roman" pitchFamily="18" charset="0"/>
              </a:rPr>
              <a:t>Bottom line - who pays for it?</a:t>
            </a:r>
            <a:endParaRPr lang="en-US" altLang="en-US"/>
          </a:p>
        </p:txBody>
      </p:sp>
    </p:spTree>
    <p:extLst>
      <p:ext uri="{BB962C8B-B14F-4D97-AF65-F5344CB8AC3E}">
        <p14:creationId xmlns:p14="http://schemas.microsoft.com/office/powerpoint/2010/main" val="2012988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08BF254-828A-4325-A33E-67A158502148}" type="slidenum">
              <a:rPr lang="en-US" altLang="en-US"/>
              <a:pPr/>
              <a:t>6</a:t>
            </a:fld>
            <a:endParaRPr lang="en-US" altLang="en-US"/>
          </a:p>
        </p:txBody>
      </p:sp>
      <p:sp>
        <p:nvSpPr>
          <p:cNvPr id="6146" name="Rectangle 2"/>
          <p:cNvSpPr>
            <a:spLocks noGrp="1" noChangeArrowheads="1"/>
          </p:cNvSpPr>
          <p:nvPr>
            <p:ph type="title"/>
          </p:nvPr>
        </p:nvSpPr>
        <p:spPr/>
        <p:txBody>
          <a:bodyPr/>
          <a:lstStyle/>
          <a:p>
            <a:r>
              <a:rPr lang="en-US" altLang="en-US"/>
              <a:t>Feasibility Study</a:t>
            </a:r>
          </a:p>
        </p:txBody>
      </p:sp>
      <p:sp>
        <p:nvSpPr>
          <p:cNvPr id="6147" name="Rectangle 3"/>
          <p:cNvSpPr>
            <a:spLocks noGrp="1" noChangeArrowheads="1"/>
          </p:cNvSpPr>
          <p:nvPr>
            <p:ph type="body" idx="1"/>
          </p:nvPr>
        </p:nvSpPr>
        <p:spPr/>
        <p:txBody>
          <a:bodyPr/>
          <a:lstStyle/>
          <a:p>
            <a:r>
              <a:rPr lang="en-US" altLang="en-US">
                <a:cs typeface="Arial" pitchFamily="34" charset="0"/>
              </a:rPr>
              <a:t>Economic feasibility</a:t>
            </a:r>
          </a:p>
          <a:p>
            <a:pPr lvl="1"/>
            <a:r>
              <a:rPr lang="en-US" altLang="en-US">
                <a:cs typeface="Arial" pitchFamily="34" charset="0"/>
              </a:rPr>
              <a:t>cost/benefit analysis</a:t>
            </a:r>
            <a:endParaRPr lang="en-US" altLang="en-US">
              <a:cs typeface="Times New Roman" pitchFamily="18" charset="0"/>
            </a:endParaRPr>
          </a:p>
          <a:p>
            <a:r>
              <a:rPr lang="en-US" altLang="en-US">
                <a:cs typeface="Arial" pitchFamily="34" charset="0"/>
              </a:rPr>
              <a:t>Technical feasibility</a:t>
            </a:r>
          </a:p>
          <a:p>
            <a:pPr lvl="1"/>
            <a:r>
              <a:rPr lang="en-US" altLang="en-US">
                <a:cs typeface="Arial" pitchFamily="34" charset="0"/>
              </a:rPr>
              <a:t>hardware/software/people, etc.</a:t>
            </a:r>
            <a:endParaRPr lang="en-US" altLang="en-US">
              <a:cs typeface="Times New Roman" pitchFamily="18" charset="0"/>
            </a:endParaRPr>
          </a:p>
          <a:p>
            <a:r>
              <a:rPr lang="en-US" altLang="en-US">
                <a:cs typeface="Arial" pitchFamily="34" charset="0"/>
              </a:rPr>
              <a:t>Legal feasibility</a:t>
            </a:r>
            <a:endParaRPr lang="en-US" altLang="en-US">
              <a:cs typeface="Times New Roman" pitchFamily="18" charset="0"/>
            </a:endParaRPr>
          </a:p>
          <a:p>
            <a:r>
              <a:rPr lang="en-US" altLang="en-US">
                <a:cs typeface="Arial" pitchFamily="34" charset="0"/>
              </a:rPr>
              <a:t>Alternatives</a:t>
            </a:r>
          </a:p>
          <a:p>
            <a:pPr lvl="1"/>
            <a:r>
              <a:rPr lang="en-US" altLang="en-US"/>
              <a:t>there is always more than one way to do it</a:t>
            </a:r>
          </a:p>
        </p:txBody>
      </p:sp>
    </p:spTree>
    <p:extLst>
      <p:ext uri="{BB962C8B-B14F-4D97-AF65-F5344CB8AC3E}">
        <p14:creationId xmlns:p14="http://schemas.microsoft.com/office/powerpoint/2010/main" val="30074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E80530-AD18-43B3-8B35-796CDBA9A89A}" type="slidenum">
              <a:rPr lang="en-US" altLang="en-US"/>
              <a:pPr/>
              <a:t>7</a:t>
            </a:fld>
            <a:endParaRPr lang="en-US" altLang="en-US"/>
          </a:p>
        </p:txBody>
      </p:sp>
      <p:sp>
        <p:nvSpPr>
          <p:cNvPr id="7170" name="Rectangle 2"/>
          <p:cNvSpPr>
            <a:spLocks noGrp="1" noChangeArrowheads="1"/>
          </p:cNvSpPr>
          <p:nvPr>
            <p:ph type="title"/>
          </p:nvPr>
        </p:nvSpPr>
        <p:spPr/>
        <p:txBody>
          <a:bodyPr/>
          <a:lstStyle/>
          <a:p>
            <a:r>
              <a:rPr lang="en-US" altLang="en-US"/>
              <a:t>System Specification</a:t>
            </a:r>
          </a:p>
        </p:txBody>
      </p:sp>
      <p:sp>
        <p:nvSpPr>
          <p:cNvPr id="7171" name="Rectangle 3"/>
          <p:cNvSpPr>
            <a:spLocks noGrp="1" noChangeArrowheads="1"/>
          </p:cNvSpPr>
          <p:nvPr>
            <p:ph type="body" idx="1"/>
          </p:nvPr>
        </p:nvSpPr>
        <p:spPr/>
        <p:txBody>
          <a:bodyPr/>
          <a:lstStyle/>
          <a:p>
            <a:r>
              <a:rPr lang="en-US" altLang="en-US">
                <a:cs typeface="Arial" pitchFamily="34" charset="0"/>
              </a:rPr>
              <a:t>Introduction.</a:t>
            </a:r>
            <a:endParaRPr lang="en-US" altLang="en-US">
              <a:cs typeface="Times New Roman" pitchFamily="18" charset="0"/>
            </a:endParaRPr>
          </a:p>
          <a:p>
            <a:r>
              <a:rPr lang="en-US" altLang="en-US">
                <a:cs typeface="Arial" pitchFamily="34" charset="0"/>
              </a:rPr>
              <a:t>Functional data description.</a:t>
            </a:r>
            <a:endParaRPr lang="en-US" altLang="en-US">
              <a:cs typeface="Times New Roman" pitchFamily="18" charset="0"/>
            </a:endParaRPr>
          </a:p>
          <a:p>
            <a:r>
              <a:rPr lang="en-US" altLang="en-US">
                <a:cs typeface="Arial" pitchFamily="34" charset="0"/>
              </a:rPr>
              <a:t>Subsystem description.</a:t>
            </a:r>
            <a:endParaRPr lang="en-US" altLang="en-US">
              <a:cs typeface="Times New Roman" pitchFamily="18" charset="0"/>
            </a:endParaRPr>
          </a:p>
          <a:p>
            <a:r>
              <a:rPr lang="en-US" altLang="en-US">
                <a:cs typeface="Arial" pitchFamily="34" charset="0"/>
              </a:rPr>
              <a:t>System modeling and simulation results.</a:t>
            </a:r>
            <a:endParaRPr lang="en-US" altLang="en-US">
              <a:cs typeface="Times New Roman" pitchFamily="18" charset="0"/>
            </a:endParaRPr>
          </a:p>
          <a:p>
            <a:r>
              <a:rPr lang="en-US" altLang="en-US">
                <a:cs typeface="Arial" pitchFamily="34" charset="0"/>
              </a:rPr>
              <a:t>Products.</a:t>
            </a:r>
            <a:endParaRPr lang="en-US" altLang="en-US">
              <a:cs typeface="Times New Roman" pitchFamily="18" charset="0"/>
            </a:endParaRPr>
          </a:p>
          <a:p>
            <a:r>
              <a:rPr lang="en-US" altLang="en-US">
                <a:cs typeface="Arial" pitchFamily="34" charset="0"/>
              </a:rPr>
              <a:t>Appendices.</a:t>
            </a:r>
            <a:endParaRPr lang="en-US" altLang="en-US"/>
          </a:p>
        </p:txBody>
      </p:sp>
    </p:spTree>
    <p:extLst>
      <p:ext uri="{BB962C8B-B14F-4D97-AF65-F5344CB8AC3E}">
        <p14:creationId xmlns:p14="http://schemas.microsoft.com/office/powerpoint/2010/main" val="1819096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CD6B83-EA57-4B4C-BF94-9BCA91C09DAB}" type="slidenum">
              <a:rPr lang="en-US" altLang="en-US"/>
              <a:pPr/>
              <a:t>8</a:t>
            </a:fld>
            <a:endParaRPr lang="en-US" altLang="en-US"/>
          </a:p>
        </p:txBody>
      </p:sp>
      <p:sp>
        <p:nvSpPr>
          <p:cNvPr id="8194" name="Rectangle 2"/>
          <p:cNvSpPr>
            <a:spLocks noGrp="1" noChangeArrowheads="1"/>
          </p:cNvSpPr>
          <p:nvPr>
            <p:ph type="title"/>
          </p:nvPr>
        </p:nvSpPr>
        <p:spPr/>
        <p:txBody>
          <a:bodyPr/>
          <a:lstStyle/>
          <a:p>
            <a:r>
              <a:rPr lang="en-US" altLang="en-US"/>
              <a:t>Requirements</a:t>
            </a:r>
          </a:p>
        </p:txBody>
      </p:sp>
      <p:sp>
        <p:nvSpPr>
          <p:cNvPr id="8195" name="Rectangle 3"/>
          <p:cNvSpPr>
            <a:spLocks noGrp="1" noChangeArrowheads="1"/>
          </p:cNvSpPr>
          <p:nvPr>
            <p:ph type="body" idx="1"/>
          </p:nvPr>
        </p:nvSpPr>
        <p:spPr/>
        <p:txBody>
          <a:bodyPr/>
          <a:lstStyle/>
          <a:p>
            <a:pPr>
              <a:lnSpc>
                <a:spcPct val="90000"/>
              </a:lnSpc>
            </a:pPr>
            <a:r>
              <a:rPr lang="en-US" altLang="en-US">
                <a:cs typeface="Arial" pitchFamily="34" charset="0"/>
              </a:rPr>
              <a:t>Requirement</a:t>
            </a:r>
          </a:p>
          <a:p>
            <a:pPr lvl="1">
              <a:lnSpc>
                <a:spcPct val="90000"/>
              </a:lnSpc>
            </a:pPr>
            <a:r>
              <a:rPr lang="en-US" altLang="en-US">
                <a:cs typeface="Arial" pitchFamily="34" charset="0"/>
              </a:rPr>
              <a:t>features of system or system function used to fulfill system purpose.</a:t>
            </a:r>
            <a:endParaRPr lang="en-US" altLang="en-US">
              <a:cs typeface="Times New Roman" pitchFamily="18" charset="0"/>
            </a:endParaRPr>
          </a:p>
          <a:p>
            <a:pPr>
              <a:lnSpc>
                <a:spcPct val="90000"/>
              </a:lnSpc>
            </a:pPr>
            <a:r>
              <a:rPr lang="en-US" altLang="en-US">
                <a:cs typeface="Arial" pitchFamily="34" charset="0"/>
              </a:rPr>
              <a:t>Focus on customer’s needs and problem, not on solutions:</a:t>
            </a:r>
            <a:endParaRPr lang="en-US" altLang="en-US">
              <a:cs typeface="Times New Roman" pitchFamily="18" charset="0"/>
            </a:endParaRPr>
          </a:p>
          <a:p>
            <a:pPr lvl="1">
              <a:lnSpc>
                <a:spcPct val="90000"/>
              </a:lnSpc>
            </a:pPr>
            <a:r>
              <a:rPr lang="en-US" altLang="en-US">
                <a:cs typeface="Arial" pitchFamily="34" charset="0"/>
              </a:rPr>
              <a:t>Requirements definition document </a:t>
            </a:r>
          </a:p>
          <a:p>
            <a:pPr lvl="2">
              <a:lnSpc>
                <a:spcPct val="90000"/>
              </a:lnSpc>
              <a:buFontTx/>
              <a:buNone/>
            </a:pPr>
            <a:r>
              <a:rPr lang="en-US" altLang="en-US">
                <a:cs typeface="Arial" pitchFamily="34" charset="0"/>
              </a:rPr>
              <a:t>(written for customer).</a:t>
            </a:r>
            <a:endParaRPr lang="en-US" altLang="en-US">
              <a:cs typeface="Times New Roman" pitchFamily="18" charset="0"/>
            </a:endParaRPr>
          </a:p>
          <a:p>
            <a:pPr lvl="1">
              <a:lnSpc>
                <a:spcPct val="90000"/>
              </a:lnSpc>
            </a:pPr>
            <a:r>
              <a:rPr lang="en-US" altLang="en-US">
                <a:cs typeface="Arial" pitchFamily="34" charset="0"/>
              </a:rPr>
              <a:t>Requirements specification document</a:t>
            </a:r>
          </a:p>
          <a:p>
            <a:pPr lvl="2">
              <a:lnSpc>
                <a:spcPct val="90000"/>
              </a:lnSpc>
              <a:buFontTx/>
              <a:buNone/>
            </a:pPr>
            <a:r>
              <a:rPr lang="en-US" altLang="en-US">
                <a:cs typeface="Arial" pitchFamily="34" charset="0"/>
              </a:rPr>
              <a:t>(written for programmer; technical staff).</a:t>
            </a:r>
            <a:endParaRPr lang="en-US" altLang="en-US"/>
          </a:p>
        </p:txBody>
      </p:sp>
    </p:spTree>
    <p:extLst>
      <p:ext uri="{BB962C8B-B14F-4D97-AF65-F5344CB8AC3E}">
        <p14:creationId xmlns:p14="http://schemas.microsoft.com/office/powerpoint/2010/main" val="3357570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9B4E85D-BC9B-44D5-BF39-C1933D97D4BE}" type="slidenum">
              <a:rPr lang="en-US" altLang="en-US"/>
              <a:pPr/>
              <a:t>9</a:t>
            </a:fld>
            <a:endParaRPr lang="en-US" altLang="en-US"/>
          </a:p>
        </p:txBody>
      </p:sp>
      <p:sp>
        <p:nvSpPr>
          <p:cNvPr id="9218" name="Rectangle 2"/>
          <p:cNvSpPr>
            <a:spLocks noGrp="1" noChangeArrowheads="1"/>
          </p:cNvSpPr>
          <p:nvPr>
            <p:ph type="title"/>
          </p:nvPr>
        </p:nvSpPr>
        <p:spPr/>
        <p:txBody>
          <a:bodyPr/>
          <a:lstStyle/>
          <a:p>
            <a:r>
              <a:rPr lang="en-US" altLang="en-US" dirty="0"/>
              <a:t>Types of Requirements </a:t>
            </a:r>
          </a:p>
        </p:txBody>
      </p:sp>
      <p:sp>
        <p:nvSpPr>
          <p:cNvPr id="9219" name="Rectangle 3"/>
          <p:cNvSpPr>
            <a:spLocks noGrp="1" noChangeArrowheads="1"/>
          </p:cNvSpPr>
          <p:nvPr>
            <p:ph type="body" idx="1"/>
          </p:nvPr>
        </p:nvSpPr>
        <p:spPr/>
        <p:txBody>
          <a:bodyPr/>
          <a:lstStyle/>
          <a:p>
            <a:pPr>
              <a:lnSpc>
                <a:spcPct val="90000"/>
              </a:lnSpc>
            </a:pPr>
            <a:r>
              <a:rPr lang="en-US" altLang="en-US" sz="2800">
                <a:cs typeface="Arial" pitchFamily="34" charset="0"/>
              </a:rPr>
              <a:t>Functional requirements:</a:t>
            </a:r>
            <a:endParaRPr lang="en-US" altLang="en-US" sz="2800">
              <a:cs typeface="Times New Roman" pitchFamily="18" charset="0"/>
            </a:endParaRPr>
          </a:p>
          <a:p>
            <a:pPr lvl="1">
              <a:lnSpc>
                <a:spcPct val="90000"/>
              </a:lnSpc>
            </a:pPr>
            <a:r>
              <a:rPr lang="en-US" altLang="en-US" sz="2400">
                <a:cs typeface="Arial" pitchFamily="34" charset="0"/>
              </a:rPr>
              <a:t>input/output</a:t>
            </a:r>
          </a:p>
          <a:p>
            <a:pPr lvl="1">
              <a:lnSpc>
                <a:spcPct val="90000"/>
              </a:lnSpc>
            </a:pPr>
            <a:r>
              <a:rPr lang="en-US" altLang="en-US" sz="2400">
                <a:cs typeface="Arial" pitchFamily="34" charset="0"/>
              </a:rPr>
              <a:t>processing.</a:t>
            </a:r>
            <a:endParaRPr lang="en-US" altLang="en-US" sz="2400">
              <a:cs typeface="Times New Roman" pitchFamily="18" charset="0"/>
            </a:endParaRPr>
          </a:p>
          <a:p>
            <a:pPr lvl="1">
              <a:lnSpc>
                <a:spcPct val="90000"/>
              </a:lnSpc>
            </a:pPr>
            <a:r>
              <a:rPr lang="en-US" altLang="en-US" sz="2400">
                <a:cs typeface="Arial" pitchFamily="34" charset="0"/>
              </a:rPr>
              <a:t>error handling.</a:t>
            </a:r>
            <a:endParaRPr lang="en-US" altLang="en-US" sz="2400">
              <a:cs typeface="Times New Roman" pitchFamily="18" charset="0"/>
            </a:endParaRPr>
          </a:p>
          <a:p>
            <a:pPr>
              <a:lnSpc>
                <a:spcPct val="90000"/>
              </a:lnSpc>
            </a:pPr>
            <a:r>
              <a:rPr lang="en-US" altLang="en-US" sz="2800">
                <a:cs typeface="Arial" pitchFamily="34" charset="0"/>
              </a:rPr>
              <a:t>Non-functional requirements:</a:t>
            </a:r>
            <a:endParaRPr lang="en-US" altLang="en-US" sz="2800">
              <a:cs typeface="Times New Roman" pitchFamily="18" charset="0"/>
            </a:endParaRPr>
          </a:p>
          <a:p>
            <a:pPr lvl="1">
              <a:lnSpc>
                <a:spcPct val="90000"/>
              </a:lnSpc>
            </a:pPr>
            <a:r>
              <a:rPr lang="en-US" altLang="en-US" sz="2400">
                <a:cs typeface="Arial" pitchFamily="34" charset="0"/>
              </a:rPr>
              <a:t>Physical environment (equipment locations, multiple sites, etc.).</a:t>
            </a:r>
            <a:endParaRPr lang="en-US" altLang="en-US" sz="2400">
              <a:cs typeface="Times New Roman" pitchFamily="18" charset="0"/>
            </a:endParaRPr>
          </a:p>
          <a:p>
            <a:pPr lvl="1">
              <a:lnSpc>
                <a:spcPct val="90000"/>
              </a:lnSpc>
            </a:pPr>
            <a:r>
              <a:rPr lang="en-US" altLang="en-US" sz="2400">
                <a:cs typeface="Arial" pitchFamily="34" charset="0"/>
              </a:rPr>
              <a:t>Interfaces (data medium etc.).</a:t>
            </a:r>
            <a:endParaRPr lang="en-US" altLang="en-US" sz="2400">
              <a:cs typeface="Times New Roman" pitchFamily="18" charset="0"/>
            </a:endParaRPr>
          </a:p>
          <a:p>
            <a:pPr lvl="1">
              <a:lnSpc>
                <a:spcPct val="90000"/>
              </a:lnSpc>
            </a:pPr>
            <a:r>
              <a:rPr lang="en-US" altLang="en-US" sz="2400">
                <a:cs typeface="Arial" pitchFamily="34" charset="0"/>
              </a:rPr>
              <a:t>User &amp; human factors (who are the users, their skill level etc.).</a:t>
            </a:r>
            <a:endParaRPr lang="en-US" altLang="en-US" sz="2400">
              <a:cs typeface="Times New Roman" pitchFamily="18" charset="0"/>
            </a:endParaRPr>
          </a:p>
        </p:txBody>
      </p:sp>
    </p:spTree>
    <p:extLst>
      <p:ext uri="{BB962C8B-B14F-4D97-AF65-F5344CB8AC3E}">
        <p14:creationId xmlns:p14="http://schemas.microsoft.com/office/powerpoint/2010/main" val="265818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3D9B417-AE68-41ED-B055-9E1F5CDB0CF2}" type="slidenum">
              <a:rPr lang="en-US" altLang="en-US"/>
              <a:pPr/>
              <a:t>10</a:t>
            </a:fld>
            <a:endParaRPr lang="en-US" altLang="en-US"/>
          </a:p>
        </p:txBody>
      </p:sp>
      <p:sp>
        <p:nvSpPr>
          <p:cNvPr id="10242" name="Rectangle 2"/>
          <p:cNvSpPr>
            <a:spLocks noGrp="1" noChangeArrowheads="1"/>
          </p:cNvSpPr>
          <p:nvPr>
            <p:ph type="title"/>
          </p:nvPr>
        </p:nvSpPr>
        <p:spPr/>
        <p:txBody>
          <a:bodyPr/>
          <a:lstStyle/>
          <a:p>
            <a:r>
              <a:rPr lang="en-US" altLang="en-US" dirty="0"/>
              <a:t>Types of Requirements </a:t>
            </a:r>
          </a:p>
        </p:txBody>
      </p:sp>
      <p:sp>
        <p:nvSpPr>
          <p:cNvPr id="10243" name="Rectangle 3"/>
          <p:cNvSpPr>
            <a:spLocks noGrp="1" noChangeArrowheads="1"/>
          </p:cNvSpPr>
          <p:nvPr>
            <p:ph type="body" idx="1"/>
          </p:nvPr>
        </p:nvSpPr>
        <p:spPr/>
        <p:txBody>
          <a:bodyPr/>
          <a:lstStyle/>
          <a:p>
            <a:r>
              <a:rPr lang="en-US" altLang="en-US" sz="2800">
                <a:cs typeface="Arial" pitchFamily="34" charset="0"/>
              </a:rPr>
              <a:t>Non-functional requirements (continued):</a:t>
            </a:r>
            <a:endParaRPr lang="en-US" altLang="en-US" sz="2800">
              <a:cs typeface="Times New Roman" pitchFamily="18" charset="0"/>
            </a:endParaRPr>
          </a:p>
          <a:p>
            <a:pPr lvl="1"/>
            <a:r>
              <a:rPr lang="en-US" altLang="en-US" sz="2400">
                <a:cs typeface="Arial" pitchFamily="34" charset="0"/>
              </a:rPr>
              <a:t>Performance (how well is system functioning).</a:t>
            </a:r>
            <a:endParaRPr lang="en-US" altLang="en-US" sz="2400">
              <a:cs typeface="Times New Roman" pitchFamily="18" charset="0"/>
            </a:endParaRPr>
          </a:p>
          <a:p>
            <a:pPr lvl="1"/>
            <a:r>
              <a:rPr lang="en-US" altLang="en-US" sz="2400">
                <a:cs typeface="Arial" pitchFamily="34" charset="0"/>
              </a:rPr>
              <a:t>Documentation.</a:t>
            </a:r>
            <a:endParaRPr lang="en-US" altLang="en-US" sz="2400">
              <a:cs typeface="Times New Roman" pitchFamily="18" charset="0"/>
            </a:endParaRPr>
          </a:p>
          <a:p>
            <a:pPr lvl="1"/>
            <a:r>
              <a:rPr lang="en-US" altLang="en-US" sz="2400">
                <a:cs typeface="Arial" pitchFamily="34" charset="0"/>
              </a:rPr>
              <a:t>Data (qualitative stuff).</a:t>
            </a:r>
            <a:endParaRPr lang="en-US" altLang="en-US" sz="2400">
              <a:cs typeface="Times New Roman" pitchFamily="18" charset="0"/>
            </a:endParaRPr>
          </a:p>
          <a:p>
            <a:pPr lvl="1"/>
            <a:r>
              <a:rPr lang="en-US" altLang="en-US" sz="2400">
                <a:cs typeface="Arial" pitchFamily="34" charset="0"/>
              </a:rPr>
              <a:t>Resources (finding, physical space).</a:t>
            </a:r>
            <a:endParaRPr lang="en-US" altLang="en-US" sz="2400">
              <a:cs typeface="Times New Roman" pitchFamily="18" charset="0"/>
            </a:endParaRPr>
          </a:p>
          <a:p>
            <a:pPr lvl="1"/>
            <a:r>
              <a:rPr lang="en-US" altLang="en-US" sz="2400">
                <a:cs typeface="Arial" pitchFamily="34" charset="0"/>
              </a:rPr>
              <a:t>Security (backup, firewall).</a:t>
            </a:r>
            <a:endParaRPr lang="en-US" altLang="en-US" sz="2400">
              <a:cs typeface="Times New Roman" pitchFamily="18" charset="0"/>
            </a:endParaRPr>
          </a:p>
          <a:p>
            <a:pPr lvl="1"/>
            <a:r>
              <a:rPr lang="en-US" altLang="en-US" sz="2400">
                <a:cs typeface="Times New Roman" pitchFamily="18" charset="0"/>
              </a:rPr>
              <a:t>Quality assurance (max. down time, MTBF, etc.).</a:t>
            </a:r>
            <a:r>
              <a:rPr lang="en-US" altLang="en-US" sz="2400"/>
              <a:t> </a:t>
            </a:r>
          </a:p>
        </p:txBody>
      </p:sp>
    </p:spTree>
    <p:extLst>
      <p:ext uri="{BB962C8B-B14F-4D97-AF65-F5344CB8AC3E}">
        <p14:creationId xmlns:p14="http://schemas.microsoft.com/office/powerpoint/2010/main" val="399723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CFBAD6D-D894-4E2D-981C-7AEA93349E8D}" type="slidenum">
              <a:rPr lang="en-US" altLang="en-US"/>
              <a:pPr/>
              <a:t>11</a:t>
            </a:fld>
            <a:endParaRPr lang="en-US" altLang="en-US"/>
          </a:p>
        </p:txBody>
      </p:sp>
      <p:sp>
        <p:nvSpPr>
          <p:cNvPr id="11266" name="Rectangle 2"/>
          <p:cNvSpPr>
            <a:spLocks noGrp="1" noChangeArrowheads="1"/>
          </p:cNvSpPr>
          <p:nvPr>
            <p:ph type="title"/>
          </p:nvPr>
        </p:nvSpPr>
        <p:spPr/>
        <p:txBody>
          <a:bodyPr/>
          <a:lstStyle/>
          <a:p>
            <a:r>
              <a:rPr lang="en-US" altLang="en-US"/>
              <a:t>Requirement Validation</a:t>
            </a:r>
          </a:p>
        </p:txBody>
      </p:sp>
      <p:sp>
        <p:nvSpPr>
          <p:cNvPr id="11267" name="Rectangle 3"/>
          <p:cNvSpPr>
            <a:spLocks noGrp="1" noChangeArrowheads="1"/>
          </p:cNvSpPr>
          <p:nvPr>
            <p:ph type="body" idx="1"/>
          </p:nvPr>
        </p:nvSpPr>
        <p:spPr/>
        <p:txBody>
          <a:bodyPr/>
          <a:lstStyle/>
          <a:p>
            <a:pPr>
              <a:lnSpc>
                <a:spcPct val="90000"/>
              </a:lnSpc>
            </a:pPr>
            <a:r>
              <a:rPr lang="en-US" altLang="en-US" sz="2800">
                <a:cs typeface="Times New Roman" pitchFamily="18" charset="0"/>
              </a:rPr>
              <a:t>Correct?</a:t>
            </a:r>
          </a:p>
          <a:p>
            <a:pPr>
              <a:lnSpc>
                <a:spcPct val="90000"/>
              </a:lnSpc>
            </a:pPr>
            <a:r>
              <a:rPr lang="en-US" altLang="en-US" sz="2800">
                <a:cs typeface="Times New Roman" pitchFamily="18" charset="0"/>
              </a:rPr>
              <a:t>Consistent?</a:t>
            </a:r>
          </a:p>
          <a:p>
            <a:pPr>
              <a:lnSpc>
                <a:spcPct val="90000"/>
              </a:lnSpc>
            </a:pPr>
            <a:r>
              <a:rPr lang="en-US" altLang="en-US" sz="2800">
                <a:cs typeface="Times New Roman" pitchFamily="18" charset="0"/>
              </a:rPr>
              <a:t>Complete?</a:t>
            </a:r>
          </a:p>
          <a:p>
            <a:pPr lvl="1">
              <a:lnSpc>
                <a:spcPct val="90000"/>
              </a:lnSpc>
            </a:pPr>
            <a:r>
              <a:rPr lang="en-US" altLang="en-US" sz="2400">
                <a:cs typeface="Times New Roman" pitchFamily="18" charset="0"/>
              </a:rPr>
              <a:t>Externally - all desired properties are present.</a:t>
            </a:r>
          </a:p>
          <a:p>
            <a:pPr lvl="1">
              <a:lnSpc>
                <a:spcPct val="90000"/>
              </a:lnSpc>
            </a:pPr>
            <a:r>
              <a:rPr lang="en-US" altLang="en-US" sz="2400">
                <a:cs typeface="Times New Roman" pitchFamily="18" charset="0"/>
              </a:rPr>
              <a:t>Internally - no undefined references.</a:t>
            </a:r>
          </a:p>
          <a:p>
            <a:pPr>
              <a:lnSpc>
                <a:spcPct val="90000"/>
              </a:lnSpc>
            </a:pPr>
            <a:r>
              <a:rPr lang="en-US" altLang="en-US" sz="2800">
                <a:cs typeface="Times New Roman" pitchFamily="18" charset="0"/>
              </a:rPr>
              <a:t>Each requirement describes something actually needed by the customer.</a:t>
            </a:r>
          </a:p>
          <a:p>
            <a:pPr>
              <a:lnSpc>
                <a:spcPct val="90000"/>
              </a:lnSpc>
            </a:pPr>
            <a:r>
              <a:rPr lang="en-US" altLang="en-US" sz="2800">
                <a:cs typeface="Times New Roman" pitchFamily="18" charset="0"/>
              </a:rPr>
              <a:t>Requirements are verifiable (testable)?</a:t>
            </a:r>
          </a:p>
          <a:p>
            <a:pPr>
              <a:lnSpc>
                <a:spcPct val="90000"/>
              </a:lnSpc>
            </a:pPr>
            <a:r>
              <a:rPr lang="en-US" altLang="en-US" sz="2800">
                <a:cs typeface="Times New Roman" pitchFamily="18" charset="0"/>
              </a:rPr>
              <a:t>Requirements are traceable.</a:t>
            </a:r>
            <a:endParaRPr lang="en-US" altLang="en-US" sz="2800"/>
          </a:p>
        </p:txBody>
      </p:sp>
    </p:spTree>
    <p:extLst>
      <p:ext uri="{BB962C8B-B14F-4D97-AF65-F5344CB8AC3E}">
        <p14:creationId xmlns:p14="http://schemas.microsoft.com/office/powerpoint/2010/main" val="4263496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FCC0264-5E64-4E69-BA9C-9FF33862CC75}" type="slidenum">
              <a:rPr lang="en-US" altLang="en-US"/>
              <a:pPr/>
              <a:t>12</a:t>
            </a:fld>
            <a:endParaRPr lang="en-US" altLang="en-US"/>
          </a:p>
        </p:txBody>
      </p:sp>
      <p:sp>
        <p:nvSpPr>
          <p:cNvPr id="12290" name="Rectangle 2"/>
          <p:cNvSpPr>
            <a:spLocks noGrp="1" noChangeArrowheads="1"/>
          </p:cNvSpPr>
          <p:nvPr>
            <p:ph type="title"/>
          </p:nvPr>
        </p:nvSpPr>
        <p:spPr/>
        <p:txBody>
          <a:bodyPr/>
          <a:lstStyle/>
          <a:p>
            <a:r>
              <a:rPr lang="en-US" altLang="en-US" sz="4000"/>
              <a:t>Requirements Definition Document</a:t>
            </a:r>
          </a:p>
        </p:txBody>
      </p:sp>
      <p:sp>
        <p:nvSpPr>
          <p:cNvPr id="12291" name="Rectangle 3"/>
          <p:cNvSpPr>
            <a:spLocks noGrp="1" noChangeArrowheads="1"/>
          </p:cNvSpPr>
          <p:nvPr>
            <p:ph type="body" idx="1"/>
          </p:nvPr>
        </p:nvSpPr>
        <p:spPr/>
        <p:txBody>
          <a:bodyPr/>
          <a:lstStyle/>
          <a:p>
            <a:r>
              <a:rPr lang="en-US" altLang="en-US">
                <a:cs typeface="Times New Roman" pitchFamily="18" charset="0"/>
              </a:rPr>
              <a:t>General purpose of document.</a:t>
            </a:r>
          </a:p>
          <a:p>
            <a:r>
              <a:rPr lang="en-US" altLang="en-US">
                <a:cs typeface="Times New Roman" pitchFamily="18" charset="0"/>
              </a:rPr>
              <a:t>System background and objectives.</a:t>
            </a:r>
          </a:p>
          <a:p>
            <a:r>
              <a:rPr lang="en-US" altLang="en-US">
                <a:cs typeface="Times New Roman" pitchFamily="18" charset="0"/>
              </a:rPr>
              <a:t>Description of approach.</a:t>
            </a:r>
          </a:p>
          <a:p>
            <a:r>
              <a:rPr lang="en-US" altLang="en-US">
                <a:cs typeface="Times New Roman" pitchFamily="18" charset="0"/>
              </a:rPr>
              <a:t>Detailed characteristics of proposed system (data &amp; functionality).</a:t>
            </a:r>
          </a:p>
          <a:p>
            <a:r>
              <a:rPr lang="en-US" altLang="en-US">
                <a:cs typeface="Times New Roman" pitchFamily="18" charset="0"/>
              </a:rPr>
              <a:t>Description of operating environment.</a:t>
            </a:r>
            <a:endParaRPr lang="en-US" altLang="en-US"/>
          </a:p>
        </p:txBody>
      </p:sp>
    </p:spTree>
    <p:extLst>
      <p:ext uri="{BB962C8B-B14F-4D97-AF65-F5344CB8AC3E}">
        <p14:creationId xmlns:p14="http://schemas.microsoft.com/office/powerpoint/2010/main" val="3729814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C0D80D9-80D9-4EEE-AE3B-CB807F558F21}" type="slidenum">
              <a:rPr lang="en-US" altLang="en-US"/>
              <a:pPr/>
              <a:t>13</a:t>
            </a:fld>
            <a:endParaRPr lang="en-US" altLang="en-US"/>
          </a:p>
        </p:txBody>
      </p:sp>
      <p:sp>
        <p:nvSpPr>
          <p:cNvPr id="30722" name="Rectangle 2"/>
          <p:cNvSpPr>
            <a:spLocks noGrp="1" noChangeArrowheads="1"/>
          </p:cNvSpPr>
          <p:nvPr>
            <p:ph type="title"/>
          </p:nvPr>
        </p:nvSpPr>
        <p:spPr/>
        <p:txBody>
          <a:bodyPr/>
          <a:lstStyle/>
          <a:p>
            <a:r>
              <a:rPr lang="en-US" altLang="en-US" sz="3600"/>
              <a:t>Software Requirements Elicitation</a:t>
            </a:r>
          </a:p>
        </p:txBody>
      </p:sp>
      <p:sp>
        <p:nvSpPr>
          <p:cNvPr id="30723" name="Rectangle 3"/>
          <p:cNvSpPr>
            <a:spLocks noGrp="1" noChangeArrowheads="1"/>
          </p:cNvSpPr>
          <p:nvPr>
            <p:ph type="body" idx="1"/>
          </p:nvPr>
        </p:nvSpPr>
        <p:spPr/>
        <p:txBody>
          <a:bodyPr/>
          <a:lstStyle/>
          <a:p>
            <a:r>
              <a:rPr lang="en-US" altLang="en-US" sz="2400">
                <a:cs typeface="Times New Roman" pitchFamily="18" charset="0"/>
              </a:rPr>
              <a:t>Customer meetings are the most commonly used technique.</a:t>
            </a:r>
          </a:p>
          <a:p>
            <a:r>
              <a:rPr lang="en-US" altLang="en-US" sz="2400">
                <a:cs typeface="Times New Roman" pitchFamily="18" charset="0"/>
              </a:rPr>
              <a:t>Use context free questions to find out</a:t>
            </a:r>
          </a:p>
          <a:p>
            <a:pPr lvl="1"/>
            <a:r>
              <a:rPr lang="en-US" altLang="en-US" sz="2000">
                <a:cs typeface="Times New Roman" pitchFamily="18" charset="0"/>
              </a:rPr>
              <a:t>customer's goals and benefits</a:t>
            </a:r>
          </a:p>
          <a:p>
            <a:pPr lvl="1"/>
            <a:r>
              <a:rPr lang="en-US" altLang="en-US" sz="2000">
                <a:cs typeface="Times New Roman" pitchFamily="18" charset="0"/>
              </a:rPr>
              <a:t>identify stakeholders</a:t>
            </a:r>
          </a:p>
          <a:p>
            <a:pPr lvl="1"/>
            <a:r>
              <a:rPr lang="en-US" altLang="en-US" sz="2000">
                <a:cs typeface="Times New Roman" pitchFamily="18" charset="0"/>
              </a:rPr>
              <a:t>gain understanding of problem</a:t>
            </a:r>
          </a:p>
          <a:p>
            <a:pPr lvl="1"/>
            <a:r>
              <a:rPr lang="en-US" altLang="en-US" sz="2000">
                <a:cs typeface="Times New Roman" pitchFamily="18" charset="0"/>
              </a:rPr>
              <a:t>determine customer reactions to proposed solutions</a:t>
            </a:r>
          </a:p>
          <a:p>
            <a:pPr lvl="1"/>
            <a:r>
              <a:rPr lang="en-US" altLang="en-US" sz="2000">
                <a:cs typeface="Times New Roman" pitchFamily="18" charset="0"/>
              </a:rPr>
              <a:t>assess meeting effectiveness</a:t>
            </a:r>
          </a:p>
          <a:p>
            <a:r>
              <a:rPr lang="en-US" altLang="en-US" sz="2400">
                <a:cs typeface="Times New Roman" pitchFamily="18" charset="0"/>
              </a:rPr>
              <a:t>Interview cross section of users when many users are anticipated.</a:t>
            </a:r>
            <a:endParaRPr lang="en-US" altLang="en-US" sz="2400"/>
          </a:p>
        </p:txBody>
      </p:sp>
    </p:spTree>
    <p:extLst>
      <p:ext uri="{BB962C8B-B14F-4D97-AF65-F5344CB8AC3E}">
        <p14:creationId xmlns:p14="http://schemas.microsoft.com/office/powerpoint/2010/main" val="397111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SRS </a:t>
            </a:r>
            <a:r>
              <a:rPr lang="en-US" dirty="0" err="1" smtClean="0"/>
              <a:t>Whatsapp</a:t>
            </a:r>
            <a:r>
              <a:rPr lang="en-US" dirty="0" smtClean="0"/>
              <a:t> application</a:t>
            </a:r>
            <a:endParaRPr lang="en-IN" dirty="0"/>
          </a:p>
        </p:txBody>
      </p:sp>
      <p:sp>
        <p:nvSpPr>
          <p:cNvPr id="3" name="Content Placeholder 2"/>
          <p:cNvSpPr>
            <a:spLocks noGrp="1"/>
          </p:cNvSpPr>
          <p:nvPr>
            <p:ph idx="1"/>
          </p:nvPr>
        </p:nvSpPr>
        <p:spPr>
          <a:xfrm>
            <a:off x="323528" y="1268760"/>
            <a:ext cx="8640960" cy="4857403"/>
          </a:xfrm>
        </p:spPr>
        <p:txBody>
          <a:bodyPr>
            <a:noAutofit/>
          </a:bodyPr>
          <a:lstStyle/>
          <a:p>
            <a:pPr marL="0" indent="0" algn="just">
              <a:buNone/>
            </a:pPr>
            <a:r>
              <a:rPr lang="en-IN" sz="2000" b="1" dirty="0" smtClean="0"/>
              <a:t>Functional Requirements</a:t>
            </a:r>
          </a:p>
          <a:p>
            <a:pPr marL="514350" indent="-514350" algn="just">
              <a:buFont typeface="+mj-lt"/>
              <a:buAutoNum type="arabicPeriod"/>
            </a:pPr>
            <a:r>
              <a:rPr lang="en-IN" sz="2000" b="1" dirty="0" smtClean="0"/>
              <a:t>User Registration </a:t>
            </a:r>
            <a:r>
              <a:rPr lang="en-IN" sz="2000" dirty="0" smtClean="0"/>
              <a:t>User must be able to register for the application through a valid phone number. On installing the application, user must be prompted to register their phone number. If user skips this step, application should close. The user’s phone number will be the unique identifier of his/her account on WhatsApp. </a:t>
            </a:r>
          </a:p>
          <a:p>
            <a:pPr marL="514350" indent="-514350" algn="just">
              <a:buFont typeface="+mj-lt"/>
              <a:buAutoNum type="arabicPeriod"/>
            </a:pPr>
            <a:r>
              <a:rPr lang="en-IN" sz="2000" b="1" dirty="0" smtClean="0"/>
              <a:t>Adding New Contacts </a:t>
            </a:r>
            <a:r>
              <a:rPr lang="en-IN" sz="2000" dirty="0" smtClean="0"/>
              <a:t>The application should detect all contacts from the user’s phone book. If any of the contacts have user accounts with WhatsApp, those contacts must automatically be added to the user’s contact list on WhatsApp. If any of the contacts have not yet registered on WhatsApp, user should be provided with an invite option that sends those contacts a regular text message asking them to join WhatsApp along with a link to the WhatsApp application on Google </a:t>
            </a:r>
            <a:r>
              <a:rPr lang="en-IN" sz="2000" dirty="0" err="1" smtClean="0"/>
              <a:t>Playstore</a:t>
            </a:r>
            <a:r>
              <a:rPr lang="en-IN" sz="2000" dirty="0" smtClean="0"/>
              <a:t>. </a:t>
            </a:r>
          </a:p>
          <a:p>
            <a:pPr marL="514350" indent="-514350" algn="just">
              <a:buFont typeface="+mj-lt"/>
              <a:buAutoNum type="arabicPeriod"/>
            </a:pPr>
            <a:r>
              <a:rPr lang="en-IN" sz="2000" b="1" dirty="0" smtClean="0"/>
              <a:t>Send Message </a:t>
            </a:r>
            <a:r>
              <a:rPr lang="en-IN" sz="2000" dirty="0" smtClean="0"/>
              <a:t>User should be able to send instant message to any contact on his/her WhatsApp contact list. User should be notified when message is successfully delivered to the recipient by displaying a tick sign next to the message sent.</a:t>
            </a:r>
            <a:endParaRPr lang="en-IN" sz="2000" dirty="0"/>
          </a:p>
        </p:txBody>
      </p:sp>
    </p:spTree>
    <p:extLst>
      <p:ext uri="{BB962C8B-B14F-4D97-AF65-F5344CB8AC3E}">
        <p14:creationId xmlns:p14="http://schemas.microsoft.com/office/powerpoint/2010/main" val="800698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SRS </a:t>
            </a:r>
            <a:r>
              <a:rPr lang="en-US" dirty="0" err="1" smtClean="0"/>
              <a:t>Whatsapp</a:t>
            </a:r>
            <a:r>
              <a:rPr lang="en-US" dirty="0" smtClean="0"/>
              <a:t> application</a:t>
            </a:r>
            <a:endParaRPr lang="en-IN" b="1" dirty="0"/>
          </a:p>
        </p:txBody>
      </p:sp>
      <p:sp>
        <p:nvSpPr>
          <p:cNvPr id="3" name="Content Placeholder 2"/>
          <p:cNvSpPr>
            <a:spLocks noGrp="1"/>
          </p:cNvSpPr>
          <p:nvPr>
            <p:ph idx="1"/>
          </p:nvPr>
        </p:nvSpPr>
        <p:spPr/>
        <p:txBody>
          <a:bodyPr>
            <a:normAutofit fontScale="70000" lnSpcReduction="20000"/>
          </a:bodyPr>
          <a:lstStyle/>
          <a:p>
            <a:pPr marL="514350" indent="-514350">
              <a:buFont typeface="+mj-lt"/>
              <a:buAutoNum type="arabicPeriod" startAt="3"/>
            </a:pPr>
            <a:r>
              <a:rPr lang="en-IN" b="1" dirty="0" smtClean="0"/>
              <a:t>Send Attachments </a:t>
            </a:r>
            <a:r>
              <a:rPr lang="en-IN" dirty="0" smtClean="0"/>
              <a:t>User should be able to send audio, video and images as attachments. </a:t>
            </a:r>
          </a:p>
          <a:p>
            <a:pPr marL="400050" lvl="1" indent="0">
              <a:buNone/>
            </a:pPr>
            <a:r>
              <a:rPr lang="en-IN" dirty="0"/>
              <a:t>	</a:t>
            </a:r>
            <a:r>
              <a:rPr lang="en-IN" dirty="0" smtClean="0"/>
              <a:t>Audio formats that the application should support : mp3 wav </a:t>
            </a:r>
          </a:p>
          <a:p>
            <a:pPr marL="400050" lvl="1" indent="0">
              <a:buNone/>
            </a:pPr>
            <a:r>
              <a:rPr lang="en-IN" dirty="0"/>
              <a:t>	</a:t>
            </a:r>
            <a:r>
              <a:rPr lang="en-IN" dirty="0" smtClean="0"/>
              <a:t>Video formats that the application should support : </a:t>
            </a:r>
            <a:r>
              <a:rPr lang="en-IN" dirty="0" err="1" smtClean="0"/>
              <a:t>avi</a:t>
            </a:r>
            <a:r>
              <a:rPr lang="en-IN" dirty="0" smtClean="0"/>
              <a:t> mp4 </a:t>
            </a:r>
            <a:r>
              <a:rPr lang="en-IN" dirty="0" err="1" smtClean="0"/>
              <a:t>flv</a:t>
            </a:r>
            <a:r>
              <a:rPr lang="en-IN" dirty="0" smtClean="0"/>
              <a:t> gif 	Image formats that the application should support: jpg </a:t>
            </a:r>
            <a:r>
              <a:rPr lang="en-IN" dirty="0" err="1" smtClean="0"/>
              <a:t>png</a:t>
            </a:r>
            <a:r>
              <a:rPr lang="en-IN" dirty="0" smtClean="0"/>
              <a:t> </a:t>
            </a:r>
          </a:p>
          <a:p>
            <a:pPr marL="400050" lvl="1" indent="0">
              <a:buNone/>
            </a:pPr>
            <a:r>
              <a:rPr lang="en-IN" dirty="0"/>
              <a:t>	</a:t>
            </a:r>
            <a:r>
              <a:rPr lang="en-IN" dirty="0" smtClean="0"/>
              <a:t>File size must not exceed 2MB per message. </a:t>
            </a:r>
          </a:p>
          <a:p>
            <a:pPr marL="0" indent="0">
              <a:buNone/>
            </a:pPr>
            <a:endParaRPr lang="en-IN" b="1" dirty="0" smtClean="0"/>
          </a:p>
          <a:p>
            <a:pPr marL="514350" indent="-514350">
              <a:buFont typeface="+mj-lt"/>
              <a:buAutoNum type="arabicPeriod" startAt="3"/>
            </a:pPr>
            <a:r>
              <a:rPr lang="en-IN" b="1" dirty="0" smtClean="0"/>
              <a:t>Broadcast Message </a:t>
            </a:r>
            <a:r>
              <a:rPr lang="en-IN" dirty="0" smtClean="0"/>
              <a:t>User should be able to create groups of contacts. User should be able to broadcast messages to these groups. </a:t>
            </a:r>
          </a:p>
          <a:p>
            <a:pPr marL="514350" indent="-514350">
              <a:buFont typeface="+mj-lt"/>
              <a:buAutoNum type="arabicPeriod" startAt="3"/>
            </a:pPr>
            <a:endParaRPr lang="en-IN" dirty="0"/>
          </a:p>
          <a:p>
            <a:pPr marL="514350" indent="-514350">
              <a:buFont typeface="+mj-lt"/>
              <a:buAutoNum type="arabicPeriod" startAt="3"/>
            </a:pPr>
            <a:r>
              <a:rPr lang="en-IN" b="1" dirty="0" smtClean="0"/>
              <a:t>Message Status</a:t>
            </a:r>
            <a:r>
              <a:rPr lang="en-IN" dirty="0" smtClean="0"/>
              <a:t>: User must be able to get information on whether the message sent has been read by the intended recipient. If recipient reads the message, 2 ticks must appear next to the message read.</a:t>
            </a:r>
            <a:endParaRPr lang="en-IN" dirty="0"/>
          </a:p>
        </p:txBody>
      </p:sp>
    </p:spTree>
    <p:extLst>
      <p:ext uri="{BB962C8B-B14F-4D97-AF65-F5344CB8AC3E}">
        <p14:creationId xmlns:p14="http://schemas.microsoft.com/office/powerpoint/2010/main" val="1259617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SRS </a:t>
            </a:r>
            <a:r>
              <a:rPr lang="en-US" dirty="0" err="1" smtClean="0"/>
              <a:t>Whatsapp</a:t>
            </a:r>
            <a:r>
              <a:rPr lang="en-US" dirty="0" smtClean="0"/>
              <a:t> application</a:t>
            </a:r>
            <a:endParaRPr lang="en-IN" dirty="0"/>
          </a:p>
        </p:txBody>
      </p:sp>
      <p:sp>
        <p:nvSpPr>
          <p:cNvPr id="3" name="Content Placeholder 2"/>
          <p:cNvSpPr>
            <a:spLocks noGrp="1"/>
          </p:cNvSpPr>
          <p:nvPr>
            <p:ph idx="1"/>
          </p:nvPr>
        </p:nvSpPr>
        <p:spPr/>
        <p:txBody>
          <a:bodyPr>
            <a:normAutofit fontScale="85000" lnSpcReduction="10000"/>
          </a:bodyPr>
          <a:lstStyle/>
          <a:p>
            <a:pPr marL="0" indent="0">
              <a:buNone/>
            </a:pPr>
            <a:r>
              <a:rPr lang="en-IN" b="1" dirty="0" smtClean="0"/>
              <a:t>Non Functional Requirements/ Software Attributes </a:t>
            </a:r>
          </a:p>
          <a:p>
            <a:pPr marL="514350" indent="-514350">
              <a:buFont typeface="+mj-lt"/>
              <a:buAutoNum type="arabicPeriod"/>
            </a:pPr>
            <a:r>
              <a:rPr lang="en-IN" b="1" dirty="0" smtClean="0"/>
              <a:t>Scalability</a:t>
            </a:r>
            <a:r>
              <a:rPr lang="en-IN" dirty="0" smtClean="0"/>
              <a:t> WhatsApp should be able to provide instant messaging services to 1 billion users at any given time. </a:t>
            </a:r>
          </a:p>
          <a:p>
            <a:pPr marL="514350" indent="-514350">
              <a:buFont typeface="+mj-lt"/>
              <a:buAutoNum type="arabicPeriod"/>
            </a:pPr>
            <a:r>
              <a:rPr lang="en-IN" b="1" dirty="0" smtClean="0"/>
              <a:t>Privacy Messages </a:t>
            </a:r>
            <a:r>
              <a:rPr lang="en-IN" dirty="0" smtClean="0"/>
              <a:t>shared between users should be encrypted to maintain privacy.</a:t>
            </a:r>
          </a:p>
          <a:p>
            <a:pPr marL="514350" indent="-514350">
              <a:buFont typeface="+mj-lt"/>
              <a:buAutoNum type="arabicPeriod"/>
            </a:pPr>
            <a:r>
              <a:rPr lang="en-IN" b="1" dirty="0" smtClean="0"/>
              <a:t>Robustness</a:t>
            </a:r>
            <a:r>
              <a:rPr lang="en-IN" dirty="0" smtClean="0"/>
              <a:t> In case user’s device crashes, a backup of their chat history must be stored on remote database servers to enable recoverability. </a:t>
            </a:r>
          </a:p>
          <a:p>
            <a:pPr marL="514350" indent="-514350">
              <a:buFont typeface="+mj-lt"/>
              <a:buAutoNum type="arabicPeriod"/>
            </a:pPr>
            <a:r>
              <a:rPr lang="en-IN" b="1" dirty="0" smtClean="0"/>
              <a:t>Performance</a:t>
            </a:r>
            <a:r>
              <a:rPr lang="en-IN" dirty="0" smtClean="0"/>
              <a:t> Application must be lightweight and must send messages instantly.</a:t>
            </a:r>
            <a:endParaRPr lang="en-IN" dirty="0"/>
          </a:p>
        </p:txBody>
      </p:sp>
    </p:spTree>
    <p:extLst>
      <p:ext uri="{BB962C8B-B14F-4D97-AF65-F5344CB8AC3E}">
        <p14:creationId xmlns:p14="http://schemas.microsoft.com/office/powerpoint/2010/main" val="165544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SRS </a:t>
            </a:r>
            <a:r>
              <a:rPr lang="en-US" dirty="0" err="1" smtClean="0"/>
              <a:t>Whatsapp</a:t>
            </a:r>
            <a:r>
              <a:rPr lang="en-US" dirty="0" smtClean="0"/>
              <a:t> application</a:t>
            </a:r>
            <a:endParaRPr lang="en-IN" dirty="0"/>
          </a:p>
        </p:txBody>
      </p:sp>
      <p:sp>
        <p:nvSpPr>
          <p:cNvPr id="3" name="Content Placeholder 2"/>
          <p:cNvSpPr>
            <a:spLocks noGrp="1"/>
          </p:cNvSpPr>
          <p:nvPr>
            <p:ph idx="1"/>
          </p:nvPr>
        </p:nvSpPr>
        <p:spPr/>
        <p:txBody>
          <a:bodyPr/>
          <a:lstStyle/>
          <a:p>
            <a:pPr marL="0" indent="0">
              <a:buNone/>
            </a:pPr>
            <a:r>
              <a:rPr lang="en-IN" b="1" dirty="0" smtClean="0"/>
              <a:t>Enhancement Requests</a:t>
            </a:r>
          </a:p>
          <a:p>
            <a:pPr marL="514350" indent="-514350">
              <a:buFont typeface="+mj-lt"/>
              <a:buAutoNum type="arabicPeriod"/>
            </a:pPr>
            <a:r>
              <a:rPr lang="en-IN" b="1" dirty="0" smtClean="0"/>
              <a:t>Last Seen </a:t>
            </a:r>
            <a:r>
              <a:rPr lang="en-IN" dirty="0" smtClean="0"/>
              <a:t>Client has requested that user be able to see the date and time when his/her contact was last using the application.</a:t>
            </a:r>
          </a:p>
          <a:p>
            <a:pPr marL="514350" indent="-514350">
              <a:buFont typeface="+mj-lt"/>
              <a:buAutoNum type="arabicPeriod"/>
            </a:pPr>
            <a:r>
              <a:rPr lang="en-IN" b="1" dirty="0" smtClean="0"/>
              <a:t>User Profile </a:t>
            </a:r>
            <a:r>
              <a:rPr lang="en-IN" dirty="0" smtClean="0"/>
              <a:t>User should be able to set their profile picture and a status limited to 150 characters.</a:t>
            </a:r>
            <a:endParaRPr lang="en-IN" dirty="0"/>
          </a:p>
        </p:txBody>
      </p:sp>
    </p:spTree>
    <p:extLst>
      <p:ext uri="{BB962C8B-B14F-4D97-AF65-F5344CB8AC3E}">
        <p14:creationId xmlns:p14="http://schemas.microsoft.com/office/powerpoint/2010/main" val="4228362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SRS </a:t>
            </a:r>
            <a:r>
              <a:rPr lang="en-US" dirty="0" err="1" smtClean="0"/>
              <a:t>Whatsapp</a:t>
            </a:r>
            <a:r>
              <a:rPr lang="en-US" dirty="0" smtClean="0"/>
              <a:t> application</a:t>
            </a:r>
            <a:endParaRPr lang="en-IN" dirty="0"/>
          </a:p>
        </p:txBody>
      </p:sp>
      <p:sp>
        <p:nvSpPr>
          <p:cNvPr id="3" name="Content Placeholder 2"/>
          <p:cNvSpPr>
            <a:spLocks noGrp="1"/>
          </p:cNvSpPr>
          <p:nvPr>
            <p:ph idx="1"/>
          </p:nvPr>
        </p:nvSpPr>
        <p:spPr/>
        <p:txBody>
          <a:bodyPr/>
          <a:lstStyle/>
          <a:p>
            <a:pPr marL="0" indent="0">
              <a:buNone/>
            </a:pPr>
            <a:r>
              <a:rPr lang="en-IN" b="1" dirty="0" smtClean="0"/>
              <a:t>Operational Requirements</a:t>
            </a:r>
          </a:p>
          <a:p>
            <a:pPr marL="0" indent="0">
              <a:buNone/>
            </a:pPr>
            <a:r>
              <a:rPr lang="en-IN" dirty="0" smtClean="0"/>
              <a:t>Application must work on all mobile and tablet devices. User interface must be consistent on all devices.</a:t>
            </a:r>
            <a:endParaRPr lang="en-IN" dirty="0"/>
          </a:p>
        </p:txBody>
      </p:sp>
    </p:spTree>
    <p:extLst>
      <p:ext uri="{BB962C8B-B14F-4D97-AF65-F5344CB8AC3E}">
        <p14:creationId xmlns:p14="http://schemas.microsoft.com/office/powerpoint/2010/main" val="213295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820</Words>
  <Application>Microsoft Office PowerPoint</Application>
  <PresentationFormat>On-screen Show (4:3)</PresentationFormat>
  <Paragraphs>132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Requirement Analysis and Specification</vt:lpstr>
      <vt:lpstr>Requirements Analysis</vt:lpstr>
      <vt:lpstr>Analysis Objectives </vt:lpstr>
      <vt:lpstr>Software Requirements Analysis Phases</vt:lpstr>
      <vt:lpstr>Management Questions</vt:lpstr>
      <vt:lpstr>Feasibility Study</vt:lpstr>
      <vt:lpstr>System Specification</vt:lpstr>
      <vt:lpstr>Requirements</vt:lpstr>
      <vt:lpstr>Types of Requirements </vt:lpstr>
      <vt:lpstr>Types of Requirements </vt:lpstr>
      <vt:lpstr>Requirement Validation</vt:lpstr>
      <vt:lpstr>Requirements Definition Document</vt:lpstr>
      <vt:lpstr>Software Requirements Elicitation</vt:lpstr>
      <vt:lpstr>SRS Whatsapp application</vt:lpstr>
      <vt:lpstr>SRS Whatsapp application</vt:lpstr>
      <vt:lpstr>SRS Whatsapp application</vt:lpstr>
      <vt:lpstr>SRS Whatsapp application</vt:lpstr>
      <vt:lpstr>SRS Whatsapp application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Analysis and Specification</dc:title>
  <dc:creator>aa</dc:creator>
  <cp:lastModifiedBy>aa</cp:lastModifiedBy>
  <cp:revision>6</cp:revision>
  <dcterms:created xsi:type="dcterms:W3CDTF">2017-03-06T04:52:03Z</dcterms:created>
  <dcterms:modified xsi:type="dcterms:W3CDTF">2017-03-06T05:58:23Z</dcterms:modified>
</cp:coreProperties>
</file>